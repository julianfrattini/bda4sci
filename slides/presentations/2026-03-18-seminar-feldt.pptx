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Lst>
  <p:notesMasterIdLst>
    <p:notesMasterId r:id="rId27"/>
  </p:notesMasterIdLst>
  <p:sldIdLst>
    <p:sldId id="256" r:id="rId2"/>
    <p:sldId id="399" r:id="rId3"/>
    <p:sldId id="390" r:id="rId4"/>
    <p:sldId id="400" r:id="rId5"/>
    <p:sldId id="392" r:id="rId6"/>
    <p:sldId id="394" r:id="rId7"/>
    <p:sldId id="402" r:id="rId8"/>
    <p:sldId id="401" r:id="rId9"/>
    <p:sldId id="397" r:id="rId10"/>
    <p:sldId id="398" r:id="rId11"/>
    <p:sldId id="404" r:id="rId12"/>
    <p:sldId id="395" r:id="rId13"/>
    <p:sldId id="403" r:id="rId14"/>
    <p:sldId id="396" r:id="rId15"/>
    <p:sldId id="406" r:id="rId16"/>
    <p:sldId id="407" r:id="rId17"/>
    <p:sldId id="408" r:id="rId18"/>
    <p:sldId id="405" r:id="rId19"/>
    <p:sldId id="388" r:id="rId20"/>
    <p:sldId id="389" r:id="rId21"/>
    <p:sldId id="380" r:id="rId22"/>
    <p:sldId id="381" r:id="rId23"/>
    <p:sldId id="382" r:id="rId24"/>
    <p:sldId id="266" r:id="rId25"/>
    <p:sldId id="391" r:id="rId26"/>
  </p:sldIdLst>
  <p:sldSz cx="12192000" cy="6858000"/>
  <p:notesSz cx="6858000" cy="9144000"/>
  <p:defaultTextStyle>
    <a:defPPr>
      <a:defRPr lang="en-S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3255457F-90EF-48D8-96C2-92DE83C2B6F3}">
          <p14:sldIdLst>
            <p14:sldId id="256"/>
          </p14:sldIdLst>
        </p14:section>
        <p14:section name="Theory" id="{1638C303-2B63-4121-BDDF-92BE23D0194A}">
          <p14:sldIdLst>
            <p14:sldId id="399"/>
            <p14:sldId id="390"/>
            <p14:sldId id="400"/>
            <p14:sldId id="392"/>
            <p14:sldId id="394"/>
            <p14:sldId id="402"/>
            <p14:sldId id="401"/>
            <p14:sldId id="397"/>
            <p14:sldId id="398"/>
            <p14:sldId id="404"/>
            <p14:sldId id="395"/>
            <p14:sldId id="403"/>
            <p14:sldId id="396"/>
            <p14:sldId id="406"/>
            <p14:sldId id="407"/>
            <p14:sldId id="408"/>
          </p14:sldIdLst>
        </p14:section>
        <p14:section name="Exercise" id="{AC601FE8-67E4-4472-87C7-A6D830B95A2C}">
          <p14:sldIdLst>
            <p14:sldId id="405"/>
            <p14:sldId id="388"/>
            <p14:sldId id="389"/>
            <p14:sldId id="380"/>
            <p14:sldId id="381"/>
            <p14:sldId id="382"/>
          </p14:sldIdLst>
        </p14:section>
        <p14:section name="Outro" id="{6AC6889E-70FF-47BB-8020-162760CB0D65}">
          <p14:sldIdLst>
            <p14:sldId id="266"/>
            <p14:sldId id="391"/>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D0180A"/>
    <a:srgbClr val="006D7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033" autoAdjust="0"/>
    <p:restoredTop sz="87437" autoAdjust="0"/>
  </p:normalViewPr>
  <p:slideViewPr>
    <p:cSldViewPr snapToGrid="0">
      <p:cViewPr varScale="1">
        <p:scale>
          <a:sx n="107" d="100"/>
          <a:sy n="107" d="100"/>
        </p:scale>
        <p:origin x="120" y="81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SE"/>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7028809-A3C0-435B-AC12-B9138744A337}" type="datetimeFigureOut">
              <a:rPr lang="en-SE" smtClean="0"/>
              <a:t>2026-03-17</a:t>
            </a:fld>
            <a:endParaRPr lang="en-SE"/>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SE"/>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E"/>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SE"/>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BEE9047-6757-432F-B3C4-B9B79F30218C}" type="slidenum">
              <a:rPr lang="en-SE" smtClean="0"/>
              <a:t>‹#›</a:t>
            </a:fld>
            <a:endParaRPr lang="en-SE"/>
          </a:p>
        </p:txBody>
      </p:sp>
    </p:spTree>
    <p:extLst>
      <p:ext uri="{BB962C8B-B14F-4D97-AF65-F5344CB8AC3E}">
        <p14:creationId xmlns:p14="http://schemas.microsoft.com/office/powerpoint/2010/main" val="316561502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SE" dirty="0"/>
          </a:p>
        </p:txBody>
      </p:sp>
      <p:sp>
        <p:nvSpPr>
          <p:cNvPr id="4" name="Slide Number Placeholder 3"/>
          <p:cNvSpPr>
            <a:spLocks noGrp="1"/>
          </p:cNvSpPr>
          <p:nvPr>
            <p:ph type="sldNum" sz="quarter" idx="5"/>
          </p:nvPr>
        </p:nvSpPr>
        <p:spPr/>
        <p:txBody>
          <a:bodyPr/>
          <a:lstStyle/>
          <a:p>
            <a:fld id="{FBEE9047-6757-432F-B3C4-B9B79F30218C}" type="slidenum">
              <a:rPr lang="en-SE" smtClean="0"/>
              <a:t>1</a:t>
            </a:fld>
            <a:endParaRPr lang="en-SE"/>
          </a:p>
        </p:txBody>
      </p:sp>
    </p:spTree>
    <p:extLst>
      <p:ext uri="{BB962C8B-B14F-4D97-AF65-F5344CB8AC3E}">
        <p14:creationId xmlns:p14="http://schemas.microsoft.com/office/powerpoint/2010/main" val="30897801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SE" dirty="0"/>
              <a:t>You sometimes need “domain knowledge” to complete a DAG</a:t>
            </a:r>
          </a:p>
        </p:txBody>
      </p:sp>
      <p:sp>
        <p:nvSpPr>
          <p:cNvPr id="4" name="Slide Number Placeholder 3"/>
          <p:cNvSpPr>
            <a:spLocks noGrp="1"/>
          </p:cNvSpPr>
          <p:nvPr>
            <p:ph type="sldNum" sz="quarter" idx="5"/>
          </p:nvPr>
        </p:nvSpPr>
        <p:spPr/>
        <p:txBody>
          <a:bodyPr/>
          <a:lstStyle/>
          <a:p>
            <a:fld id="{ACC9BBD8-1C1E-4CFA-8C12-0AE7F3A91C3D}" type="slidenum">
              <a:rPr lang="en-US" smtClean="0"/>
              <a:t>23</a:t>
            </a:fld>
            <a:endParaRPr lang="en-US"/>
          </a:p>
        </p:txBody>
      </p:sp>
    </p:spTree>
    <p:extLst>
      <p:ext uri="{BB962C8B-B14F-4D97-AF65-F5344CB8AC3E}">
        <p14:creationId xmlns:p14="http://schemas.microsoft.com/office/powerpoint/2010/main" val="2000704331"/>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07ECFB-CC92-FB7D-062B-5F840C7CDEF9}"/>
              </a:ext>
            </a:extLst>
          </p:cNvPr>
          <p:cNvSpPr>
            <a:spLocks noGrp="1"/>
          </p:cNvSpPr>
          <p:nvPr>
            <p:ph type="ctrTitle"/>
          </p:nvPr>
        </p:nvSpPr>
        <p:spPr>
          <a:xfrm>
            <a:off x="1524000" y="1600199"/>
            <a:ext cx="9144000" cy="1909763"/>
          </a:xfrm>
        </p:spPr>
        <p:txBody>
          <a:bodyPr anchor="b"/>
          <a:lstStyle>
            <a:lvl1pPr algn="ctr">
              <a:defRPr sz="6000"/>
            </a:lvl1pPr>
          </a:lstStyle>
          <a:p>
            <a:r>
              <a:rPr lang="en-US"/>
              <a:t>Click to edit Master title style</a:t>
            </a:r>
            <a:endParaRPr lang="en-SE"/>
          </a:p>
        </p:txBody>
      </p:sp>
      <p:sp>
        <p:nvSpPr>
          <p:cNvPr id="3" name="Subtitle 2">
            <a:extLst>
              <a:ext uri="{FF2B5EF4-FFF2-40B4-BE49-F238E27FC236}">
                <a16:creationId xmlns:a16="http://schemas.microsoft.com/office/drawing/2014/main" id="{D17DB82B-6165-1C54-C51D-F5D58F23CBF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SE"/>
          </a:p>
        </p:txBody>
      </p:sp>
      <p:sp>
        <p:nvSpPr>
          <p:cNvPr id="4" name="Date Placeholder 3">
            <a:extLst>
              <a:ext uri="{FF2B5EF4-FFF2-40B4-BE49-F238E27FC236}">
                <a16:creationId xmlns:a16="http://schemas.microsoft.com/office/drawing/2014/main" id="{B37955BD-5E43-FC47-D766-386274FE3FE6}"/>
              </a:ext>
            </a:extLst>
          </p:cNvPr>
          <p:cNvSpPr>
            <a:spLocks noGrp="1"/>
          </p:cNvSpPr>
          <p:nvPr>
            <p:ph type="dt" sz="half" idx="10"/>
          </p:nvPr>
        </p:nvSpPr>
        <p:spPr/>
        <p:txBody>
          <a:bodyPr/>
          <a:lstStyle/>
          <a:p>
            <a:fld id="{37DCE796-1B8A-41D3-B18D-B249256E7F45}" type="datetime1">
              <a:rPr lang="de-DE" smtClean="0"/>
              <a:t>17.03.2026</a:t>
            </a:fld>
            <a:endParaRPr lang="en-SE"/>
          </a:p>
        </p:txBody>
      </p:sp>
      <p:sp>
        <p:nvSpPr>
          <p:cNvPr id="5" name="Footer Placeholder 4">
            <a:extLst>
              <a:ext uri="{FF2B5EF4-FFF2-40B4-BE49-F238E27FC236}">
                <a16:creationId xmlns:a16="http://schemas.microsoft.com/office/drawing/2014/main" id="{DAC345E8-8305-94BE-CD1F-E34E302160C0}"/>
              </a:ext>
            </a:extLst>
          </p:cNvPr>
          <p:cNvSpPr>
            <a:spLocks noGrp="1"/>
          </p:cNvSpPr>
          <p:nvPr>
            <p:ph type="ftr" sz="quarter" idx="11"/>
          </p:nvPr>
        </p:nvSpPr>
        <p:spPr/>
        <p:txBody>
          <a:bodyPr/>
          <a:lstStyle/>
          <a:p>
            <a:endParaRPr lang="en-SE"/>
          </a:p>
        </p:txBody>
      </p:sp>
      <p:sp>
        <p:nvSpPr>
          <p:cNvPr id="6" name="Slide Number Placeholder 5">
            <a:extLst>
              <a:ext uri="{FF2B5EF4-FFF2-40B4-BE49-F238E27FC236}">
                <a16:creationId xmlns:a16="http://schemas.microsoft.com/office/drawing/2014/main" id="{159FBD3E-ECCB-B12E-8504-AE90BAE0F46A}"/>
              </a:ext>
            </a:extLst>
          </p:cNvPr>
          <p:cNvSpPr>
            <a:spLocks noGrp="1"/>
          </p:cNvSpPr>
          <p:nvPr>
            <p:ph type="sldNum" sz="quarter" idx="12"/>
          </p:nvPr>
        </p:nvSpPr>
        <p:spPr/>
        <p:txBody>
          <a:bodyPr/>
          <a:lstStyle/>
          <a:p>
            <a:fld id="{271ECC92-9CDE-4EB3-B1C5-F46B9E1FA3C1}" type="slidenum">
              <a:rPr lang="en-SE" smtClean="0"/>
              <a:t>‹#›</a:t>
            </a:fld>
            <a:endParaRPr lang="en-SE"/>
          </a:p>
        </p:txBody>
      </p:sp>
      <p:pic>
        <p:nvPicPr>
          <p:cNvPr id="8" name="Picture 7" descr="A black background with a black square&#10;&#10;AI-generated content may be incorrect.">
            <a:extLst>
              <a:ext uri="{FF2B5EF4-FFF2-40B4-BE49-F238E27FC236}">
                <a16:creationId xmlns:a16="http://schemas.microsoft.com/office/drawing/2014/main" id="{6FAC15DB-F6D1-F33F-FE40-C327DCFFA16B}"/>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353143" y="388368"/>
            <a:ext cx="9485714" cy="1193651"/>
          </a:xfrm>
          <a:prstGeom prst="rect">
            <a:avLst/>
          </a:prstGeom>
        </p:spPr>
      </p:pic>
    </p:spTree>
    <p:extLst>
      <p:ext uri="{BB962C8B-B14F-4D97-AF65-F5344CB8AC3E}">
        <p14:creationId xmlns:p14="http://schemas.microsoft.com/office/powerpoint/2010/main" val="241024447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med" p14:dur="700">
        <p159:morph option="byObject"/>
      </p:transition>
    </mc:Choice>
    <mc:Fallback xmlns="">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5F46C5-11CD-4C87-4B7F-F0A008414468}"/>
              </a:ext>
            </a:extLst>
          </p:cNvPr>
          <p:cNvSpPr>
            <a:spLocks noGrp="1"/>
          </p:cNvSpPr>
          <p:nvPr>
            <p:ph type="title"/>
          </p:nvPr>
        </p:nvSpPr>
        <p:spPr>
          <a:xfrm>
            <a:off x="838198" y="365125"/>
            <a:ext cx="9380975" cy="1325563"/>
          </a:xfrm>
        </p:spPr>
        <p:txBody>
          <a:bodyPr/>
          <a:lstStyle/>
          <a:p>
            <a:r>
              <a:rPr lang="en-US"/>
              <a:t>Click to edit Master title style</a:t>
            </a:r>
            <a:endParaRPr lang="en-SE"/>
          </a:p>
        </p:txBody>
      </p:sp>
      <p:sp>
        <p:nvSpPr>
          <p:cNvPr id="3" name="Content Placeholder 2">
            <a:extLst>
              <a:ext uri="{FF2B5EF4-FFF2-40B4-BE49-F238E27FC236}">
                <a16:creationId xmlns:a16="http://schemas.microsoft.com/office/drawing/2014/main" id="{72567B5C-1FB8-DA82-8443-4DACD45F0C9B}"/>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E"/>
          </a:p>
        </p:txBody>
      </p:sp>
      <p:sp>
        <p:nvSpPr>
          <p:cNvPr id="4" name="Date Placeholder 3">
            <a:extLst>
              <a:ext uri="{FF2B5EF4-FFF2-40B4-BE49-F238E27FC236}">
                <a16:creationId xmlns:a16="http://schemas.microsoft.com/office/drawing/2014/main" id="{96DB50CE-E3D9-6C15-6C1B-8A30001A38E3}"/>
              </a:ext>
            </a:extLst>
          </p:cNvPr>
          <p:cNvSpPr>
            <a:spLocks noGrp="1"/>
          </p:cNvSpPr>
          <p:nvPr>
            <p:ph type="dt" sz="half" idx="10"/>
          </p:nvPr>
        </p:nvSpPr>
        <p:spPr/>
        <p:txBody>
          <a:bodyPr/>
          <a:lstStyle/>
          <a:p>
            <a:fld id="{A1C06950-82F8-45F4-A28D-9FBF8CAE29F7}" type="datetime1">
              <a:rPr lang="de-DE" smtClean="0"/>
              <a:t>17.03.2026</a:t>
            </a:fld>
            <a:endParaRPr lang="en-SE"/>
          </a:p>
        </p:txBody>
      </p:sp>
      <p:sp>
        <p:nvSpPr>
          <p:cNvPr id="5" name="Footer Placeholder 4">
            <a:extLst>
              <a:ext uri="{FF2B5EF4-FFF2-40B4-BE49-F238E27FC236}">
                <a16:creationId xmlns:a16="http://schemas.microsoft.com/office/drawing/2014/main" id="{82E106B3-8DD0-55B3-08A0-DD0591C9848C}"/>
              </a:ext>
            </a:extLst>
          </p:cNvPr>
          <p:cNvSpPr>
            <a:spLocks noGrp="1"/>
          </p:cNvSpPr>
          <p:nvPr>
            <p:ph type="ftr" sz="quarter" idx="11"/>
          </p:nvPr>
        </p:nvSpPr>
        <p:spPr/>
        <p:txBody>
          <a:bodyPr/>
          <a:lstStyle/>
          <a:p>
            <a:endParaRPr lang="en-SE"/>
          </a:p>
        </p:txBody>
      </p:sp>
      <p:sp>
        <p:nvSpPr>
          <p:cNvPr id="6" name="Slide Number Placeholder 5">
            <a:extLst>
              <a:ext uri="{FF2B5EF4-FFF2-40B4-BE49-F238E27FC236}">
                <a16:creationId xmlns:a16="http://schemas.microsoft.com/office/drawing/2014/main" id="{49C494B0-86B7-2B02-AF74-37DFCA78F384}"/>
              </a:ext>
            </a:extLst>
          </p:cNvPr>
          <p:cNvSpPr>
            <a:spLocks noGrp="1"/>
          </p:cNvSpPr>
          <p:nvPr>
            <p:ph type="sldNum" sz="quarter" idx="12"/>
          </p:nvPr>
        </p:nvSpPr>
        <p:spPr/>
        <p:txBody>
          <a:bodyPr/>
          <a:lstStyle/>
          <a:p>
            <a:fld id="{271ECC92-9CDE-4EB3-B1C5-F46B9E1FA3C1}" type="slidenum">
              <a:rPr lang="en-SE" smtClean="0"/>
              <a:t>‹#›</a:t>
            </a:fld>
            <a:endParaRPr lang="en-SE"/>
          </a:p>
        </p:txBody>
      </p:sp>
      <p:pic>
        <p:nvPicPr>
          <p:cNvPr id="8" name="Picture 7" descr="A black background with a black square&#10;&#10;AI-generated content may be incorrect.">
            <a:extLst>
              <a:ext uri="{FF2B5EF4-FFF2-40B4-BE49-F238E27FC236}">
                <a16:creationId xmlns:a16="http://schemas.microsoft.com/office/drawing/2014/main" id="{219E70D1-BC5E-0623-4514-854441A4D3FA}"/>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350110" y="365125"/>
            <a:ext cx="1003690" cy="1325563"/>
          </a:xfrm>
          <a:prstGeom prst="rect">
            <a:avLst/>
          </a:prstGeom>
        </p:spPr>
      </p:pic>
    </p:spTree>
    <p:extLst>
      <p:ext uri="{BB962C8B-B14F-4D97-AF65-F5344CB8AC3E}">
        <p14:creationId xmlns:p14="http://schemas.microsoft.com/office/powerpoint/2010/main" val="281187177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med" p14:dur="700">
        <p159:morph option="byObject"/>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BA3C64-99A3-C45B-FC04-CD6D7DF0E051}"/>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SE"/>
          </a:p>
        </p:txBody>
      </p:sp>
      <p:sp>
        <p:nvSpPr>
          <p:cNvPr id="3" name="Text Placeholder 2">
            <a:extLst>
              <a:ext uri="{FF2B5EF4-FFF2-40B4-BE49-F238E27FC236}">
                <a16:creationId xmlns:a16="http://schemas.microsoft.com/office/drawing/2014/main" id="{183CEB3B-F9F7-57EA-A865-FA89E9BE90F6}"/>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731EA0C2-17AA-E8FA-AF35-325A5B6C18D4}"/>
              </a:ext>
            </a:extLst>
          </p:cNvPr>
          <p:cNvSpPr>
            <a:spLocks noGrp="1"/>
          </p:cNvSpPr>
          <p:nvPr>
            <p:ph type="dt" sz="half" idx="10"/>
          </p:nvPr>
        </p:nvSpPr>
        <p:spPr/>
        <p:txBody>
          <a:bodyPr/>
          <a:lstStyle/>
          <a:p>
            <a:fld id="{5BC0AF29-9533-4D4E-A309-A5791971D2E2}" type="datetime1">
              <a:rPr lang="de-DE" smtClean="0"/>
              <a:t>17.03.2026</a:t>
            </a:fld>
            <a:endParaRPr lang="en-SE"/>
          </a:p>
        </p:txBody>
      </p:sp>
      <p:sp>
        <p:nvSpPr>
          <p:cNvPr id="5" name="Footer Placeholder 4">
            <a:extLst>
              <a:ext uri="{FF2B5EF4-FFF2-40B4-BE49-F238E27FC236}">
                <a16:creationId xmlns:a16="http://schemas.microsoft.com/office/drawing/2014/main" id="{EDC95503-4D40-A4E1-4A17-B8F476149189}"/>
              </a:ext>
            </a:extLst>
          </p:cNvPr>
          <p:cNvSpPr>
            <a:spLocks noGrp="1"/>
          </p:cNvSpPr>
          <p:nvPr>
            <p:ph type="ftr" sz="quarter" idx="11"/>
          </p:nvPr>
        </p:nvSpPr>
        <p:spPr/>
        <p:txBody>
          <a:bodyPr/>
          <a:lstStyle/>
          <a:p>
            <a:endParaRPr lang="en-SE"/>
          </a:p>
        </p:txBody>
      </p:sp>
      <p:sp>
        <p:nvSpPr>
          <p:cNvPr id="6" name="Slide Number Placeholder 5">
            <a:extLst>
              <a:ext uri="{FF2B5EF4-FFF2-40B4-BE49-F238E27FC236}">
                <a16:creationId xmlns:a16="http://schemas.microsoft.com/office/drawing/2014/main" id="{CF6C0937-6335-D00A-B738-E03007DFA8B8}"/>
              </a:ext>
            </a:extLst>
          </p:cNvPr>
          <p:cNvSpPr>
            <a:spLocks noGrp="1"/>
          </p:cNvSpPr>
          <p:nvPr>
            <p:ph type="sldNum" sz="quarter" idx="12"/>
          </p:nvPr>
        </p:nvSpPr>
        <p:spPr/>
        <p:txBody>
          <a:bodyPr/>
          <a:lstStyle/>
          <a:p>
            <a:fld id="{271ECC92-9CDE-4EB3-B1C5-F46B9E1FA3C1}" type="slidenum">
              <a:rPr lang="en-SE" smtClean="0"/>
              <a:t>‹#›</a:t>
            </a:fld>
            <a:endParaRPr lang="en-SE"/>
          </a:p>
        </p:txBody>
      </p:sp>
      <p:pic>
        <p:nvPicPr>
          <p:cNvPr id="7" name="Picture 6" descr="A black background with a black square&#10;&#10;AI-generated content may be incorrect.">
            <a:extLst>
              <a:ext uri="{FF2B5EF4-FFF2-40B4-BE49-F238E27FC236}">
                <a16:creationId xmlns:a16="http://schemas.microsoft.com/office/drawing/2014/main" id="{8E93BCFD-7846-D276-1F73-CBB0C60EEDF2}"/>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3616063" y="267789"/>
            <a:ext cx="4947173" cy="622536"/>
          </a:xfrm>
          <a:prstGeom prst="rect">
            <a:avLst/>
          </a:prstGeom>
        </p:spPr>
      </p:pic>
    </p:spTree>
    <p:extLst>
      <p:ext uri="{BB962C8B-B14F-4D97-AF65-F5344CB8AC3E}">
        <p14:creationId xmlns:p14="http://schemas.microsoft.com/office/powerpoint/2010/main" val="155167640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med" p14:dur="700">
        <p159:morph option="byObject"/>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2B84F10-67C5-38A9-9573-9D83950EE145}"/>
              </a:ext>
            </a:extLst>
          </p:cNvPr>
          <p:cNvSpPr>
            <a:spLocks noGrp="1"/>
          </p:cNvSpPr>
          <p:nvPr>
            <p:ph type="title"/>
          </p:nvPr>
        </p:nvSpPr>
        <p:spPr>
          <a:xfrm>
            <a:off x="838199" y="365125"/>
            <a:ext cx="10515600" cy="1325563"/>
          </a:xfrm>
          <a:prstGeom prst="rect">
            <a:avLst/>
          </a:prstGeom>
        </p:spPr>
        <p:txBody>
          <a:bodyPr vert="horz" lIns="91440" tIns="45720" rIns="91440" bIns="45720" rtlCol="0" anchor="ctr">
            <a:normAutofit/>
          </a:bodyPr>
          <a:lstStyle/>
          <a:p>
            <a:r>
              <a:rPr lang="en-US"/>
              <a:t>Click to edit Master title style</a:t>
            </a:r>
            <a:endParaRPr lang="en-SE"/>
          </a:p>
        </p:txBody>
      </p:sp>
      <p:sp>
        <p:nvSpPr>
          <p:cNvPr id="3" name="Text Placeholder 2">
            <a:extLst>
              <a:ext uri="{FF2B5EF4-FFF2-40B4-BE49-F238E27FC236}">
                <a16:creationId xmlns:a16="http://schemas.microsoft.com/office/drawing/2014/main" id="{F94813B2-F0B2-78B0-2431-5AE1C5DC3D4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E"/>
          </a:p>
        </p:txBody>
      </p:sp>
      <p:sp>
        <p:nvSpPr>
          <p:cNvPr id="4" name="Date Placeholder 3">
            <a:extLst>
              <a:ext uri="{FF2B5EF4-FFF2-40B4-BE49-F238E27FC236}">
                <a16:creationId xmlns:a16="http://schemas.microsoft.com/office/drawing/2014/main" id="{6BCA28DA-366D-4CD9-E1EB-113EAA959DF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9E67268F-5191-4EDD-9773-1EAA25AC2D33}" type="datetime1">
              <a:rPr lang="de-DE" smtClean="0"/>
              <a:t>17.03.2026</a:t>
            </a:fld>
            <a:endParaRPr lang="en-SE"/>
          </a:p>
        </p:txBody>
      </p:sp>
      <p:sp>
        <p:nvSpPr>
          <p:cNvPr id="5" name="Footer Placeholder 4">
            <a:extLst>
              <a:ext uri="{FF2B5EF4-FFF2-40B4-BE49-F238E27FC236}">
                <a16:creationId xmlns:a16="http://schemas.microsoft.com/office/drawing/2014/main" id="{9F6E68D1-9044-00B4-ABE4-8F49530ABDF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SE"/>
          </a:p>
        </p:txBody>
      </p:sp>
      <p:sp>
        <p:nvSpPr>
          <p:cNvPr id="6" name="Slide Number Placeholder 5">
            <a:extLst>
              <a:ext uri="{FF2B5EF4-FFF2-40B4-BE49-F238E27FC236}">
                <a16:creationId xmlns:a16="http://schemas.microsoft.com/office/drawing/2014/main" id="{0F136186-4B45-9116-C243-AC06504DFFB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271ECC92-9CDE-4EB3-B1C5-F46B9E1FA3C1}" type="slidenum">
              <a:rPr lang="en-SE" smtClean="0"/>
              <a:t>‹#›</a:t>
            </a:fld>
            <a:endParaRPr lang="en-SE"/>
          </a:p>
        </p:txBody>
      </p:sp>
    </p:spTree>
    <p:extLst>
      <p:ext uri="{BB962C8B-B14F-4D97-AF65-F5344CB8AC3E}">
        <p14:creationId xmlns:p14="http://schemas.microsoft.com/office/powerpoint/2010/main" val="327114165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mc:AlternateContent xmlns:mc="http://schemas.openxmlformats.org/markup-compatibility/2006" xmlns:p159="http://schemas.microsoft.com/office/powerpoint/2015/09/main">
    <mc:Choice Requires="p159">
      <p:transition xmlns:p14="http://schemas.microsoft.com/office/powerpoint/2010/main" spd="med" p14:dur="700">
        <p159:morph option="byObject"/>
      </p:transition>
    </mc:Choice>
    <mc:Fallback xmlns="">
      <p:transition spd="med">
        <p:fade/>
      </p:transition>
    </mc:Fallback>
  </mc:AlternateContent>
  <p:hf hdr="0" ft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S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s://github.com/JulianFrattini/bda4sci/blob/main/LICENSE" TargetMode="External"/><Relationship Id="rId7" Type="http://schemas.openxmlformats.org/officeDocument/2006/relationships/hyperlink" Target="https://github.com/JulianFrattini/bda4sci" TargetMode="External"/><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jpg"/><Relationship Id="rId4" Type="http://schemas.openxmlformats.org/officeDocument/2006/relationships/hyperlink" Target="https://julianfrattini.github.io/" TargetMode="Externa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8" Type="http://schemas.openxmlformats.org/officeDocument/2006/relationships/image" Target="../media/image13.png"/><Relationship Id="rId13" Type="http://schemas.openxmlformats.org/officeDocument/2006/relationships/image" Target="../media/image18.png"/><Relationship Id="rId18" Type="http://schemas.openxmlformats.org/officeDocument/2006/relationships/image" Target="../media/image23.png"/><Relationship Id="rId3" Type="http://schemas.openxmlformats.org/officeDocument/2006/relationships/image" Target="../media/image8.png"/><Relationship Id="rId7" Type="http://schemas.openxmlformats.org/officeDocument/2006/relationships/image" Target="../media/image12.png"/><Relationship Id="rId12" Type="http://schemas.openxmlformats.org/officeDocument/2006/relationships/image" Target="../media/image17.png"/><Relationship Id="rId17" Type="http://schemas.openxmlformats.org/officeDocument/2006/relationships/image" Target="../media/image22.png"/><Relationship Id="rId2" Type="http://schemas.openxmlformats.org/officeDocument/2006/relationships/image" Target="../media/image7.png"/><Relationship Id="rId16" Type="http://schemas.openxmlformats.org/officeDocument/2006/relationships/image" Target="../media/image21.png"/><Relationship Id="rId1" Type="http://schemas.openxmlformats.org/officeDocument/2006/relationships/slideLayout" Target="../slideLayouts/slideLayout2.xml"/><Relationship Id="rId6" Type="http://schemas.openxmlformats.org/officeDocument/2006/relationships/image" Target="../media/image11.png"/><Relationship Id="rId11" Type="http://schemas.openxmlformats.org/officeDocument/2006/relationships/image" Target="../media/image16.png"/><Relationship Id="rId5" Type="http://schemas.openxmlformats.org/officeDocument/2006/relationships/image" Target="../media/image10.png"/><Relationship Id="rId15" Type="http://schemas.openxmlformats.org/officeDocument/2006/relationships/image" Target="../media/image20.png"/><Relationship Id="rId10" Type="http://schemas.openxmlformats.org/officeDocument/2006/relationships/image" Target="../media/image15.png"/><Relationship Id="rId4" Type="http://schemas.openxmlformats.org/officeDocument/2006/relationships/image" Target="../media/image9.png"/><Relationship Id="rId9" Type="http://schemas.openxmlformats.org/officeDocument/2006/relationships/image" Target="../media/image14.png"/><Relationship Id="rId14" Type="http://schemas.openxmlformats.org/officeDocument/2006/relationships/image" Target="../media/image19.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24.png"/><Relationship Id="rId1" Type="http://schemas.openxmlformats.org/officeDocument/2006/relationships/slideLayout" Target="../slideLayouts/slideLayout2.xml"/><Relationship Id="rId4" Type="http://schemas.openxmlformats.org/officeDocument/2006/relationships/hyperlink" Target="https://github.com/JulianFrattini/bda4sci" TargetMode="Externa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8E8D0B-776C-E8F7-4D2E-37BA60724F3A}"/>
              </a:ext>
            </a:extLst>
          </p:cNvPr>
          <p:cNvSpPr>
            <a:spLocks noGrp="1"/>
          </p:cNvSpPr>
          <p:nvPr>
            <p:ph type="ctrTitle"/>
          </p:nvPr>
        </p:nvSpPr>
        <p:spPr/>
        <p:txBody>
          <a:bodyPr/>
          <a:lstStyle/>
          <a:p>
            <a:r>
              <a:rPr lang="en-SE" noProof="0" dirty="0"/>
              <a:t>Structural Causal Models</a:t>
            </a:r>
            <a:endParaRPr lang="en-US" noProof="0" dirty="0"/>
          </a:p>
        </p:txBody>
      </p:sp>
      <p:sp>
        <p:nvSpPr>
          <p:cNvPr id="3" name="Subtitle 2">
            <a:extLst>
              <a:ext uri="{FF2B5EF4-FFF2-40B4-BE49-F238E27FC236}">
                <a16:creationId xmlns:a16="http://schemas.microsoft.com/office/drawing/2014/main" id="{DAECA751-926C-8553-9E48-80B7DF1A9306}"/>
              </a:ext>
            </a:extLst>
          </p:cNvPr>
          <p:cNvSpPr>
            <a:spLocks noGrp="1"/>
          </p:cNvSpPr>
          <p:nvPr>
            <p:ph type="subTitle" idx="1"/>
          </p:nvPr>
        </p:nvSpPr>
        <p:spPr/>
        <p:txBody>
          <a:bodyPr/>
          <a:lstStyle/>
          <a:p>
            <a:r>
              <a:rPr lang="en-US" dirty="0"/>
              <a:t>A</a:t>
            </a:r>
            <a:r>
              <a:rPr lang="en-SE" dirty="0"/>
              <a:t> Shared Language for Scientific Inquiry</a:t>
            </a:r>
            <a:endParaRPr lang="en-US" noProof="0" dirty="0"/>
          </a:p>
        </p:txBody>
      </p:sp>
      <p:sp>
        <p:nvSpPr>
          <p:cNvPr id="4" name="TextBox 3">
            <a:extLst>
              <a:ext uri="{FF2B5EF4-FFF2-40B4-BE49-F238E27FC236}">
                <a16:creationId xmlns:a16="http://schemas.microsoft.com/office/drawing/2014/main" id="{AD75591A-FA02-7123-DF74-EDB9D33C0122}"/>
              </a:ext>
            </a:extLst>
          </p:cNvPr>
          <p:cNvSpPr txBox="1"/>
          <p:nvPr/>
        </p:nvSpPr>
        <p:spPr>
          <a:xfrm>
            <a:off x="7326064" y="5859885"/>
            <a:ext cx="4175374" cy="523220"/>
          </a:xfrm>
          <a:prstGeom prst="rect">
            <a:avLst/>
          </a:prstGeom>
          <a:noFill/>
        </p:spPr>
        <p:txBody>
          <a:bodyPr wrap="none" rtlCol="0">
            <a:spAutoFit/>
          </a:bodyPr>
          <a:lstStyle/>
          <a:p>
            <a:pPr algn="r"/>
            <a:r>
              <a:rPr lang="en-US" sz="1400" noProof="0" dirty="0"/>
              <a:t>Copyright © 202</a:t>
            </a:r>
            <a:r>
              <a:rPr lang="en-SE" sz="1400" noProof="0" dirty="0"/>
              <a:t>6</a:t>
            </a:r>
            <a:r>
              <a:rPr lang="en-US" sz="1400" noProof="0" dirty="0"/>
              <a:t> Julian Frattini. </a:t>
            </a:r>
          </a:p>
          <a:p>
            <a:pPr algn="r"/>
            <a:r>
              <a:rPr lang="en-US" sz="1400" noProof="0" dirty="0"/>
              <a:t>This work is licensed under the </a:t>
            </a:r>
            <a:r>
              <a:rPr lang="en-US" sz="1400" noProof="0" dirty="0">
                <a:hlinkClick r:id="rId3"/>
              </a:rPr>
              <a:t>Apache-2.0</a:t>
            </a:r>
            <a:r>
              <a:rPr lang="en-US" sz="1400" noProof="0" dirty="0"/>
              <a:t> License.</a:t>
            </a:r>
          </a:p>
        </p:txBody>
      </p:sp>
      <p:sp>
        <p:nvSpPr>
          <p:cNvPr id="11" name="TextBox 10">
            <a:extLst>
              <a:ext uri="{FF2B5EF4-FFF2-40B4-BE49-F238E27FC236}">
                <a16:creationId xmlns:a16="http://schemas.microsoft.com/office/drawing/2014/main" id="{6B4FEC08-B055-2789-C209-ABB868E097B3}"/>
              </a:ext>
            </a:extLst>
          </p:cNvPr>
          <p:cNvSpPr txBox="1"/>
          <p:nvPr/>
        </p:nvSpPr>
        <p:spPr>
          <a:xfrm>
            <a:off x="1866348" y="5398220"/>
            <a:ext cx="4488986" cy="923330"/>
          </a:xfrm>
          <a:prstGeom prst="rect">
            <a:avLst/>
          </a:prstGeom>
          <a:noFill/>
        </p:spPr>
        <p:txBody>
          <a:bodyPr wrap="none" rtlCol="0">
            <a:spAutoFit/>
          </a:bodyPr>
          <a:lstStyle/>
          <a:p>
            <a:r>
              <a:rPr lang="en-US" noProof="0" dirty="0"/>
              <a:t>Julian </a:t>
            </a:r>
            <a:r>
              <a:rPr lang="en-US" b="1" noProof="0" dirty="0"/>
              <a:t>Frattini</a:t>
            </a:r>
            <a:r>
              <a:rPr lang="en-US" noProof="0" dirty="0"/>
              <a:t>, Ph.D.</a:t>
            </a:r>
          </a:p>
          <a:p>
            <a:r>
              <a:rPr lang="en-US" noProof="0" dirty="0">
                <a:solidFill>
                  <a:schemeClr val="tx1">
                    <a:lumMod val="50000"/>
                    <a:lumOff val="50000"/>
                  </a:schemeClr>
                </a:solidFill>
              </a:rPr>
              <a:t>Chalmers University of Technology, Sweden</a:t>
            </a:r>
          </a:p>
          <a:p>
            <a:r>
              <a:rPr lang="en-US" noProof="0" dirty="0">
                <a:hlinkClick r:id="rId4"/>
              </a:rPr>
              <a:t>https://julianfrattini.github.io/</a:t>
            </a:r>
            <a:r>
              <a:rPr lang="en-US" noProof="0" dirty="0"/>
              <a:t> </a:t>
            </a:r>
          </a:p>
        </p:txBody>
      </p:sp>
      <p:sp>
        <p:nvSpPr>
          <p:cNvPr id="12" name="Oval 11">
            <a:extLst>
              <a:ext uri="{FF2B5EF4-FFF2-40B4-BE49-F238E27FC236}">
                <a16:creationId xmlns:a16="http://schemas.microsoft.com/office/drawing/2014/main" id="{492E9483-BEDA-C731-B7BE-ABF0A5518387}"/>
              </a:ext>
            </a:extLst>
          </p:cNvPr>
          <p:cNvSpPr/>
          <p:nvPr/>
        </p:nvSpPr>
        <p:spPr>
          <a:xfrm>
            <a:off x="715676" y="5303105"/>
            <a:ext cx="1080000" cy="1080000"/>
          </a:xfrm>
          <a:prstGeom prst="ellipse">
            <a:avLst/>
          </a:prstGeom>
          <a:blipFill dpi="0" rotWithShape="1">
            <a:blip r:embed="rId5">
              <a:extLst>
                <a:ext uri="{28A0092B-C50C-407E-A947-70E740481C1C}">
                  <a14:useLocalDpi xmlns:a14="http://schemas.microsoft.com/office/drawing/2010/main" val="0"/>
                </a:ext>
              </a:extLst>
            </a:blip>
            <a:srcRect/>
            <a:stretch>
              <a:fillRect/>
            </a:stretch>
          </a:bli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nvGrpSpPr>
          <p:cNvPr id="5" name="Group 4">
            <a:extLst>
              <a:ext uri="{FF2B5EF4-FFF2-40B4-BE49-F238E27FC236}">
                <a16:creationId xmlns:a16="http://schemas.microsoft.com/office/drawing/2014/main" id="{579BBCC2-696B-4EE1-4FE4-2E4411C0F251}"/>
              </a:ext>
            </a:extLst>
          </p:cNvPr>
          <p:cNvGrpSpPr/>
          <p:nvPr/>
        </p:nvGrpSpPr>
        <p:grpSpPr>
          <a:xfrm>
            <a:off x="7967672" y="5336710"/>
            <a:ext cx="3533766" cy="444265"/>
            <a:chOff x="7967672" y="5336710"/>
            <a:chExt cx="3533766" cy="444265"/>
          </a:xfrm>
        </p:grpSpPr>
        <p:grpSp>
          <p:nvGrpSpPr>
            <p:cNvPr id="6" name="Group 5">
              <a:extLst>
                <a:ext uri="{FF2B5EF4-FFF2-40B4-BE49-F238E27FC236}">
                  <a16:creationId xmlns:a16="http://schemas.microsoft.com/office/drawing/2014/main" id="{ACCE08EC-E9A8-C79D-4C75-8B6A9708A3FB}"/>
                </a:ext>
              </a:extLst>
            </p:cNvPr>
            <p:cNvGrpSpPr/>
            <p:nvPr/>
          </p:nvGrpSpPr>
          <p:grpSpPr>
            <a:xfrm>
              <a:off x="7967672" y="5370114"/>
              <a:ext cx="3508652" cy="369332"/>
              <a:chOff x="7896235" y="5406529"/>
              <a:chExt cx="3508652" cy="369332"/>
            </a:xfrm>
          </p:grpSpPr>
          <p:pic>
            <p:nvPicPr>
              <p:cNvPr id="8" name="Picture 7" descr="A black background with a black square&#10;&#10;Description automatically generated with medium confidence">
                <a:extLst>
                  <a:ext uri="{FF2B5EF4-FFF2-40B4-BE49-F238E27FC236}">
                    <a16:creationId xmlns:a16="http://schemas.microsoft.com/office/drawing/2014/main" id="{865BDC89-0957-2AB2-5308-DA5566DFCF2B}"/>
                  </a:ext>
                </a:extLst>
              </p:cNvPr>
              <p:cNvPicPr>
                <a:picLocks noChangeAspect="1"/>
              </p:cNvPicPr>
              <p:nvPr/>
            </p:nvPicPr>
            <p:blipFill>
              <a:blip r:embed="rId6"/>
              <a:stretch>
                <a:fillRect/>
              </a:stretch>
            </p:blipFill>
            <p:spPr>
              <a:xfrm>
                <a:off x="7896235" y="5422888"/>
                <a:ext cx="344101" cy="344101"/>
              </a:xfrm>
              <a:prstGeom prst="rect">
                <a:avLst/>
              </a:prstGeom>
            </p:spPr>
          </p:pic>
          <p:sp>
            <p:nvSpPr>
              <p:cNvPr id="9" name="TextBox 8">
                <a:extLst>
                  <a:ext uri="{FF2B5EF4-FFF2-40B4-BE49-F238E27FC236}">
                    <a16:creationId xmlns:a16="http://schemas.microsoft.com/office/drawing/2014/main" id="{045BE95E-49F9-842E-7B93-BDF91E09C7D3}"/>
                  </a:ext>
                </a:extLst>
              </p:cNvPr>
              <p:cNvSpPr txBox="1"/>
              <p:nvPr/>
            </p:nvSpPr>
            <p:spPr>
              <a:xfrm>
                <a:off x="8240336" y="5406529"/>
                <a:ext cx="2356992" cy="369332"/>
              </a:xfrm>
              <a:prstGeom prst="rect">
                <a:avLst/>
              </a:prstGeom>
              <a:noFill/>
            </p:spPr>
            <p:txBody>
              <a:bodyPr wrap="none" rtlCol="0">
                <a:spAutoFit/>
              </a:bodyPr>
              <a:lstStyle/>
              <a:p>
                <a:r>
                  <a:rPr lang="en-US" noProof="0" dirty="0" err="1"/>
                  <a:t>JulianFrattini</a:t>
                </a:r>
                <a:r>
                  <a:rPr lang="en-US" noProof="0" dirty="0"/>
                  <a:t>/</a:t>
                </a:r>
                <a:r>
                  <a:rPr lang="en-US" b="1" noProof="0" dirty="0"/>
                  <a:t>bda4sci</a:t>
                </a:r>
              </a:p>
            </p:txBody>
          </p:sp>
          <p:sp>
            <p:nvSpPr>
              <p:cNvPr id="10" name="Rectangle: Rounded Corners 9">
                <a:extLst>
                  <a:ext uri="{FF2B5EF4-FFF2-40B4-BE49-F238E27FC236}">
                    <a16:creationId xmlns:a16="http://schemas.microsoft.com/office/drawing/2014/main" id="{1E137170-F20B-D8DB-3856-32092459914B}"/>
                  </a:ext>
                </a:extLst>
              </p:cNvPr>
              <p:cNvSpPr/>
              <p:nvPr/>
            </p:nvSpPr>
            <p:spPr>
              <a:xfrm>
                <a:off x="10668000" y="5456392"/>
                <a:ext cx="736887" cy="279245"/>
              </a:xfrm>
              <a:prstGeom prst="roundRect">
                <a:avLst>
                  <a:gd name="adj" fmla="val 50000"/>
                </a:avLst>
              </a:prstGeom>
              <a:noFill/>
              <a:ln w="19050">
                <a:solidFill>
                  <a:schemeClr val="tx1">
                    <a:lumMod val="65000"/>
                    <a:lumOff val="3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noProof="0" dirty="0">
                    <a:solidFill>
                      <a:schemeClr val="tx1">
                        <a:lumMod val="65000"/>
                        <a:lumOff val="35000"/>
                      </a:schemeClr>
                    </a:solidFill>
                  </a:rPr>
                  <a:t>Public</a:t>
                </a:r>
              </a:p>
            </p:txBody>
          </p:sp>
        </p:grpSp>
        <p:sp>
          <p:nvSpPr>
            <p:cNvPr id="7" name="Rectangle 6">
              <a:hlinkClick r:id="rId7"/>
              <a:extLst>
                <a:ext uri="{FF2B5EF4-FFF2-40B4-BE49-F238E27FC236}">
                  <a16:creationId xmlns:a16="http://schemas.microsoft.com/office/drawing/2014/main" id="{1523D628-A64F-768E-A385-ECA75D071607}"/>
                </a:ext>
              </a:extLst>
            </p:cNvPr>
            <p:cNvSpPr/>
            <p:nvPr/>
          </p:nvSpPr>
          <p:spPr>
            <a:xfrm>
              <a:off x="7967672" y="5336710"/>
              <a:ext cx="3533766" cy="44426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Tree>
    <p:extLst>
      <p:ext uri="{BB962C8B-B14F-4D97-AF65-F5344CB8AC3E}">
        <p14:creationId xmlns:p14="http://schemas.microsoft.com/office/powerpoint/2010/main" val="194219890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med" p14:dur="700">
        <p159:morph option="byObject"/>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2A728DC6-6A8B-6679-470D-8EE922D9F461}"/>
              </a:ext>
            </a:extLst>
          </p:cNvPr>
          <p:cNvSpPr>
            <a:spLocks noGrp="1"/>
          </p:cNvSpPr>
          <p:nvPr>
            <p:ph type="title"/>
          </p:nvPr>
        </p:nvSpPr>
        <p:spPr/>
        <p:txBody>
          <a:bodyPr/>
          <a:lstStyle/>
          <a:p>
            <a:r>
              <a:rPr lang="en-SE" dirty="0"/>
              <a:t>Directed Acyclic Graphs</a:t>
            </a:r>
          </a:p>
        </p:txBody>
      </p:sp>
      <p:sp>
        <p:nvSpPr>
          <p:cNvPr id="7" name="Text Placeholder 6">
            <a:extLst>
              <a:ext uri="{FF2B5EF4-FFF2-40B4-BE49-F238E27FC236}">
                <a16:creationId xmlns:a16="http://schemas.microsoft.com/office/drawing/2014/main" id="{BADB7B05-1A56-1184-094D-6EFCCBEA782D}"/>
              </a:ext>
            </a:extLst>
          </p:cNvPr>
          <p:cNvSpPr>
            <a:spLocks noGrp="1"/>
          </p:cNvSpPr>
          <p:nvPr>
            <p:ph type="body" idx="1"/>
          </p:nvPr>
        </p:nvSpPr>
        <p:spPr/>
        <p:txBody>
          <a:bodyPr/>
          <a:lstStyle/>
          <a:p>
            <a:r>
              <a:rPr lang="en-SE" dirty="0"/>
              <a:t>A Syntax to Formalize Causal Assumptions</a:t>
            </a:r>
          </a:p>
        </p:txBody>
      </p:sp>
      <p:sp>
        <p:nvSpPr>
          <p:cNvPr id="4" name="Date Placeholder 3">
            <a:extLst>
              <a:ext uri="{FF2B5EF4-FFF2-40B4-BE49-F238E27FC236}">
                <a16:creationId xmlns:a16="http://schemas.microsoft.com/office/drawing/2014/main" id="{584E4B51-3457-50C8-968E-F6B913FF41A2}"/>
              </a:ext>
            </a:extLst>
          </p:cNvPr>
          <p:cNvSpPr>
            <a:spLocks noGrp="1"/>
          </p:cNvSpPr>
          <p:nvPr>
            <p:ph type="dt" sz="half" idx="10"/>
          </p:nvPr>
        </p:nvSpPr>
        <p:spPr/>
        <p:txBody>
          <a:bodyPr/>
          <a:lstStyle/>
          <a:p>
            <a:fld id="{A1C06950-82F8-45F4-A28D-9FBF8CAE29F7}" type="datetime1">
              <a:rPr lang="de-DE" smtClean="0"/>
              <a:t>17.03.2026</a:t>
            </a:fld>
            <a:endParaRPr lang="en-SE"/>
          </a:p>
        </p:txBody>
      </p:sp>
      <p:sp>
        <p:nvSpPr>
          <p:cNvPr id="5" name="Slide Number Placeholder 4">
            <a:extLst>
              <a:ext uri="{FF2B5EF4-FFF2-40B4-BE49-F238E27FC236}">
                <a16:creationId xmlns:a16="http://schemas.microsoft.com/office/drawing/2014/main" id="{B5DED573-87FD-5188-1E76-94590C78013B}"/>
              </a:ext>
            </a:extLst>
          </p:cNvPr>
          <p:cNvSpPr>
            <a:spLocks noGrp="1"/>
          </p:cNvSpPr>
          <p:nvPr>
            <p:ph type="sldNum" sz="quarter" idx="12"/>
          </p:nvPr>
        </p:nvSpPr>
        <p:spPr/>
        <p:txBody>
          <a:bodyPr/>
          <a:lstStyle/>
          <a:p>
            <a:fld id="{271ECC92-9CDE-4EB3-B1C5-F46B9E1FA3C1}" type="slidenum">
              <a:rPr lang="en-SE" smtClean="0"/>
              <a:t>2</a:t>
            </a:fld>
            <a:endParaRPr lang="en-SE"/>
          </a:p>
        </p:txBody>
      </p:sp>
    </p:spTree>
    <p:extLst>
      <p:ext uri="{BB962C8B-B14F-4D97-AF65-F5344CB8AC3E}">
        <p14:creationId xmlns:p14="http://schemas.microsoft.com/office/powerpoint/2010/main" val="273522238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med" p14:dur="700">
        <p159:morph option="byObject"/>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CE5DF5-1C47-AB9C-67AB-BA5DD6472943}"/>
              </a:ext>
            </a:extLst>
          </p:cNvPr>
          <p:cNvSpPr>
            <a:spLocks noGrp="1"/>
          </p:cNvSpPr>
          <p:nvPr>
            <p:ph type="title"/>
          </p:nvPr>
        </p:nvSpPr>
        <p:spPr/>
        <p:txBody>
          <a:bodyPr/>
          <a:lstStyle/>
          <a:p>
            <a:r>
              <a:rPr lang="en-SE" dirty="0"/>
              <a:t>Causal Modelling</a:t>
            </a:r>
          </a:p>
        </p:txBody>
      </p:sp>
      <p:sp>
        <p:nvSpPr>
          <p:cNvPr id="3" name="Content Placeholder 2">
            <a:extLst>
              <a:ext uri="{FF2B5EF4-FFF2-40B4-BE49-F238E27FC236}">
                <a16:creationId xmlns:a16="http://schemas.microsoft.com/office/drawing/2014/main" id="{0C1D0932-E5B2-570A-801C-FB679D242281}"/>
              </a:ext>
            </a:extLst>
          </p:cNvPr>
          <p:cNvSpPr>
            <a:spLocks noGrp="1"/>
          </p:cNvSpPr>
          <p:nvPr>
            <p:ph idx="1"/>
          </p:nvPr>
        </p:nvSpPr>
        <p:spPr/>
        <p:txBody>
          <a:bodyPr/>
          <a:lstStyle/>
          <a:p>
            <a:pPr marL="0" indent="0">
              <a:buNone/>
            </a:pPr>
            <a:r>
              <a:rPr lang="en-SE" dirty="0"/>
              <a:t>A</a:t>
            </a:r>
            <a:r>
              <a:rPr lang="en-US" dirty="0"/>
              <a:t> </a:t>
            </a:r>
            <a:r>
              <a:rPr lang="en-SE" dirty="0"/>
              <a:t>(structural) </a:t>
            </a:r>
            <a:r>
              <a:rPr lang="en-US" dirty="0"/>
              <a:t>causal model is a </a:t>
            </a:r>
            <a:r>
              <a:rPr lang="en-US" b="1" dirty="0"/>
              <a:t>conceptual model </a:t>
            </a:r>
            <a:r>
              <a:rPr lang="en-US" dirty="0"/>
              <a:t>that </a:t>
            </a:r>
            <a:r>
              <a:rPr lang="en-US" i="1" dirty="0"/>
              <a:t>represents the causal mechanisms of a system</a:t>
            </a:r>
            <a:r>
              <a:rPr lang="en-SE" dirty="0"/>
              <a:t> [1]. They serve two main purposes [2]:</a:t>
            </a:r>
          </a:p>
          <a:p>
            <a:pPr marL="514350" indent="-514350">
              <a:buFont typeface="+mj-lt"/>
              <a:buAutoNum type="arabicPeriod"/>
            </a:pPr>
            <a:r>
              <a:rPr lang="en-SE" b="1" dirty="0"/>
              <a:t>Visualizing causal assumptions </a:t>
            </a:r>
            <a:r>
              <a:rPr lang="en-SE" dirty="0"/>
              <a:t>and determining testable implications.</a:t>
            </a:r>
          </a:p>
          <a:p>
            <a:pPr marL="514350" indent="-514350">
              <a:buFont typeface="+mj-lt"/>
              <a:buAutoNum type="arabicPeriod"/>
            </a:pPr>
            <a:r>
              <a:rPr lang="en-SE" b="1" dirty="0"/>
              <a:t>Proving the possibility</a:t>
            </a:r>
            <a:r>
              <a:rPr lang="en-SE" dirty="0"/>
              <a:t> of computing causal effects from observational data.</a:t>
            </a:r>
          </a:p>
          <a:p>
            <a:pPr marL="0" indent="0">
              <a:buNone/>
            </a:pPr>
            <a:endParaRPr lang="en-SE" dirty="0"/>
          </a:p>
        </p:txBody>
      </p:sp>
      <p:sp>
        <p:nvSpPr>
          <p:cNvPr id="4" name="Date Placeholder 3">
            <a:extLst>
              <a:ext uri="{FF2B5EF4-FFF2-40B4-BE49-F238E27FC236}">
                <a16:creationId xmlns:a16="http://schemas.microsoft.com/office/drawing/2014/main" id="{4E11409B-DF23-3041-2093-6EF72D65E2AC}"/>
              </a:ext>
            </a:extLst>
          </p:cNvPr>
          <p:cNvSpPr>
            <a:spLocks noGrp="1"/>
          </p:cNvSpPr>
          <p:nvPr>
            <p:ph type="dt" sz="half" idx="10"/>
          </p:nvPr>
        </p:nvSpPr>
        <p:spPr/>
        <p:txBody>
          <a:bodyPr/>
          <a:lstStyle/>
          <a:p>
            <a:fld id="{A1C06950-82F8-45F4-A28D-9FBF8CAE29F7}" type="datetime1">
              <a:rPr lang="de-DE" smtClean="0"/>
              <a:t>17.03.2026</a:t>
            </a:fld>
            <a:endParaRPr lang="en-SE"/>
          </a:p>
        </p:txBody>
      </p:sp>
      <p:sp>
        <p:nvSpPr>
          <p:cNvPr id="5" name="Slide Number Placeholder 4">
            <a:extLst>
              <a:ext uri="{FF2B5EF4-FFF2-40B4-BE49-F238E27FC236}">
                <a16:creationId xmlns:a16="http://schemas.microsoft.com/office/drawing/2014/main" id="{E0F7FE09-3720-CE42-3654-137CE6024329}"/>
              </a:ext>
            </a:extLst>
          </p:cNvPr>
          <p:cNvSpPr>
            <a:spLocks noGrp="1"/>
          </p:cNvSpPr>
          <p:nvPr>
            <p:ph type="sldNum" sz="quarter" idx="12"/>
          </p:nvPr>
        </p:nvSpPr>
        <p:spPr/>
        <p:txBody>
          <a:bodyPr/>
          <a:lstStyle/>
          <a:p>
            <a:fld id="{271ECC92-9CDE-4EB3-B1C5-F46B9E1FA3C1}" type="slidenum">
              <a:rPr lang="en-SE" smtClean="0"/>
              <a:t>3</a:t>
            </a:fld>
            <a:endParaRPr lang="en-SE"/>
          </a:p>
        </p:txBody>
      </p:sp>
    </p:spTree>
    <p:extLst>
      <p:ext uri="{BB962C8B-B14F-4D97-AF65-F5344CB8AC3E}">
        <p14:creationId xmlns:p14="http://schemas.microsoft.com/office/powerpoint/2010/main" val="16112372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med" p14:dur="700">
        <p159:morph option="byObject"/>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4964DA-6318-2F75-058A-96F88B77D863}"/>
              </a:ext>
            </a:extLst>
          </p:cNvPr>
          <p:cNvSpPr>
            <a:spLocks noGrp="1"/>
          </p:cNvSpPr>
          <p:nvPr>
            <p:ph type="title"/>
          </p:nvPr>
        </p:nvSpPr>
        <p:spPr/>
        <p:txBody>
          <a:bodyPr/>
          <a:lstStyle/>
          <a:p>
            <a:r>
              <a:rPr lang="en-SE" dirty="0"/>
              <a:t>Structure of this Seminar</a:t>
            </a:r>
          </a:p>
        </p:txBody>
      </p:sp>
      <p:sp>
        <p:nvSpPr>
          <p:cNvPr id="3" name="Content Placeholder 2">
            <a:extLst>
              <a:ext uri="{FF2B5EF4-FFF2-40B4-BE49-F238E27FC236}">
                <a16:creationId xmlns:a16="http://schemas.microsoft.com/office/drawing/2014/main" id="{3B812EE6-55D5-532B-B79A-1B2F2D74AEDB}"/>
              </a:ext>
            </a:extLst>
          </p:cNvPr>
          <p:cNvSpPr>
            <a:spLocks noGrp="1"/>
          </p:cNvSpPr>
          <p:nvPr>
            <p:ph idx="1"/>
          </p:nvPr>
        </p:nvSpPr>
        <p:spPr>
          <a:xfrm>
            <a:off x="838200" y="1825625"/>
            <a:ext cx="10515600" cy="550022"/>
          </a:xfrm>
        </p:spPr>
        <p:txBody>
          <a:bodyPr/>
          <a:lstStyle/>
          <a:p>
            <a:pPr marL="0" indent="0">
              <a:buNone/>
            </a:pPr>
            <a:r>
              <a:rPr lang="en-SE" dirty="0"/>
              <a:t>Every lesson consists of its theory and one or more use cases.</a:t>
            </a:r>
          </a:p>
        </p:txBody>
      </p:sp>
      <p:sp>
        <p:nvSpPr>
          <p:cNvPr id="4" name="Date Placeholder 3">
            <a:extLst>
              <a:ext uri="{FF2B5EF4-FFF2-40B4-BE49-F238E27FC236}">
                <a16:creationId xmlns:a16="http://schemas.microsoft.com/office/drawing/2014/main" id="{51E8DE04-E79E-080F-E937-D7D334579554}"/>
              </a:ext>
            </a:extLst>
          </p:cNvPr>
          <p:cNvSpPr>
            <a:spLocks noGrp="1"/>
          </p:cNvSpPr>
          <p:nvPr>
            <p:ph type="dt" sz="half" idx="10"/>
          </p:nvPr>
        </p:nvSpPr>
        <p:spPr/>
        <p:txBody>
          <a:bodyPr/>
          <a:lstStyle/>
          <a:p>
            <a:fld id="{A1C06950-82F8-45F4-A28D-9FBF8CAE29F7}" type="datetime1">
              <a:rPr lang="de-DE" smtClean="0"/>
              <a:t>17.03.2026</a:t>
            </a:fld>
            <a:endParaRPr lang="en-SE"/>
          </a:p>
        </p:txBody>
      </p:sp>
      <p:sp>
        <p:nvSpPr>
          <p:cNvPr id="5" name="Slide Number Placeholder 4">
            <a:extLst>
              <a:ext uri="{FF2B5EF4-FFF2-40B4-BE49-F238E27FC236}">
                <a16:creationId xmlns:a16="http://schemas.microsoft.com/office/drawing/2014/main" id="{A93B6D25-C11E-CCF1-6FC3-A9827618F8E8}"/>
              </a:ext>
            </a:extLst>
          </p:cNvPr>
          <p:cNvSpPr>
            <a:spLocks noGrp="1"/>
          </p:cNvSpPr>
          <p:nvPr>
            <p:ph type="sldNum" sz="quarter" idx="12"/>
          </p:nvPr>
        </p:nvSpPr>
        <p:spPr/>
        <p:txBody>
          <a:bodyPr/>
          <a:lstStyle/>
          <a:p>
            <a:fld id="{271ECC92-9CDE-4EB3-B1C5-F46B9E1FA3C1}" type="slidenum">
              <a:rPr lang="en-SE" smtClean="0"/>
              <a:t>4</a:t>
            </a:fld>
            <a:endParaRPr lang="en-SE"/>
          </a:p>
        </p:txBody>
      </p:sp>
      <p:grpSp>
        <p:nvGrpSpPr>
          <p:cNvPr id="8" name="Group 7">
            <a:extLst>
              <a:ext uri="{FF2B5EF4-FFF2-40B4-BE49-F238E27FC236}">
                <a16:creationId xmlns:a16="http://schemas.microsoft.com/office/drawing/2014/main" id="{557A5804-81AF-9DD3-FB1B-5CD9C677CBE7}"/>
              </a:ext>
            </a:extLst>
          </p:cNvPr>
          <p:cNvGrpSpPr/>
          <p:nvPr/>
        </p:nvGrpSpPr>
        <p:grpSpPr>
          <a:xfrm>
            <a:off x="3336814" y="3214455"/>
            <a:ext cx="4383741" cy="1267899"/>
            <a:chOff x="4007223" y="3124807"/>
            <a:chExt cx="4383741" cy="1797424"/>
          </a:xfrm>
        </p:grpSpPr>
        <p:sp>
          <p:nvSpPr>
            <p:cNvPr id="6" name="Arrow: Pentagon 5">
              <a:extLst>
                <a:ext uri="{FF2B5EF4-FFF2-40B4-BE49-F238E27FC236}">
                  <a16:creationId xmlns:a16="http://schemas.microsoft.com/office/drawing/2014/main" id="{37B0FD1D-BC4F-1784-9299-C5AA35CF9CD8}"/>
                </a:ext>
              </a:extLst>
            </p:cNvPr>
            <p:cNvSpPr/>
            <p:nvPr/>
          </p:nvSpPr>
          <p:spPr>
            <a:xfrm>
              <a:off x="4007223" y="3124807"/>
              <a:ext cx="2384612" cy="1797424"/>
            </a:xfrm>
            <a:prstGeom prst="homePlate">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SE" dirty="0"/>
                <a:t>Theory</a:t>
              </a:r>
            </a:p>
          </p:txBody>
        </p:sp>
        <p:sp>
          <p:nvSpPr>
            <p:cNvPr id="7" name="Arrow: Chevron 6">
              <a:extLst>
                <a:ext uri="{FF2B5EF4-FFF2-40B4-BE49-F238E27FC236}">
                  <a16:creationId xmlns:a16="http://schemas.microsoft.com/office/drawing/2014/main" id="{A612D421-CB6A-403E-2FAF-CD322542F251}"/>
                </a:ext>
              </a:extLst>
            </p:cNvPr>
            <p:cNvSpPr/>
            <p:nvPr/>
          </p:nvSpPr>
          <p:spPr>
            <a:xfrm>
              <a:off x="5867400" y="3124807"/>
              <a:ext cx="2523564" cy="1797424"/>
            </a:xfrm>
            <a:prstGeom prst="chevron">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SE" dirty="0">
                  <a:solidFill>
                    <a:schemeClr val="tx1"/>
                  </a:solidFill>
                </a:rPr>
                <a:t>Use Case</a:t>
              </a:r>
            </a:p>
          </p:txBody>
        </p:sp>
      </p:grpSp>
    </p:spTree>
    <p:extLst>
      <p:ext uri="{BB962C8B-B14F-4D97-AF65-F5344CB8AC3E}">
        <p14:creationId xmlns:p14="http://schemas.microsoft.com/office/powerpoint/2010/main" val="333436901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med" p14:dur="700">
        <p159:morph option="byObject"/>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EB0B92-803A-8B09-F829-33CDB61E3572}"/>
              </a:ext>
            </a:extLst>
          </p:cNvPr>
          <p:cNvSpPr>
            <a:spLocks noGrp="1"/>
          </p:cNvSpPr>
          <p:nvPr>
            <p:ph type="title"/>
          </p:nvPr>
        </p:nvSpPr>
        <p:spPr/>
        <p:txBody>
          <a:bodyPr/>
          <a:lstStyle/>
          <a:p>
            <a:r>
              <a:rPr lang="en-SE" dirty="0"/>
              <a:t>Directed Acyclic Graphs</a:t>
            </a:r>
          </a:p>
        </p:txBody>
      </p:sp>
      <p:sp>
        <p:nvSpPr>
          <p:cNvPr id="6" name="Content Placeholder 5">
            <a:extLst>
              <a:ext uri="{FF2B5EF4-FFF2-40B4-BE49-F238E27FC236}">
                <a16:creationId xmlns:a16="http://schemas.microsoft.com/office/drawing/2014/main" id="{0E66D9AC-B6FB-0B9E-C15F-BADAAB3DDC12}"/>
              </a:ext>
            </a:extLst>
          </p:cNvPr>
          <p:cNvSpPr>
            <a:spLocks noGrp="1"/>
          </p:cNvSpPr>
          <p:nvPr>
            <p:ph idx="1"/>
          </p:nvPr>
        </p:nvSpPr>
        <p:spPr>
          <a:xfrm>
            <a:off x="838200" y="1825625"/>
            <a:ext cx="10515600" cy="786946"/>
          </a:xfrm>
        </p:spPr>
        <p:txBody>
          <a:bodyPr/>
          <a:lstStyle/>
          <a:p>
            <a:pPr marL="0" indent="0">
              <a:buNone/>
            </a:pPr>
            <a:r>
              <a:rPr lang="en-SE" dirty="0"/>
              <a:t>Causal models can be realized as directed, acyclic graphs (</a:t>
            </a:r>
            <a:r>
              <a:rPr lang="en-SE" dirty="0" err="1"/>
              <a:t>DAGs</a:t>
            </a:r>
            <a:r>
              <a:rPr lang="en-SE" dirty="0"/>
              <a:t>).</a:t>
            </a:r>
          </a:p>
        </p:txBody>
      </p:sp>
      <p:sp>
        <p:nvSpPr>
          <p:cNvPr id="4" name="Date Placeholder 3">
            <a:extLst>
              <a:ext uri="{FF2B5EF4-FFF2-40B4-BE49-F238E27FC236}">
                <a16:creationId xmlns:a16="http://schemas.microsoft.com/office/drawing/2014/main" id="{90A8502D-EBCD-96C1-E6AE-79F3D8929CCC}"/>
              </a:ext>
            </a:extLst>
          </p:cNvPr>
          <p:cNvSpPr>
            <a:spLocks noGrp="1"/>
          </p:cNvSpPr>
          <p:nvPr>
            <p:ph type="dt" sz="half" idx="10"/>
          </p:nvPr>
        </p:nvSpPr>
        <p:spPr/>
        <p:txBody>
          <a:bodyPr/>
          <a:lstStyle/>
          <a:p>
            <a:fld id="{A1C06950-82F8-45F4-A28D-9FBF8CAE29F7}" type="datetime1">
              <a:rPr lang="de-DE" smtClean="0"/>
              <a:t>17.03.2026</a:t>
            </a:fld>
            <a:endParaRPr lang="en-SE"/>
          </a:p>
        </p:txBody>
      </p:sp>
      <p:sp>
        <p:nvSpPr>
          <p:cNvPr id="5" name="Slide Number Placeholder 4">
            <a:extLst>
              <a:ext uri="{FF2B5EF4-FFF2-40B4-BE49-F238E27FC236}">
                <a16:creationId xmlns:a16="http://schemas.microsoft.com/office/drawing/2014/main" id="{835A1315-2881-226F-F35C-C9C7C04AEB25}"/>
              </a:ext>
            </a:extLst>
          </p:cNvPr>
          <p:cNvSpPr>
            <a:spLocks noGrp="1"/>
          </p:cNvSpPr>
          <p:nvPr>
            <p:ph type="sldNum" sz="quarter" idx="12"/>
          </p:nvPr>
        </p:nvSpPr>
        <p:spPr/>
        <p:txBody>
          <a:bodyPr/>
          <a:lstStyle/>
          <a:p>
            <a:fld id="{271ECC92-9CDE-4EB3-B1C5-F46B9E1FA3C1}" type="slidenum">
              <a:rPr lang="en-SE" smtClean="0"/>
              <a:t>5</a:t>
            </a:fld>
            <a:endParaRPr lang="en-SE"/>
          </a:p>
        </p:txBody>
      </p:sp>
      <p:grpSp>
        <p:nvGrpSpPr>
          <p:cNvPr id="49" name="Group 48">
            <a:extLst>
              <a:ext uri="{FF2B5EF4-FFF2-40B4-BE49-F238E27FC236}">
                <a16:creationId xmlns:a16="http://schemas.microsoft.com/office/drawing/2014/main" id="{81B54251-FF04-F280-F76A-C829216A95CA}"/>
              </a:ext>
            </a:extLst>
          </p:cNvPr>
          <p:cNvGrpSpPr/>
          <p:nvPr/>
        </p:nvGrpSpPr>
        <p:grpSpPr>
          <a:xfrm>
            <a:off x="4425166" y="3102597"/>
            <a:ext cx="2851380" cy="360000"/>
            <a:chOff x="4431353" y="2849512"/>
            <a:chExt cx="2851380" cy="360000"/>
          </a:xfrm>
        </p:grpSpPr>
        <p:sp>
          <p:nvSpPr>
            <p:cNvPr id="8" name="Oval 7">
              <a:extLst>
                <a:ext uri="{FF2B5EF4-FFF2-40B4-BE49-F238E27FC236}">
                  <a16:creationId xmlns:a16="http://schemas.microsoft.com/office/drawing/2014/main" id="{0A394FEB-D389-ED2B-560F-B2A1526DA755}"/>
                </a:ext>
              </a:extLst>
            </p:cNvPr>
            <p:cNvSpPr/>
            <p:nvPr/>
          </p:nvSpPr>
          <p:spPr>
            <a:xfrm>
              <a:off x="4431353" y="2849512"/>
              <a:ext cx="360000" cy="360000"/>
            </a:xfrm>
            <a:prstGeom prst="ellipse">
              <a:avLst/>
            </a:prstGeom>
            <a:solidFill>
              <a:srgbClr val="F8766D"/>
            </a:solidFill>
            <a:ln>
              <a:solidFill>
                <a:srgbClr val="D0180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SE" noProof="0" dirty="0">
                  <a:solidFill>
                    <a:srgbClr val="D0180A"/>
                  </a:solidFill>
                </a:rPr>
                <a:t>x</a:t>
              </a:r>
              <a:endParaRPr lang="en-US" noProof="0" dirty="0">
                <a:solidFill>
                  <a:srgbClr val="D0180A"/>
                </a:solidFill>
              </a:endParaRPr>
            </a:p>
          </p:txBody>
        </p:sp>
        <p:sp>
          <p:nvSpPr>
            <p:cNvPr id="9" name="Oval 8">
              <a:extLst>
                <a:ext uri="{FF2B5EF4-FFF2-40B4-BE49-F238E27FC236}">
                  <a16:creationId xmlns:a16="http://schemas.microsoft.com/office/drawing/2014/main" id="{D2B96BE9-03FA-9841-F7FA-979F7C35976C}"/>
                </a:ext>
              </a:extLst>
            </p:cNvPr>
            <p:cNvSpPr/>
            <p:nvPr/>
          </p:nvSpPr>
          <p:spPr>
            <a:xfrm>
              <a:off x="6922733" y="2849512"/>
              <a:ext cx="360000" cy="360000"/>
            </a:xfrm>
            <a:prstGeom prst="ellipse">
              <a:avLst/>
            </a:prstGeom>
            <a:solidFill>
              <a:srgbClr val="00BFC4"/>
            </a:solidFill>
            <a:ln>
              <a:solidFill>
                <a:srgbClr val="006D7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SE" noProof="0" dirty="0">
                  <a:solidFill>
                    <a:srgbClr val="006D70"/>
                  </a:solidFill>
                </a:rPr>
                <a:t>y</a:t>
              </a:r>
              <a:endParaRPr lang="en-US" noProof="0" dirty="0">
                <a:solidFill>
                  <a:srgbClr val="006D70"/>
                </a:solidFill>
              </a:endParaRPr>
            </a:p>
          </p:txBody>
        </p:sp>
        <p:cxnSp>
          <p:nvCxnSpPr>
            <p:cNvPr id="10" name="Straight Arrow Connector 9">
              <a:extLst>
                <a:ext uri="{FF2B5EF4-FFF2-40B4-BE49-F238E27FC236}">
                  <a16:creationId xmlns:a16="http://schemas.microsoft.com/office/drawing/2014/main" id="{1C906011-3D06-E783-3823-86F7F37BC9ED}"/>
                </a:ext>
              </a:extLst>
            </p:cNvPr>
            <p:cNvCxnSpPr>
              <a:stCxn id="8" idx="6"/>
              <a:endCxn id="9" idx="2"/>
            </p:cNvCxnSpPr>
            <p:nvPr/>
          </p:nvCxnSpPr>
          <p:spPr>
            <a:xfrm>
              <a:off x="4791353" y="3029512"/>
              <a:ext cx="2131380"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grpSp>
      <p:grpSp>
        <p:nvGrpSpPr>
          <p:cNvPr id="21" name="Group 20">
            <a:extLst>
              <a:ext uri="{FF2B5EF4-FFF2-40B4-BE49-F238E27FC236}">
                <a16:creationId xmlns:a16="http://schemas.microsoft.com/office/drawing/2014/main" id="{99589101-93C4-A77A-EC84-996EF342BC87}"/>
              </a:ext>
            </a:extLst>
          </p:cNvPr>
          <p:cNvGrpSpPr/>
          <p:nvPr/>
        </p:nvGrpSpPr>
        <p:grpSpPr>
          <a:xfrm>
            <a:off x="1076545" y="4856774"/>
            <a:ext cx="1417151" cy="360000"/>
            <a:chOff x="1076545" y="4856774"/>
            <a:chExt cx="1417151" cy="360000"/>
          </a:xfrm>
        </p:grpSpPr>
        <p:sp>
          <p:nvSpPr>
            <p:cNvPr id="22" name="Oval 21">
              <a:extLst>
                <a:ext uri="{FF2B5EF4-FFF2-40B4-BE49-F238E27FC236}">
                  <a16:creationId xmlns:a16="http://schemas.microsoft.com/office/drawing/2014/main" id="{49464A4B-25CC-BE9E-2980-54A61952112E}"/>
                </a:ext>
              </a:extLst>
            </p:cNvPr>
            <p:cNvSpPr/>
            <p:nvPr/>
          </p:nvSpPr>
          <p:spPr>
            <a:xfrm>
              <a:off x="1076545" y="4856774"/>
              <a:ext cx="360000" cy="360000"/>
            </a:xfrm>
            <a:prstGeom prst="ellipse">
              <a:avLst/>
            </a:prstGeom>
            <a:solidFill>
              <a:srgbClr val="F8766D"/>
            </a:solidFill>
            <a:ln>
              <a:solidFill>
                <a:srgbClr val="D0180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3" name="TextBox 22">
              <a:extLst>
                <a:ext uri="{FF2B5EF4-FFF2-40B4-BE49-F238E27FC236}">
                  <a16:creationId xmlns:a16="http://schemas.microsoft.com/office/drawing/2014/main" id="{2A304390-CFC2-F70F-F2C8-009675821AFC}"/>
                </a:ext>
              </a:extLst>
            </p:cNvPr>
            <p:cNvSpPr txBox="1"/>
            <p:nvPr/>
          </p:nvSpPr>
          <p:spPr>
            <a:xfrm>
              <a:off x="1495794" y="4867742"/>
              <a:ext cx="997902" cy="338554"/>
            </a:xfrm>
            <a:prstGeom prst="rect">
              <a:avLst/>
            </a:prstGeom>
            <a:noFill/>
          </p:spPr>
          <p:txBody>
            <a:bodyPr wrap="none" rtlCol="0">
              <a:spAutoFit/>
            </a:bodyPr>
            <a:lstStyle/>
            <a:p>
              <a:r>
                <a:rPr lang="en-SE" sz="1600" noProof="0" dirty="0"/>
                <a:t>exposure</a:t>
              </a:r>
              <a:endParaRPr lang="en-US" sz="1600" noProof="0" dirty="0"/>
            </a:p>
          </p:txBody>
        </p:sp>
      </p:grpSp>
      <p:grpSp>
        <p:nvGrpSpPr>
          <p:cNvPr id="24" name="Group 23">
            <a:extLst>
              <a:ext uri="{FF2B5EF4-FFF2-40B4-BE49-F238E27FC236}">
                <a16:creationId xmlns:a16="http://schemas.microsoft.com/office/drawing/2014/main" id="{DEFFF5FA-13E3-DB63-C98B-D0D5A553AB92}"/>
              </a:ext>
            </a:extLst>
          </p:cNvPr>
          <p:cNvGrpSpPr/>
          <p:nvPr/>
        </p:nvGrpSpPr>
        <p:grpSpPr>
          <a:xfrm>
            <a:off x="1074854" y="5309376"/>
            <a:ext cx="1428215" cy="360000"/>
            <a:chOff x="1074854" y="5309376"/>
            <a:chExt cx="1428215" cy="360000"/>
          </a:xfrm>
        </p:grpSpPr>
        <p:sp>
          <p:nvSpPr>
            <p:cNvPr id="25" name="Oval 24">
              <a:extLst>
                <a:ext uri="{FF2B5EF4-FFF2-40B4-BE49-F238E27FC236}">
                  <a16:creationId xmlns:a16="http://schemas.microsoft.com/office/drawing/2014/main" id="{17C995C8-20A4-8371-2AA2-F4FED47222E9}"/>
                </a:ext>
              </a:extLst>
            </p:cNvPr>
            <p:cNvSpPr/>
            <p:nvPr/>
          </p:nvSpPr>
          <p:spPr>
            <a:xfrm>
              <a:off x="1074854" y="5309376"/>
              <a:ext cx="360000" cy="360000"/>
            </a:xfrm>
            <a:prstGeom prst="ellipse">
              <a:avLst/>
            </a:prstGeom>
            <a:solidFill>
              <a:srgbClr val="00BFC4"/>
            </a:solidFill>
            <a:ln>
              <a:solidFill>
                <a:srgbClr val="006D7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6" name="TextBox 25">
              <a:extLst>
                <a:ext uri="{FF2B5EF4-FFF2-40B4-BE49-F238E27FC236}">
                  <a16:creationId xmlns:a16="http://schemas.microsoft.com/office/drawing/2014/main" id="{238249DC-65F3-BB27-68BE-60DB8AABB290}"/>
                </a:ext>
              </a:extLst>
            </p:cNvPr>
            <p:cNvSpPr txBox="1"/>
            <p:nvPr/>
          </p:nvSpPr>
          <p:spPr>
            <a:xfrm>
              <a:off x="1495677" y="5320099"/>
              <a:ext cx="1007392" cy="338554"/>
            </a:xfrm>
            <a:prstGeom prst="rect">
              <a:avLst/>
            </a:prstGeom>
            <a:noFill/>
          </p:spPr>
          <p:txBody>
            <a:bodyPr wrap="none" rtlCol="0">
              <a:spAutoFit/>
            </a:bodyPr>
            <a:lstStyle/>
            <a:p>
              <a:r>
                <a:rPr lang="en-SE" sz="1600" noProof="0" dirty="0"/>
                <a:t>response</a:t>
              </a:r>
              <a:endParaRPr lang="en-US" sz="1600" noProof="0" dirty="0"/>
            </a:p>
          </p:txBody>
        </p:sp>
      </p:grpSp>
      <p:grpSp>
        <p:nvGrpSpPr>
          <p:cNvPr id="27" name="Group 26">
            <a:extLst>
              <a:ext uri="{FF2B5EF4-FFF2-40B4-BE49-F238E27FC236}">
                <a16:creationId xmlns:a16="http://schemas.microsoft.com/office/drawing/2014/main" id="{E94A2CDF-64BD-5B91-430F-77FB4370700B}"/>
              </a:ext>
            </a:extLst>
          </p:cNvPr>
          <p:cNvGrpSpPr/>
          <p:nvPr/>
        </p:nvGrpSpPr>
        <p:grpSpPr>
          <a:xfrm>
            <a:off x="3396566" y="4757200"/>
            <a:ext cx="2457272" cy="584775"/>
            <a:chOff x="3396566" y="4757200"/>
            <a:chExt cx="2457272" cy="584775"/>
          </a:xfrm>
        </p:grpSpPr>
        <p:cxnSp>
          <p:nvCxnSpPr>
            <p:cNvPr id="28" name="Straight Arrow Connector 27">
              <a:extLst>
                <a:ext uri="{FF2B5EF4-FFF2-40B4-BE49-F238E27FC236}">
                  <a16:creationId xmlns:a16="http://schemas.microsoft.com/office/drawing/2014/main" id="{1211FD7A-69D5-1C39-C7D8-D29753F78653}"/>
                </a:ext>
              </a:extLst>
            </p:cNvPr>
            <p:cNvCxnSpPr>
              <a:cxnSpLocks/>
            </p:cNvCxnSpPr>
            <p:nvPr/>
          </p:nvCxnSpPr>
          <p:spPr>
            <a:xfrm>
              <a:off x="3396566" y="5052796"/>
              <a:ext cx="277200"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29" name="TextBox 28">
              <a:extLst>
                <a:ext uri="{FF2B5EF4-FFF2-40B4-BE49-F238E27FC236}">
                  <a16:creationId xmlns:a16="http://schemas.microsoft.com/office/drawing/2014/main" id="{90BAF563-3A9A-EF8A-B5A1-7018E14DEB9D}"/>
                </a:ext>
              </a:extLst>
            </p:cNvPr>
            <p:cNvSpPr txBox="1"/>
            <p:nvPr/>
          </p:nvSpPr>
          <p:spPr>
            <a:xfrm>
              <a:off x="4093548" y="4757200"/>
              <a:ext cx="1760290" cy="584775"/>
            </a:xfrm>
            <a:prstGeom prst="rect">
              <a:avLst/>
            </a:prstGeom>
            <a:noFill/>
          </p:spPr>
          <p:txBody>
            <a:bodyPr wrap="none" rtlCol="0">
              <a:spAutoFit/>
            </a:bodyPr>
            <a:lstStyle/>
            <a:p>
              <a:r>
                <a:rPr lang="en-SE" sz="1600" noProof="0" dirty="0"/>
                <a:t>(assumed) causal</a:t>
              </a:r>
              <a:br>
                <a:rPr lang="en-SE" sz="1600" noProof="0" dirty="0"/>
              </a:br>
              <a:r>
                <a:rPr lang="en-SE" sz="1600" noProof="0" dirty="0"/>
                <a:t>relationship</a:t>
              </a:r>
              <a:endParaRPr lang="en-US" sz="1600" noProof="0" dirty="0"/>
            </a:p>
          </p:txBody>
        </p:sp>
      </p:grpSp>
      <p:grpSp>
        <p:nvGrpSpPr>
          <p:cNvPr id="36" name="Group 35">
            <a:extLst>
              <a:ext uri="{FF2B5EF4-FFF2-40B4-BE49-F238E27FC236}">
                <a16:creationId xmlns:a16="http://schemas.microsoft.com/office/drawing/2014/main" id="{D227ACC8-46F6-AAE9-68E6-EAD0BF355D90}"/>
              </a:ext>
            </a:extLst>
          </p:cNvPr>
          <p:cNvGrpSpPr/>
          <p:nvPr/>
        </p:nvGrpSpPr>
        <p:grpSpPr>
          <a:xfrm>
            <a:off x="3036566" y="5308246"/>
            <a:ext cx="2435291" cy="360000"/>
            <a:chOff x="3036566" y="4872796"/>
            <a:chExt cx="2435291" cy="360000"/>
          </a:xfrm>
        </p:grpSpPr>
        <p:sp>
          <p:nvSpPr>
            <p:cNvPr id="37" name="Oval 36">
              <a:extLst>
                <a:ext uri="{FF2B5EF4-FFF2-40B4-BE49-F238E27FC236}">
                  <a16:creationId xmlns:a16="http://schemas.microsoft.com/office/drawing/2014/main" id="{53883E95-0686-FBC2-C97A-21AEE4B96D78}"/>
                </a:ext>
              </a:extLst>
            </p:cNvPr>
            <p:cNvSpPr/>
            <p:nvPr/>
          </p:nvSpPr>
          <p:spPr>
            <a:xfrm>
              <a:off x="3036566" y="4872796"/>
              <a:ext cx="360000" cy="360000"/>
            </a:xfrm>
            <a:prstGeom prst="ellipse">
              <a:avLst/>
            </a:prstGeom>
            <a:solidFill>
              <a:srgbClr val="F8766D"/>
            </a:solidFill>
            <a:ln>
              <a:solidFill>
                <a:srgbClr val="D0180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8" name="Oval 37">
              <a:extLst>
                <a:ext uri="{FF2B5EF4-FFF2-40B4-BE49-F238E27FC236}">
                  <a16:creationId xmlns:a16="http://schemas.microsoft.com/office/drawing/2014/main" id="{B8727B5D-54A5-7AE7-DA53-FDB109ABC186}"/>
                </a:ext>
              </a:extLst>
            </p:cNvPr>
            <p:cNvSpPr/>
            <p:nvPr/>
          </p:nvSpPr>
          <p:spPr>
            <a:xfrm>
              <a:off x="3673766" y="4872796"/>
              <a:ext cx="360000" cy="360000"/>
            </a:xfrm>
            <a:prstGeom prst="ellipse">
              <a:avLst/>
            </a:prstGeom>
            <a:solidFill>
              <a:srgbClr val="00BFC4"/>
            </a:solidFill>
            <a:ln>
              <a:solidFill>
                <a:srgbClr val="006D7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cxnSp>
          <p:nvCxnSpPr>
            <p:cNvPr id="39" name="Straight Arrow Connector 38">
              <a:extLst>
                <a:ext uri="{FF2B5EF4-FFF2-40B4-BE49-F238E27FC236}">
                  <a16:creationId xmlns:a16="http://schemas.microsoft.com/office/drawing/2014/main" id="{7334930B-B9D9-7152-55D6-214A3C87C7DB}"/>
                </a:ext>
              </a:extLst>
            </p:cNvPr>
            <p:cNvCxnSpPr>
              <a:stCxn id="37" idx="6"/>
              <a:endCxn id="38" idx="2"/>
            </p:cNvCxnSpPr>
            <p:nvPr/>
          </p:nvCxnSpPr>
          <p:spPr>
            <a:xfrm>
              <a:off x="3396566" y="5052796"/>
              <a:ext cx="277200"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40" name="TextBox 39">
              <a:extLst>
                <a:ext uri="{FF2B5EF4-FFF2-40B4-BE49-F238E27FC236}">
                  <a16:creationId xmlns:a16="http://schemas.microsoft.com/office/drawing/2014/main" id="{67C69D8A-F13E-6081-0C6D-EC464B67C7F3}"/>
                </a:ext>
              </a:extLst>
            </p:cNvPr>
            <p:cNvSpPr txBox="1"/>
            <p:nvPr/>
          </p:nvSpPr>
          <p:spPr>
            <a:xfrm>
              <a:off x="4099365" y="4877874"/>
              <a:ext cx="1372492" cy="338554"/>
            </a:xfrm>
            <a:prstGeom prst="rect">
              <a:avLst/>
            </a:prstGeom>
            <a:noFill/>
          </p:spPr>
          <p:txBody>
            <a:bodyPr wrap="none" rtlCol="0">
              <a:spAutoFit/>
            </a:bodyPr>
            <a:lstStyle/>
            <a:p>
              <a:r>
                <a:rPr lang="en-US" sz="1600" noProof="0" dirty="0"/>
                <a:t>phenomenon</a:t>
              </a:r>
            </a:p>
          </p:txBody>
        </p:sp>
      </p:grpSp>
      <p:grpSp>
        <p:nvGrpSpPr>
          <p:cNvPr id="50" name="Group 49">
            <a:extLst>
              <a:ext uri="{FF2B5EF4-FFF2-40B4-BE49-F238E27FC236}">
                <a16:creationId xmlns:a16="http://schemas.microsoft.com/office/drawing/2014/main" id="{00311B17-4492-AE7C-EF0B-995010D3820C}"/>
              </a:ext>
            </a:extLst>
          </p:cNvPr>
          <p:cNvGrpSpPr/>
          <p:nvPr/>
        </p:nvGrpSpPr>
        <p:grpSpPr>
          <a:xfrm>
            <a:off x="838198" y="365125"/>
            <a:ext cx="1983884" cy="245531"/>
            <a:chOff x="4114799" y="3759391"/>
            <a:chExt cx="1983884" cy="1229241"/>
          </a:xfrm>
        </p:grpSpPr>
        <p:sp>
          <p:nvSpPr>
            <p:cNvPr id="51" name="Arrow: Pentagon 50">
              <a:extLst>
                <a:ext uri="{FF2B5EF4-FFF2-40B4-BE49-F238E27FC236}">
                  <a16:creationId xmlns:a16="http://schemas.microsoft.com/office/drawing/2014/main" id="{D937EAE5-0B8E-5028-4FF5-55E5084D44BC}"/>
                </a:ext>
              </a:extLst>
            </p:cNvPr>
            <p:cNvSpPr/>
            <p:nvPr/>
          </p:nvSpPr>
          <p:spPr>
            <a:xfrm>
              <a:off x="4114799" y="3759391"/>
              <a:ext cx="794039" cy="1229241"/>
            </a:xfrm>
            <a:prstGeom prst="homePlate">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SE" sz="1400" dirty="0"/>
                <a:t>Theory</a:t>
              </a:r>
            </a:p>
          </p:txBody>
        </p:sp>
        <p:sp>
          <p:nvSpPr>
            <p:cNvPr id="52" name="Arrow: Chevron 51">
              <a:extLst>
                <a:ext uri="{FF2B5EF4-FFF2-40B4-BE49-F238E27FC236}">
                  <a16:creationId xmlns:a16="http://schemas.microsoft.com/office/drawing/2014/main" id="{882CB19B-FC48-B258-5CF9-2A2612FAE6CE}"/>
                </a:ext>
              </a:extLst>
            </p:cNvPr>
            <p:cNvSpPr/>
            <p:nvPr/>
          </p:nvSpPr>
          <p:spPr>
            <a:xfrm>
              <a:off x="4843616" y="3759391"/>
              <a:ext cx="1255067" cy="1229241"/>
            </a:xfrm>
            <a:prstGeom prst="chevron">
              <a:avLst/>
            </a:prstGeom>
            <a:solidFill>
              <a:schemeClr val="bg1">
                <a:lumMod val="85000"/>
              </a:schemeClr>
            </a:solidFill>
            <a:ln>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SE" sz="1400" dirty="0">
                  <a:solidFill>
                    <a:schemeClr val="bg1">
                      <a:lumMod val="75000"/>
                    </a:schemeClr>
                  </a:solidFill>
                </a:rPr>
                <a:t>Use Case</a:t>
              </a:r>
            </a:p>
          </p:txBody>
        </p:sp>
      </p:grpSp>
    </p:spTree>
    <p:extLst>
      <p:ext uri="{BB962C8B-B14F-4D97-AF65-F5344CB8AC3E}">
        <p14:creationId xmlns:p14="http://schemas.microsoft.com/office/powerpoint/2010/main" val="126122276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med" p14:dur="700">
        <p159:morph option="byObject"/>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21"/>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4"/>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2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8A5F62-34FF-DB0A-4AEF-D49C61799DCE}"/>
              </a:ext>
            </a:extLst>
          </p:cNvPr>
          <p:cNvSpPr>
            <a:spLocks noGrp="1"/>
          </p:cNvSpPr>
          <p:nvPr>
            <p:ph type="title"/>
          </p:nvPr>
        </p:nvSpPr>
        <p:spPr/>
        <p:txBody>
          <a:bodyPr/>
          <a:lstStyle/>
          <a:p>
            <a:r>
              <a:rPr lang="en-SE" dirty="0"/>
              <a:t>Formulating Casual Hypotheses</a:t>
            </a:r>
          </a:p>
        </p:txBody>
      </p:sp>
      <p:sp>
        <p:nvSpPr>
          <p:cNvPr id="3" name="Content Placeholder 2">
            <a:extLst>
              <a:ext uri="{FF2B5EF4-FFF2-40B4-BE49-F238E27FC236}">
                <a16:creationId xmlns:a16="http://schemas.microsoft.com/office/drawing/2014/main" id="{12DE2C76-CA4A-2A82-C7A6-96D7EB9023DF}"/>
              </a:ext>
            </a:extLst>
          </p:cNvPr>
          <p:cNvSpPr>
            <a:spLocks noGrp="1"/>
          </p:cNvSpPr>
          <p:nvPr>
            <p:ph idx="1"/>
          </p:nvPr>
        </p:nvSpPr>
        <p:spPr>
          <a:xfrm>
            <a:off x="838200" y="1825625"/>
            <a:ext cx="10515600" cy="1131331"/>
          </a:xfrm>
        </p:spPr>
        <p:txBody>
          <a:bodyPr/>
          <a:lstStyle/>
          <a:p>
            <a:pPr marL="0" indent="0">
              <a:buNone/>
            </a:pPr>
            <a:r>
              <a:rPr lang="de-DE" dirty="0"/>
              <a:t>DAGs </a:t>
            </a:r>
            <a:r>
              <a:rPr lang="de-DE" dirty="0" err="1"/>
              <a:t>conve</a:t>
            </a:r>
            <a:r>
              <a:rPr lang="en-SE" dirty="0"/>
              <a:t>y complex relationships between multiple variables in a simple and straightforward manner.</a:t>
            </a:r>
          </a:p>
        </p:txBody>
      </p:sp>
      <p:sp>
        <p:nvSpPr>
          <p:cNvPr id="4" name="Date Placeholder 3">
            <a:extLst>
              <a:ext uri="{FF2B5EF4-FFF2-40B4-BE49-F238E27FC236}">
                <a16:creationId xmlns:a16="http://schemas.microsoft.com/office/drawing/2014/main" id="{5FC5B4BB-DB5C-9D7B-31B9-14C466FFFC14}"/>
              </a:ext>
            </a:extLst>
          </p:cNvPr>
          <p:cNvSpPr>
            <a:spLocks noGrp="1"/>
          </p:cNvSpPr>
          <p:nvPr>
            <p:ph type="dt" sz="half" idx="10"/>
          </p:nvPr>
        </p:nvSpPr>
        <p:spPr/>
        <p:txBody>
          <a:bodyPr/>
          <a:lstStyle/>
          <a:p>
            <a:fld id="{A1C06950-82F8-45F4-A28D-9FBF8CAE29F7}" type="datetime1">
              <a:rPr lang="de-DE" smtClean="0"/>
              <a:t>17.03.2026</a:t>
            </a:fld>
            <a:endParaRPr lang="en-SE"/>
          </a:p>
        </p:txBody>
      </p:sp>
      <p:sp>
        <p:nvSpPr>
          <p:cNvPr id="5" name="Slide Number Placeholder 4">
            <a:extLst>
              <a:ext uri="{FF2B5EF4-FFF2-40B4-BE49-F238E27FC236}">
                <a16:creationId xmlns:a16="http://schemas.microsoft.com/office/drawing/2014/main" id="{DB81A663-E0DB-E5A9-901C-9C85B65D4EFD}"/>
              </a:ext>
            </a:extLst>
          </p:cNvPr>
          <p:cNvSpPr>
            <a:spLocks noGrp="1"/>
          </p:cNvSpPr>
          <p:nvPr>
            <p:ph type="sldNum" sz="quarter" idx="12"/>
          </p:nvPr>
        </p:nvSpPr>
        <p:spPr/>
        <p:txBody>
          <a:bodyPr/>
          <a:lstStyle/>
          <a:p>
            <a:fld id="{271ECC92-9CDE-4EB3-B1C5-F46B9E1FA3C1}" type="slidenum">
              <a:rPr lang="en-SE" smtClean="0"/>
              <a:t>6</a:t>
            </a:fld>
            <a:endParaRPr lang="en-SE"/>
          </a:p>
        </p:txBody>
      </p:sp>
      <p:grpSp>
        <p:nvGrpSpPr>
          <p:cNvPr id="20" name="Group 19">
            <a:extLst>
              <a:ext uri="{FF2B5EF4-FFF2-40B4-BE49-F238E27FC236}">
                <a16:creationId xmlns:a16="http://schemas.microsoft.com/office/drawing/2014/main" id="{4AD425C1-E3FC-F582-D298-6FB610428C61}"/>
              </a:ext>
            </a:extLst>
          </p:cNvPr>
          <p:cNvGrpSpPr/>
          <p:nvPr/>
        </p:nvGrpSpPr>
        <p:grpSpPr>
          <a:xfrm>
            <a:off x="838198" y="365125"/>
            <a:ext cx="1983884" cy="245531"/>
            <a:chOff x="4114799" y="3759391"/>
            <a:chExt cx="1983884" cy="1229241"/>
          </a:xfrm>
        </p:grpSpPr>
        <p:sp>
          <p:nvSpPr>
            <p:cNvPr id="21" name="Arrow: Pentagon 20">
              <a:extLst>
                <a:ext uri="{FF2B5EF4-FFF2-40B4-BE49-F238E27FC236}">
                  <a16:creationId xmlns:a16="http://schemas.microsoft.com/office/drawing/2014/main" id="{8FA5C9AB-65A4-D8D1-875E-D0EE4901610B}"/>
                </a:ext>
              </a:extLst>
            </p:cNvPr>
            <p:cNvSpPr/>
            <p:nvPr/>
          </p:nvSpPr>
          <p:spPr>
            <a:xfrm>
              <a:off x="4114799" y="3759391"/>
              <a:ext cx="794039" cy="1229241"/>
            </a:xfrm>
            <a:prstGeom prst="homePlate">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SE" sz="1400" dirty="0"/>
                <a:t>Theory</a:t>
              </a:r>
            </a:p>
          </p:txBody>
        </p:sp>
        <p:sp>
          <p:nvSpPr>
            <p:cNvPr id="22" name="Arrow: Chevron 21">
              <a:extLst>
                <a:ext uri="{FF2B5EF4-FFF2-40B4-BE49-F238E27FC236}">
                  <a16:creationId xmlns:a16="http://schemas.microsoft.com/office/drawing/2014/main" id="{BA3AA58D-2763-8DCC-9289-626F3166CD3B}"/>
                </a:ext>
              </a:extLst>
            </p:cNvPr>
            <p:cNvSpPr/>
            <p:nvPr/>
          </p:nvSpPr>
          <p:spPr>
            <a:xfrm>
              <a:off x="4843616" y="3759391"/>
              <a:ext cx="1255067" cy="1229241"/>
            </a:xfrm>
            <a:prstGeom prst="chevron">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SE" sz="1400" dirty="0">
                  <a:solidFill>
                    <a:schemeClr val="tx1"/>
                  </a:solidFill>
                </a:rPr>
                <a:t>Use Case</a:t>
              </a:r>
            </a:p>
          </p:txBody>
        </p:sp>
      </p:grpSp>
      <p:grpSp>
        <p:nvGrpSpPr>
          <p:cNvPr id="23" name="Group 22">
            <a:extLst>
              <a:ext uri="{FF2B5EF4-FFF2-40B4-BE49-F238E27FC236}">
                <a16:creationId xmlns:a16="http://schemas.microsoft.com/office/drawing/2014/main" id="{22CB6EFC-D86E-0B04-C3A0-7023F75E1364}"/>
              </a:ext>
            </a:extLst>
          </p:cNvPr>
          <p:cNvGrpSpPr/>
          <p:nvPr/>
        </p:nvGrpSpPr>
        <p:grpSpPr>
          <a:xfrm>
            <a:off x="3182902" y="4888210"/>
            <a:ext cx="5826196" cy="403743"/>
            <a:chOff x="2946927" y="2810435"/>
            <a:chExt cx="5826196" cy="403743"/>
          </a:xfrm>
        </p:grpSpPr>
        <p:sp>
          <p:nvSpPr>
            <p:cNvPr id="24" name="Oval 23">
              <a:extLst>
                <a:ext uri="{FF2B5EF4-FFF2-40B4-BE49-F238E27FC236}">
                  <a16:creationId xmlns:a16="http://schemas.microsoft.com/office/drawing/2014/main" id="{6B85F829-4FED-CA4B-A087-4F6426751B1A}"/>
                </a:ext>
              </a:extLst>
            </p:cNvPr>
            <p:cNvSpPr/>
            <p:nvPr/>
          </p:nvSpPr>
          <p:spPr>
            <a:xfrm>
              <a:off x="4431353" y="2849512"/>
              <a:ext cx="360000" cy="360000"/>
            </a:xfrm>
            <a:prstGeom prst="ellipse">
              <a:avLst/>
            </a:prstGeom>
            <a:solidFill>
              <a:srgbClr val="F8766D"/>
            </a:solidFill>
            <a:ln>
              <a:solidFill>
                <a:srgbClr val="D0180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SE" noProof="0" dirty="0">
                  <a:solidFill>
                    <a:srgbClr val="D0180A"/>
                  </a:solidFill>
                </a:rPr>
                <a:t>x</a:t>
              </a:r>
              <a:endParaRPr lang="en-US" noProof="0" dirty="0">
                <a:solidFill>
                  <a:srgbClr val="D0180A"/>
                </a:solidFill>
              </a:endParaRPr>
            </a:p>
          </p:txBody>
        </p:sp>
        <p:sp>
          <p:nvSpPr>
            <p:cNvPr id="25" name="Oval 24">
              <a:extLst>
                <a:ext uri="{FF2B5EF4-FFF2-40B4-BE49-F238E27FC236}">
                  <a16:creationId xmlns:a16="http://schemas.microsoft.com/office/drawing/2014/main" id="{739C8EEC-8151-A979-A3CE-EA79C1A4496C}"/>
                </a:ext>
              </a:extLst>
            </p:cNvPr>
            <p:cNvSpPr/>
            <p:nvPr/>
          </p:nvSpPr>
          <p:spPr>
            <a:xfrm>
              <a:off x="6922733" y="2849512"/>
              <a:ext cx="360000" cy="360000"/>
            </a:xfrm>
            <a:prstGeom prst="ellipse">
              <a:avLst/>
            </a:prstGeom>
            <a:solidFill>
              <a:srgbClr val="00BFC4"/>
            </a:solidFill>
            <a:ln>
              <a:solidFill>
                <a:srgbClr val="006D7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SE" noProof="0" dirty="0">
                  <a:solidFill>
                    <a:srgbClr val="006D70"/>
                  </a:solidFill>
                </a:rPr>
                <a:t>y</a:t>
              </a:r>
              <a:endParaRPr lang="en-US" noProof="0" dirty="0">
                <a:solidFill>
                  <a:srgbClr val="006D70"/>
                </a:solidFill>
              </a:endParaRPr>
            </a:p>
          </p:txBody>
        </p:sp>
        <p:cxnSp>
          <p:nvCxnSpPr>
            <p:cNvPr id="26" name="Straight Arrow Connector 25">
              <a:extLst>
                <a:ext uri="{FF2B5EF4-FFF2-40B4-BE49-F238E27FC236}">
                  <a16:creationId xmlns:a16="http://schemas.microsoft.com/office/drawing/2014/main" id="{EE8B4602-ED5A-C54B-42F6-DC09EB9F5F45}"/>
                </a:ext>
              </a:extLst>
            </p:cNvPr>
            <p:cNvCxnSpPr>
              <a:stCxn id="24" idx="6"/>
              <a:endCxn id="25" idx="2"/>
            </p:cNvCxnSpPr>
            <p:nvPr/>
          </p:nvCxnSpPr>
          <p:spPr>
            <a:xfrm>
              <a:off x="4791353" y="3029512"/>
              <a:ext cx="2131380"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27" name="TextBox 26">
              <a:extLst>
                <a:ext uri="{FF2B5EF4-FFF2-40B4-BE49-F238E27FC236}">
                  <a16:creationId xmlns:a16="http://schemas.microsoft.com/office/drawing/2014/main" id="{97820FA8-49D1-FDB8-13E1-1749C00D555E}"/>
                </a:ext>
              </a:extLst>
            </p:cNvPr>
            <p:cNvSpPr txBox="1"/>
            <p:nvPr/>
          </p:nvSpPr>
          <p:spPr>
            <a:xfrm>
              <a:off x="2946927" y="2810435"/>
              <a:ext cx="1443024" cy="369332"/>
            </a:xfrm>
            <a:prstGeom prst="rect">
              <a:avLst/>
            </a:prstGeom>
            <a:noFill/>
          </p:spPr>
          <p:txBody>
            <a:bodyPr wrap="none" rtlCol="0">
              <a:spAutoFit/>
            </a:bodyPr>
            <a:lstStyle/>
            <a:p>
              <a:r>
                <a:rPr lang="de-DE" noProof="0" dirty="0">
                  <a:solidFill>
                    <a:srgbClr val="D0180A"/>
                  </a:solidFill>
                </a:rPr>
                <a:t>u</a:t>
              </a:r>
              <a:r>
                <a:rPr lang="en-SE" noProof="0" dirty="0">
                  <a:solidFill>
                    <a:srgbClr val="D0180A"/>
                  </a:solidFill>
                </a:rPr>
                <a:t>se of GenAI</a:t>
              </a:r>
              <a:endParaRPr lang="en-US" noProof="0" dirty="0">
                <a:solidFill>
                  <a:srgbClr val="D0180A"/>
                </a:solidFill>
              </a:endParaRPr>
            </a:p>
          </p:txBody>
        </p:sp>
        <p:sp>
          <p:nvSpPr>
            <p:cNvPr id="28" name="TextBox 27">
              <a:extLst>
                <a:ext uri="{FF2B5EF4-FFF2-40B4-BE49-F238E27FC236}">
                  <a16:creationId xmlns:a16="http://schemas.microsoft.com/office/drawing/2014/main" id="{B3647905-DEF4-31EE-1C75-EE63E8577861}"/>
                </a:ext>
              </a:extLst>
            </p:cNvPr>
            <p:cNvSpPr txBox="1"/>
            <p:nvPr/>
          </p:nvSpPr>
          <p:spPr>
            <a:xfrm>
              <a:off x="7410186" y="2844846"/>
              <a:ext cx="1362937" cy="369332"/>
            </a:xfrm>
            <a:prstGeom prst="rect">
              <a:avLst/>
            </a:prstGeom>
            <a:noFill/>
          </p:spPr>
          <p:txBody>
            <a:bodyPr wrap="none" rtlCol="0">
              <a:spAutoFit/>
            </a:bodyPr>
            <a:lstStyle/>
            <a:p>
              <a:r>
                <a:rPr lang="en-SE" noProof="0" dirty="0">
                  <a:solidFill>
                    <a:srgbClr val="006D70"/>
                  </a:solidFill>
                </a:rPr>
                <a:t>productivity</a:t>
              </a:r>
              <a:endParaRPr lang="en-US" noProof="0" dirty="0">
                <a:solidFill>
                  <a:srgbClr val="006D70"/>
                </a:solidFill>
              </a:endParaRPr>
            </a:p>
          </p:txBody>
        </p:sp>
      </p:grpSp>
      <p:grpSp>
        <p:nvGrpSpPr>
          <p:cNvPr id="32" name="Group 31">
            <a:extLst>
              <a:ext uri="{FF2B5EF4-FFF2-40B4-BE49-F238E27FC236}">
                <a16:creationId xmlns:a16="http://schemas.microsoft.com/office/drawing/2014/main" id="{D42B7D3F-8A77-7C39-30FE-F42BA66DA828}"/>
              </a:ext>
            </a:extLst>
          </p:cNvPr>
          <p:cNvGrpSpPr/>
          <p:nvPr/>
        </p:nvGrpSpPr>
        <p:grpSpPr>
          <a:xfrm>
            <a:off x="3053445" y="3141364"/>
            <a:ext cx="6079146" cy="914400"/>
            <a:chOff x="1567015" y="3101788"/>
            <a:chExt cx="6079146" cy="914400"/>
          </a:xfrm>
        </p:grpSpPr>
        <p:sp>
          <p:nvSpPr>
            <p:cNvPr id="29" name="Rectangle: Rounded Corners 28">
              <a:extLst>
                <a:ext uri="{FF2B5EF4-FFF2-40B4-BE49-F238E27FC236}">
                  <a16:creationId xmlns:a16="http://schemas.microsoft.com/office/drawing/2014/main" id="{EA2E74E6-52A2-1EA3-E6C4-8A9DFD16ADFE}"/>
                </a:ext>
              </a:extLst>
            </p:cNvPr>
            <p:cNvSpPr/>
            <p:nvPr/>
          </p:nvSpPr>
          <p:spPr>
            <a:xfrm>
              <a:off x="1567015" y="3101788"/>
              <a:ext cx="6079146" cy="914400"/>
            </a:xfrm>
            <a:prstGeom prst="roundRect">
              <a:avLst/>
            </a:prstGeom>
            <a:solidFill>
              <a:schemeClr val="bg1">
                <a:lumMod val="85000"/>
              </a:schemeClr>
            </a:solidFill>
            <a:ln>
              <a:solidFill>
                <a:schemeClr val="bg1">
                  <a:lumMod val="75000"/>
                </a:schemeClr>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lIns="792000" rtlCol="0" anchor="ctr"/>
            <a:lstStyle/>
            <a:p>
              <a:r>
                <a:rPr lang="en-SE" dirty="0">
                  <a:solidFill>
                    <a:schemeClr val="tx1"/>
                  </a:solidFill>
                </a:rPr>
                <a:t>RQ: Does the use of generative AI (GenAI) have an effect on the productivity of developers?</a:t>
              </a:r>
            </a:p>
          </p:txBody>
        </p:sp>
        <p:pic>
          <p:nvPicPr>
            <p:cNvPr id="31" name="Graphic 30" descr="Open quotation mark with solid fill">
              <a:extLst>
                <a:ext uri="{FF2B5EF4-FFF2-40B4-BE49-F238E27FC236}">
                  <a16:creationId xmlns:a16="http://schemas.microsoft.com/office/drawing/2014/main" id="{0961F92E-DE03-10D2-D024-BAE858D21839}"/>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rot="10800000">
              <a:off x="1632237" y="3162988"/>
              <a:ext cx="792000" cy="792000"/>
            </a:xfrm>
            <a:prstGeom prst="rect">
              <a:avLst/>
            </a:prstGeom>
          </p:spPr>
        </p:pic>
      </p:grpSp>
      <p:grpSp>
        <p:nvGrpSpPr>
          <p:cNvPr id="33" name="Group 32">
            <a:extLst>
              <a:ext uri="{FF2B5EF4-FFF2-40B4-BE49-F238E27FC236}">
                <a16:creationId xmlns:a16="http://schemas.microsoft.com/office/drawing/2014/main" id="{0A2E0380-9DDA-08E2-6408-20B82B4F925B}"/>
              </a:ext>
            </a:extLst>
          </p:cNvPr>
          <p:cNvGrpSpPr/>
          <p:nvPr/>
        </p:nvGrpSpPr>
        <p:grpSpPr>
          <a:xfrm>
            <a:off x="3053445" y="3141364"/>
            <a:ext cx="6079146" cy="914400"/>
            <a:chOff x="1567015" y="3101788"/>
            <a:chExt cx="6079146" cy="914400"/>
          </a:xfrm>
        </p:grpSpPr>
        <p:sp>
          <p:nvSpPr>
            <p:cNvPr id="34" name="Rectangle: Rounded Corners 33">
              <a:extLst>
                <a:ext uri="{FF2B5EF4-FFF2-40B4-BE49-F238E27FC236}">
                  <a16:creationId xmlns:a16="http://schemas.microsoft.com/office/drawing/2014/main" id="{06B2B5A1-3406-6D4A-E5FE-D120FC631565}"/>
                </a:ext>
              </a:extLst>
            </p:cNvPr>
            <p:cNvSpPr/>
            <p:nvPr/>
          </p:nvSpPr>
          <p:spPr>
            <a:xfrm>
              <a:off x="1567015" y="3101788"/>
              <a:ext cx="6079146" cy="914400"/>
            </a:xfrm>
            <a:prstGeom prst="roundRect">
              <a:avLst/>
            </a:prstGeom>
            <a:solidFill>
              <a:schemeClr val="bg1">
                <a:lumMod val="85000"/>
              </a:schemeClr>
            </a:solidFill>
            <a:ln>
              <a:solidFill>
                <a:schemeClr val="bg1">
                  <a:lumMod val="75000"/>
                </a:schemeClr>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lIns="792000" rtlCol="0" anchor="ctr"/>
            <a:lstStyle/>
            <a:p>
              <a:r>
                <a:rPr lang="en-SE" dirty="0">
                  <a:solidFill>
                    <a:schemeClr val="tx1"/>
                  </a:solidFill>
                </a:rPr>
                <a:t>RQ: Does the use of </a:t>
              </a:r>
              <a:r>
                <a:rPr lang="en-SE" b="1" dirty="0">
                  <a:solidFill>
                    <a:srgbClr val="D0180A"/>
                  </a:solidFill>
                </a:rPr>
                <a:t>generative AI (GenAI) </a:t>
              </a:r>
              <a:r>
                <a:rPr lang="en-SE" dirty="0">
                  <a:solidFill>
                    <a:schemeClr val="tx1"/>
                  </a:solidFill>
                </a:rPr>
                <a:t>have </a:t>
              </a:r>
              <a:r>
                <a:rPr lang="en-SE" b="1" dirty="0">
                  <a:solidFill>
                    <a:schemeClr val="tx1"/>
                  </a:solidFill>
                </a:rPr>
                <a:t>an effect</a:t>
              </a:r>
              <a:r>
                <a:rPr lang="en-SE" dirty="0">
                  <a:solidFill>
                    <a:schemeClr val="tx1"/>
                  </a:solidFill>
                </a:rPr>
                <a:t> on the </a:t>
              </a:r>
              <a:r>
                <a:rPr lang="en-SE" b="1" dirty="0">
                  <a:solidFill>
                    <a:srgbClr val="006D70"/>
                  </a:solidFill>
                </a:rPr>
                <a:t>productivity</a:t>
              </a:r>
              <a:r>
                <a:rPr lang="en-SE" dirty="0">
                  <a:solidFill>
                    <a:schemeClr val="tx1"/>
                  </a:solidFill>
                </a:rPr>
                <a:t> of developers?</a:t>
              </a:r>
            </a:p>
          </p:txBody>
        </p:sp>
        <p:pic>
          <p:nvPicPr>
            <p:cNvPr id="35" name="Graphic 34" descr="Open quotation mark with solid fill">
              <a:extLst>
                <a:ext uri="{FF2B5EF4-FFF2-40B4-BE49-F238E27FC236}">
                  <a16:creationId xmlns:a16="http://schemas.microsoft.com/office/drawing/2014/main" id="{1F33165E-89DF-832C-3851-9CD33485734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rot="10800000">
              <a:off x="1632237" y="3162988"/>
              <a:ext cx="792000" cy="792000"/>
            </a:xfrm>
            <a:prstGeom prst="rect">
              <a:avLst/>
            </a:prstGeom>
          </p:spPr>
        </p:pic>
      </p:grpSp>
    </p:spTree>
    <p:extLst>
      <p:ext uri="{BB962C8B-B14F-4D97-AF65-F5344CB8AC3E}">
        <p14:creationId xmlns:p14="http://schemas.microsoft.com/office/powerpoint/2010/main" val="203945174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med" p14:dur="700">
        <p159:morph option="byObject"/>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D9F299-A841-B36B-CDEF-5DF869A3395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CA9BC08-2A05-00F5-A666-EF025075E290}"/>
              </a:ext>
            </a:extLst>
          </p:cNvPr>
          <p:cNvSpPr>
            <a:spLocks noGrp="1"/>
          </p:cNvSpPr>
          <p:nvPr>
            <p:ph type="title"/>
          </p:nvPr>
        </p:nvSpPr>
        <p:spPr/>
        <p:txBody>
          <a:bodyPr/>
          <a:lstStyle/>
          <a:p>
            <a:r>
              <a:rPr lang="en-SE" dirty="0"/>
              <a:t>Directed Acyclic Graphs</a:t>
            </a:r>
          </a:p>
        </p:txBody>
      </p:sp>
      <p:sp>
        <p:nvSpPr>
          <p:cNvPr id="6" name="Content Placeholder 5">
            <a:extLst>
              <a:ext uri="{FF2B5EF4-FFF2-40B4-BE49-F238E27FC236}">
                <a16:creationId xmlns:a16="http://schemas.microsoft.com/office/drawing/2014/main" id="{43BD1138-667E-87BC-65E3-58518322B4F3}"/>
              </a:ext>
            </a:extLst>
          </p:cNvPr>
          <p:cNvSpPr>
            <a:spLocks noGrp="1"/>
          </p:cNvSpPr>
          <p:nvPr>
            <p:ph idx="1"/>
          </p:nvPr>
        </p:nvSpPr>
        <p:spPr>
          <a:xfrm>
            <a:off x="838200" y="1825625"/>
            <a:ext cx="10515600" cy="786946"/>
          </a:xfrm>
        </p:spPr>
        <p:txBody>
          <a:bodyPr/>
          <a:lstStyle/>
          <a:p>
            <a:pPr marL="0" indent="0">
              <a:buNone/>
            </a:pPr>
            <a:r>
              <a:rPr lang="en-SE" dirty="0"/>
              <a:t>Causal models can be realized as directed, acyclic graphs (</a:t>
            </a:r>
            <a:r>
              <a:rPr lang="en-SE" dirty="0" err="1"/>
              <a:t>DAGs</a:t>
            </a:r>
            <a:r>
              <a:rPr lang="en-SE" dirty="0"/>
              <a:t>).</a:t>
            </a:r>
          </a:p>
        </p:txBody>
      </p:sp>
      <p:sp>
        <p:nvSpPr>
          <p:cNvPr id="4" name="Date Placeholder 3">
            <a:extLst>
              <a:ext uri="{FF2B5EF4-FFF2-40B4-BE49-F238E27FC236}">
                <a16:creationId xmlns:a16="http://schemas.microsoft.com/office/drawing/2014/main" id="{564312FB-FF4D-F5EA-C59D-37391B73FBE5}"/>
              </a:ext>
            </a:extLst>
          </p:cNvPr>
          <p:cNvSpPr>
            <a:spLocks noGrp="1"/>
          </p:cNvSpPr>
          <p:nvPr>
            <p:ph type="dt" sz="half" idx="10"/>
          </p:nvPr>
        </p:nvSpPr>
        <p:spPr/>
        <p:txBody>
          <a:bodyPr/>
          <a:lstStyle/>
          <a:p>
            <a:fld id="{A1C06950-82F8-45F4-A28D-9FBF8CAE29F7}" type="datetime1">
              <a:rPr lang="de-DE" smtClean="0"/>
              <a:t>17.03.2026</a:t>
            </a:fld>
            <a:endParaRPr lang="en-SE"/>
          </a:p>
        </p:txBody>
      </p:sp>
      <p:sp>
        <p:nvSpPr>
          <p:cNvPr id="5" name="Slide Number Placeholder 4">
            <a:extLst>
              <a:ext uri="{FF2B5EF4-FFF2-40B4-BE49-F238E27FC236}">
                <a16:creationId xmlns:a16="http://schemas.microsoft.com/office/drawing/2014/main" id="{3AB877DB-5ADE-EB81-0102-BB2FD39A5E21}"/>
              </a:ext>
            </a:extLst>
          </p:cNvPr>
          <p:cNvSpPr>
            <a:spLocks noGrp="1"/>
          </p:cNvSpPr>
          <p:nvPr>
            <p:ph type="sldNum" sz="quarter" idx="12"/>
          </p:nvPr>
        </p:nvSpPr>
        <p:spPr/>
        <p:txBody>
          <a:bodyPr/>
          <a:lstStyle/>
          <a:p>
            <a:fld id="{271ECC92-9CDE-4EB3-B1C5-F46B9E1FA3C1}" type="slidenum">
              <a:rPr lang="en-SE" smtClean="0"/>
              <a:t>7</a:t>
            </a:fld>
            <a:endParaRPr lang="en-SE"/>
          </a:p>
        </p:txBody>
      </p:sp>
      <p:grpSp>
        <p:nvGrpSpPr>
          <p:cNvPr id="21" name="Group 20">
            <a:extLst>
              <a:ext uri="{FF2B5EF4-FFF2-40B4-BE49-F238E27FC236}">
                <a16:creationId xmlns:a16="http://schemas.microsoft.com/office/drawing/2014/main" id="{48D38C02-FD75-C433-0CF7-186D7FDA5848}"/>
              </a:ext>
            </a:extLst>
          </p:cNvPr>
          <p:cNvGrpSpPr/>
          <p:nvPr/>
        </p:nvGrpSpPr>
        <p:grpSpPr>
          <a:xfrm>
            <a:off x="1076545" y="4856774"/>
            <a:ext cx="1417151" cy="360000"/>
            <a:chOff x="1076545" y="4856774"/>
            <a:chExt cx="1417151" cy="360000"/>
          </a:xfrm>
        </p:grpSpPr>
        <p:sp>
          <p:nvSpPr>
            <p:cNvPr id="22" name="Oval 21">
              <a:extLst>
                <a:ext uri="{FF2B5EF4-FFF2-40B4-BE49-F238E27FC236}">
                  <a16:creationId xmlns:a16="http://schemas.microsoft.com/office/drawing/2014/main" id="{08F7639A-C371-1EA2-75FE-3CD5A67B49ED}"/>
                </a:ext>
              </a:extLst>
            </p:cNvPr>
            <p:cNvSpPr/>
            <p:nvPr/>
          </p:nvSpPr>
          <p:spPr>
            <a:xfrm>
              <a:off x="1076545" y="4856774"/>
              <a:ext cx="360000" cy="360000"/>
            </a:xfrm>
            <a:prstGeom prst="ellipse">
              <a:avLst/>
            </a:prstGeom>
            <a:solidFill>
              <a:srgbClr val="F8766D"/>
            </a:solidFill>
            <a:ln>
              <a:solidFill>
                <a:srgbClr val="D0180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3" name="TextBox 22">
              <a:extLst>
                <a:ext uri="{FF2B5EF4-FFF2-40B4-BE49-F238E27FC236}">
                  <a16:creationId xmlns:a16="http://schemas.microsoft.com/office/drawing/2014/main" id="{FDD3D4CB-125F-494B-0D11-30E44958AE60}"/>
                </a:ext>
              </a:extLst>
            </p:cNvPr>
            <p:cNvSpPr txBox="1"/>
            <p:nvPr/>
          </p:nvSpPr>
          <p:spPr>
            <a:xfrm>
              <a:off x="1495794" y="4867742"/>
              <a:ext cx="997902" cy="338554"/>
            </a:xfrm>
            <a:prstGeom prst="rect">
              <a:avLst/>
            </a:prstGeom>
            <a:noFill/>
          </p:spPr>
          <p:txBody>
            <a:bodyPr wrap="none" rtlCol="0">
              <a:spAutoFit/>
            </a:bodyPr>
            <a:lstStyle/>
            <a:p>
              <a:r>
                <a:rPr lang="en-SE" sz="1600" noProof="0" dirty="0"/>
                <a:t>exposure</a:t>
              </a:r>
              <a:endParaRPr lang="en-US" sz="1600" noProof="0" dirty="0"/>
            </a:p>
          </p:txBody>
        </p:sp>
      </p:grpSp>
      <p:grpSp>
        <p:nvGrpSpPr>
          <p:cNvPr id="24" name="Group 23">
            <a:extLst>
              <a:ext uri="{FF2B5EF4-FFF2-40B4-BE49-F238E27FC236}">
                <a16:creationId xmlns:a16="http://schemas.microsoft.com/office/drawing/2014/main" id="{40BBFB0C-2F34-23DD-0E37-F5AB2430F8AE}"/>
              </a:ext>
            </a:extLst>
          </p:cNvPr>
          <p:cNvGrpSpPr/>
          <p:nvPr/>
        </p:nvGrpSpPr>
        <p:grpSpPr>
          <a:xfrm>
            <a:off x="1074854" y="5309376"/>
            <a:ext cx="1428215" cy="360000"/>
            <a:chOff x="1074854" y="5309376"/>
            <a:chExt cx="1428215" cy="360000"/>
          </a:xfrm>
        </p:grpSpPr>
        <p:sp>
          <p:nvSpPr>
            <p:cNvPr id="25" name="Oval 24">
              <a:extLst>
                <a:ext uri="{FF2B5EF4-FFF2-40B4-BE49-F238E27FC236}">
                  <a16:creationId xmlns:a16="http://schemas.microsoft.com/office/drawing/2014/main" id="{7DEAE94F-81BE-A702-F8CF-7CC2A9402017}"/>
                </a:ext>
              </a:extLst>
            </p:cNvPr>
            <p:cNvSpPr/>
            <p:nvPr/>
          </p:nvSpPr>
          <p:spPr>
            <a:xfrm>
              <a:off x="1074854" y="5309376"/>
              <a:ext cx="360000" cy="360000"/>
            </a:xfrm>
            <a:prstGeom prst="ellipse">
              <a:avLst/>
            </a:prstGeom>
            <a:solidFill>
              <a:srgbClr val="00BFC4"/>
            </a:solidFill>
            <a:ln>
              <a:solidFill>
                <a:srgbClr val="006D7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6" name="TextBox 25">
              <a:extLst>
                <a:ext uri="{FF2B5EF4-FFF2-40B4-BE49-F238E27FC236}">
                  <a16:creationId xmlns:a16="http://schemas.microsoft.com/office/drawing/2014/main" id="{45DA2004-D7B8-71FB-A507-AD11CCB9B5B1}"/>
                </a:ext>
              </a:extLst>
            </p:cNvPr>
            <p:cNvSpPr txBox="1"/>
            <p:nvPr/>
          </p:nvSpPr>
          <p:spPr>
            <a:xfrm>
              <a:off x="1495677" y="5320099"/>
              <a:ext cx="1007392" cy="338554"/>
            </a:xfrm>
            <a:prstGeom prst="rect">
              <a:avLst/>
            </a:prstGeom>
            <a:noFill/>
          </p:spPr>
          <p:txBody>
            <a:bodyPr wrap="none" rtlCol="0">
              <a:spAutoFit/>
            </a:bodyPr>
            <a:lstStyle/>
            <a:p>
              <a:r>
                <a:rPr lang="en-SE" sz="1600" noProof="0" dirty="0"/>
                <a:t>response</a:t>
              </a:r>
              <a:endParaRPr lang="en-US" sz="1600" noProof="0" dirty="0"/>
            </a:p>
          </p:txBody>
        </p:sp>
      </p:grpSp>
      <p:grpSp>
        <p:nvGrpSpPr>
          <p:cNvPr id="27" name="Group 26">
            <a:extLst>
              <a:ext uri="{FF2B5EF4-FFF2-40B4-BE49-F238E27FC236}">
                <a16:creationId xmlns:a16="http://schemas.microsoft.com/office/drawing/2014/main" id="{3D844AC6-CD7B-271E-0DE2-2A8FED467B14}"/>
              </a:ext>
            </a:extLst>
          </p:cNvPr>
          <p:cNvGrpSpPr/>
          <p:nvPr/>
        </p:nvGrpSpPr>
        <p:grpSpPr>
          <a:xfrm>
            <a:off x="3396566" y="4757200"/>
            <a:ext cx="2457272" cy="584775"/>
            <a:chOff x="3396566" y="4757200"/>
            <a:chExt cx="2457272" cy="584775"/>
          </a:xfrm>
        </p:grpSpPr>
        <p:cxnSp>
          <p:nvCxnSpPr>
            <p:cNvPr id="28" name="Straight Arrow Connector 27">
              <a:extLst>
                <a:ext uri="{FF2B5EF4-FFF2-40B4-BE49-F238E27FC236}">
                  <a16:creationId xmlns:a16="http://schemas.microsoft.com/office/drawing/2014/main" id="{687E2EED-AF7E-420D-1A18-9D6226E9525E}"/>
                </a:ext>
              </a:extLst>
            </p:cNvPr>
            <p:cNvCxnSpPr>
              <a:cxnSpLocks/>
            </p:cNvCxnSpPr>
            <p:nvPr/>
          </p:nvCxnSpPr>
          <p:spPr>
            <a:xfrm>
              <a:off x="3396566" y="5052796"/>
              <a:ext cx="277200"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29" name="TextBox 28">
              <a:extLst>
                <a:ext uri="{FF2B5EF4-FFF2-40B4-BE49-F238E27FC236}">
                  <a16:creationId xmlns:a16="http://schemas.microsoft.com/office/drawing/2014/main" id="{217BF94E-8492-A458-7029-6E3B1E2932AF}"/>
                </a:ext>
              </a:extLst>
            </p:cNvPr>
            <p:cNvSpPr txBox="1"/>
            <p:nvPr/>
          </p:nvSpPr>
          <p:spPr>
            <a:xfrm>
              <a:off x="4093548" y="4757200"/>
              <a:ext cx="1760290" cy="584775"/>
            </a:xfrm>
            <a:prstGeom prst="rect">
              <a:avLst/>
            </a:prstGeom>
            <a:noFill/>
          </p:spPr>
          <p:txBody>
            <a:bodyPr wrap="none" rtlCol="0">
              <a:spAutoFit/>
            </a:bodyPr>
            <a:lstStyle/>
            <a:p>
              <a:r>
                <a:rPr lang="en-SE" sz="1600" noProof="0" dirty="0"/>
                <a:t>(assumed) causal</a:t>
              </a:r>
              <a:br>
                <a:rPr lang="en-SE" sz="1600" noProof="0" dirty="0"/>
              </a:br>
              <a:r>
                <a:rPr lang="en-SE" sz="1600" noProof="0" dirty="0"/>
                <a:t>relationship</a:t>
              </a:r>
              <a:endParaRPr lang="en-US" sz="1600" noProof="0" dirty="0"/>
            </a:p>
          </p:txBody>
        </p:sp>
      </p:grpSp>
      <p:grpSp>
        <p:nvGrpSpPr>
          <p:cNvPr id="30" name="Group 29">
            <a:extLst>
              <a:ext uri="{FF2B5EF4-FFF2-40B4-BE49-F238E27FC236}">
                <a16:creationId xmlns:a16="http://schemas.microsoft.com/office/drawing/2014/main" id="{3C1192E4-A250-C4AE-8A66-542EF83E226F}"/>
              </a:ext>
            </a:extLst>
          </p:cNvPr>
          <p:cNvGrpSpPr/>
          <p:nvPr/>
        </p:nvGrpSpPr>
        <p:grpSpPr>
          <a:xfrm>
            <a:off x="1074854" y="5761978"/>
            <a:ext cx="1747227" cy="360000"/>
            <a:chOff x="1074854" y="5761978"/>
            <a:chExt cx="1747227" cy="360000"/>
          </a:xfrm>
        </p:grpSpPr>
        <p:sp>
          <p:nvSpPr>
            <p:cNvPr id="31" name="Oval 30">
              <a:extLst>
                <a:ext uri="{FF2B5EF4-FFF2-40B4-BE49-F238E27FC236}">
                  <a16:creationId xmlns:a16="http://schemas.microsoft.com/office/drawing/2014/main" id="{BADFFFE8-5E04-FD35-63E6-3C259395634A}"/>
                </a:ext>
              </a:extLst>
            </p:cNvPr>
            <p:cNvSpPr/>
            <p:nvPr/>
          </p:nvSpPr>
          <p:spPr>
            <a:xfrm>
              <a:off x="1074854" y="5761978"/>
              <a:ext cx="360000" cy="360000"/>
            </a:xfrm>
            <a:prstGeom prst="ellipse">
              <a:avLst/>
            </a:prstGeom>
            <a:solidFill>
              <a:schemeClr val="bg1">
                <a:lumMod val="75000"/>
              </a:schemeClr>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2" name="TextBox 31">
              <a:extLst>
                <a:ext uri="{FF2B5EF4-FFF2-40B4-BE49-F238E27FC236}">
                  <a16:creationId xmlns:a16="http://schemas.microsoft.com/office/drawing/2014/main" id="{DC5F4FE3-99DE-AC12-C53E-DC0F2925FC34}"/>
                </a:ext>
              </a:extLst>
            </p:cNvPr>
            <p:cNvSpPr txBox="1"/>
            <p:nvPr/>
          </p:nvSpPr>
          <p:spPr>
            <a:xfrm>
              <a:off x="1497306" y="5772700"/>
              <a:ext cx="1324775" cy="338554"/>
            </a:xfrm>
            <a:prstGeom prst="rect">
              <a:avLst/>
            </a:prstGeom>
            <a:noFill/>
          </p:spPr>
          <p:txBody>
            <a:bodyPr wrap="square" rtlCol="0" anchor="ctr">
              <a:spAutoFit/>
            </a:bodyPr>
            <a:lstStyle/>
            <a:p>
              <a:r>
                <a:rPr lang="en-SE" sz="1600" noProof="0" dirty="0"/>
                <a:t>other </a:t>
              </a:r>
              <a:r>
                <a:rPr lang="en-SE" sz="1600" dirty="0"/>
                <a:t>factors</a:t>
              </a:r>
              <a:endParaRPr lang="en-US" sz="1600" noProof="0" dirty="0"/>
            </a:p>
          </p:txBody>
        </p:sp>
      </p:grpSp>
      <p:grpSp>
        <p:nvGrpSpPr>
          <p:cNvPr id="36" name="Group 35">
            <a:extLst>
              <a:ext uri="{FF2B5EF4-FFF2-40B4-BE49-F238E27FC236}">
                <a16:creationId xmlns:a16="http://schemas.microsoft.com/office/drawing/2014/main" id="{BB4DA7F2-F780-AA4F-5881-FEA6778D5CA6}"/>
              </a:ext>
            </a:extLst>
          </p:cNvPr>
          <p:cNvGrpSpPr/>
          <p:nvPr/>
        </p:nvGrpSpPr>
        <p:grpSpPr>
          <a:xfrm>
            <a:off x="3036566" y="5308246"/>
            <a:ext cx="2435291" cy="360000"/>
            <a:chOff x="3036566" y="4872796"/>
            <a:chExt cx="2435291" cy="360000"/>
          </a:xfrm>
        </p:grpSpPr>
        <p:sp>
          <p:nvSpPr>
            <p:cNvPr id="37" name="Oval 36">
              <a:extLst>
                <a:ext uri="{FF2B5EF4-FFF2-40B4-BE49-F238E27FC236}">
                  <a16:creationId xmlns:a16="http://schemas.microsoft.com/office/drawing/2014/main" id="{9FA27C5D-1F26-5E6C-1D71-7260614E83F3}"/>
                </a:ext>
              </a:extLst>
            </p:cNvPr>
            <p:cNvSpPr/>
            <p:nvPr/>
          </p:nvSpPr>
          <p:spPr>
            <a:xfrm>
              <a:off x="3036566" y="4872796"/>
              <a:ext cx="360000" cy="360000"/>
            </a:xfrm>
            <a:prstGeom prst="ellipse">
              <a:avLst/>
            </a:prstGeom>
            <a:solidFill>
              <a:srgbClr val="F8766D"/>
            </a:solidFill>
            <a:ln>
              <a:solidFill>
                <a:srgbClr val="D0180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8" name="Oval 37">
              <a:extLst>
                <a:ext uri="{FF2B5EF4-FFF2-40B4-BE49-F238E27FC236}">
                  <a16:creationId xmlns:a16="http://schemas.microsoft.com/office/drawing/2014/main" id="{C65FED3D-39CF-C153-E360-0600A13A7313}"/>
                </a:ext>
              </a:extLst>
            </p:cNvPr>
            <p:cNvSpPr/>
            <p:nvPr/>
          </p:nvSpPr>
          <p:spPr>
            <a:xfrm>
              <a:off x="3673766" y="4872796"/>
              <a:ext cx="360000" cy="360000"/>
            </a:xfrm>
            <a:prstGeom prst="ellipse">
              <a:avLst/>
            </a:prstGeom>
            <a:solidFill>
              <a:srgbClr val="00BFC4"/>
            </a:solidFill>
            <a:ln>
              <a:solidFill>
                <a:srgbClr val="006D7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cxnSp>
          <p:nvCxnSpPr>
            <p:cNvPr id="39" name="Straight Arrow Connector 38">
              <a:extLst>
                <a:ext uri="{FF2B5EF4-FFF2-40B4-BE49-F238E27FC236}">
                  <a16:creationId xmlns:a16="http://schemas.microsoft.com/office/drawing/2014/main" id="{6011411D-2642-0BF9-EABE-DC5C21633FF8}"/>
                </a:ext>
              </a:extLst>
            </p:cNvPr>
            <p:cNvCxnSpPr>
              <a:stCxn id="37" idx="6"/>
              <a:endCxn id="38" idx="2"/>
            </p:cNvCxnSpPr>
            <p:nvPr/>
          </p:nvCxnSpPr>
          <p:spPr>
            <a:xfrm>
              <a:off x="3396566" y="5052796"/>
              <a:ext cx="277200"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40" name="TextBox 39">
              <a:extLst>
                <a:ext uri="{FF2B5EF4-FFF2-40B4-BE49-F238E27FC236}">
                  <a16:creationId xmlns:a16="http://schemas.microsoft.com/office/drawing/2014/main" id="{2232087E-6FE9-F6ED-3490-8B117A04C70D}"/>
                </a:ext>
              </a:extLst>
            </p:cNvPr>
            <p:cNvSpPr txBox="1"/>
            <p:nvPr/>
          </p:nvSpPr>
          <p:spPr>
            <a:xfrm>
              <a:off x="4099365" y="4877874"/>
              <a:ext cx="1372492" cy="338554"/>
            </a:xfrm>
            <a:prstGeom prst="rect">
              <a:avLst/>
            </a:prstGeom>
            <a:noFill/>
          </p:spPr>
          <p:txBody>
            <a:bodyPr wrap="none" rtlCol="0">
              <a:spAutoFit/>
            </a:bodyPr>
            <a:lstStyle/>
            <a:p>
              <a:r>
                <a:rPr lang="en-US" sz="1600" noProof="0" dirty="0"/>
                <a:t>phenomenon</a:t>
              </a:r>
            </a:p>
          </p:txBody>
        </p:sp>
      </p:grpSp>
      <p:grpSp>
        <p:nvGrpSpPr>
          <p:cNvPr id="57" name="Group 56">
            <a:extLst>
              <a:ext uri="{FF2B5EF4-FFF2-40B4-BE49-F238E27FC236}">
                <a16:creationId xmlns:a16="http://schemas.microsoft.com/office/drawing/2014/main" id="{FBC2A3CC-6BEE-3E94-7733-50BC211C3978}"/>
              </a:ext>
            </a:extLst>
          </p:cNvPr>
          <p:cNvGrpSpPr/>
          <p:nvPr/>
        </p:nvGrpSpPr>
        <p:grpSpPr>
          <a:xfrm>
            <a:off x="4431353" y="2526255"/>
            <a:ext cx="2851380" cy="1925075"/>
            <a:chOff x="4431353" y="2526255"/>
            <a:chExt cx="2851380" cy="1925075"/>
          </a:xfrm>
        </p:grpSpPr>
        <p:sp>
          <p:nvSpPr>
            <p:cNvPr id="8" name="Oval 7">
              <a:extLst>
                <a:ext uri="{FF2B5EF4-FFF2-40B4-BE49-F238E27FC236}">
                  <a16:creationId xmlns:a16="http://schemas.microsoft.com/office/drawing/2014/main" id="{4CF00E53-A432-946D-3DA3-32848CF5E725}"/>
                </a:ext>
              </a:extLst>
            </p:cNvPr>
            <p:cNvSpPr/>
            <p:nvPr/>
          </p:nvSpPr>
          <p:spPr>
            <a:xfrm>
              <a:off x="4431353" y="3315677"/>
              <a:ext cx="360000" cy="360000"/>
            </a:xfrm>
            <a:prstGeom prst="ellipse">
              <a:avLst/>
            </a:prstGeom>
            <a:solidFill>
              <a:srgbClr val="F8766D"/>
            </a:solidFill>
            <a:ln>
              <a:solidFill>
                <a:srgbClr val="D0180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SE" noProof="0" dirty="0">
                  <a:solidFill>
                    <a:srgbClr val="D0180A"/>
                  </a:solidFill>
                </a:rPr>
                <a:t>x</a:t>
              </a:r>
              <a:endParaRPr lang="en-US" noProof="0" dirty="0">
                <a:solidFill>
                  <a:srgbClr val="D0180A"/>
                </a:solidFill>
              </a:endParaRPr>
            </a:p>
          </p:txBody>
        </p:sp>
        <p:sp>
          <p:nvSpPr>
            <p:cNvPr id="9" name="Oval 8">
              <a:extLst>
                <a:ext uri="{FF2B5EF4-FFF2-40B4-BE49-F238E27FC236}">
                  <a16:creationId xmlns:a16="http://schemas.microsoft.com/office/drawing/2014/main" id="{0DF55B29-7D9C-9F72-3356-41561E6AC372}"/>
                </a:ext>
              </a:extLst>
            </p:cNvPr>
            <p:cNvSpPr/>
            <p:nvPr/>
          </p:nvSpPr>
          <p:spPr>
            <a:xfrm>
              <a:off x="6922733" y="3315677"/>
              <a:ext cx="360000" cy="360000"/>
            </a:xfrm>
            <a:prstGeom prst="ellipse">
              <a:avLst/>
            </a:prstGeom>
            <a:solidFill>
              <a:srgbClr val="00BFC4"/>
            </a:solidFill>
            <a:ln>
              <a:solidFill>
                <a:srgbClr val="006D7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SE" noProof="0" dirty="0">
                  <a:solidFill>
                    <a:srgbClr val="006D70"/>
                  </a:solidFill>
                </a:rPr>
                <a:t>y</a:t>
              </a:r>
              <a:endParaRPr lang="en-US" noProof="0" dirty="0">
                <a:solidFill>
                  <a:srgbClr val="006D70"/>
                </a:solidFill>
              </a:endParaRPr>
            </a:p>
          </p:txBody>
        </p:sp>
        <p:cxnSp>
          <p:nvCxnSpPr>
            <p:cNvPr id="10" name="Straight Arrow Connector 9">
              <a:extLst>
                <a:ext uri="{FF2B5EF4-FFF2-40B4-BE49-F238E27FC236}">
                  <a16:creationId xmlns:a16="http://schemas.microsoft.com/office/drawing/2014/main" id="{0D1D6D37-70BA-6184-E076-C02271CC0E3E}"/>
                </a:ext>
              </a:extLst>
            </p:cNvPr>
            <p:cNvCxnSpPr>
              <a:stCxn id="8" idx="6"/>
              <a:endCxn id="9" idx="2"/>
            </p:cNvCxnSpPr>
            <p:nvPr/>
          </p:nvCxnSpPr>
          <p:spPr>
            <a:xfrm>
              <a:off x="4791353" y="3495677"/>
              <a:ext cx="2131380"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13" name="Oval 12">
              <a:extLst>
                <a:ext uri="{FF2B5EF4-FFF2-40B4-BE49-F238E27FC236}">
                  <a16:creationId xmlns:a16="http://schemas.microsoft.com/office/drawing/2014/main" id="{DAB319A1-6288-E728-1555-6D5393411362}"/>
                </a:ext>
              </a:extLst>
            </p:cNvPr>
            <p:cNvSpPr/>
            <p:nvPr/>
          </p:nvSpPr>
          <p:spPr>
            <a:xfrm>
              <a:off x="4431353" y="4091330"/>
              <a:ext cx="360000" cy="360000"/>
            </a:xfrm>
            <a:prstGeom prst="ellipse">
              <a:avLst/>
            </a:prstGeom>
            <a:solidFill>
              <a:schemeClr val="bg1">
                <a:lumMod val="75000"/>
              </a:schemeClr>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SE" noProof="0" dirty="0">
                  <a:solidFill>
                    <a:schemeClr val="tx1">
                      <a:lumMod val="50000"/>
                      <a:lumOff val="50000"/>
                    </a:schemeClr>
                  </a:solidFill>
                </a:rPr>
                <a:t>z</a:t>
              </a:r>
              <a:endParaRPr lang="en-US" noProof="0" dirty="0">
                <a:solidFill>
                  <a:schemeClr val="tx1">
                    <a:lumMod val="50000"/>
                    <a:lumOff val="50000"/>
                  </a:schemeClr>
                </a:solidFill>
              </a:endParaRPr>
            </a:p>
          </p:txBody>
        </p:sp>
        <p:sp>
          <p:nvSpPr>
            <p:cNvPr id="14" name="Oval 13">
              <a:extLst>
                <a:ext uri="{FF2B5EF4-FFF2-40B4-BE49-F238E27FC236}">
                  <a16:creationId xmlns:a16="http://schemas.microsoft.com/office/drawing/2014/main" id="{4B4F4371-6000-E968-DAC8-3698B79DD51D}"/>
                </a:ext>
              </a:extLst>
            </p:cNvPr>
            <p:cNvSpPr/>
            <p:nvPr/>
          </p:nvSpPr>
          <p:spPr>
            <a:xfrm>
              <a:off x="5676494" y="4091330"/>
              <a:ext cx="360000" cy="360000"/>
            </a:xfrm>
            <a:prstGeom prst="ellipse">
              <a:avLst/>
            </a:prstGeom>
            <a:solidFill>
              <a:schemeClr val="bg1">
                <a:lumMod val="75000"/>
              </a:schemeClr>
            </a:solidFill>
            <a:ln>
              <a:solidFill>
                <a:schemeClr val="bg1">
                  <a:lumMod val="50000"/>
                </a:schemeClr>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SE" noProof="0" dirty="0">
                  <a:solidFill>
                    <a:schemeClr val="tx1">
                      <a:lumMod val="50000"/>
                      <a:lumOff val="50000"/>
                    </a:schemeClr>
                  </a:solidFill>
                </a:rPr>
                <a:t>a</a:t>
              </a:r>
              <a:endParaRPr lang="en-US" noProof="0" dirty="0">
                <a:solidFill>
                  <a:schemeClr val="tx1">
                    <a:lumMod val="50000"/>
                    <a:lumOff val="50000"/>
                  </a:schemeClr>
                </a:solidFill>
              </a:endParaRPr>
            </a:p>
          </p:txBody>
        </p:sp>
        <p:cxnSp>
          <p:nvCxnSpPr>
            <p:cNvPr id="17" name="Straight Arrow Connector 16">
              <a:extLst>
                <a:ext uri="{FF2B5EF4-FFF2-40B4-BE49-F238E27FC236}">
                  <a16:creationId xmlns:a16="http://schemas.microsoft.com/office/drawing/2014/main" id="{CD9C9F7E-E717-78F3-A8FE-A522C4AD08AA}"/>
                </a:ext>
              </a:extLst>
            </p:cNvPr>
            <p:cNvCxnSpPr>
              <a:cxnSpLocks/>
              <a:stCxn id="14" idx="7"/>
              <a:endCxn id="9" idx="3"/>
            </p:cNvCxnSpPr>
            <p:nvPr/>
          </p:nvCxnSpPr>
          <p:spPr>
            <a:xfrm flipV="1">
              <a:off x="5983773" y="3622956"/>
              <a:ext cx="991681" cy="521095"/>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18" name="Straight Arrow Connector 17">
              <a:extLst>
                <a:ext uri="{FF2B5EF4-FFF2-40B4-BE49-F238E27FC236}">
                  <a16:creationId xmlns:a16="http://schemas.microsoft.com/office/drawing/2014/main" id="{77CE8957-0514-3C5A-0BFB-F87C05CFEA45}"/>
                </a:ext>
              </a:extLst>
            </p:cNvPr>
            <p:cNvCxnSpPr>
              <a:cxnSpLocks/>
              <a:stCxn id="14" idx="2"/>
              <a:endCxn id="13" idx="6"/>
            </p:cNvCxnSpPr>
            <p:nvPr/>
          </p:nvCxnSpPr>
          <p:spPr>
            <a:xfrm flipH="1">
              <a:off x="4791353" y="4271330"/>
              <a:ext cx="885141"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19" name="Straight Arrow Connector 18">
              <a:extLst>
                <a:ext uri="{FF2B5EF4-FFF2-40B4-BE49-F238E27FC236}">
                  <a16:creationId xmlns:a16="http://schemas.microsoft.com/office/drawing/2014/main" id="{B1F876BC-D713-9C15-95AF-30AF7B642A74}"/>
                </a:ext>
              </a:extLst>
            </p:cNvPr>
            <p:cNvCxnSpPr>
              <a:cxnSpLocks/>
              <a:stCxn id="13" idx="0"/>
              <a:endCxn id="8" idx="4"/>
            </p:cNvCxnSpPr>
            <p:nvPr/>
          </p:nvCxnSpPr>
          <p:spPr>
            <a:xfrm flipV="1">
              <a:off x="4611353" y="3675677"/>
              <a:ext cx="0" cy="415653"/>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20" name="Straight Arrow Connector 19">
              <a:extLst>
                <a:ext uri="{FF2B5EF4-FFF2-40B4-BE49-F238E27FC236}">
                  <a16:creationId xmlns:a16="http://schemas.microsoft.com/office/drawing/2014/main" id="{C2238440-C645-9F91-68A6-D90A920FF1B0}"/>
                </a:ext>
              </a:extLst>
            </p:cNvPr>
            <p:cNvCxnSpPr>
              <a:cxnSpLocks/>
              <a:stCxn id="14" idx="1"/>
              <a:endCxn id="8" idx="5"/>
            </p:cNvCxnSpPr>
            <p:nvPr/>
          </p:nvCxnSpPr>
          <p:spPr>
            <a:xfrm flipH="1" flipV="1">
              <a:off x="4738632" y="3622956"/>
              <a:ext cx="990583" cy="521095"/>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3" name="Oval 2">
              <a:extLst>
                <a:ext uri="{FF2B5EF4-FFF2-40B4-BE49-F238E27FC236}">
                  <a16:creationId xmlns:a16="http://schemas.microsoft.com/office/drawing/2014/main" id="{DCD00AC2-B321-D988-F768-0B52805FC3E7}"/>
                </a:ext>
              </a:extLst>
            </p:cNvPr>
            <p:cNvSpPr/>
            <p:nvPr/>
          </p:nvSpPr>
          <p:spPr>
            <a:xfrm>
              <a:off x="5676668" y="2526255"/>
              <a:ext cx="360000" cy="360000"/>
            </a:xfrm>
            <a:prstGeom prst="ellipse">
              <a:avLst/>
            </a:prstGeom>
            <a:solidFill>
              <a:schemeClr val="bg1">
                <a:lumMod val="75000"/>
              </a:schemeClr>
            </a:solidFill>
            <a:ln>
              <a:solidFill>
                <a:schemeClr val="bg1">
                  <a:lumMod val="50000"/>
                </a:schemeClr>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SE" noProof="0" dirty="0">
                  <a:solidFill>
                    <a:schemeClr val="tx1">
                      <a:lumMod val="50000"/>
                      <a:lumOff val="50000"/>
                    </a:schemeClr>
                  </a:solidFill>
                </a:rPr>
                <a:t>b</a:t>
              </a:r>
              <a:endParaRPr lang="en-US" noProof="0" dirty="0">
                <a:solidFill>
                  <a:schemeClr val="tx1">
                    <a:lumMod val="50000"/>
                    <a:lumOff val="50000"/>
                  </a:schemeClr>
                </a:solidFill>
              </a:endParaRPr>
            </a:p>
          </p:txBody>
        </p:sp>
        <p:cxnSp>
          <p:nvCxnSpPr>
            <p:cNvPr id="42" name="Straight Arrow Connector 41">
              <a:extLst>
                <a:ext uri="{FF2B5EF4-FFF2-40B4-BE49-F238E27FC236}">
                  <a16:creationId xmlns:a16="http://schemas.microsoft.com/office/drawing/2014/main" id="{D6964AE6-6556-5673-CAA6-11D0120152F7}"/>
                </a:ext>
              </a:extLst>
            </p:cNvPr>
            <p:cNvCxnSpPr>
              <a:cxnSpLocks/>
              <a:stCxn id="8" idx="7"/>
              <a:endCxn id="3" idx="3"/>
            </p:cNvCxnSpPr>
            <p:nvPr/>
          </p:nvCxnSpPr>
          <p:spPr>
            <a:xfrm flipV="1">
              <a:off x="4738632" y="2833534"/>
              <a:ext cx="990757" cy="534864"/>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45" name="Straight Arrow Connector 44">
              <a:extLst>
                <a:ext uri="{FF2B5EF4-FFF2-40B4-BE49-F238E27FC236}">
                  <a16:creationId xmlns:a16="http://schemas.microsoft.com/office/drawing/2014/main" id="{D3D5C898-30F5-6B0C-E482-E08EA6A4C3EF}"/>
                </a:ext>
              </a:extLst>
            </p:cNvPr>
            <p:cNvCxnSpPr>
              <a:cxnSpLocks/>
              <a:stCxn id="3" idx="5"/>
              <a:endCxn id="9" idx="1"/>
            </p:cNvCxnSpPr>
            <p:nvPr/>
          </p:nvCxnSpPr>
          <p:spPr>
            <a:xfrm>
              <a:off x="5983947" y="2833534"/>
              <a:ext cx="991507" cy="534864"/>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grpSp>
      <p:grpSp>
        <p:nvGrpSpPr>
          <p:cNvPr id="58" name="Group 57">
            <a:extLst>
              <a:ext uri="{FF2B5EF4-FFF2-40B4-BE49-F238E27FC236}">
                <a16:creationId xmlns:a16="http://schemas.microsoft.com/office/drawing/2014/main" id="{A580C9D2-F358-F590-5599-D7C3FBDAC99A}"/>
              </a:ext>
            </a:extLst>
          </p:cNvPr>
          <p:cNvGrpSpPr/>
          <p:nvPr/>
        </p:nvGrpSpPr>
        <p:grpSpPr>
          <a:xfrm>
            <a:off x="838198" y="365125"/>
            <a:ext cx="1983884" cy="245531"/>
            <a:chOff x="4114799" y="3759391"/>
            <a:chExt cx="1983884" cy="1229241"/>
          </a:xfrm>
        </p:grpSpPr>
        <p:sp>
          <p:nvSpPr>
            <p:cNvPr id="59" name="Arrow: Pentagon 58">
              <a:extLst>
                <a:ext uri="{FF2B5EF4-FFF2-40B4-BE49-F238E27FC236}">
                  <a16:creationId xmlns:a16="http://schemas.microsoft.com/office/drawing/2014/main" id="{0E23A8FA-9C6D-5E50-035F-A16DB041F8E1}"/>
                </a:ext>
              </a:extLst>
            </p:cNvPr>
            <p:cNvSpPr/>
            <p:nvPr/>
          </p:nvSpPr>
          <p:spPr>
            <a:xfrm>
              <a:off x="4114799" y="3759391"/>
              <a:ext cx="794039" cy="1229241"/>
            </a:xfrm>
            <a:prstGeom prst="homePlate">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SE" sz="1400" dirty="0"/>
                <a:t>Theory</a:t>
              </a:r>
            </a:p>
          </p:txBody>
        </p:sp>
        <p:sp>
          <p:nvSpPr>
            <p:cNvPr id="60" name="Arrow: Chevron 59">
              <a:extLst>
                <a:ext uri="{FF2B5EF4-FFF2-40B4-BE49-F238E27FC236}">
                  <a16:creationId xmlns:a16="http://schemas.microsoft.com/office/drawing/2014/main" id="{3A966726-82DE-E722-BD43-42B7FD210415}"/>
                </a:ext>
              </a:extLst>
            </p:cNvPr>
            <p:cNvSpPr/>
            <p:nvPr/>
          </p:nvSpPr>
          <p:spPr>
            <a:xfrm>
              <a:off x="4843616" y="3759391"/>
              <a:ext cx="1255067" cy="1229241"/>
            </a:xfrm>
            <a:prstGeom prst="chevron">
              <a:avLst/>
            </a:prstGeom>
            <a:solidFill>
              <a:schemeClr val="bg1">
                <a:lumMod val="85000"/>
              </a:schemeClr>
            </a:solidFill>
            <a:ln>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SE" sz="1400" dirty="0">
                  <a:solidFill>
                    <a:schemeClr val="bg1">
                      <a:lumMod val="75000"/>
                    </a:schemeClr>
                  </a:solidFill>
                </a:rPr>
                <a:t>Use Case</a:t>
              </a:r>
            </a:p>
          </p:txBody>
        </p:sp>
      </p:grpSp>
    </p:spTree>
    <p:extLst>
      <p:ext uri="{BB962C8B-B14F-4D97-AF65-F5344CB8AC3E}">
        <p14:creationId xmlns:p14="http://schemas.microsoft.com/office/powerpoint/2010/main" val="11499610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med" p14:dur="700">
        <p159:morph option="byObject"/>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21"/>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4"/>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2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6"/>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C8FC17-5953-A530-508B-72120FD65D2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7DF5DFC-BD12-0A4E-94EA-9FFE12DC8958}"/>
              </a:ext>
            </a:extLst>
          </p:cNvPr>
          <p:cNvSpPr>
            <a:spLocks noGrp="1"/>
          </p:cNvSpPr>
          <p:nvPr>
            <p:ph type="title"/>
          </p:nvPr>
        </p:nvSpPr>
        <p:spPr/>
        <p:txBody>
          <a:bodyPr/>
          <a:lstStyle/>
          <a:p>
            <a:r>
              <a:rPr lang="en-SE" dirty="0"/>
              <a:t>Formulating Complex Hypotheses</a:t>
            </a:r>
          </a:p>
        </p:txBody>
      </p:sp>
      <p:sp>
        <p:nvSpPr>
          <p:cNvPr id="3" name="Content Placeholder 2">
            <a:extLst>
              <a:ext uri="{FF2B5EF4-FFF2-40B4-BE49-F238E27FC236}">
                <a16:creationId xmlns:a16="http://schemas.microsoft.com/office/drawing/2014/main" id="{5D646748-2840-B4C1-9A7B-38BB2D77BC5B}"/>
              </a:ext>
            </a:extLst>
          </p:cNvPr>
          <p:cNvSpPr>
            <a:spLocks noGrp="1"/>
          </p:cNvSpPr>
          <p:nvPr>
            <p:ph idx="1"/>
          </p:nvPr>
        </p:nvSpPr>
        <p:spPr>
          <a:xfrm>
            <a:off x="838200" y="1825625"/>
            <a:ext cx="10515600" cy="1131331"/>
          </a:xfrm>
        </p:spPr>
        <p:txBody>
          <a:bodyPr/>
          <a:lstStyle/>
          <a:p>
            <a:pPr marL="0" indent="0">
              <a:buNone/>
            </a:pPr>
            <a:r>
              <a:rPr lang="de-DE" dirty="0"/>
              <a:t>DAGs </a:t>
            </a:r>
            <a:r>
              <a:rPr lang="de-DE" dirty="0" err="1"/>
              <a:t>conve</a:t>
            </a:r>
            <a:r>
              <a:rPr lang="en-SE" dirty="0"/>
              <a:t>y complex relationships between multiple variables in a simple and straightforward manner.</a:t>
            </a:r>
          </a:p>
        </p:txBody>
      </p:sp>
      <p:sp>
        <p:nvSpPr>
          <p:cNvPr id="4" name="Date Placeholder 3">
            <a:extLst>
              <a:ext uri="{FF2B5EF4-FFF2-40B4-BE49-F238E27FC236}">
                <a16:creationId xmlns:a16="http://schemas.microsoft.com/office/drawing/2014/main" id="{02CDAA94-286D-4DA0-F72C-905063F3866F}"/>
              </a:ext>
            </a:extLst>
          </p:cNvPr>
          <p:cNvSpPr>
            <a:spLocks noGrp="1"/>
          </p:cNvSpPr>
          <p:nvPr>
            <p:ph type="dt" sz="half" idx="10"/>
          </p:nvPr>
        </p:nvSpPr>
        <p:spPr/>
        <p:txBody>
          <a:bodyPr/>
          <a:lstStyle/>
          <a:p>
            <a:fld id="{A1C06950-82F8-45F4-A28D-9FBF8CAE29F7}" type="datetime1">
              <a:rPr lang="de-DE" smtClean="0"/>
              <a:t>17.03.2026</a:t>
            </a:fld>
            <a:endParaRPr lang="en-SE"/>
          </a:p>
        </p:txBody>
      </p:sp>
      <p:sp>
        <p:nvSpPr>
          <p:cNvPr id="5" name="Slide Number Placeholder 4">
            <a:extLst>
              <a:ext uri="{FF2B5EF4-FFF2-40B4-BE49-F238E27FC236}">
                <a16:creationId xmlns:a16="http://schemas.microsoft.com/office/drawing/2014/main" id="{560683ED-40BB-FEF6-759E-028F50DB49D1}"/>
              </a:ext>
            </a:extLst>
          </p:cNvPr>
          <p:cNvSpPr>
            <a:spLocks noGrp="1"/>
          </p:cNvSpPr>
          <p:nvPr>
            <p:ph type="sldNum" sz="quarter" idx="12"/>
          </p:nvPr>
        </p:nvSpPr>
        <p:spPr/>
        <p:txBody>
          <a:bodyPr/>
          <a:lstStyle/>
          <a:p>
            <a:fld id="{271ECC92-9CDE-4EB3-B1C5-F46B9E1FA3C1}" type="slidenum">
              <a:rPr lang="en-SE" smtClean="0"/>
              <a:t>8</a:t>
            </a:fld>
            <a:endParaRPr lang="en-SE"/>
          </a:p>
        </p:txBody>
      </p:sp>
      <p:grpSp>
        <p:nvGrpSpPr>
          <p:cNvPr id="23" name="Group 22">
            <a:extLst>
              <a:ext uri="{FF2B5EF4-FFF2-40B4-BE49-F238E27FC236}">
                <a16:creationId xmlns:a16="http://schemas.microsoft.com/office/drawing/2014/main" id="{3BDCC5BE-F4EF-DEFB-BF4C-F0B1D3552523}"/>
              </a:ext>
            </a:extLst>
          </p:cNvPr>
          <p:cNvGrpSpPr/>
          <p:nvPr/>
        </p:nvGrpSpPr>
        <p:grpSpPr>
          <a:xfrm>
            <a:off x="5664329" y="3429000"/>
            <a:ext cx="5689471" cy="2063574"/>
            <a:chOff x="2956199" y="2526255"/>
            <a:chExt cx="5689471" cy="2063574"/>
          </a:xfrm>
        </p:grpSpPr>
        <p:sp>
          <p:nvSpPr>
            <p:cNvPr id="24" name="Oval 23">
              <a:extLst>
                <a:ext uri="{FF2B5EF4-FFF2-40B4-BE49-F238E27FC236}">
                  <a16:creationId xmlns:a16="http://schemas.microsoft.com/office/drawing/2014/main" id="{A3A0E450-B578-26CE-D2DC-52ABBFC04D68}"/>
                </a:ext>
              </a:extLst>
            </p:cNvPr>
            <p:cNvSpPr/>
            <p:nvPr/>
          </p:nvSpPr>
          <p:spPr>
            <a:xfrm>
              <a:off x="4431353" y="3315677"/>
              <a:ext cx="360000" cy="360000"/>
            </a:xfrm>
            <a:prstGeom prst="ellipse">
              <a:avLst/>
            </a:prstGeom>
            <a:solidFill>
              <a:srgbClr val="F8766D"/>
            </a:solidFill>
            <a:ln>
              <a:solidFill>
                <a:srgbClr val="D0180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SE" noProof="0" dirty="0">
                  <a:solidFill>
                    <a:srgbClr val="D0180A"/>
                  </a:solidFill>
                </a:rPr>
                <a:t>x</a:t>
              </a:r>
              <a:endParaRPr lang="en-US" noProof="0" dirty="0">
                <a:solidFill>
                  <a:srgbClr val="D0180A"/>
                </a:solidFill>
              </a:endParaRPr>
            </a:p>
          </p:txBody>
        </p:sp>
        <p:sp>
          <p:nvSpPr>
            <p:cNvPr id="25" name="Oval 24">
              <a:extLst>
                <a:ext uri="{FF2B5EF4-FFF2-40B4-BE49-F238E27FC236}">
                  <a16:creationId xmlns:a16="http://schemas.microsoft.com/office/drawing/2014/main" id="{F491C467-06F7-99CD-4639-0C67F926DF0E}"/>
                </a:ext>
              </a:extLst>
            </p:cNvPr>
            <p:cNvSpPr/>
            <p:nvPr/>
          </p:nvSpPr>
          <p:spPr>
            <a:xfrm>
              <a:off x="6922733" y="3315677"/>
              <a:ext cx="360000" cy="360000"/>
            </a:xfrm>
            <a:prstGeom prst="ellipse">
              <a:avLst/>
            </a:prstGeom>
            <a:solidFill>
              <a:srgbClr val="00BFC4"/>
            </a:solidFill>
            <a:ln>
              <a:solidFill>
                <a:srgbClr val="006D7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SE" noProof="0" dirty="0">
                  <a:solidFill>
                    <a:srgbClr val="006D70"/>
                  </a:solidFill>
                </a:rPr>
                <a:t>y</a:t>
              </a:r>
              <a:endParaRPr lang="en-US" noProof="0" dirty="0">
                <a:solidFill>
                  <a:srgbClr val="006D70"/>
                </a:solidFill>
              </a:endParaRPr>
            </a:p>
          </p:txBody>
        </p:sp>
        <p:cxnSp>
          <p:nvCxnSpPr>
            <p:cNvPr id="26" name="Straight Arrow Connector 25">
              <a:extLst>
                <a:ext uri="{FF2B5EF4-FFF2-40B4-BE49-F238E27FC236}">
                  <a16:creationId xmlns:a16="http://schemas.microsoft.com/office/drawing/2014/main" id="{E235A644-988E-A83C-B01A-F9DC5E17F9EA}"/>
                </a:ext>
              </a:extLst>
            </p:cNvPr>
            <p:cNvCxnSpPr>
              <a:stCxn id="24" idx="6"/>
              <a:endCxn id="25" idx="2"/>
            </p:cNvCxnSpPr>
            <p:nvPr/>
          </p:nvCxnSpPr>
          <p:spPr>
            <a:xfrm>
              <a:off x="4791353" y="3495677"/>
              <a:ext cx="2131380"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27" name="TextBox 26">
              <a:extLst>
                <a:ext uri="{FF2B5EF4-FFF2-40B4-BE49-F238E27FC236}">
                  <a16:creationId xmlns:a16="http://schemas.microsoft.com/office/drawing/2014/main" id="{33F76664-2852-4DC0-6524-A82C952F2B53}"/>
                </a:ext>
              </a:extLst>
            </p:cNvPr>
            <p:cNvSpPr txBox="1"/>
            <p:nvPr/>
          </p:nvSpPr>
          <p:spPr>
            <a:xfrm>
              <a:off x="3431946" y="3172511"/>
              <a:ext cx="990758" cy="646331"/>
            </a:xfrm>
            <a:prstGeom prst="rect">
              <a:avLst/>
            </a:prstGeom>
            <a:noFill/>
          </p:spPr>
          <p:txBody>
            <a:bodyPr wrap="square" rtlCol="0">
              <a:spAutoFit/>
            </a:bodyPr>
            <a:lstStyle/>
            <a:p>
              <a:pPr algn="r"/>
              <a:r>
                <a:rPr lang="de-DE" noProof="0" dirty="0">
                  <a:solidFill>
                    <a:srgbClr val="D0180A"/>
                  </a:solidFill>
                </a:rPr>
                <a:t>u</a:t>
              </a:r>
              <a:r>
                <a:rPr lang="en-SE" noProof="0" dirty="0">
                  <a:solidFill>
                    <a:srgbClr val="D0180A"/>
                  </a:solidFill>
                </a:rPr>
                <a:t>se of GenAI</a:t>
              </a:r>
              <a:endParaRPr lang="en-US" noProof="0" dirty="0">
                <a:solidFill>
                  <a:srgbClr val="D0180A"/>
                </a:solidFill>
              </a:endParaRPr>
            </a:p>
          </p:txBody>
        </p:sp>
        <p:sp>
          <p:nvSpPr>
            <p:cNvPr id="28" name="TextBox 27">
              <a:extLst>
                <a:ext uri="{FF2B5EF4-FFF2-40B4-BE49-F238E27FC236}">
                  <a16:creationId xmlns:a16="http://schemas.microsoft.com/office/drawing/2014/main" id="{533A90C0-45FB-897C-4FEF-65430AFD678A}"/>
                </a:ext>
              </a:extLst>
            </p:cNvPr>
            <p:cNvSpPr txBox="1"/>
            <p:nvPr/>
          </p:nvSpPr>
          <p:spPr>
            <a:xfrm>
              <a:off x="7282733" y="3288250"/>
              <a:ext cx="1362937" cy="369332"/>
            </a:xfrm>
            <a:prstGeom prst="rect">
              <a:avLst/>
            </a:prstGeom>
            <a:noFill/>
          </p:spPr>
          <p:txBody>
            <a:bodyPr wrap="none" rtlCol="0">
              <a:spAutoFit/>
            </a:bodyPr>
            <a:lstStyle/>
            <a:p>
              <a:r>
                <a:rPr lang="en-SE" noProof="0" dirty="0">
                  <a:solidFill>
                    <a:srgbClr val="006D70"/>
                  </a:solidFill>
                </a:rPr>
                <a:t>productivity</a:t>
              </a:r>
              <a:endParaRPr lang="en-US" noProof="0" dirty="0">
                <a:solidFill>
                  <a:srgbClr val="006D70"/>
                </a:solidFill>
              </a:endParaRPr>
            </a:p>
          </p:txBody>
        </p:sp>
        <p:sp>
          <p:nvSpPr>
            <p:cNvPr id="29" name="Oval 28">
              <a:extLst>
                <a:ext uri="{FF2B5EF4-FFF2-40B4-BE49-F238E27FC236}">
                  <a16:creationId xmlns:a16="http://schemas.microsoft.com/office/drawing/2014/main" id="{600709D8-2791-B881-901B-656808E708F7}"/>
                </a:ext>
              </a:extLst>
            </p:cNvPr>
            <p:cNvSpPr/>
            <p:nvPr/>
          </p:nvSpPr>
          <p:spPr>
            <a:xfrm>
              <a:off x="4431353" y="4091330"/>
              <a:ext cx="360000" cy="360000"/>
            </a:xfrm>
            <a:prstGeom prst="ellipse">
              <a:avLst/>
            </a:prstGeom>
            <a:solidFill>
              <a:schemeClr val="bg1">
                <a:lumMod val="75000"/>
              </a:schemeClr>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SE" noProof="0" dirty="0">
                  <a:solidFill>
                    <a:schemeClr val="tx1">
                      <a:lumMod val="50000"/>
                      <a:lumOff val="50000"/>
                    </a:schemeClr>
                  </a:solidFill>
                </a:rPr>
                <a:t>z</a:t>
              </a:r>
              <a:endParaRPr lang="en-US" noProof="0" dirty="0">
                <a:solidFill>
                  <a:schemeClr val="tx1">
                    <a:lumMod val="50000"/>
                    <a:lumOff val="50000"/>
                  </a:schemeClr>
                </a:solidFill>
              </a:endParaRPr>
            </a:p>
          </p:txBody>
        </p:sp>
        <p:sp>
          <p:nvSpPr>
            <p:cNvPr id="30" name="Oval 29">
              <a:extLst>
                <a:ext uri="{FF2B5EF4-FFF2-40B4-BE49-F238E27FC236}">
                  <a16:creationId xmlns:a16="http://schemas.microsoft.com/office/drawing/2014/main" id="{2692359C-975A-72A8-D9CE-F1F833D113ED}"/>
                </a:ext>
              </a:extLst>
            </p:cNvPr>
            <p:cNvSpPr/>
            <p:nvPr/>
          </p:nvSpPr>
          <p:spPr>
            <a:xfrm>
              <a:off x="5676494" y="4091330"/>
              <a:ext cx="360000" cy="360000"/>
            </a:xfrm>
            <a:prstGeom prst="ellipse">
              <a:avLst/>
            </a:prstGeom>
            <a:solidFill>
              <a:schemeClr val="bg1">
                <a:lumMod val="75000"/>
              </a:schemeClr>
            </a:solidFill>
            <a:ln>
              <a:solidFill>
                <a:schemeClr val="bg1">
                  <a:lumMod val="50000"/>
                </a:schemeClr>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SE" noProof="0" dirty="0">
                  <a:solidFill>
                    <a:schemeClr val="tx1">
                      <a:lumMod val="50000"/>
                      <a:lumOff val="50000"/>
                    </a:schemeClr>
                  </a:solidFill>
                </a:rPr>
                <a:t>a</a:t>
              </a:r>
              <a:endParaRPr lang="en-US" noProof="0" dirty="0">
                <a:solidFill>
                  <a:schemeClr val="tx1">
                    <a:lumMod val="50000"/>
                    <a:lumOff val="50000"/>
                  </a:schemeClr>
                </a:solidFill>
              </a:endParaRPr>
            </a:p>
          </p:txBody>
        </p:sp>
        <p:sp>
          <p:nvSpPr>
            <p:cNvPr id="31" name="TextBox 30">
              <a:extLst>
                <a:ext uri="{FF2B5EF4-FFF2-40B4-BE49-F238E27FC236}">
                  <a16:creationId xmlns:a16="http://schemas.microsoft.com/office/drawing/2014/main" id="{B9749CA1-D715-1B3A-0CC2-CF26FB943101}"/>
                </a:ext>
              </a:extLst>
            </p:cNvPr>
            <p:cNvSpPr txBox="1"/>
            <p:nvPr/>
          </p:nvSpPr>
          <p:spPr>
            <a:xfrm>
              <a:off x="6036494" y="4081998"/>
              <a:ext cx="1246239" cy="369332"/>
            </a:xfrm>
            <a:prstGeom prst="rect">
              <a:avLst/>
            </a:prstGeom>
            <a:noFill/>
          </p:spPr>
          <p:txBody>
            <a:bodyPr wrap="none" rtlCol="0">
              <a:spAutoFit/>
            </a:bodyPr>
            <a:lstStyle/>
            <a:p>
              <a:r>
                <a:rPr lang="en-US" noProof="0" dirty="0">
                  <a:solidFill>
                    <a:schemeClr val="tx1">
                      <a:lumMod val="65000"/>
                      <a:lumOff val="35000"/>
                    </a:schemeClr>
                  </a:solidFill>
                </a:rPr>
                <a:t>motivation</a:t>
              </a:r>
            </a:p>
          </p:txBody>
        </p:sp>
        <p:sp>
          <p:nvSpPr>
            <p:cNvPr id="32" name="TextBox 31">
              <a:extLst>
                <a:ext uri="{FF2B5EF4-FFF2-40B4-BE49-F238E27FC236}">
                  <a16:creationId xmlns:a16="http://schemas.microsoft.com/office/drawing/2014/main" id="{07AE2EC4-D505-3824-9A9E-BB29B8F60E5D}"/>
                </a:ext>
              </a:extLst>
            </p:cNvPr>
            <p:cNvSpPr txBox="1"/>
            <p:nvPr/>
          </p:nvSpPr>
          <p:spPr>
            <a:xfrm>
              <a:off x="2956199" y="3943498"/>
              <a:ext cx="1432387" cy="646331"/>
            </a:xfrm>
            <a:prstGeom prst="rect">
              <a:avLst/>
            </a:prstGeom>
            <a:noFill/>
          </p:spPr>
          <p:txBody>
            <a:bodyPr wrap="square" rtlCol="0">
              <a:spAutoFit/>
            </a:bodyPr>
            <a:lstStyle/>
            <a:p>
              <a:pPr algn="r"/>
              <a:r>
                <a:rPr lang="en-SE" noProof="0" dirty="0">
                  <a:solidFill>
                    <a:schemeClr val="tx1">
                      <a:lumMod val="65000"/>
                      <a:lumOff val="35000"/>
                    </a:schemeClr>
                  </a:solidFill>
                </a:rPr>
                <a:t>GenAI experience</a:t>
              </a:r>
              <a:endParaRPr lang="en-US" noProof="0" dirty="0">
                <a:solidFill>
                  <a:schemeClr val="tx1">
                    <a:lumMod val="65000"/>
                    <a:lumOff val="35000"/>
                  </a:schemeClr>
                </a:solidFill>
              </a:endParaRPr>
            </a:p>
          </p:txBody>
        </p:sp>
        <p:cxnSp>
          <p:nvCxnSpPr>
            <p:cNvPr id="33" name="Straight Arrow Connector 32">
              <a:extLst>
                <a:ext uri="{FF2B5EF4-FFF2-40B4-BE49-F238E27FC236}">
                  <a16:creationId xmlns:a16="http://schemas.microsoft.com/office/drawing/2014/main" id="{8092828F-17D7-AFA0-9F34-A61FF0310C96}"/>
                </a:ext>
              </a:extLst>
            </p:cNvPr>
            <p:cNvCxnSpPr>
              <a:cxnSpLocks/>
              <a:stCxn id="30" idx="7"/>
              <a:endCxn id="25" idx="3"/>
            </p:cNvCxnSpPr>
            <p:nvPr/>
          </p:nvCxnSpPr>
          <p:spPr>
            <a:xfrm flipV="1">
              <a:off x="5983773" y="3622956"/>
              <a:ext cx="991681" cy="521095"/>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34" name="Straight Arrow Connector 33">
              <a:extLst>
                <a:ext uri="{FF2B5EF4-FFF2-40B4-BE49-F238E27FC236}">
                  <a16:creationId xmlns:a16="http://schemas.microsoft.com/office/drawing/2014/main" id="{63FAF116-73DE-750C-9981-C7DD678B6E17}"/>
                </a:ext>
              </a:extLst>
            </p:cNvPr>
            <p:cNvCxnSpPr>
              <a:cxnSpLocks/>
              <a:stCxn id="30" idx="2"/>
              <a:endCxn id="29" idx="6"/>
            </p:cNvCxnSpPr>
            <p:nvPr/>
          </p:nvCxnSpPr>
          <p:spPr>
            <a:xfrm flipH="1">
              <a:off x="4791353" y="4271330"/>
              <a:ext cx="885141"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35" name="Straight Arrow Connector 34">
              <a:extLst>
                <a:ext uri="{FF2B5EF4-FFF2-40B4-BE49-F238E27FC236}">
                  <a16:creationId xmlns:a16="http://schemas.microsoft.com/office/drawing/2014/main" id="{4AC08B45-19F7-1EF9-4CC6-51F116C2DF3B}"/>
                </a:ext>
              </a:extLst>
            </p:cNvPr>
            <p:cNvCxnSpPr>
              <a:cxnSpLocks/>
              <a:stCxn id="29" idx="0"/>
              <a:endCxn id="24" idx="4"/>
            </p:cNvCxnSpPr>
            <p:nvPr/>
          </p:nvCxnSpPr>
          <p:spPr>
            <a:xfrm flipV="1">
              <a:off x="4611353" y="3675677"/>
              <a:ext cx="0" cy="415653"/>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36" name="Straight Arrow Connector 35">
              <a:extLst>
                <a:ext uri="{FF2B5EF4-FFF2-40B4-BE49-F238E27FC236}">
                  <a16:creationId xmlns:a16="http://schemas.microsoft.com/office/drawing/2014/main" id="{39627AC6-B217-46E5-3E18-E6AA4DDDA406}"/>
                </a:ext>
              </a:extLst>
            </p:cNvPr>
            <p:cNvCxnSpPr>
              <a:cxnSpLocks/>
              <a:stCxn id="30" idx="1"/>
              <a:endCxn id="24" idx="5"/>
            </p:cNvCxnSpPr>
            <p:nvPr/>
          </p:nvCxnSpPr>
          <p:spPr>
            <a:xfrm flipH="1" flipV="1">
              <a:off x="4738632" y="3622956"/>
              <a:ext cx="990583" cy="521095"/>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37" name="Oval 36">
              <a:extLst>
                <a:ext uri="{FF2B5EF4-FFF2-40B4-BE49-F238E27FC236}">
                  <a16:creationId xmlns:a16="http://schemas.microsoft.com/office/drawing/2014/main" id="{AB876565-5ECA-3053-3D0B-71BBBB4A43AE}"/>
                </a:ext>
              </a:extLst>
            </p:cNvPr>
            <p:cNvSpPr/>
            <p:nvPr/>
          </p:nvSpPr>
          <p:spPr>
            <a:xfrm>
              <a:off x="5676668" y="2526255"/>
              <a:ext cx="360000" cy="360000"/>
            </a:xfrm>
            <a:prstGeom prst="ellipse">
              <a:avLst/>
            </a:prstGeom>
            <a:solidFill>
              <a:schemeClr val="bg1">
                <a:lumMod val="75000"/>
              </a:schemeClr>
            </a:solidFill>
            <a:ln>
              <a:solidFill>
                <a:schemeClr val="bg1">
                  <a:lumMod val="50000"/>
                </a:schemeClr>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SE" noProof="0" dirty="0">
                  <a:solidFill>
                    <a:schemeClr val="tx1">
                      <a:lumMod val="50000"/>
                      <a:lumOff val="50000"/>
                    </a:schemeClr>
                  </a:solidFill>
                </a:rPr>
                <a:t>b</a:t>
              </a:r>
              <a:endParaRPr lang="en-US" noProof="0" dirty="0">
                <a:solidFill>
                  <a:schemeClr val="tx1">
                    <a:lumMod val="50000"/>
                    <a:lumOff val="50000"/>
                  </a:schemeClr>
                </a:solidFill>
              </a:endParaRPr>
            </a:p>
          </p:txBody>
        </p:sp>
        <p:sp>
          <p:nvSpPr>
            <p:cNvPr id="38" name="TextBox 37">
              <a:extLst>
                <a:ext uri="{FF2B5EF4-FFF2-40B4-BE49-F238E27FC236}">
                  <a16:creationId xmlns:a16="http://schemas.microsoft.com/office/drawing/2014/main" id="{9592B58F-8842-5CD7-8A06-D5C3DAB1A758}"/>
                </a:ext>
              </a:extLst>
            </p:cNvPr>
            <p:cNvSpPr txBox="1"/>
            <p:nvPr/>
          </p:nvSpPr>
          <p:spPr>
            <a:xfrm>
              <a:off x="6069563" y="2527492"/>
              <a:ext cx="2318392" cy="369332"/>
            </a:xfrm>
            <a:prstGeom prst="rect">
              <a:avLst/>
            </a:prstGeom>
            <a:noFill/>
          </p:spPr>
          <p:txBody>
            <a:bodyPr wrap="none" rtlCol="0">
              <a:spAutoFit/>
            </a:bodyPr>
            <a:lstStyle/>
            <a:p>
              <a:r>
                <a:rPr lang="en-SE" noProof="0" dirty="0">
                  <a:solidFill>
                    <a:schemeClr val="tx1">
                      <a:lumMod val="65000"/>
                      <a:lumOff val="35000"/>
                    </a:schemeClr>
                  </a:solidFill>
                </a:rPr>
                <a:t>IDE’s user experience</a:t>
              </a:r>
              <a:endParaRPr lang="en-US" noProof="0" dirty="0">
                <a:solidFill>
                  <a:schemeClr val="tx1">
                    <a:lumMod val="65000"/>
                    <a:lumOff val="35000"/>
                  </a:schemeClr>
                </a:solidFill>
              </a:endParaRPr>
            </a:p>
          </p:txBody>
        </p:sp>
        <p:cxnSp>
          <p:nvCxnSpPr>
            <p:cNvPr id="39" name="Straight Arrow Connector 38">
              <a:extLst>
                <a:ext uri="{FF2B5EF4-FFF2-40B4-BE49-F238E27FC236}">
                  <a16:creationId xmlns:a16="http://schemas.microsoft.com/office/drawing/2014/main" id="{C6D7AF6C-94C6-9C3E-AADB-B5BCACE330A3}"/>
                </a:ext>
              </a:extLst>
            </p:cNvPr>
            <p:cNvCxnSpPr>
              <a:cxnSpLocks/>
              <a:stCxn id="24" idx="7"/>
              <a:endCxn id="37" idx="3"/>
            </p:cNvCxnSpPr>
            <p:nvPr/>
          </p:nvCxnSpPr>
          <p:spPr>
            <a:xfrm flipV="1">
              <a:off x="4738632" y="2833534"/>
              <a:ext cx="990757" cy="534864"/>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40" name="Straight Arrow Connector 39">
              <a:extLst>
                <a:ext uri="{FF2B5EF4-FFF2-40B4-BE49-F238E27FC236}">
                  <a16:creationId xmlns:a16="http://schemas.microsoft.com/office/drawing/2014/main" id="{BE26EE70-D5BB-9EB8-ED65-21C4299ECBB2}"/>
                </a:ext>
              </a:extLst>
            </p:cNvPr>
            <p:cNvCxnSpPr>
              <a:cxnSpLocks/>
              <a:stCxn id="37" idx="5"/>
              <a:endCxn id="25" idx="1"/>
            </p:cNvCxnSpPr>
            <p:nvPr/>
          </p:nvCxnSpPr>
          <p:spPr>
            <a:xfrm>
              <a:off x="5983947" y="2833534"/>
              <a:ext cx="991507" cy="534864"/>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grpSp>
      <p:grpSp>
        <p:nvGrpSpPr>
          <p:cNvPr id="41" name="Group 40">
            <a:extLst>
              <a:ext uri="{FF2B5EF4-FFF2-40B4-BE49-F238E27FC236}">
                <a16:creationId xmlns:a16="http://schemas.microsoft.com/office/drawing/2014/main" id="{F92CF65B-54C0-8583-B368-D800CA9E5B79}"/>
              </a:ext>
            </a:extLst>
          </p:cNvPr>
          <p:cNvGrpSpPr/>
          <p:nvPr/>
        </p:nvGrpSpPr>
        <p:grpSpPr>
          <a:xfrm>
            <a:off x="838198" y="3331799"/>
            <a:ext cx="4938348" cy="2450435"/>
            <a:chOff x="1567015" y="3101787"/>
            <a:chExt cx="4938348" cy="2450435"/>
          </a:xfrm>
        </p:grpSpPr>
        <p:sp>
          <p:nvSpPr>
            <p:cNvPr id="42" name="Rectangle: Rounded Corners 41">
              <a:extLst>
                <a:ext uri="{FF2B5EF4-FFF2-40B4-BE49-F238E27FC236}">
                  <a16:creationId xmlns:a16="http://schemas.microsoft.com/office/drawing/2014/main" id="{7C69890E-260B-A7AF-F0A4-CC9ACBD6EBEE}"/>
                </a:ext>
              </a:extLst>
            </p:cNvPr>
            <p:cNvSpPr/>
            <p:nvPr/>
          </p:nvSpPr>
          <p:spPr>
            <a:xfrm>
              <a:off x="1567015" y="3101787"/>
              <a:ext cx="4938348" cy="2450435"/>
            </a:xfrm>
            <a:prstGeom prst="roundRect">
              <a:avLst/>
            </a:prstGeom>
            <a:solidFill>
              <a:schemeClr val="bg1">
                <a:lumMod val="85000"/>
              </a:schemeClr>
            </a:solidFill>
            <a:ln>
              <a:solidFill>
                <a:schemeClr val="bg1">
                  <a:lumMod val="75000"/>
                </a:schemeClr>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lIns="792000" rtlCol="0" anchor="ctr"/>
            <a:lstStyle/>
            <a:p>
              <a:r>
                <a:rPr lang="en-SE" dirty="0">
                  <a:solidFill>
                    <a:schemeClr val="tx1"/>
                  </a:solidFill>
                </a:rPr>
                <a:t>RQ: Does the use of </a:t>
              </a:r>
              <a:r>
                <a:rPr lang="en-SE" b="1" dirty="0">
                  <a:solidFill>
                    <a:srgbClr val="D0180A"/>
                  </a:solidFill>
                </a:rPr>
                <a:t>generative AI (GenAI) </a:t>
              </a:r>
              <a:r>
                <a:rPr lang="en-SE" dirty="0">
                  <a:solidFill>
                    <a:schemeClr val="tx1"/>
                  </a:solidFill>
                </a:rPr>
                <a:t>have </a:t>
              </a:r>
              <a:r>
                <a:rPr lang="en-SE" b="1" dirty="0">
                  <a:solidFill>
                    <a:schemeClr val="tx1"/>
                  </a:solidFill>
                </a:rPr>
                <a:t>an effect</a:t>
              </a:r>
              <a:r>
                <a:rPr lang="en-SE" dirty="0">
                  <a:solidFill>
                    <a:schemeClr val="tx1"/>
                  </a:solidFill>
                </a:rPr>
                <a:t> on the </a:t>
              </a:r>
              <a:r>
                <a:rPr lang="en-SE" b="1" dirty="0">
                  <a:solidFill>
                    <a:srgbClr val="006D70"/>
                  </a:solidFill>
                </a:rPr>
                <a:t>productivity</a:t>
              </a:r>
              <a:r>
                <a:rPr lang="en-SE" dirty="0">
                  <a:solidFill>
                    <a:schemeClr val="tx1"/>
                  </a:solidFill>
                </a:rPr>
                <a:t> of developers, assuming that </a:t>
              </a:r>
              <a:r>
                <a:rPr lang="en-SE" b="1" dirty="0">
                  <a:solidFill>
                    <a:schemeClr val="tx1">
                      <a:lumMod val="65000"/>
                      <a:lumOff val="35000"/>
                    </a:schemeClr>
                  </a:solidFill>
                </a:rPr>
                <a:t>motivation</a:t>
              </a:r>
              <a:r>
                <a:rPr lang="en-SE" dirty="0">
                  <a:solidFill>
                    <a:schemeClr val="tx1"/>
                  </a:solidFill>
                </a:rPr>
                <a:t> affects both usage (moderated by </a:t>
              </a:r>
              <a:r>
                <a:rPr lang="en-SE" b="1" dirty="0">
                  <a:solidFill>
                    <a:schemeClr val="tx1">
                      <a:lumMod val="65000"/>
                      <a:lumOff val="35000"/>
                    </a:schemeClr>
                  </a:solidFill>
                </a:rPr>
                <a:t>GenAI experience</a:t>
              </a:r>
              <a:r>
                <a:rPr lang="en-SE" dirty="0">
                  <a:solidFill>
                    <a:schemeClr val="tx1"/>
                  </a:solidFill>
                </a:rPr>
                <a:t>) and productivity, and accounting for an indirect effect of the </a:t>
              </a:r>
              <a:r>
                <a:rPr lang="en-SE" b="1" dirty="0">
                  <a:solidFill>
                    <a:schemeClr val="tx1">
                      <a:lumMod val="65000"/>
                      <a:lumOff val="35000"/>
                    </a:schemeClr>
                  </a:solidFill>
                </a:rPr>
                <a:t>IDE’s user experience</a:t>
              </a:r>
              <a:r>
                <a:rPr lang="en-SE" dirty="0">
                  <a:solidFill>
                    <a:schemeClr val="tx1"/>
                  </a:solidFill>
                </a:rPr>
                <a:t>?</a:t>
              </a:r>
            </a:p>
          </p:txBody>
        </p:sp>
        <p:pic>
          <p:nvPicPr>
            <p:cNvPr id="43" name="Graphic 42" descr="Open quotation mark with solid fill">
              <a:extLst>
                <a:ext uri="{FF2B5EF4-FFF2-40B4-BE49-F238E27FC236}">
                  <a16:creationId xmlns:a16="http://schemas.microsoft.com/office/drawing/2014/main" id="{B806FEE1-36E6-429C-A190-1A8A14D8712A}"/>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rot="10800000">
              <a:off x="1632237" y="3162988"/>
              <a:ext cx="792000" cy="792000"/>
            </a:xfrm>
            <a:prstGeom prst="rect">
              <a:avLst/>
            </a:prstGeom>
          </p:spPr>
        </p:pic>
      </p:grpSp>
      <p:grpSp>
        <p:nvGrpSpPr>
          <p:cNvPr id="44" name="Group 43">
            <a:extLst>
              <a:ext uri="{FF2B5EF4-FFF2-40B4-BE49-F238E27FC236}">
                <a16:creationId xmlns:a16="http://schemas.microsoft.com/office/drawing/2014/main" id="{C3441193-2689-D161-37AF-A2BC2465AE12}"/>
              </a:ext>
            </a:extLst>
          </p:cNvPr>
          <p:cNvGrpSpPr/>
          <p:nvPr/>
        </p:nvGrpSpPr>
        <p:grpSpPr>
          <a:xfrm>
            <a:off x="838198" y="365125"/>
            <a:ext cx="1983884" cy="245531"/>
            <a:chOff x="4114799" y="3759391"/>
            <a:chExt cx="1983884" cy="1229241"/>
          </a:xfrm>
        </p:grpSpPr>
        <p:sp>
          <p:nvSpPr>
            <p:cNvPr id="45" name="Arrow: Pentagon 44">
              <a:extLst>
                <a:ext uri="{FF2B5EF4-FFF2-40B4-BE49-F238E27FC236}">
                  <a16:creationId xmlns:a16="http://schemas.microsoft.com/office/drawing/2014/main" id="{B8637E44-80C6-7124-0168-9E3839F8F273}"/>
                </a:ext>
              </a:extLst>
            </p:cNvPr>
            <p:cNvSpPr/>
            <p:nvPr/>
          </p:nvSpPr>
          <p:spPr>
            <a:xfrm>
              <a:off x="4114799" y="3759391"/>
              <a:ext cx="794039" cy="1229241"/>
            </a:xfrm>
            <a:prstGeom prst="homePlate">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SE" sz="1400" dirty="0"/>
                <a:t>Theory</a:t>
              </a:r>
            </a:p>
          </p:txBody>
        </p:sp>
        <p:sp>
          <p:nvSpPr>
            <p:cNvPr id="46" name="Arrow: Chevron 45">
              <a:extLst>
                <a:ext uri="{FF2B5EF4-FFF2-40B4-BE49-F238E27FC236}">
                  <a16:creationId xmlns:a16="http://schemas.microsoft.com/office/drawing/2014/main" id="{5E9C37B7-70CF-75AD-A2B9-6B20ED0EAE84}"/>
                </a:ext>
              </a:extLst>
            </p:cNvPr>
            <p:cNvSpPr/>
            <p:nvPr/>
          </p:nvSpPr>
          <p:spPr>
            <a:xfrm>
              <a:off x="4843616" y="3759391"/>
              <a:ext cx="1255067" cy="1229241"/>
            </a:xfrm>
            <a:prstGeom prst="chevron">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SE" sz="1400" dirty="0">
                  <a:solidFill>
                    <a:schemeClr val="tx1"/>
                  </a:solidFill>
                </a:rPr>
                <a:t>Use Case</a:t>
              </a:r>
            </a:p>
          </p:txBody>
        </p:sp>
      </p:grpSp>
    </p:spTree>
    <p:extLst>
      <p:ext uri="{BB962C8B-B14F-4D97-AF65-F5344CB8AC3E}">
        <p14:creationId xmlns:p14="http://schemas.microsoft.com/office/powerpoint/2010/main" val="344849824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med" p14:dur="700">
        <p159:morph option="byObject"/>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F87733-E5B3-AE52-54B0-3CE10065AF54}"/>
              </a:ext>
            </a:extLst>
          </p:cNvPr>
          <p:cNvSpPr>
            <a:spLocks noGrp="1"/>
          </p:cNvSpPr>
          <p:nvPr>
            <p:ph type="title"/>
          </p:nvPr>
        </p:nvSpPr>
        <p:spPr/>
        <p:txBody>
          <a:bodyPr/>
          <a:lstStyle/>
          <a:p>
            <a:r>
              <a:rPr lang="en-SE" dirty="0"/>
              <a:t>Disputing Causal Hypotheses</a:t>
            </a:r>
          </a:p>
        </p:txBody>
      </p:sp>
      <p:sp>
        <p:nvSpPr>
          <p:cNvPr id="3" name="Content Placeholder 2">
            <a:extLst>
              <a:ext uri="{FF2B5EF4-FFF2-40B4-BE49-F238E27FC236}">
                <a16:creationId xmlns:a16="http://schemas.microsoft.com/office/drawing/2014/main" id="{AD2B01AA-FEF8-D413-B14C-DC266C406243}"/>
              </a:ext>
            </a:extLst>
          </p:cNvPr>
          <p:cNvSpPr>
            <a:spLocks noGrp="1"/>
          </p:cNvSpPr>
          <p:nvPr>
            <p:ph idx="1"/>
          </p:nvPr>
        </p:nvSpPr>
        <p:spPr>
          <a:xfrm>
            <a:off x="838200" y="1825625"/>
            <a:ext cx="10515600" cy="965076"/>
          </a:xfrm>
        </p:spPr>
        <p:txBody>
          <a:bodyPr/>
          <a:lstStyle/>
          <a:p>
            <a:pPr marL="0" indent="0">
              <a:buNone/>
            </a:pPr>
            <a:r>
              <a:rPr lang="en-SE" dirty="0"/>
              <a:t>The explicit formulation of causal hypotheses in </a:t>
            </a:r>
            <a:r>
              <a:rPr lang="en-SE" dirty="0" err="1"/>
              <a:t>DAGs</a:t>
            </a:r>
            <a:r>
              <a:rPr lang="en-SE" dirty="0"/>
              <a:t> makes it easy to compare and contrast assumptions.</a:t>
            </a:r>
          </a:p>
        </p:txBody>
      </p:sp>
      <p:sp>
        <p:nvSpPr>
          <p:cNvPr id="4" name="Date Placeholder 3">
            <a:extLst>
              <a:ext uri="{FF2B5EF4-FFF2-40B4-BE49-F238E27FC236}">
                <a16:creationId xmlns:a16="http://schemas.microsoft.com/office/drawing/2014/main" id="{5829A44F-90A8-2AA5-DA01-1E93D5860FCB}"/>
              </a:ext>
            </a:extLst>
          </p:cNvPr>
          <p:cNvSpPr>
            <a:spLocks noGrp="1"/>
          </p:cNvSpPr>
          <p:nvPr>
            <p:ph type="dt" sz="half" idx="10"/>
          </p:nvPr>
        </p:nvSpPr>
        <p:spPr/>
        <p:txBody>
          <a:bodyPr/>
          <a:lstStyle/>
          <a:p>
            <a:fld id="{A1C06950-82F8-45F4-A28D-9FBF8CAE29F7}" type="datetime1">
              <a:rPr lang="de-DE" smtClean="0"/>
              <a:t>17.03.2026</a:t>
            </a:fld>
            <a:endParaRPr lang="en-SE"/>
          </a:p>
        </p:txBody>
      </p:sp>
      <p:sp>
        <p:nvSpPr>
          <p:cNvPr id="5" name="Slide Number Placeholder 4">
            <a:extLst>
              <a:ext uri="{FF2B5EF4-FFF2-40B4-BE49-F238E27FC236}">
                <a16:creationId xmlns:a16="http://schemas.microsoft.com/office/drawing/2014/main" id="{DF87BAD0-EEEF-6808-11BD-EB18E962CC45}"/>
              </a:ext>
            </a:extLst>
          </p:cNvPr>
          <p:cNvSpPr>
            <a:spLocks noGrp="1"/>
          </p:cNvSpPr>
          <p:nvPr>
            <p:ph type="sldNum" sz="quarter" idx="12"/>
          </p:nvPr>
        </p:nvSpPr>
        <p:spPr/>
        <p:txBody>
          <a:bodyPr/>
          <a:lstStyle/>
          <a:p>
            <a:fld id="{271ECC92-9CDE-4EB3-B1C5-F46B9E1FA3C1}" type="slidenum">
              <a:rPr lang="en-SE" smtClean="0"/>
              <a:t>9</a:t>
            </a:fld>
            <a:endParaRPr lang="en-SE"/>
          </a:p>
        </p:txBody>
      </p:sp>
      <p:sp>
        <p:nvSpPr>
          <p:cNvPr id="6" name="Content Placeholder 2">
            <a:extLst>
              <a:ext uri="{FF2B5EF4-FFF2-40B4-BE49-F238E27FC236}">
                <a16:creationId xmlns:a16="http://schemas.microsoft.com/office/drawing/2014/main" id="{85A4AAEE-AEF6-3167-326B-D6B75F3FAEDC}"/>
              </a:ext>
            </a:extLst>
          </p:cNvPr>
          <p:cNvSpPr txBox="1">
            <a:spLocks/>
          </p:cNvSpPr>
          <p:nvPr/>
        </p:nvSpPr>
        <p:spPr>
          <a:xfrm>
            <a:off x="838198" y="5391274"/>
            <a:ext cx="10515600" cy="965076"/>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SE" dirty="0"/>
              <a:t>These comparisons can inform the design of an empirical study to verify, which of the two hypotheses reflects reality better.</a:t>
            </a:r>
          </a:p>
        </p:txBody>
      </p:sp>
      <p:grpSp>
        <p:nvGrpSpPr>
          <p:cNvPr id="10" name="Group 9">
            <a:extLst>
              <a:ext uri="{FF2B5EF4-FFF2-40B4-BE49-F238E27FC236}">
                <a16:creationId xmlns:a16="http://schemas.microsoft.com/office/drawing/2014/main" id="{50DDA19B-136A-EF69-F6A2-175393F4FB43}"/>
              </a:ext>
            </a:extLst>
          </p:cNvPr>
          <p:cNvGrpSpPr/>
          <p:nvPr/>
        </p:nvGrpSpPr>
        <p:grpSpPr>
          <a:xfrm>
            <a:off x="838198" y="2871763"/>
            <a:ext cx="4886351" cy="2332928"/>
            <a:chOff x="2956199" y="2256901"/>
            <a:chExt cx="4886351" cy="2332928"/>
          </a:xfrm>
        </p:grpSpPr>
        <p:sp>
          <p:nvSpPr>
            <p:cNvPr id="11" name="Oval 10">
              <a:extLst>
                <a:ext uri="{FF2B5EF4-FFF2-40B4-BE49-F238E27FC236}">
                  <a16:creationId xmlns:a16="http://schemas.microsoft.com/office/drawing/2014/main" id="{C9DBDFBE-FEAB-0F65-ADD2-E30699AA20A8}"/>
                </a:ext>
              </a:extLst>
            </p:cNvPr>
            <p:cNvSpPr/>
            <p:nvPr/>
          </p:nvSpPr>
          <p:spPr>
            <a:xfrm>
              <a:off x="4431353" y="3315677"/>
              <a:ext cx="360000" cy="360000"/>
            </a:xfrm>
            <a:prstGeom prst="ellipse">
              <a:avLst/>
            </a:prstGeom>
            <a:solidFill>
              <a:srgbClr val="F8766D"/>
            </a:solidFill>
            <a:ln>
              <a:solidFill>
                <a:srgbClr val="D0180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SE" noProof="0" dirty="0">
                  <a:solidFill>
                    <a:srgbClr val="D0180A"/>
                  </a:solidFill>
                </a:rPr>
                <a:t>x</a:t>
              </a:r>
              <a:endParaRPr lang="en-US" noProof="0" dirty="0">
                <a:solidFill>
                  <a:srgbClr val="D0180A"/>
                </a:solidFill>
              </a:endParaRPr>
            </a:p>
          </p:txBody>
        </p:sp>
        <p:sp>
          <p:nvSpPr>
            <p:cNvPr id="12" name="Oval 11">
              <a:extLst>
                <a:ext uri="{FF2B5EF4-FFF2-40B4-BE49-F238E27FC236}">
                  <a16:creationId xmlns:a16="http://schemas.microsoft.com/office/drawing/2014/main" id="{1D71CC2D-C5D7-0D51-9836-F8920A86E389}"/>
                </a:ext>
              </a:extLst>
            </p:cNvPr>
            <p:cNvSpPr/>
            <p:nvPr/>
          </p:nvSpPr>
          <p:spPr>
            <a:xfrm>
              <a:off x="6922733" y="3315677"/>
              <a:ext cx="360000" cy="360000"/>
            </a:xfrm>
            <a:prstGeom prst="ellipse">
              <a:avLst/>
            </a:prstGeom>
            <a:solidFill>
              <a:srgbClr val="00BFC4"/>
            </a:solidFill>
            <a:ln>
              <a:solidFill>
                <a:srgbClr val="006D7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SE" noProof="0" dirty="0">
                  <a:solidFill>
                    <a:srgbClr val="006D70"/>
                  </a:solidFill>
                </a:rPr>
                <a:t>y</a:t>
              </a:r>
              <a:endParaRPr lang="en-US" noProof="0" dirty="0">
                <a:solidFill>
                  <a:srgbClr val="006D70"/>
                </a:solidFill>
              </a:endParaRPr>
            </a:p>
          </p:txBody>
        </p:sp>
        <p:cxnSp>
          <p:nvCxnSpPr>
            <p:cNvPr id="13" name="Straight Arrow Connector 12">
              <a:extLst>
                <a:ext uri="{FF2B5EF4-FFF2-40B4-BE49-F238E27FC236}">
                  <a16:creationId xmlns:a16="http://schemas.microsoft.com/office/drawing/2014/main" id="{CC167F5C-E4FB-19DA-214A-54EBEF120D54}"/>
                </a:ext>
              </a:extLst>
            </p:cNvPr>
            <p:cNvCxnSpPr>
              <a:stCxn id="11" idx="6"/>
              <a:endCxn id="12" idx="2"/>
            </p:cNvCxnSpPr>
            <p:nvPr/>
          </p:nvCxnSpPr>
          <p:spPr>
            <a:xfrm>
              <a:off x="4791353" y="3495677"/>
              <a:ext cx="2131380"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14" name="TextBox 13">
              <a:extLst>
                <a:ext uri="{FF2B5EF4-FFF2-40B4-BE49-F238E27FC236}">
                  <a16:creationId xmlns:a16="http://schemas.microsoft.com/office/drawing/2014/main" id="{BFCD3FF5-ABCD-ED44-3858-C313F1715CEE}"/>
                </a:ext>
              </a:extLst>
            </p:cNvPr>
            <p:cNvSpPr txBox="1"/>
            <p:nvPr/>
          </p:nvSpPr>
          <p:spPr>
            <a:xfrm>
              <a:off x="3431946" y="3172511"/>
              <a:ext cx="990758" cy="646331"/>
            </a:xfrm>
            <a:prstGeom prst="rect">
              <a:avLst/>
            </a:prstGeom>
            <a:noFill/>
          </p:spPr>
          <p:txBody>
            <a:bodyPr wrap="square" rtlCol="0">
              <a:spAutoFit/>
            </a:bodyPr>
            <a:lstStyle/>
            <a:p>
              <a:pPr algn="r"/>
              <a:r>
                <a:rPr lang="de-DE" noProof="0" dirty="0">
                  <a:solidFill>
                    <a:srgbClr val="D0180A"/>
                  </a:solidFill>
                </a:rPr>
                <a:t>u</a:t>
              </a:r>
              <a:r>
                <a:rPr lang="en-SE" noProof="0" dirty="0">
                  <a:solidFill>
                    <a:srgbClr val="D0180A"/>
                  </a:solidFill>
                </a:rPr>
                <a:t>se of GenAI</a:t>
              </a:r>
              <a:endParaRPr lang="en-US" noProof="0" dirty="0">
                <a:solidFill>
                  <a:srgbClr val="D0180A"/>
                </a:solidFill>
              </a:endParaRPr>
            </a:p>
          </p:txBody>
        </p:sp>
        <p:sp>
          <p:nvSpPr>
            <p:cNvPr id="15" name="TextBox 14">
              <a:extLst>
                <a:ext uri="{FF2B5EF4-FFF2-40B4-BE49-F238E27FC236}">
                  <a16:creationId xmlns:a16="http://schemas.microsoft.com/office/drawing/2014/main" id="{CEBA4781-4599-70ED-3475-54D246F53942}"/>
                </a:ext>
              </a:extLst>
            </p:cNvPr>
            <p:cNvSpPr txBox="1"/>
            <p:nvPr/>
          </p:nvSpPr>
          <p:spPr>
            <a:xfrm>
              <a:off x="6479613" y="3735103"/>
              <a:ext cx="1362937" cy="369332"/>
            </a:xfrm>
            <a:prstGeom prst="rect">
              <a:avLst/>
            </a:prstGeom>
            <a:noFill/>
          </p:spPr>
          <p:txBody>
            <a:bodyPr wrap="none" rtlCol="0">
              <a:spAutoFit/>
            </a:bodyPr>
            <a:lstStyle/>
            <a:p>
              <a:r>
                <a:rPr lang="en-SE" noProof="0" dirty="0">
                  <a:solidFill>
                    <a:srgbClr val="006D70"/>
                  </a:solidFill>
                </a:rPr>
                <a:t>productivity</a:t>
              </a:r>
              <a:endParaRPr lang="en-US" noProof="0" dirty="0">
                <a:solidFill>
                  <a:srgbClr val="006D70"/>
                </a:solidFill>
              </a:endParaRPr>
            </a:p>
          </p:txBody>
        </p:sp>
        <p:sp>
          <p:nvSpPr>
            <p:cNvPr id="16" name="Oval 15">
              <a:extLst>
                <a:ext uri="{FF2B5EF4-FFF2-40B4-BE49-F238E27FC236}">
                  <a16:creationId xmlns:a16="http://schemas.microsoft.com/office/drawing/2014/main" id="{F00C4B34-46E0-491B-1FA9-5670DCD201CF}"/>
                </a:ext>
              </a:extLst>
            </p:cNvPr>
            <p:cNvSpPr/>
            <p:nvPr/>
          </p:nvSpPr>
          <p:spPr>
            <a:xfrm>
              <a:off x="4431353" y="4091330"/>
              <a:ext cx="360000" cy="360000"/>
            </a:xfrm>
            <a:prstGeom prst="ellipse">
              <a:avLst/>
            </a:prstGeom>
            <a:solidFill>
              <a:schemeClr val="bg1">
                <a:lumMod val="75000"/>
              </a:schemeClr>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SE" noProof="0" dirty="0">
                  <a:solidFill>
                    <a:schemeClr val="tx1">
                      <a:lumMod val="50000"/>
                      <a:lumOff val="50000"/>
                    </a:schemeClr>
                  </a:solidFill>
                </a:rPr>
                <a:t>z</a:t>
              </a:r>
              <a:endParaRPr lang="en-US" noProof="0" dirty="0">
                <a:solidFill>
                  <a:schemeClr val="tx1">
                    <a:lumMod val="50000"/>
                    <a:lumOff val="50000"/>
                  </a:schemeClr>
                </a:solidFill>
              </a:endParaRPr>
            </a:p>
          </p:txBody>
        </p:sp>
        <p:sp>
          <p:nvSpPr>
            <p:cNvPr id="17" name="Oval 16">
              <a:extLst>
                <a:ext uri="{FF2B5EF4-FFF2-40B4-BE49-F238E27FC236}">
                  <a16:creationId xmlns:a16="http://schemas.microsoft.com/office/drawing/2014/main" id="{6134C73C-6F13-0E67-E77B-F38B070183E0}"/>
                </a:ext>
              </a:extLst>
            </p:cNvPr>
            <p:cNvSpPr/>
            <p:nvPr/>
          </p:nvSpPr>
          <p:spPr>
            <a:xfrm>
              <a:off x="5676494" y="4091330"/>
              <a:ext cx="360000" cy="360000"/>
            </a:xfrm>
            <a:prstGeom prst="ellipse">
              <a:avLst/>
            </a:prstGeom>
            <a:solidFill>
              <a:schemeClr val="bg1">
                <a:lumMod val="75000"/>
              </a:schemeClr>
            </a:solidFill>
            <a:ln>
              <a:solidFill>
                <a:schemeClr val="bg1">
                  <a:lumMod val="50000"/>
                </a:schemeClr>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SE" noProof="0" dirty="0">
                  <a:solidFill>
                    <a:schemeClr val="tx1">
                      <a:lumMod val="50000"/>
                      <a:lumOff val="50000"/>
                    </a:schemeClr>
                  </a:solidFill>
                </a:rPr>
                <a:t>a</a:t>
              </a:r>
              <a:endParaRPr lang="en-US" noProof="0" dirty="0">
                <a:solidFill>
                  <a:schemeClr val="tx1">
                    <a:lumMod val="50000"/>
                    <a:lumOff val="50000"/>
                  </a:schemeClr>
                </a:solidFill>
              </a:endParaRPr>
            </a:p>
          </p:txBody>
        </p:sp>
        <p:sp>
          <p:nvSpPr>
            <p:cNvPr id="18" name="TextBox 17">
              <a:extLst>
                <a:ext uri="{FF2B5EF4-FFF2-40B4-BE49-F238E27FC236}">
                  <a16:creationId xmlns:a16="http://schemas.microsoft.com/office/drawing/2014/main" id="{74D69B51-202C-10B5-3860-05A9E659FB7E}"/>
                </a:ext>
              </a:extLst>
            </p:cNvPr>
            <p:cNvSpPr txBox="1"/>
            <p:nvPr/>
          </p:nvSpPr>
          <p:spPr>
            <a:xfrm>
              <a:off x="6036494" y="4081998"/>
              <a:ext cx="1246239" cy="369332"/>
            </a:xfrm>
            <a:prstGeom prst="rect">
              <a:avLst/>
            </a:prstGeom>
            <a:noFill/>
          </p:spPr>
          <p:txBody>
            <a:bodyPr wrap="none" rtlCol="0">
              <a:spAutoFit/>
            </a:bodyPr>
            <a:lstStyle/>
            <a:p>
              <a:r>
                <a:rPr lang="en-US" noProof="0" dirty="0">
                  <a:solidFill>
                    <a:schemeClr val="tx1">
                      <a:lumMod val="65000"/>
                      <a:lumOff val="35000"/>
                    </a:schemeClr>
                  </a:solidFill>
                </a:rPr>
                <a:t>motivation</a:t>
              </a:r>
            </a:p>
          </p:txBody>
        </p:sp>
        <p:sp>
          <p:nvSpPr>
            <p:cNvPr id="19" name="TextBox 18">
              <a:extLst>
                <a:ext uri="{FF2B5EF4-FFF2-40B4-BE49-F238E27FC236}">
                  <a16:creationId xmlns:a16="http://schemas.microsoft.com/office/drawing/2014/main" id="{26929C57-3CD0-B281-9E87-32F8BD87A9E8}"/>
                </a:ext>
              </a:extLst>
            </p:cNvPr>
            <p:cNvSpPr txBox="1"/>
            <p:nvPr/>
          </p:nvSpPr>
          <p:spPr>
            <a:xfrm>
              <a:off x="2956199" y="3943498"/>
              <a:ext cx="1432387" cy="646331"/>
            </a:xfrm>
            <a:prstGeom prst="rect">
              <a:avLst/>
            </a:prstGeom>
            <a:noFill/>
          </p:spPr>
          <p:txBody>
            <a:bodyPr wrap="square" rtlCol="0">
              <a:spAutoFit/>
            </a:bodyPr>
            <a:lstStyle/>
            <a:p>
              <a:pPr algn="r"/>
              <a:r>
                <a:rPr lang="en-SE" noProof="0" dirty="0">
                  <a:solidFill>
                    <a:schemeClr val="tx1">
                      <a:lumMod val="65000"/>
                      <a:lumOff val="35000"/>
                    </a:schemeClr>
                  </a:solidFill>
                </a:rPr>
                <a:t>GenAI experience</a:t>
              </a:r>
              <a:endParaRPr lang="en-US" noProof="0" dirty="0">
                <a:solidFill>
                  <a:schemeClr val="tx1">
                    <a:lumMod val="65000"/>
                    <a:lumOff val="35000"/>
                  </a:schemeClr>
                </a:solidFill>
              </a:endParaRPr>
            </a:p>
          </p:txBody>
        </p:sp>
        <p:cxnSp>
          <p:nvCxnSpPr>
            <p:cNvPr id="20" name="Straight Arrow Connector 19">
              <a:extLst>
                <a:ext uri="{FF2B5EF4-FFF2-40B4-BE49-F238E27FC236}">
                  <a16:creationId xmlns:a16="http://schemas.microsoft.com/office/drawing/2014/main" id="{FF51A305-4AFD-C421-F455-5F47EE92CA82}"/>
                </a:ext>
              </a:extLst>
            </p:cNvPr>
            <p:cNvCxnSpPr>
              <a:cxnSpLocks/>
              <a:stCxn id="17" idx="7"/>
              <a:endCxn id="12" idx="3"/>
            </p:cNvCxnSpPr>
            <p:nvPr/>
          </p:nvCxnSpPr>
          <p:spPr>
            <a:xfrm flipV="1">
              <a:off x="5983773" y="3622956"/>
              <a:ext cx="991681" cy="521095"/>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21" name="Straight Arrow Connector 20">
              <a:extLst>
                <a:ext uri="{FF2B5EF4-FFF2-40B4-BE49-F238E27FC236}">
                  <a16:creationId xmlns:a16="http://schemas.microsoft.com/office/drawing/2014/main" id="{371EE06D-61F8-CD8F-560D-7E7E4CE382DB}"/>
                </a:ext>
              </a:extLst>
            </p:cNvPr>
            <p:cNvCxnSpPr>
              <a:cxnSpLocks/>
              <a:stCxn id="17" idx="2"/>
              <a:endCxn id="16" idx="6"/>
            </p:cNvCxnSpPr>
            <p:nvPr/>
          </p:nvCxnSpPr>
          <p:spPr>
            <a:xfrm flipH="1">
              <a:off x="4791353" y="4271330"/>
              <a:ext cx="885141"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22" name="Straight Arrow Connector 21">
              <a:extLst>
                <a:ext uri="{FF2B5EF4-FFF2-40B4-BE49-F238E27FC236}">
                  <a16:creationId xmlns:a16="http://schemas.microsoft.com/office/drawing/2014/main" id="{9AA5F8D7-A774-CE50-7E31-48343648012D}"/>
                </a:ext>
              </a:extLst>
            </p:cNvPr>
            <p:cNvCxnSpPr>
              <a:cxnSpLocks/>
              <a:stCxn id="16" idx="0"/>
              <a:endCxn id="11" idx="4"/>
            </p:cNvCxnSpPr>
            <p:nvPr/>
          </p:nvCxnSpPr>
          <p:spPr>
            <a:xfrm flipV="1">
              <a:off x="4611353" y="3675677"/>
              <a:ext cx="0" cy="415653"/>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23" name="Straight Arrow Connector 22">
              <a:extLst>
                <a:ext uri="{FF2B5EF4-FFF2-40B4-BE49-F238E27FC236}">
                  <a16:creationId xmlns:a16="http://schemas.microsoft.com/office/drawing/2014/main" id="{E04C69C1-69C6-5AE3-3F93-92FDE2931477}"/>
                </a:ext>
              </a:extLst>
            </p:cNvPr>
            <p:cNvCxnSpPr>
              <a:cxnSpLocks/>
              <a:stCxn id="17" idx="1"/>
              <a:endCxn id="11" idx="5"/>
            </p:cNvCxnSpPr>
            <p:nvPr/>
          </p:nvCxnSpPr>
          <p:spPr>
            <a:xfrm flipH="1" flipV="1">
              <a:off x="4738632" y="3622956"/>
              <a:ext cx="990583" cy="521095"/>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24" name="Oval 23">
              <a:extLst>
                <a:ext uri="{FF2B5EF4-FFF2-40B4-BE49-F238E27FC236}">
                  <a16:creationId xmlns:a16="http://schemas.microsoft.com/office/drawing/2014/main" id="{C0DA1601-1788-26F1-CEC9-C3AA51200DA3}"/>
                </a:ext>
              </a:extLst>
            </p:cNvPr>
            <p:cNvSpPr/>
            <p:nvPr/>
          </p:nvSpPr>
          <p:spPr>
            <a:xfrm>
              <a:off x="5676668" y="2526255"/>
              <a:ext cx="360000" cy="360000"/>
            </a:xfrm>
            <a:prstGeom prst="ellipse">
              <a:avLst/>
            </a:prstGeom>
            <a:solidFill>
              <a:schemeClr val="bg1">
                <a:lumMod val="75000"/>
              </a:schemeClr>
            </a:solidFill>
            <a:ln>
              <a:solidFill>
                <a:schemeClr val="bg1">
                  <a:lumMod val="50000"/>
                </a:schemeClr>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SE" noProof="0" dirty="0">
                  <a:solidFill>
                    <a:schemeClr val="tx1">
                      <a:lumMod val="50000"/>
                      <a:lumOff val="50000"/>
                    </a:schemeClr>
                  </a:solidFill>
                </a:rPr>
                <a:t>b</a:t>
              </a:r>
              <a:endParaRPr lang="en-US" noProof="0" dirty="0">
                <a:solidFill>
                  <a:schemeClr val="tx1">
                    <a:lumMod val="50000"/>
                    <a:lumOff val="50000"/>
                  </a:schemeClr>
                </a:solidFill>
              </a:endParaRPr>
            </a:p>
          </p:txBody>
        </p:sp>
        <p:sp>
          <p:nvSpPr>
            <p:cNvPr id="25" name="TextBox 24">
              <a:extLst>
                <a:ext uri="{FF2B5EF4-FFF2-40B4-BE49-F238E27FC236}">
                  <a16:creationId xmlns:a16="http://schemas.microsoft.com/office/drawing/2014/main" id="{58A3BCA9-9C24-5134-E61C-273D13DB9E81}"/>
                </a:ext>
              </a:extLst>
            </p:cNvPr>
            <p:cNvSpPr txBox="1"/>
            <p:nvPr/>
          </p:nvSpPr>
          <p:spPr>
            <a:xfrm>
              <a:off x="6045317" y="2256901"/>
              <a:ext cx="1534838" cy="646331"/>
            </a:xfrm>
            <a:prstGeom prst="rect">
              <a:avLst/>
            </a:prstGeom>
            <a:noFill/>
          </p:spPr>
          <p:txBody>
            <a:bodyPr wrap="square" rtlCol="0">
              <a:spAutoFit/>
            </a:bodyPr>
            <a:lstStyle/>
            <a:p>
              <a:r>
                <a:rPr lang="en-SE" noProof="0" dirty="0">
                  <a:solidFill>
                    <a:schemeClr val="tx1">
                      <a:lumMod val="65000"/>
                      <a:lumOff val="35000"/>
                    </a:schemeClr>
                  </a:solidFill>
                </a:rPr>
                <a:t>IDE’s user experience</a:t>
              </a:r>
              <a:endParaRPr lang="en-US" noProof="0" dirty="0">
                <a:solidFill>
                  <a:schemeClr val="tx1">
                    <a:lumMod val="65000"/>
                    <a:lumOff val="35000"/>
                  </a:schemeClr>
                </a:solidFill>
              </a:endParaRPr>
            </a:p>
          </p:txBody>
        </p:sp>
        <p:cxnSp>
          <p:nvCxnSpPr>
            <p:cNvPr id="26" name="Straight Arrow Connector 25">
              <a:extLst>
                <a:ext uri="{FF2B5EF4-FFF2-40B4-BE49-F238E27FC236}">
                  <a16:creationId xmlns:a16="http://schemas.microsoft.com/office/drawing/2014/main" id="{2238F90C-301C-AD9A-57A6-7754ABDFC172}"/>
                </a:ext>
              </a:extLst>
            </p:cNvPr>
            <p:cNvCxnSpPr>
              <a:cxnSpLocks/>
              <a:stCxn id="11" idx="7"/>
              <a:endCxn id="24" idx="3"/>
            </p:cNvCxnSpPr>
            <p:nvPr/>
          </p:nvCxnSpPr>
          <p:spPr>
            <a:xfrm flipV="1">
              <a:off x="4738632" y="2833534"/>
              <a:ext cx="990757" cy="534864"/>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27" name="Straight Arrow Connector 26">
              <a:extLst>
                <a:ext uri="{FF2B5EF4-FFF2-40B4-BE49-F238E27FC236}">
                  <a16:creationId xmlns:a16="http://schemas.microsoft.com/office/drawing/2014/main" id="{6E9E0EF2-FD5E-B075-CABB-9DFB7C9995B8}"/>
                </a:ext>
              </a:extLst>
            </p:cNvPr>
            <p:cNvCxnSpPr>
              <a:cxnSpLocks/>
              <a:stCxn id="24" idx="5"/>
              <a:endCxn id="12" idx="1"/>
            </p:cNvCxnSpPr>
            <p:nvPr/>
          </p:nvCxnSpPr>
          <p:spPr>
            <a:xfrm>
              <a:off x="5983947" y="2833534"/>
              <a:ext cx="991507" cy="534864"/>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grpSp>
      <p:grpSp>
        <p:nvGrpSpPr>
          <p:cNvPr id="28" name="Group 27">
            <a:extLst>
              <a:ext uri="{FF2B5EF4-FFF2-40B4-BE49-F238E27FC236}">
                <a16:creationId xmlns:a16="http://schemas.microsoft.com/office/drawing/2014/main" id="{373A28EB-17EB-E6A3-14EF-15AAB9C708C1}"/>
              </a:ext>
            </a:extLst>
          </p:cNvPr>
          <p:cNvGrpSpPr/>
          <p:nvPr/>
        </p:nvGrpSpPr>
        <p:grpSpPr>
          <a:xfrm>
            <a:off x="6167424" y="2871763"/>
            <a:ext cx="4886351" cy="2332928"/>
            <a:chOff x="2956199" y="2256901"/>
            <a:chExt cx="4886351" cy="2332928"/>
          </a:xfrm>
        </p:grpSpPr>
        <p:sp>
          <p:nvSpPr>
            <p:cNvPr id="29" name="Oval 28">
              <a:extLst>
                <a:ext uri="{FF2B5EF4-FFF2-40B4-BE49-F238E27FC236}">
                  <a16:creationId xmlns:a16="http://schemas.microsoft.com/office/drawing/2014/main" id="{91CFB405-7A47-CAB4-8B35-0FAB59F42772}"/>
                </a:ext>
              </a:extLst>
            </p:cNvPr>
            <p:cNvSpPr/>
            <p:nvPr/>
          </p:nvSpPr>
          <p:spPr>
            <a:xfrm>
              <a:off x="4431353" y="3315677"/>
              <a:ext cx="360000" cy="360000"/>
            </a:xfrm>
            <a:prstGeom prst="ellipse">
              <a:avLst/>
            </a:prstGeom>
            <a:solidFill>
              <a:srgbClr val="F8766D"/>
            </a:solidFill>
            <a:ln>
              <a:solidFill>
                <a:srgbClr val="D0180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SE" noProof="0" dirty="0">
                  <a:solidFill>
                    <a:srgbClr val="D0180A"/>
                  </a:solidFill>
                </a:rPr>
                <a:t>x</a:t>
              </a:r>
              <a:endParaRPr lang="en-US" noProof="0" dirty="0">
                <a:solidFill>
                  <a:srgbClr val="D0180A"/>
                </a:solidFill>
              </a:endParaRPr>
            </a:p>
          </p:txBody>
        </p:sp>
        <p:sp>
          <p:nvSpPr>
            <p:cNvPr id="30" name="Oval 29">
              <a:extLst>
                <a:ext uri="{FF2B5EF4-FFF2-40B4-BE49-F238E27FC236}">
                  <a16:creationId xmlns:a16="http://schemas.microsoft.com/office/drawing/2014/main" id="{FED4CC25-6CB8-B1E8-3815-C92DFB20B4ED}"/>
                </a:ext>
              </a:extLst>
            </p:cNvPr>
            <p:cNvSpPr/>
            <p:nvPr/>
          </p:nvSpPr>
          <p:spPr>
            <a:xfrm>
              <a:off x="6922733" y="3315677"/>
              <a:ext cx="360000" cy="360000"/>
            </a:xfrm>
            <a:prstGeom prst="ellipse">
              <a:avLst/>
            </a:prstGeom>
            <a:solidFill>
              <a:srgbClr val="00BFC4"/>
            </a:solidFill>
            <a:ln>
              <a:solidFill>
                <a:srgbClr val="006D7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SE" noProof="0" dirty="0">
                  <a:solidFill>
                    <a:srgbClr val="006D70"/>
                  </a:solidFill>
                </a:rPr>
                <a:t>y</a:t>
              </a:r>
              <a:endParaRPr lang="en-US" noProof="0" dirty="0">
                <a:solidFill>
                  <a:srgbClr val="006D70"/>
                </a:solidFill>
              </a:endParaRPr>
            </a:p>
          </p:txBody>
        </p:sp>
        <p:cxnSp>
          <p:nvCxnSpPr>
            <p:cNvPr id="31" name="Straight Arrow Connector 30">
              <a:extLst>
                <a:ext uri="{FF2B5EF4-FFF2-40B4-BE49-F238E27FC236}">
                  <a16:creationId xmlns:a16="http://schemas.microsoft.com/office/drawing/2014/main" id="{62B5CA7B-ABC3-5C43-25F6-265A46F19E34}"/>
                </a:ext>
              </a:extLst>
            </p:cNvPr>
            <p:cNvCxnSpPr>
              <a:stCxn id="29" idx="6"/>
              <a:endCxn id="30" idx="2"/>
            </p:cNvCxnSpPr>
            <p:nvPr/>
          </p:nvCxnSpPr>
          <p:spPr>
            <a:xfrm>
              <a:off x="4791353" y="3495677"/>
              <a:ext cx="2131380"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32" name="TextBox 31">
              <a:extLst>
                <a:ext uri="{FF2B5EF4-FFF2-40B4-BE49-F238E27FC236}">
                  <a16:creationId xmlns:a16="http://schemas.microsoft.com/office/drawing/2014/main" id="{1A0CC55C-CE42-9B48-873E-2A2D519A9477}"/>
                </a:ext>
              </a:extLst>
            </p:cNvPr>
            <p:cNvSpPr txBox="1"/>
            <p:nvPr/>
          </p:nvSpPr>
          <p:spPr>
            <a:xfrm>
              <a:off x="3431946" y="3172511"/>
              <a:ext cx="990758" cy="646331"/>
            </a:xfrm>
            <a:prstGeom prst="rect">
              <a:avLst/>
            </a:prstGeom>
            <a:noFill/>
          </p:spPr>
          <p:txBody>
            <a:bodyPr wrap="square" rtlCol="0">
              <a:spAutoFit/>
            </a:bodyPr>
            <a:lstStyle/>
            <a:p>
              <a:pPr algn="r"/>
              <a:r>
                <a:rPr lang="de-DE" noProof="0" dirty="0">
                  <a:solidFill>
                    <a:srgbClr val="D0180A"/>
                  </a:solidFill>
                </a:rPr>
                <a:t>u</a:t>
              </a:r>
              <a:r>
                <a:rPr lang="en-SE" noProof="0" dirty="0">
                  <a:solidFill>
                    <a:srgbClr val="D0180A"/>
                  </a:solidFill>
                </a:rPr>
                <a:t>se of GenAI</a:t>
              </a:r>
              <a:endParaRPr lang="en-US" noProof="0" dirty="0">
                <a:solidFill>
                  <a:srgbClr val="D0180A"/>
                </a:solidFill>
              </a:endParaRPr>
            </a:p>
          </p:txBody>
        </p:sp>
        <p:sp>
          <p:nvSpPr>
            <p:cNvPr id="33" name="TextBox 32">
              <a:extLst>
                <a:ext uri="{FF2B5EF4-FFF2-40B4-BE49-F238E27FC236}">
                  <a16:creationId xmlns:a16="http://schemas.microsoft.com/office/drawing/2014/main" id="{49419F99-D0DD-9F43-AF58-ABD913E63D0F}"/>
                </a:ext>
              </a:extLst>
            </p:cNvPr>
            <p:cNvSpPr txBox="1"/>
            <p:nvPr/>
          </p:nvSpPr>
          <p:spPr>
            <a:xfrm>
              <a:off x="6479613" y="3735103"/>
              <a:ext cx="1362937" cy="369332"/>
            </a:xfrm>
            <a:prstGeom prst="rect">
              <a:avLst/>
            </a:prstGeom>
            <a:noFill/>
          </p:spPr>
          <p:txBody>
            <a:bodyPr wrap="none" rtlCol="0">
              <a:spAutoFit/>
            </a:bodyPr>
            <a:lstStyle/>
            <a:p>
              <a:r>
                <a:rPr lang="en-SE" noProof="0" dirty="0">
                  <a:solidFill>
                    <a:srgbClr val="006D70"/>
                  </a:solidFill>
                </a:rPr>
                <a:t>productivity</a:t>
              </a:r>
              <a:endParaRPr lang="en-US" noProof="0" dirty="0">
                <a:solidFill>
                  <a:srgbClr val="006D70"/>
                </a:solidFill>
              </a:endParaRPr>
            </a:p>
          </p:txBody>
        </p:sp>
        <p:sp>
          <p:nvSpPr>
            <p:cNvPr id="34" name="Oval 33">
              <a:extLst>
                <a:ext uri="{FF2B5EF4-FFF2-40B4-BE49-F238E27FC236}">
                  <a16:creationId xmlns:a16="http://schemas.microsoft.com/office/drawing/2014/main" id="{D8F7DD19-30C0-8579-ACD4-79FFAD959C40}"/>
                </a:ext>
              </a:extLst>
            </p:cNvPr>
            <p:cNvSpPr/>
            <p:nvPr/>
          </p:nvSpPr>
          <p:spPr>
            <a:xfrm>
              <a:off x="4431353" y="4091330"/>
              <a:ext cx="360000" cy="360000"/>
            </a:xfrm>
            <a:prstGeom prst="ellipse">
              <a:avLst/>
            </a:prstGeom>
            <a:solidFill>
              <a:schemeClr val="bg1">
                <a:lumMod val="75000"/>
              </a:schemeClr>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SE" noProof="0" dirty="0">
                  <a:solidFill>
                    <a:schemeClr val="tx1">
                      <a:lumMod val="50000"/>
                      <a:lumOff val="50000"/>
                    </a:schemeClr>
                  </a:solidFill>
                </a:rPr>
                <a:t>z</a:t>
              </a:r>
              <a:endParaRPr lang="en-US" noProof="0" dirty="0">
                <a:solidFill>
                  <a:schemeClr val="tx1">
                    <a:lumMod val="50000"/>
                    <a:lumOff val="50000"/>
                  </a:schemeClr>
                </a:solidFill>
              </a:endParaRPr>
            </a:p>
          </p:txBody>
        </p:sp>
        <p:sp>
          <p:nvSpPr>
            <p:cNvPr id="35" name="Oval 34">
              <a:extLst>
                <a:ext uri="{FF2B5EF4-FFF2-40B4-BE49-F238E27FC236}">
                  <a16:creationId xmlns:a16="http://schemas.microsoft.com/office/drawing/2014/main" id="{B1B3270F-8FA7-9BB5-6BC6-79D009F20848}"/>
                </a:ext>
              </a:extLst>
            </p:cNvPr>
            <p:cNvSpPr/>
            <p:nvPr/>
          </p:nvSpPr>
          <p:spPr>
            <a:xfrm>
              <a:off x="5676494" y="4091330"/>
              <a:ext cx="360000" cy="360000"/>
            </a:xfrm>
            <a:prstGeom prst="ellipse">
              <a:avLst/>
            </a:prstGeom>
            <a:solidFill>
              <a:schemeClr val="bg1">
                <a:lumMod val="75000"/>
              </a:schemeClr>
            </a:solidFill>
            <a:ln>
              <a:solidFill>
                <a:schemeClr val="bg1">
                  <a:lumMod val="50000"/>
                </a:schemeClr>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SE" noProof="0" dirty="0">
                  <a:solidFill>
                    <a:schemeClr val="tx1">
                      <a:lumMod val="50000"/>
                      <a:lumOff val="50000"/>
                    </a:schemeClr>
                  </a:solidFill>
                </a:rPr>
                <a:t>a</a:t>
              </a:r>
              <a:endParaRPr lang="en-US" noProof="0" dirty="0">
                <a:solidFill>
                  <a:schemeClr val="tx1">
                    <a:lumMod val="50000"/>
                    <a:lumOff val="50000"/>
                  </a:schemeClr>
                </a:solidFill>
              </a:endParaRPr>
            </a:p>
          </p:txBody>
        </p:sp>
        <p:sp>
          <p:nvSpPr>
            <p:cNvPr id="36" name="TextBox 35">
              <a:extLst>
                <a:ext uri="{FF2B5EF4-FFF2-40B4-BE49-F238E27FC236}">
                  <a16:creationId xmlns:a16="http://schemas.microsoft.com/office/drawing/2014/main" id="{0D78C1C6-E2B9-8F90-2A09-681E18837EE0}"/>
                </a:ext>
              </a:extLst>
            </p:cNvPr>
            <p:cNvSpPr txBox="1"/>
            <p:nvPr/>
          </p:nvSpPr>
          <p:spPr>
            <a:xfrm>
              <a:off x="6036494" y="4081998"/>
              <a:ext cx="1246239" cy="369332"/>
            </a:xfrm>
            <a:prstGeom prst="rect">
              <a:avLst/>
            </a:prstGeom>
            <a:noFill/>
          </p:spPr>
          <p:txBody>
            <a:bodyPr wrap="none" rtlCol="0">
              <a:spAutoFit/>
            </a:bodyPr>
            <a:lstStyle/>
            <a:p>
              <a:r>
                <a:rPr lang="en-US" noProof="0" dirty="0">
                  <a:solidFill>
                    <a:schemeClr val="tx1">
                      <a:lumMod val="65000"/>
                      <a:lumOff val="35000"/>
                    </a:schemeClr>
                  </a:solidFill>
                </a:rPr>
                <a:t>motivation</a:t>
              </a:r>
            </a:p>
          </p:txBody>
        </p:sp>
        <p:sp>
          <p:nvSpPr>
            <p:cNvPr id="37" name="TextBox 36">
              <a:extLst>
                <a:ext uri="{FF2B5EF4-FFF2-40B4-BE49-F238E27FC236}">
                  <a16:creationId xmlns:a16="http://schemas.microsoft.com/office/drawing/2014/main" id="{2193AF6F-9177-37FF-503A-4C853674AA98}"/>
                </a:ext>
              </a:extLst>
            </p:cNvPr>
            <p:cNvSpPr txBox="1"/>
            <p:nvPr/>
          </p:nvSpPr>
          <p:spPr>
            <a:xfrm>
              <a:off x="2956199" y="3943498"/>
              <a:ext cx="1432387" cy="646331"/>
            </a:xfrm>
            <a:prstGeom prst="rect">
              <a:avLst/>
            </a:prstGeom>
            <a:noFill/>
          </p:spPr>
          <p:txBody>
            <a:bodyPr wrap="square" rtlCol="0">
              <a:spAutoFit/>
            </a:bodyPr>
            <a:lstStyle/>
            <a:p>
              <a:pPr algn="r"/>
              <a:r>
                <a:rPr lang="en-SE" noProof="0" dirty="0">
                  <a:solidFill>
                    <a:schemeClr val="tx1">
                      <a:lumMod val="65000"/>
                      <a:lumOff val="35000"/>
                    </a:schemeClr>
                  </a:solidFill>
                </a:rPr>
                <a:t>GenAI experience</a:t>
              </a:r>
              <a:endParaRPr lang="en-US" noProof="0" dirty="0">
                <a:solidFill>
                  <a:schemeClr val="tx1">
                    <a:lumMod val="65000"/>
                    <a:lumOff val="35000"/>
                  </a:schemeClr>
                </a:solidFill>
              </a:endParaRPr>
            </a:p>
          </p:txBody>
        </p:sp>
        <p:cxnSp>
          <p:nvCxnSpPr>
            <p:cNvPr id="38" name="Straight Arrow Connector 37">
              <a:extLst>
                <a:ext uri="{FF2B5EF4-FFF2-40B4-BE49-F238E27FC236}">
                  <a16:creationId xmlns:a16="http://schemas.microsoft.com/office/drawing/2014/main" id="{EE70F82B-86A1-8FB7-15CF-FF5E7448F022}"/>
                </a:ext>
              </a:extLst>
            </p:cNvPr>
            <p:cNvCxnSpPr>
              <a:cxnSpLocks/>
              <a:stCxn id="35" idx="7"/>
              <a:endCxn id="30" idx="3"/>
            </p:cNvCxnSpPr>
            <p:nvPr/>
          </p:nvCxnSpPr>
          <p:spPr>
            <a:xfrm flipV="1">
              <a:off x="5983773" y="3622956"/>
              <a:ext cx="991681" cy="521095"/>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40" name="Straight Arrow Connector 39">
              <a:extLst>
                <a:ext uri="{FF2B5EF4-FFF2-40B4-BE49-F238E27FC236}">
                  <a16:creationId xmlns:a16="http://schemas.microsoft.com/office/drawing/2014/main" id="{403A05A3-2276-7336-86FC-9530C1F85258}"/>
                </a:ext>
              </a:extLst>
            </p:cNvPr>
            <p:cNvCxnSpPr>
              <a:cxnSpLocks/>
              <a:stCxn id="34" idx="0"/>
              <a:endCxn id="29" idx="4"/>
            </p:cNvCxnSpPr>
            <p:nvPr/>
          </p:nvCxnSpPr>
          <p:spPr>
            <a:xfrm flipV="1">
              <a:off x="4611353" y="3675677"/>
              <a:ext cx="0" cy="415653"/>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41" name="Straight Arrow Connector 40">
              <a:extLst>
                <a:ext uri="{FF2B5EF4-FFF2-40B4-BE49-F238E27FC236}">
                  <a16:creationId xmlns:a16="http://schemas.microsoft.com/office/drawing/2014/main" id="{C2A3E938-5C1D-9705-C815-B1FE4B6C6B24}"/>
                </a:ext>
              </a:extLst>
            </p:cNvPr>
            <p:cNvCxnSpPr>
              <a:cxnSpLocks/>
              <a:stCxn id="35" idx="1"/>
              <a:endCxn id="29" idx="5"/>
            </p:cNvCxnSpPr>
            <p:nvPr/>
          </p:nvCxnSpPr>
          <p:spPr>
            <a:xfrm flipH="1" flipV="1">
              <a:off x="4738632" y="3622956"/>
              <a:ext cx="990583" cy="521095"/>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42" name="Oval 41">
              <a:extLst>
                <a:ext uri="{FF2B5EF4-FFF2-40B4-BE49-F238E27FC236}">
                  <a16:creationId xmlns:a16="http://schemas.microsoft.com/office/drawing/2014/main" id="{2C27EAFB-66C8-CA2C-95C5-8F880ECC7206}"/>
                </a:ext>
              </a:extLst>
            </p:cNvPr>
            <p:cNvSpPr/>
            <p:nvPr/>
          </p:nvSpPr>
          <p:spPr>
            <a:xfrm>
              <a:off x="5676668" y="2526255"/>
              <a:ext cx="360000" cy="360000"/>
            </a:xfrm>
            <a:prstGeom prst="ellipse">
              <a:avLst/>
            </a:prstGeom>
            <a:solidFill>
              <a:schemeClr val="bg1">
                <a:lumMod val="75000"/>
              </a:schemeClr>
            </a:solidFill>
            <a:ln>
              <a:solidFill>
                <a:schemeClr val="bg1">
                  <a:lumMod val="50000"/>
                </a:schemeClr>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SE" noProof="0" dirty="0">
                  <a:solidFill>
                    <a:schemeClr val="tx1">
                      <a:lumMod val="50000"/>
                      <a:lumOff val="50000"/>
                    </a:schemeClr>
                  </a:solidFill>
                </a:rPr>
                <a:t>b</a:t>
              </a:r>
              <a:endParaRPr lang="en-US" noProof="0" dirty="0">
                <a:solidFill>
                  <a:schemeClr val="tx1">
                    <a:lumMod val="50000"/>
                    <a:lumOff val="50000"/>
                  </a:schemeClr>
                </a:solidFill>
              </a:endParaRPr>
            </a:p>
          </p:txBody>
        </p:sp>
        <p:sp>
          <p:nvSpPr>
            <p:cNvPr id="43" name="TextBox 42">
              <a:extLst>
                <a:ext uri="{FF2B5EF4-FFF2-40B4-BE49-F238E27FC236}">
                  <a16:creationId xmlns:a16="http://schemas.microsoft.com/office/drawing/2014/main" id="{01BD7C23-1DBF-7508-7747-8CADEB84C2EF}"/>
                </a:ext>
              </a:extLst>
            </p:cNvPr>
            <p:cNvSpPr txBox="1"/>
            <p:nvPr/>
          </p:nvSpPr>
          <p:spPr>
            <a:xfrm>
              <a:off x="6045317" y="2256901"/>
              <a:ext cx="1534838" cy="646331"/>
            </a:xfrm>
            <a:prstGeom prst="rect">
              <a:avLst/>
            </a:prstGeom>
            <a:noFill/>
          </p:spPr>
          <p:txBody>
            <a:bodyPr wrap="square" rtlCol="0">
              <a:spAutoFit/>
            </a:bodyPr>
            <a:lstStyle/>
            <a:p>
              <a:r>
                <a:rPr lang="en-SE" noProof="0" dirty="0">
                  <a:solidFill>
                    <a:schemeClr val="tx1">
                      <a:lumMod val="65000"/>
                      <a:lumOff val="35000"/>
                    </a:schemeClr>
                  </a:solidFill>
                </a:rPr>
                <a:t>IDE’s user experience</a:t>
              </a:r>
              <a:endParaRPr lang="en-US" noProof="0" dirty="0">
                <a:solidFill>
                  <a:schemeClr val="tx1">
                    <a:lumMod val="65000"/>
                    <a:lumOff val="35000"/>
                  </a:schemeClr>
                </a:solidFill>
              </a:endParaRPr>
            </a:p>
          </p:txBody>
        </p:sp>
        <p:cxnSp>
          <p:nvCxnSpPr>
            <p:cNvPr id="44" name="Straight Arrow Connector 43">
              <a:extLst>
                <a:ext uri="{FF2B5EF4-FFF2-40B4-BE49-F238E27FC236}">
                  <a16:creationId xmlns:a16="http://schemas.microsoft.com/office/drawing/2014/main" id="{B6889E6F-82F3-F9E1-A5BC-4E1F5B43AC97}"/>
                </a:ext>
              </a:extLst>
            </p:cNvPr>
            <p:cNvCxnSpPr>
              <a:cxnSpLocks/>
              <a:stCxn id="29" idx="7"/>
              <a:endCxn id="42" idx="3"/>
            </p:cNvCxnSpPr>
            <p:nvPr/>
          </p:nvCxnSpPr>
          <p:spPr>
            <a:xfrm flipV="1">
              <a:off x="4738632" y="2833534"/>
              <a:ext cx="990757" cy="534864"/>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45" name="Straight Arrow Connector 44">
              <a:extLst>
                <a:ext uri="{FF2B5EF4-FFF2-40B4-BE49-F238E27FC236}">
                  <a16:creationId xmlns:a16="http://schemas.microsoft.com/office/drawing/2014/main" id="{773DBA13-20A1-533A-A9B2-CAF6A6956A2F}"/>
                </a:ext>
              </a:extLst>
            </p:cNvPr>
            <p:cNvCxnSpPr>
              <a:cxnSpLocks/>
              <a:stCxn id="42" idx="5"/>
              <a:endCxn id="30" idx="1"/>
            </p:cNvCxnSpPr>
            <p:nvPr/>
          </p:nvCxnSpPr>
          <p:spPr>
            <a:xfrm>
              <a:off x="5983947" y="2833534"/>
              <a:ext cx="991507" cy="534864"/>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grpSp>
      <p:cxnSp>
        <p:nvCxnSpPr>
          <p:cNvPr id="46" name="Straight Arrow Connector 45">
            <a:extLst>
              <a:ext uri="{FF2B5EF4-FFF2-40B4-BE49-F238E27FC236}">
                <a16:creationId xmlns:a16="http://schemas.microsoft.com/office/drawing/2014/main" id="{68564829-4B13-7F97-18B0-DC0964DF6B1F}"/>
              </a:ext>
            </a:extLst>
          </p:cNvPr>
          <p:cNvCxnSpPr>
            <a:cxnSpLocks/>
            <a:stCxn id="34" idx="7"/>
            <a:endCxn id="42" idx="4"/>
          </p:cNvCxnSpPr>
          <p:nvPr/>
        </p:nvCxnSpPr>
        <p:spPr>
          <a:xfrm flipV="1">
            <a:off x="7949857" y="3501117"/>
            <a:ext cx="1118036" cy="1257796"/>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grpSp>
        <p:nvGrpSpPr>
          <p:cNvPr id="49" name="Group 48">
            <a:extLst>
              <a:ext uri="{FF2B5EF4-FFF2-40B4-BE49-F238E27FC236}">
                <a16:creationId xmlns:a16="http://schemas.microsoft.com/office/drawing/2014/main" id="{988E578A-DA37-DC09-0CC8-E3AB6DAF349E}"/>
              </a:ext>
            </a:extLst>
          </p:cNvPr>
          <p:cNvGrpSpPr/>
          <p:nvPr/>
        </p:nvGrpSpPr>
        <p:grpSpPr>
          <a:xfrm>
            <a:off x="838198" y="365125"/>
            <a:ext cx="1983884" cy="245531"/>
            <a:chOff x="4114799" y="3759391"/>
            <a:chExt cx="1983884" cy="1229241"/>
          </a:xfrm>
        </p:grpSpPr>
        <p:sp>
          <p:nvSpPr>
            <p:cNvPr id="50" name="Arrow: Pentagon 49">
              <a:extLst>
                <a:ext uri="{FF2B5EF4-FFF2-40B4-BE49-F238E27FC236}">
                  <a16:creationId xmlns:a16="http://schemas.microsoft.com/office/drawing/2014/main" id="{134FB1C4-10F3-ADA4-750E-877C04F2AD7F}"/>
                </a:ext>
              </a:extLst>
            </p:cNvPr>
            <p:cNvSpPr/>
            <p:nvPr/>
          </p:nvSpPr>
          <p:spPr>
            <a:xfrm>
              <a:off x="4114799" y="3759391"/>
              <a:ext cx="794039" cy="1229241"/>
            </a:xfrm>
            <a:prstGeom prst="homePlate">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SE" sz="1400" dirty="0"/>
                <a:t>Theory</a:t>
              </a:r>
            </a:p>
          </p:txBody>
        </p:sp>
        <p:sp>
          <p:nvSpPr>
            <p:cNvPr id="51" name="Arrow: Chevron 50">
              <a:extLst>
                <a:ext uri="{FF2B5EF4-FFF2-40B4-BE49-F238E27FC236}">
                  <a16:creationId xmlns:a16="http://schemas.microsoft.com/office/drawing/2014/main" id="{B3AED47E-3894-DFB1-E192-E440B0B41AB9}"/>
                </a:ext>
              </a:extLst>
            </p:cNvPr>
            <p:cNvSpPr/>
            <p:nvPr/>
          </p:nvSpPr>
          <p:spPr>
            <a:xfrm>
              <a:off x="4843616" y="3759391"/>
              <a:ext cx="1255067" cy="1229241"/>
            </a:xfrm>
            <a:prstGeom prst="chevron">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SE" sz="1400" dirty="0">
                  <a:solidFill>
                    <a:schemeClr val="tx1"/>
                  </a:solidFill>
                </a:rPr>
                <a:t>Use Case</a:t>
              </a:r>
            </a:p>
          </p:txBody>
        </p:sp>
      </p:grpSp>
    </p:spTree>
    <p:extLst>
      <p:ext uri="{BB962C8B-B14F-4D97-AF65-F5344CB8AC3E}">
        <p14:creationId xmlns:p14="http://schemas.microsoft.com/office/powerpoint/2010/main" val="295683516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med" p14:dur="700">
        <p159:morph option="byObject"/>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17537E-3427-F016-515E-3D080F8E4DBF}"/>
              </a:ext>
            </a:extLst>
          </p:cNvPr>
          <p:cNvSpPr>
            <a:spLocks noGrp="1"/>
          </p:cNvSpPr>
          <p:nvPr>
            <p:ph type="title"/>
          </p:nvPr>
        </p:nvSpPr>
        <p:spPr/>
        <p:txBody>
          <a:bodyPr/>
          <a:lstStyle/>
          <a:p>
            <a:r>
              <a:rPr lang="en-SE" dirty="0"/>
              <a:t>Distinguishing Study Types</a:t>
            </a:r>
          </a:p>
        </p:txBody>
      </p:sp>
      <p:sp>
        <p:nvSpPr>
          <p:cNvPr id="3" name="Content Placeholder 2">
            <a:extLst>
              <a:ext uri="{FF2B5EF4-FFF2-40B4-BE49-F238E27FC236}">
                <a16:creationId xmlns:a16="http://schemas.microsoft.com/office/drawing/2014/main" id="{9E123E70-591B-5553-AD9B-A412E5DC84FD}"/>
              </a:ext>
            </a:extLst>
          </p:cNvPr>
          <p:cNvSpPr>
            <a:spLocks noGrp="1"/>
          </p:cNvSpPr>
          <p:nvPr>
            <p:ph idx="1"/>
          </p:nvPr>
        </p:nvSpPr>
        <p:spPr>
          <a:xfrm>
            <a:off x="838200" y="1825625"/>
            <a:ext cx="10515600" cy="1428214"/>
          </a:xfrm>
        </p:spPr>
        <p:txBody>
          <a:bodyPr/>
          <a:lstStyle/>
          <a:p>
            <a:pPr marL="0" indent="0">
              <a:buNone/>
            </a:pPr>
            <a:r>
              <a:rPr lang="en-SE" dirty="0"/>
              <a:t>The causal DAG also reveals controlled vs. observational studies: a controlled study is indicated by a DAG where no variable affects the exposure.</a:t>
            </a:r>
          </a:p>
        </p:txBody>
      </p:sp>
      <p:sp>
        <p:nvSpPr>
          <p:cNvPr id="4" name="Date Placeholder 3">
            <a:extLst>
              <a:ext uri="{FF2B5EF4-FFF2-40B4-BE49-F238E27FC236}">
                <a16:creationId xmlns:a16="http://schemas.microsoft.com/office/drawing/2014/main" id="{717049A2-B81E-6848-EA0D-69D5BD1C9D2E}"/>
              </a:ext>
            </a:extLst>
          </p:cNvPr>
          <p:cNvSpPr>
            <a:spLocks noGrp="1"/>
          </p:cNvSpPr>
          <p:nvPr>
            <p:ph type="dt" sz="half" idx="10"/>
          </p:nvPr>
        </p:nvSpPr>
        <p:spPr/>
        <p:txBody>
          <a:bodyPr/>
          <a:lstStyle/>
          <a:p>
            <a:fld id="{A1C06950-82F8-45F4-A28D-9FBF8CAE29F7}" type="datetime1">
              <a:rPr lang="de-DE" smtClean="0"/>
              <a:t>17.03.2026</a:t>
            </a:fld>
            <a:endParaRPr lang="en-SE"/>
          </a:p>
        </p:txBody>
      </p:sp>
      <p:sp>
        <p:nvSpPr>
          <p:cNvPr id="5" name="Slide Number Placeholder 4">
            <a:extLst>
              <a:ext uri="{FF2B5EF4-FFF2-40B4-BE49-F238E27FC236}">
                <a16:creationId xmlns:a16="http://schemas.microsoft.com/office/drawing/2014/main" id="{D607CD19-9C3E-5446-EF02-9FB0DDF46D80}"/>
              </a:ext>
            </a:extLst>
          </p:cNvPr>
          <p:cNvSpPr>
            <a:spLocks noGrp="1"/>
          </p:cNvSpPr>
          <p:nvPr>
            <p:ph type="sldNum" sz="quarter" idx="12"/>
          </p:nvPr>
        </p:nvSpPr>
        <p:spPr/>
        <p:txBody>
          <a:bodyPr/>
          <a:lstStyle/>
          <a:p>
            <a:fld id="{271ECC92-9CDE-4EB3-B1C5-F46B9E1FA3C1}" type="slidenum">
              <a:rPr lang="en-SE" smtClean="0"/>
              <a:t>10</a:t>
            </a:fld>
            <a:endParaRPr lang="en-SE"/>
          </a:p>
        </p:txBody>
      </p:sp>
      <p:grpSp>
        <p:nvGrpSpPr>
          <p:cNvPr id="6" name="Group 5">
            <a:extLst>
              <a:ext uri="{FF2B5EF4-FFF2-40B4-BE49-F238E27FC236}">
                <a16:creationId xmlns:a16="http://schemas.microsoft.com/office/drawing/2014/main" id="{ACF4C04A-F14B-AEE2-E7A1-09D4763D6B2D}"/>
              </a:ext>
            </a:extLst>
          </p:cNvPr>
          <p:cNvGrpSpPr/>
          <p:nvPr/>
        </p:nvGrpSpPr>
        <p:grpSpPr>
          <a:xfrm>
            <a:off x="838198" y="3388776"/>
            <a:ext cx="4886351" cy="2332928"/>
            <a:chOff x="2956199" y="2256901"/>
            <a:chExt cx="4886351" cy="2332928"/>
          </a:xfrm>
        </p:grpSpPr>
        <p:sp>
          <p:nvSpPr>
            <p:cNvPr id="7" name="Oval 6">
              <a:extLst>
                <a:ext uri="{FF2B5EF4-FFF2-40B4-BE49-F238E27FC236}">
                  <a16:creationId xmlns:a16="http://schemas.microsoft.com/office/drawing/2014/main" id="{51483689-0BDD-E344-DB34-CDC2A01C2061}"/>
                </a:ext>
              </a:extLst>
            </p:cNvPr>
            <p:cNvSpPr/>
            <p:nvPr/>
          </p:nvSpPr>
          <p:spPr>
            <a:xfrm>
              <a:off x="4431353" y="3315677"/>
              <a:ext cx="360000" cy="360000"/>
            </a:xfrm>
            <a:prstGeom prst="ellipse">
              <a:avLst/>
            </a:prstGeom>
            <a:solidFill>
              <a:srgbClr val="F8766D"/>
            </a:solidFill>
            <a:ln>
              <a:solidFill>
                <a:srgbClr val="D0180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SE" noProof="0" dirty="0">
                  <a:solidFill>
                    <a:srgbClr val="D0180A"/>
                  </a:solidFill>
                </a:rPr>
                <a:t>x</a:t>
              </a:r>
              <a:endParaRPr lang="en-US" noProof="0" dirty="0">
                <a:solidFill>
                  <a:srgbClr val="D0180A"/>
                </a:solidFill>
              </a:endParaRPr>
            </a:p>
          </p:txBody>
        </p:sp>
        <p:sp>
          <p:nvSpPr>
            <p:cNvPr id="8" name="Oval 7">
              <a:extLst>
                <a:ext uri="{FF2B5EF4-FFF2-40B4-BE49-F238E27FC236}">
                  <a16:creationId xmlns:a16="http://schemas.microsoft.com/office/drawing/2014/main" id="{ECD7F279-BA36-5684-B017-16364DAADDB6}"/>
                </a:ext>
              </a:extLst>
            </p:cNvPr>
            <p:cNvSpPr/>
            <p:nvPr/>
          </p:nvSpPr>
          <p:spPr>
            <a:xfrm>
              <a:off x="6922733" y="3315677"/>
              <a:ext cx="360000" cy="360000"/>
            </a:xfrm>
            <a:prstGeom prst="ellipse">
              <a:avLst/>
            </a:prstGeom>
            <a:solidFill>
              <a:srgbClr val="00BFC4"/>
            </a:solidFill>
            <a:ln>
              <a:solidFill>
                <a:srgbClr val="006D7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SE" noProof="0" dirty="0">
                  <a:solidFill>
                    <a:srgbClr val="006D70"/>
                  </a:solidFill>
                </a:rPr>
                <a:t>y</a:t>
              </a:r>
              <a:endParaRPr lang="en-US" noProof="0" dirty="0">
                <a:solidFill>
                  <a:srgbClr val="006D70"/>
                </a:solidFill>
              </a:endParaRPr>
            </a:p>
          </p:txBody>
        </p:sp>
        <p:cxnSp>
          <p:nvCxnSpPr>
            <p:cNvPr id="9" name="Straight Arrow Connector 8">
              <a:extLst>
                <a:ext uri="{FF2B5EF4-FFF2-40B4-BE49-F238E27FC236}">
                  <a16:creationId xmlns:a16="http://schemas.microsoft.com/office/drawing/2014/main" id="{099C7368-81B3-1B41-0A56-8A7E3A377836}"/>
                </a:ext>
              </a:extLst>
            </p:cNvPr>
            <p:cNvCxnSpPr>
              <a:stCxn id="7" idx="6"/>
              <a:endCxn id="8" idx="2"/>
            </p:cNvCxnSpPr>
            <p:nvPr/>
          </p:nvCxnSpPr>
          <p:spPr>
            <a:xfrm>
              <a:off x="4791353" y="3495677"/>
              <a:ext cx="2131380"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10" name="TextBox 9">
              <a:extLst>
                <a:ext uri="{FF2B5EF4-FFF2-40B4-BE49-F238E27FC236}">
                  <a16:creationId xmlns:a16="http://schemas.microsoft.com/office/drawing/2014/main" id="{ED4F86C6-8BD2-9B58-7AC2-38C2E7F3D463}"/>
                </a:ext>
              </a:extLst>
            </p:cNvPr>
            <p:cNvSpPr txBox="1"/>
            <p:nvPr/>
          </p:nvSpPr>
          <p:spPr>
            <a:xfrm>
              <a:off x="3431946" y="3172511"/>
              <a:ext cx="990758" cy="646331"/>
            </a:xfrm>
            <a:prstGeom prst="rect">
              <a:avLst/>
            </a:prstGeom>
            <a:noFill/>
          </p:spPr>
          <p:txBody>
            <a:bodyPr wrap="square" rtlCol="0">
              <a:spAutoFit/>
            </a:bodyPr>
            <a:lstStyle/>
            <a:p>
              <a:pPr algn="r"/>
              <a:r>
                <a:rPr lang="de-DE" noProof="0" dirty="0">
                  <a:solidFill>
                    <a:srgbClr val="D0180A"/>
                  </a:solidFill>
                </a:rPr>
                <a:t>u</a:t>
              </a:r>
              <a:r>
                <a:rPr lang="en-SE" noProof="0" dirty="0">
                  <a:solidFill>
                    <a:srgbClr val="D0180A"/>
                  </a:solidFill>
                </a:rPr>
                <a:t>se of GenAI</a:t>
              </a:r>
              <a:endParaRPr lang="en-US" noProof="0" dirty="0">
                <a:solidFill>
                  <a:srgbClr val="D0180A"/>
                </a:solidFill>
              </a:endParaRPr>
            </a:p>
          </p:txBody>
        </p:sp>
        <p:sp>
          <p:nvSpPr>
            <p:cNvPr id="11" name="TextBox 10">
              <a:extLst>
                <a:ext uri="{FF2B5EF4-FFF2-40B4-BE49-F238E27FC236}">
                  <a16:creationId xmlns:a16="http://schemas.microsoft.com/office/drawing/2014/main" id="{D041CBCA-6C1A-427A-DAAB-93E0AF3E95C8}"/>
                </a:ext>
              </a:extLst>
            </p:cNvPr>
            <p:cNvSpPr txBox="1"/>
            <p:nvPr/>
          </p:nvSpPr>
          <p:spPr>
            <a:xfrm>
              <a:off x="6479613" y="3735103"/>
              <a:ext cx="1362937" cy="369332"/>
            </a:xfrm>
            <a:prstGeom prst="rect">
              <a:avLst/>
            </a:prstGeom>
            <a:noFill/>
          </p:spPr>
          <p:txBody>
            <a:bodyPr wrap="none" rtlCol="0">
              <a:spAutoFit/>
            </a:bodyPr>
            <a:lstStyle/>
            <a:p>
              <a:r>
                <a:rPr lang="en-SE" noProof="0" dirty="0">
                  <a:solidFill>
                    <a:srgbClr val="006D70"/>
                  </a:solidFill>
                </a:rPr>
                <a:t>productivity</a:t>
              </a:r>
              <a:endParaRPr lang="en-US" noProof="0" dirty="0">
                <a:solidFill>
                  <a:srgbClr val="006D70"/>
                </a:solidFill>
              </a:endParaRPr>
            </a:p>
          </p:txBody>
        </p:sp>
        <p:sp>
          <p:nvSpPr>
            <p:cNvPr id="12" name="Oval 11">
              <a:extLst>
                <a:ext uri="{FF2B5EF4-FFF2-40B4-BE49-F238E27FC236}">
                  <a16:creationId xmlns:a16="http://schemas.microsoft.com/office/drawing/2014/main" id="{4464040D-2623-69D4-0AD4-70AE3FC18284}"/>
                </a:ext>
              </a:extLst>
            </p:cNvPr>
            <p:cNvSpPr/>
            <p:nvPr/>
          </p:nvSpPr>
          <p:spPr>
            <a:xfrm>
              <a:off x="4431353" y="4091330"/>
              <a:ext cx="360000" cy="360000"/>
            </a:xfrm>
            <a:prstGeom prst="ellipse">
              <a:avLst/>
            </a:prstGeom>
            <a:solidFill>
              <a:schemeClr val="bg1">
                <a:lumMod val="75000"/>
              </a:schemeClr>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SE" noProof="0" dirty="0">
                  <a:solidFill>
                    <a:schemeClr val="tx1">
                      <a:lumMod val="50000"/>
                      <a:lumOff val="50000"/>
                    </a:schemeClr>
                  </a:solidFill>
                </a:rPr>
                <a:t>z</a:t>
              </a:r>
              <a:endParaRPr lang="en-US" noProof="0" dirty="0">
                <a:solidFill>
                  <a:schemeClr val="tx1">
                    <a:lumMod val="50000"/>
                    <a:lumOff val="50000"/>
                  </a:schemeClr>
                </a:solidFill>
              </a:endParaRPr>
            </a:p>
          </p:txBody>
        </p:sp>
        <p:sp>
          <p:nvSpPr>
            <p:cNvPr id="13" name="Oval 12">
              <a:extLst>
                <a:ext uri="{FF2B5EF4-FFF2-40B4-BE49-F238E27FC236}">
                  <a16:creationId xmlns:a16="http://schemas.microsoft.com/office/drawing/2014/main" id="{C00F527C-ED49-FD7B-799E-48DB77636204}"/>
                </a:ext>
              </a:extLst>
            </p:cNvPr>
            <p:cNvSpPr/>
            <p:nvPr/>
          </p:nvSpPr>
          <p:spPr>
            <a:xfrm>
              <a:off x="5676494" y="4091330"/>
              <a:ext cx="360000" cy="360000"/>
            </a:xfrm>
            <a:prstGeom prst="ellipse">
              <a:avLst/>
            </a:prstGeom>
            <a:solidFill>
              <a:schemeClr val="bg1">
                <a:lumMod val="75000"/>
              </a:schemeClr>
            </a:solidFill>
            <a:ln>
              <a:solidFill>
                <a:schemeClr val="bg1">
                  <a:lumMod val="50000"/>
                </a:schemeClr>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SE" noProof="0" dirty="0">
                  <a:solidFill>
                    <a:schemeClr val="tx1">
                      <a:lumMod val="50000"/>
                      <a:lumOff val="50000"/>
                    </a:schemeClr>
                  </a:solidFill>
                </a:rPr>
                <a:t>a</a:t>
              </a:r>
              <a:endParaRPr lang="en-US" noProof="0" dirty="0">
                <a:solidFill>
                  <a:schemeClr val="tx1">
                    <a:lumMod val="50000"/>
                    <a:lumOff val="50000"/>
                  </a:schemeClr>
                </a:solidFill>
              </a:endParaRPr>
            </a:p>
          </p:txBody>
        </p:sp>
        <p:sp>
          <p:nvSpPr>
            <p:cNvPr id="14" name="TextBox 13">
              <a:extLst>
                <a:ext uri="{FF2B5EF4-FFF2-40B4-BE49-F238E27FC236}">
                  <a16:creationId xmlns:a16="http://schemas.microsoft.com/office/drawing/2014/main" id="{360633A6-5831-AF57-08BC-55EE1204E33F}"/>
                </a:ext>
              </a:extLst>
            </p:cNvPr>
            <p:cNvSpPr txBox="1"/>
            <p:nvPr/>
          </p:nvSpPr>
          <p:spPr>
            <a:xfrm>
              <a:off x="6036494" y="4081998"/>
              <a:ext cx="1246239" cy="369332"/>
            </a:xfrm>
            <a:prstGeom prst="rect">
              <a:avLst/>
            </a:prstGeom>
            <a:noFill/>
          </p:spPr>
          <p:txBody>
            <a:bodyPr wrap="none" rtlCol="0">
              <a:spAutoFit/>
            </a:bodyPr>
            <a:lstStyle/>
            <a:p>
              <a:r>
                <a:rPr lang="en-US" noProof="0" dirty="0">
                  <a:solidFill>
                    <a:schemeClr val="tx1">
                      <a:lumMod val="65000"/>
                      <a:lumOff val="35000"/>
                    </a:schemeClr>
                  </a:solidFill>
                </a:rPr>
                <a:t>motivation</a:t>
              </a:r>
            </a:p>
          </p:txBody>
        </p:sp>
        <p:sp>
          <p:nvSpPr>
            <p:cNvPr id="15" name="TextBox 14">
              <a:extLst>
                <a:ext uri="{FF2B5EF4-FFF2-40B4-BE49-F238E27FC236}">
                  <a16:creationId xmlns:a16="http://schemas.microsoft.com/office/drawing/2014/main" id="{66AD94B4-C051-099F-5E30-7988765BD9E1}"/>
                </a:ext>
              </a:extLst>
            </p:cNvPr>
            <p:cNvSpPr txBox="1"/>
            <p:nvPr/>
          </p:nvSpPr>
          <p:spPr>
            <a:xfrm>
              <a:off x="2956199" y="3943498"/>
              <a:ext cx="1432387" cy="646331"/>
            </a:xfrm>
            <a:prstGeom prst="rect">
              <a:avLst/>
            </a:prstGeom>
            <a:noFill/>
          </p:spPr>
          <p:txBody>
            <a:bodyPr wrap="square" rtlCol="0">
              <a:spAutoFit/>
            </a:bodyPr>
            <a:lstStyle/>
            <a:p>
              <a:pPr algn="r"/>
              <a:r>
                <a:rPr lang="en-SE" noProof="0" dirty="0">
                  <a:solidFill>
                    <a:schemeClr val="tx1">
                      <a:lumMod val="65000"/>
                      <a:lumOff val="35000"/>
                    </a:schemeClr>
                  </a:solidFill>
                </a:rPr>
                <a:t>GenAI experience</a:t>
              </a:r>
              <a:endParaRPr lang="en-US" noProof="0" dirty="0">
                <a:solidFill>
                  <a:schemeClr val="tx1">
                    <a:lumMod val="65000"/>
                    <a:lumOff val="35000"/>
                  </a:schemeClr>
                </a:solidFill>
              </a:endParaRPr>
            </a:p>
          </p:txBody>
        </p:sp>
        <p:cxnSp>
          <p:nvCxnSpPr>
            <p:cNvPr id="16" name="Straight Arrow Connector 15">
              <a:extLst>
                <a:ext uri="{FF2B5EF4-FFF2-40B4-BE49-F238E27FC236}">
                  <a16:creationId xmlns:a16="http://schemas.microsoft.com/office/drawing/2014/main" id="{B33A48F5-EF43-4DDB-4710-E95ECF6B88AB}"/>
                </a:ext>
              </a:extLst>
            </p:cNvPr>
            <p:cNvCxnSpPr>
              <a:cxnSpLocks/>
              <a:stCxn id="13" idx="7"/>
              <a:endCxn id="8" idx="3"/>
            </p:cNvCxnSpPr>
            <p:nvPr/>
          </p:nvCxnSpPr>
          <p:spPr>
            <a:xfrm flipV="1">
              <a:off x="5983773" y="3622956"/>
              <a:ext cx="991681" cy="521095"/>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17" name="Straight Arrow Connector 16">
              <a:extLst>
                <a:ext uri="{FF2B5EF4-FFF2-40B4-BE49-F238E27FC236}">
                  <a16:creationId xmlns:a16="http://schemas.microsoft.com/office/drawing/2014/main" id="{2D0DC7DF-AF5B-F9A2-78AC-54FDB501E6A7}"/>
                </a:ext>
              </a:extLst>
            </p:cNvPr>
            <p:cNvCxnSpPr>
              <a:cxnSpLocks/>
              <a:stCxn id="13" idx="2"/>
              <a:endCxn id="12" idx="6"/>
            </p:cNvCxnSpPr>
            <p:nvPr/>
          </p:nvCxnSpPr>
          <p:spPr>
            <a:xfrm flipH="1">
              <a:off x="4791353" y="4271330"/>
              <a:ext cx="885141"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18" name="Straight Arrow Connector 17">
              <a:extLst>
                <a:ext uri="{FF2B5EF4-FFF2-40B4-BE49-F238E27FC236}">
                  <a16:creationId xmlns:a16="http://schemas.microsoft.com/office/drawing/2014/main" id="{56AA6BE2-3F3B-4B61-2429-604D29336792}"/>
                </a:ext>
              </a:extLst>
            </p:cNvPr>
            <p:cNvCxnSpPr>
              <a:cxnSpLocks/>
              <a:stCxn id="12" idx="0"/>
              <a:endCxn id="7" idx="4"/>
            </p:cNvCxnSpPr>
            <p:nvPr/>
          </p:nvCxnSpPr>
          <p:spPr>
            <a:xfrm flipV="1">
              <a:off x="4611353" y="3675677"/>
              <a:ext cx="0" cy="415653"/>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19" name="Straight Arrow Connector 18">
              <a:extLst>
                <a:ext uri="{FF2B5EF4-FFF2-40B4-BE49-F238E27FC236}">
                  <a16:creationId xmlns:a16="http://schemas.microsoft.com/office/drawing/2014/main" id="{8D848CA0-C724-D98F-5216-373095A61E5F}"/>
                </a:ext>
              </a:extLst>
            </p:cNvPr>
            <p:cNvCxnSpPr>
              <a:cxnSpLocks/>
              <a:stCxn id="13" idx="1"/>
              <a:endCxn id="7" idx="5"/>
            </p:cNvCxnSpPr>
            <p:nvPr/>
          </p:nvCxnSpPr>
          <p:spPr>
            <a:xfrm flipH="1" flipV="1">
              <a:off x="4738632" y="3622956"/>
              <a:ext cx="990583" cy="521095"/>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20" name="Oval 19">
              <a:extLst>
                <a:ext uri="{FF2B5EF4-FFF2-40B4-BE49-F238E27FC236}">
                  <a16:creationId xmlns:a16="http://schemas.microsoft.com/office/drawing/2014/main" id="{FB2222C6-A834-E80F-0DF5-C6A1B7B89948}"/>
                </a:ext>
              </a:extLst>
            </p:cNvPr>
            <p:cNvSpPr/>
            <p:nvPr/>
          </p:nvSpPr>
          <p:spPr>
            <a:xfrm>
              <a:off x="5676668" y="2526255"/>
              <a:ext cx="360000" cy="360000"/>
            </a:xfrm>
            <a:prstGeom prst="ellipse">
              <a:avLst/>
            </a:prstGeom>
            <a:solidFill>
              <a:schemeClr val="bg1">
                <a:lumMod val="75000"/>
              </a:schemeClr>
            </a:solidFill>
            <a:ln>
              <a:solidFill>
                <a:schemeClr val="bg1">
                  <a:lumMod val="50000"/>
                </a:schemeClr>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SE" noProof="0" dirty="0">
                  <a:solidFill>
                    <a:schemeClr val="tx1">
                      <a:lumMod val="50000"/>
                      <a:lumOff val="50000"/>
                    </a:schemeClr>
                  </a:solidFill>
                </a:rPr>
                <a:t>b</a:t>
              </a:r>
              <a:endParaRPr lang="en-US" noProof="0" dirty="0">
                <a:solidFill>
                  <a:schemeClr val="tx1">
                    <a:lumMod val="50000"/>
                    <a:lumOff val="50000"/>
                  </a:schemeClr>
                </a:solidFill>
              </a:endParaRPr>
            </a:p>
          </p:txBody>
        </p:sp>
        <p:sp>
          <p:nvSpPr>
            <p:cNvPr id="21" name="TextBox 20">
              <a:extLst>
                <a:ext uri="{FF2B5EF4-FFF2-40B4-BE49-F238E27FC236}">
                  <a16:creationId xmlns:a16="http://schemas.microsoft.com/office/drawing/2014/main" id="{6B9867DE-4557-0A8D-3651-E95B0FA9FE04}"/>
                </a:ext>
              </a:extLst>
            </p:cNvPr>
            <p:cNvSpPr txBox="1"/>
            <p:nvPr/>
          </p:nvSpPr>
          <p:spPr>
            <a:xfrm>
              <a:off x="6045317" y="2256901"/>
              <a:ext cx="1534838" cy="646331"/>
            </a:xfrm>
            <a:prstGeom prst="rect">
              <a:avLst/>
            </a:prstGeom>
            <a:noFill/>
          </p:spPr>
          <p:txBody>
            <a:bodyPr wrap="square" rtlCol="0">
              <a:spAutoFit/>
            </a:bodyPr>
            <a:lstStyle/>
            <a:p>
              <a:r>
                <a:rPr lang="en-SE" noProof="0" dirty="0">
                  <a:solidFill>
                    <a:schemeClr val="tx1">
                      <a:lumMod val="65000"/>
                      <a:lumOff val="35000"/>
                    </a:schemeClr>
                  </a:solidFill>
                </a:rPr>
                <a:t>IDE’s user experience</a:t>
              </a:r>
              <a:endParaRPr lang="en-US" noProof="0" dirty="0">
                <a:solidFill>
                  <a:schemeClr val="tx1">
                    <a:lumMod val="65000"/>
                    <a:lumOff val="35000"/>
                  </a:schemeClr>
                </a:solidFill>
              </a:endParaRPr>
            </a:p>
          </p:txBody>
        </p:sp>
        <p:cxnSp>
          <p:nvCxnSpPr>
            <p:cNvPr id="22" name="Straight Arrow Connector 21">
              <a:extLst>
                <a:ext uri="{FF2B5EF4-FFF2-40B4-BE49-F238E27FC236}">
                  <a16:creationId xmlns:a16="http://schemas.microsoft.com/office/drawing/2014/main" id="{BAA977B7-AD67-218B-C976-35B5D7ABB2A2}"/>
                </a:ext>
              </a:extLst>
            </p:cNvPr>
            <p:cNvCxnSpPr>
              <a:cxnSpLocks/>
              <a:stCxn id="7" idx="7"/>
              <a:endCxn id="20" idx="3"/>
            </p:cNvCxnSpPr>
            <p:nvPr/>
          </p:nvCxnSpPr>
          <p:spPr>
            <a:xfrm flipV="1">
              <a:off x="4738632" y="2833534"/>
              <a:ext cx="990757" cy="534864"/>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23" name="Straight Arrow Connector 22">
              <a:extLst>
                <a:ext uri="{FF2B5EF4-FFF2-40B4-BE49-F238E27FC236}">
                  <a16:creationId xmlns:a16="http://schemas.microsoft.com/office/drawing/2014/main" id="{793DC74B-E94A-D1D9-9C51-61A812413565}"/>
                </a:ext>
              </a:extLst>
            </p:cNvPr>
            <p:cNvCxnSpPr>
              <a:cxnSpLocks/>
              <a:stCxn id="20" idx="5"/>
              <a:endCxn id="8" idx="1"/>
            </p:cNvCxnSpPr>
            <p:nvPr/>
          </p:nvCxnSpPr>
          <p:spPr>
            <a:xfrm>
              <a:off x="5983947" y="2833534"/>
              <a:ext cx="991507" cy="534864"/>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grpSp>
      <p:grpSp>
        <p:nvGrpSpPr>
          <p:cNvPr id="24" name="Group 23">
            <a:extLst>
              <a:ext uri="{FF2B5EF4-FFF2-40B4-BE49-F238E27FC236}">
                <a16:creationId xmlns:a16="http://schemas.microsoft.com/office/drawing/2014/main" id="{16CAA08E-B0DB-242A-5267-96DE4158F592}"/>
              </a:ext>
            </a:extLst>
          </p:cNvPr>
          <p:cNvGrpSpPr/>
          <p:nvPr/>
        </p:nvGrpSpPr>
        <p:grpSpPr>
          <a:xfrm>
            <a:off x="5991704" y="3333809"/>
            <a:ext cx="4886351" cy="2332928"/>
            <a:chOff x="2956199" y="2256901"/>
            <a:chExt cx="4886351" cy="2332928"/>
          </a:xfrm>
        </p:grpSpPr>
        <p:sp>
          <p:nvSpPr>
            <p:cNvPr id="25" name="Oval 24">
              <a:extLst>
                <a:ext uri="{FF2B5EF4-FFF2-40B4-BE49-F238E27FC236}">
                  <a16:creationId xmlns:a16="http://schemas.microsoft.com/office/drawing/2014/main" id="{111F2682-230C-819B-D15D-88285F4C46A8}"/>
                </a:ext>
              </a:extLst>
            </p:cNvPr>
            <p:cNvSpPr/>
            <p:nvPr/>
          </p:nvSpPr>
          <p:spPr>
            <a:xfrm>
              <a:off x="4431353" y="3315677"/>
              <a:ext cx="360000" cy="360000"/>
            </a:xfrm>
            <a:prstGeom prst="ellipse">
              <a:avLst/>
            </a:prstGeom>
            <a:solidFill>
              <a:srgbClr val="F8766D"/>
            </a:solidFill>
            <a:ln>
              <a:solidFill>
                <a:srgbClr val="D0180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SE" noProof="0" dirty="0">
                  <a:solidFill>
                    <a:srgbClr val="D0180A"/>
                  </a:solidFill>
                </a:rPr>
                <a:t>x</a:t>
              </a:r>
              <a:endParaRPr lang="en-US" noProof="0" dirty="0">
                <a:solidFill>
                  <a:srgbClr val="D0180A"/>
                </a:solidFill>
              </a:endParaRPr>
            </a:p>
          </p:txBody>
        </p:sp>
        <p:sp>
          <p:nvSpPr>
            <p:cNvPr id="26" name="Oval 25">
              <a:extLst>
                <a:ext uri="{FF2B5EF4-FFF2-40B4-BE49-F238E27FC236}">
                  <a16:creationId xmlns:a16="http://schemas.microsoft.com/office/drawing/2014/main" id="{5230E7AB-3CBD-54CC-4262-23ACEB691A81}"/>
                </a:ext>
              </a:extLst>
            </p:cNvPr>
            <p:cNvSpPr/>
            <p:nvPr/>
          </p:nvSpPr>
          <p:spPr>
            <a:xfrm>
              <a:off x="6922733" y="3315677"/>
              <a:ext cx="360000" cy="360000"/>
            </a:xfrm>
            <a:prstGeom prst="ellipse">
              <a:avLst/>
            </a:prstGeom>
            <a:solidFill>
              <a:srgbClr val="00BFC4"/>
            </a:solidFill>
            <a:ln>
              <a:solidFill>
                <a:srgbClr val="006D7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SE" noProof="0" dirty="0">
                  <a:solidFill>
                    <a:srgbClr val="006D70"/>
                  </a:solidFill>
                </a:rPr>
                <a:t>y</a:t>
              </a:r>
              <a:endParaRPr lang="en-US" noProof="0" dirty="0">
                <a:solidFill>
                  <a:srgbClr val="006D70"/>
                </a:solidFill>
              </a:endParaRPr>
            </a:p>
          </p:txBody>
        </p:sp>
        <p:cxnSp>
          <p:nvCxnSpPr>
            <p:cNvPr id="27" name="Straight Arrow Connector 26">
              <a:extLst>
                <a:ext uri="{FF2B5EF4-FFF2-40B4-BE49-F238E27FC236}">
                  <a16:creationId xmlns:a16="http://schemas.microsoft.com/office/drawing/2014/main" id="{A7AA5C89-CC06-6E9E-8AE3-4F6ED331090E}"/>
                </a:ext>
              </a:extLst>
            </p:cNvPr>
            <p:cNvCxnSpPr>
              <a:stCxn id="25" idx="6"/>
              <a:endCxn id="26" idx="2"/>
            </p:cNvCxnSpPr>
            <p:nvPr/>
          </p:nvCxnSpPr>
          <p:spPr>
            <a:xfrm>
              <a:off x="4791353" y="3495677"/>
              <a:ext cx="2131380"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28" name="TextBox 27">
              <a:extLst>
                <a:ext uri="{FF2B5EF4-FFF2-40B4-BE49-F238E27FC236}">
                  <a16:creationId xmlns:a16="http://schemas.microsoft.com/office/drawing/2014/main" id="{1431242D-76A9-BC4B-F6EC-D0A49068FE75}"/>
                </a:ext>
              </a:extLst>
            </p:cNvPr>
            <p:cNvSpPr txBox="1"/>
            <p:nvPr/>
          </p:nvSpPr>
          <p:spPr>
            <a:xfrm>
              <a:off x="3431946" y="3172511"/>
              <a:ext cx="990758" cy="646331"/>
            </a:xfrm>
            <a:prstGeom prst="rect">
              <a:avLst/>
            </a:prstGeom>
            <a:noFill/>
          </p:spPr>
          <p:txBody>
            <a:bodyPr wrap="square" rtlCol="0">
              <a:spAutoFit/>
            </a:bodyPr>
            <a:lstStyle/>
            <a:p>
              <a:pPr algn="r"/>
              <a:r>
                <a:rPr lang="de-DE" noProof="0" dirty="0">
                  <a:solidFill>
                    <a:srgbClr val="D0180A"/>
                  </a:solidFill>
                </a:rPr>
                <a:t>u</a:t>
              </a:r>
              <a:r>
                <a:rPr lang="en-SE" noProof="0" dirty="0">
                  <a:solidFill>
                    <a:srgbClr val="D0180A"/>
                  </a:solidFill>
                </a:rPr>
                <a:t>se of GenAI</a:t>
              </a:r>
              <a:endParaRPr lang="en-US" noProof="0" dirty="0">
                <a:solidFill>
                  <a:srgbClr val="D0180A"/>
                </a:solidFill>
              </a:endParaRPr>
            </a:p>
          </p:txBody>
        </p:sp>
        <p:sp>
          <p:nvSpPr>
            <p:cNvPr id="29" name="TextBox 28">
              <a:extLst>
                <a:ext uri="{FF2B5EF4-FFF2-40B4-BE49-F238E27FC236}">
                  <a16:creationId xmlns:a16="http://schemas.microsoft.com/office/drawing/2014/main" id="{111CBDFB-2BBA-3645-F76E-BE9941E89F99}"/>
                </a:ext>
              </a:extLst>
            </p:cNvPr>
            <p:cNvSpPr txBox="1"/>
            <p:nvPr/>
          </p:nvSpPr>
          <p:spPr>
            <a:xfrm>
              <a:off x="6479613" y="3735103"/>
              <a:ext cx="1362937" cy="369332"/>
            </a:xfrm>
            <a:prstGeom prst="rect">
              <a:avLst/>
            </a:prstGeom>
            <a:noFill/>
          </p:spPr>
          <p:txBody>
            <a:bodyPr wrap="none" rtlCol="0">
              <a:spAutoFit/>
            </a:bodyPr>
            <a:lstStyle/>
            <a:p>
              <a:r>
                <a:rPr lang="en-SE" noProof="0" dirty="0">
                  <a:solidFill>
                    <a:srgbClr val="006D70"/>
                  </a:solidFill>
                </a:rPr>
                <a:t>productivity</a:t>
              </a:r>
              <a:endParaRPr lang="en-US" noProof="0" dirty="0">
                <a:solidFill>
                  <a:srgbClr val="006D70"/>
                </a:solidFill>
              </a:endParaRPr>
            </a:p>
          </p:txBody>
        </p:sp>
        <p:sp>
          <p:nvSpPr>
            <p:cNvPr id="30" name="Oval 29">
              <a:extLst>
                <a:ext uri="{FF2B5EF4-FFF2-40B4-BE49-F238E27FC236}">
                  <a16:creationId xmlns:a16="http://schemas.microsoft.com/office/drawing/2014/main" id="{C733D609-1D33-7A7C-94D9-E2C3D32F0C4D}"/>
                </a:ext>
              </a:extLst>
            </p:cNvPr>
            <p:cNvSpPr/>
            <p:nvPr/>
          </p:nvSpPr>
          <p:spPr>
            <a:xfrm>
              <a:off x="4431353" y="4091330"/>
              <a:ext cx="360000" cy="360000"/>
            </a:xfrm>
            <a:prstGeom prst="ellipse">
              <a:avLst/>
            </a:prstGeom>
            <a:solidFill>
              <a:schemeClr val="bg1">
                <a:lumMod val="75000"/>
              </a:schemeClr>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SE" noProof="0" dirty="0">
                  <a:solidFill>
                    <a:schemeClr val="tx1">
                      <a:lumMod val="50000"/>
                      <a:lumOff val="50000"/>
                    </a:schemeClr>
                  </a:solidFill>
                </a:rPr>
                <a:t>z</a:t>
              </a:r>
              <a:endParaRPr lang="en-US" noProof="0" dirty="0">
                <a:solidFill>
                  <a:schemeClr val="tx1">
                    <a:lumMod val="50000"/>
                    <a:lumOff val="50000"/>
                  </a:schemeClr>
                </a:solidFill>
              </a:endParaRPr>
            </a:p>
          </p:txBody>
        </p:sp>
        <p:sp>
          <p:nvSpPr>
            <p:cNvPr id="31" name="Oval 30">
              <a:extLst>
                <a:ext uri="{FF2B5EF4-FFF2-40B4-BE49-F238E27FC236}">
                  <a16:creationId xmlns:a16="http://schemas.microsoft.com/office/drawing/2014/main" id="{71853537-7B68-BBC9-536B-42C0A33EC3E9}"/>
                </a:ext>
              </a:extLst>
            </p:cNvPr>
            <p:cNvSpPr/>
            <p:nvPr/>
          </p:nvSpPr>
          <p:spPr>
            <a:xfrm>
              <a:off x="5676494" y="4091330"/>
              <a:ext cx="360000" cy="360000"/>
            </a:xfrm>
            <a:prstGeom prst="ellipse">
              <a:avLst/>
            </a:prstGeom>
            <a:solidFill>
              <a:schemeClr val="bg1">
                <a:lumMod val="75000"/>
              </a:schemeClr>
            </a:solidFill>
            <a:ln>
              <a:solidFill>
                <a:schemeClr val="bg1">
                  <a:lumMod val="50000"/>
                </a:schemeClr>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SE" noProof="0" dirty="0">
                  <a:solidFill>
                    <a:schemeClr val="tx1">
                      <a:lumMod val="50000"/>
                      <a:lumOff val="50000"/>
                    </a:schemeClr>
                  </a:solidFill>
                </a:rPr>
                <a:t>a</a:t>
              </a:r>
              <a:endParaRPr lang="en-US" noProof="0" dirty="0">
                <a:solidFill>
                  <a:schemeClr val="tx1">
                    <a:lumMod val="50000"/>
                    <a:lumOff val="50000"/>
                  </a:schemeClr>
                </a:solidFill>
              </a:endParaRPr>
            </a:p>
          </p:txBody>
        </p:sp>
        <p:sp>
          <p:nvSpPr>
            <p:cNvPr id="32" name="TextBox 31">
              <a:extLst>
                <a:ext uri="{FF2B5EF4-FFF2-40B4-BE49-F238E27FC236}">
                  <a16:creationId xmlns:a16="http://schemas.microsoft.com/office/drawing/2014/main" id="{887BD452-F7E9-5A04-AF17-C50DDC292336}"/>
                </a:ext>
              </a:extLst>
            </p:cNvPr>
            <p:cNvSpPr txBox="1"/>
            <p:nvPr/>
          </p:nvSpPr>
          <p:spPr>
            <a:xfrm>
              <a:off x="6036494" y="4081998"/>
              <a:ext cx="1246239" cy="369332"/>
            </a:xfrm>
            <a:prstGeom prst="rect">
              <a:avLst/>
            </a:prstGeom>
            <a:noFill/>
          </p:spPr>
          <p:txBody>
            <a:bodyPr wrap="none" rtlCol="0">
              <a:spAutoFit/>
            </a:bodyPr>
            <a:lstStyle/>
            <a:p>
              <a:r>
                <a:rPr lang="en-US" noProof="0" dirty="0">
                  <a:solidFill>
                    <a:schemeClr val="tx1">
                      <a:lumMod val="65000"/>
                      <a:lumOff val="35000"/>
                    </a:schemeClr>
                  </a:solidFill>
                </a:rPr>
                <a:t>motivation</a:t>
              </a:r>
            </a:p>
          </p:txBody>
        </p:sp>
        <p:sp>
          <p:nvSpPr>
            <p:cNvPr id="33" name="TextBox 32">
              <a:extLst>
                <a:ext uri="{FF2B5EF4-FFF2-40B4-BE49-F238E27FC236}">
                  <a16:creationId xmlns:a16="http://schemas.microsoft.com/office/drawing/2014/main" id="{88271AFB-B9AF-61BB-6803-A86D528C4A4C}"/>
                </a:ext>
              </a:extLst>
            </p:cNvPr>
            <p:cNvSpPr txBox="1"/>
            <p:nvPr/>
          </p:nvSpPr>
          <p:spPr>
            <a:xfrm>
              <a:off x="2956199" y="3943498"/>
              <a:ext cx="1432387" cy="646331"/>
            </a:xfrm>
            <a:prstGeom prst="rect">
              <a:avLst/>
            </a:prstGeom>
            <a:noFill/>
          </p:spPr>
          <p:txBody>
            <a:bodyPr wrap="square" rtlCol="0">
              <a:spAutoFit/>
            </a:bodyPr>
            <a:lstStyle/>
            <a:p>
              <a:pPr algn="r"/>
              <a:r>
                <a:rPr lang="en-SE" noProof="0" dirty="0">
                  <a:solidFill>
                    <a:schemeClr val="tx1">
                      <a:lumMod val="65000"/>
                      <a:lumOff val="35000"/>
                    </a:schemeClr>
                  </a:solidFill>
                </a:rPr>
                <a:t>GenAI experience</a:t>
              </a:r>
              <a:endParaRPr lang="en-US" noProof="0" dirty="0">
                <a:solidFill>
                  <a:schemeClr val="tx1">
                    <a:lumMod val="65000"/>
                    <a:lumOff val="35000"/>
                  </a:schemeClr>
                </a:solidFill>
              </a:endParaRPr>
            </a:p>
          </p:txBody>
        </p:sp>
        <p:cxnSp>
          <p:nvCxnSpPr>
            <p:cNvPr id="34" name="Straight Arrow Connector 33">
              <a:extLst>
                <a:ext uri="{FF2B5EF4-FFF2-40B4-BE49-F238E27FC236}">
                  <a16:creationId xmlns:a16="http://schemas.microsoft.com/office/drawing/2014/main" id="{5A9266D6-C2A7-69EE-067F-46FFD795643D}"/>
                </a:ext>
              </a:extLst>
            </p:cNvPr>
            <p:cNvCxnSpPr>
              <a:cxnSpLocks/>
              <a:stCxn id="31" idx="7"/>
              <a:endCxn id="26" idx="3"/>
            </p:cNvCxnSpPr>
            <p:nvPr/>
          </p:nvCxnSpPr>
          <p:spPr>
            <a:xfrm flipV="1">
              <a:off x="5983773" y="3622956"/>
              <a:ext cx="991681" cy="521095"/>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35" name="Straight Arrow Connector 34">
              <a:extLst>
                <a:ext uri="{FF2B5EF4-FFF2-40B4-BE49-F238E27FC236}">
                  <a16:creationId xmlns:a16="http://schemas.microsoft.com/office/drawing/2014/main" id="{BCF37FD2-3EE9-DC3A-134A-8757FAAC3650}"/>
                </a:ext>
              </a:extLst>
            </p:cNvPr>
            <p:cNvCxnSpPr>
              <a:cxnSpLocks/>
              <a:stCxn id="31" idx="2"/>
              <a:endCxn id="30" idx="6"/>
            </p:cNvCxnSpPr>
            <p:nvPr/>
          </p:nvCxnSpPr>
          <p:spPr>
            <a:xfrm flipH="1">
              <a:off x="4791353" y="4271330"/>
              <a:ext cx="885141"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38" name="Oval 37">
              <a:extLst>
                <a:ext uri="{FF2B5EF4-FFF2-40B4-BE49-F238E27FC236}">
                  <a16:creationId xmlns:a16="http://schemas.microsoft.com/office/drawing/2014/main" id="{5ABC499C-0DD7-8472-418D-6F33F753C21C}"/>
                </a:ext>
              </a:extLst>
            </p:cNvPr>
            <p:cNvSpPr/>
            <p:nvPr/>
          </p:nvSpPr>
          <p:spPr>
            <a:xfrm>
              <a:off x="5676668" y="2526255"/>
              <a:ext cx="360000" cy="360000"/>
            </a:xfrm>
            <a:prstGeom prst="ellipse">
              <a:avLst/>
            </a:prstGeom>
            <a:solidFill>
              <a:schemeClr val="bg1">
                <a:lumMod val="75000"/>
              </a:schemeClr>
            </a:solidFill>
            <a:ln>
              <a:solidFill>
                <a:schemeClr val="bg1">
                  <a:lumMod val="50000"/>
                </a:schemeClr>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SE" noProof="0" dirty="0">
                  <a:solidFill>
                    <a:schemeClr val="tx1">
                      <a:lumMod val="50000"/>
                      <a:lumOff val="50000"/>
                    </a:schemeClr>
                  </a:solidFill>
                </a:rPr>
                <a:t>b</a:t>
              </a:r>
              <a:endParaRPr lang="en-US" noProof="0" dirty="0">
                <a:solidFill>
                  <a:schemeClr val="tx1">
                    <a:lumMod val="50000"/>
                    <a:lumOff val="50000"/>
                  </a:schemeClr>
                </a:solidFill>
              </a:endParaRPr>
            </a:p>
          </p:txBody>
        </p:sp>
        <p:sp>
          <p:nvSpPr>
            <p:cNvPr id="39" name="TextBox 38">
              <a:extLst>
                <a:ext uri="{FF2B5EF4-FFF2-40B4-BE49-F238E27FC236}">
                  <a16:creationId xmlns:a16="http://schemas.microsoft.com/office/drawing/2014/main" id="{526DF075-D5E3-EA44-6AC4-ED6D0B21E677}"/>
                </a:ext>
              </a:extLst>
            </p:cNvPr>
            <p:cNvSpPr txBox="1"/>
            <p:nvPr/>
          </p:nvSpPr>
          <p:spPr>
            <a:xfrm>
              <a:off x="6045317" y="2256901"/>
              <a:ext cx="1534838" cy="646331"/>
            </a:xfrm>
            <a:prstGeom prst="rect">
              <a:avLst/>
            </a:prstGeom>
            <a:noFill/>
          </p:spPr>
          <p:txBody>
            <a:bodyPr wrap="square" rtlCol="0">
              <a:spAutoFit/>
            </a:bodyPr>
            <a:lstStyle/>
            <a:p>
              <a:r>
                <a:rPr lang="en-SE" noProof="0" dirty="0">
                  <a:solidFill>
                    <a:schemeClr val="tx1">
                      <a:lumMod val="65000"/>
                      <a:lumOff val="35000"/>
                    </a:schemeClr>
                  </a:solidFill>
                </a:rPr>
                <a:t>IDE’s user experience</a:t>
              </a:r>
              <a:endParaRPr lang="en-US" noProof="0" dirty="0">
                <a:solidFill>
                  <a:schemeClr val="tx1">
                    <a:lumMod val="65000"/>
                    <a:lumOff val="35000"/>
                  </a:schemeClr>
                </a:solidFill>
              </a:endParaRPr>
            </a:p>
          </p:txBody>
        </p:sp>
        <p:cxnSp>
          <p:nvCxnSpPr>
            <p:cNvPr id="40" name="Straight Arrow Connector 39">
              <a:extLst>
                <a:ext uri="{FF2B5EF4-FFF2-40B4-BE49-F238E27FC236}">
                  <a16:creationId xmlns:a16="http://schemas.microsoft.com/office/drawing/2014/main" id="{F62BAA2A-58F3-B836-6EA9-30F530E48E6E}"/>
                </a:ext>
              </a:extLst>
            </p:cNvPr>
            <p:cNvCxnSpPr>
              <a:cxnSpLocks/>
              <a:stCxn id="25" idx="7"/>
              <a:endCxn id="38" idx="3"/>
            </p:cNvCxnSpPr>
            <p:nvPr/>
          </p:nvCxnSpPr>
          <p:spPr>
            <a:xfrm flipV="1">
              <a:off x="4738632" y="2833534"/>
              <a:ext cx="990757" cy="534864"/>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41" name="Straight Arrow Connector 40">
              <a:extLst>
                <a:ext uri="{FF2B5EF4-FFF2-40B4-BE49-F238E27FC236}">
                  <a16:creationId xmlns:a16="http://schemas.microsoft.com/office/drawing/2014/main" id="{8B244E67-E9F6-8923-0B0B-95EEBF4085A2}"/>
                </a:ext>
              </a:extLst>
            </p:cNvPr>
            <p:cNvCxnSpPr>
              <a:cxnSpLocks/>
              <a:stCxn id="38" idx="5"/>
              <a:endCxn id="26" idx="1"/>
            </p:cNvCxnSpPr>
            <p:nvPr/>
          </p:nvCxnSpPr>
          <p:spPr>
            <a:xfrm>
              <a:off x="5983947" y="2833534"/>
              <a:ext cx="991507" cy="534864"/>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grpSp>
      <p:sp>
        <p:nvSpPr>
          <p:cNvPr id="42" name="TextBox 41">
            <a:extLst>
              <a:ext uri="{FF2B5EF4-FFF2-40B4-BE49-F238E27FC236}">
                <a16:creationId xmlns:a16="http://schemas.microsoft.com/office/drawing/2014/main" id="{B11224D3-0998-88C5-D1ED-17ADE1C1E6C2}"/>
              </a:ext>
            </a:extLst>
          </p:cNvPr>
          <p:cNvSpPr txBox="1"/>
          <p:nvPr/>
        </p:nvSpPr>
        <p:spPr>
          <a:xfrm>
            <a:off x="2590999" y="3019444"/>
            <a:ext cx="2294987" cy="369332"/>
          </a:xfrm>
          <a:prstGeom prst="rect">
            <a:avLst/>
          </a:prstGeom>
          <a:noFill/>
        </p:spPr>
        <p:txBody>
          <a:bodyPr wrap="none" rtlCol="0">
            <a:spAutoFit/>
          </a:bodyPr>
          <a:lstStyle/>
          <a:p>
            <a:r>
              <a:rPr lang="de-DE" b="1" dirty="0"/>
              <a:t>O</a:t>
            </a:r>
            <a:r>
              <a:rPr lang="en-SE" b="1" dirty="0" err="1"/>
              <a:t>bservational</a:t>
            </a:r>
            <a:r>
              <a:rPr lang="en-SE" b="1" dirty="0"/>
              <a:t> study</a:t>
            </a:r>
          </a:p>
        </p:txBody>
      </p:sp>
      <p:sp>
        <p:nvSpPr>
          <p:cNvPr id="43" name="TextBox 42">
            <a:extLst>
              <a:ext uri="{FF2B5EF4-FFF2-40B4-BE49-F238E27FC236}">
                <a16:creationId xmlns:a16="http://schemas.microsoft.com/office/drawing/2014/main" id="{A0DE906C-ED71-D486-2687-7E5F6A229AAF}"/>
              </a:ext>
            </a:extLst>
          </p:cNvPr>
          <p:cNvSpPr txBox="1"/>
          <p:nvPr/>
        </p:nvSpPr>
        <p:spPr>
          <a:xfrm>
            <a:off x="7609917" y="3019444"/>
            <a:ext cx="2564163" cy="369332"/>
          </a:xfrm>
          <a:prstGeom prst="rect">
            <a:avLst/>
          </a:prstGeom>
          <a:noFill/>
        </p:spPr>
        <p:txBody>
          <a:bodyPr wrap="none" rtlCol="0">
            <a:spAutoFit/>
          </a:bodyPr>
          <a:lstStyle/>
          <a:p>
            <a:pPr algn="ctr"/>
            <a:r>
              <a:rPr lang="de-DE" b="1" dirty="0"/>
              <a:t>C</a:t>
            </a:r>
            <a:r>
              <a:rPr lang="en-SE" b="1" dirty="0" err="1"/>
              <a:t>ontrolled</a:t>
            </a:r>
            <a:r>
              <a:rPr lang="en-SE" b="1" dirty="0"/>
              <a:t> Experiment</a:t>
            </a:r>
          </a:p>
        </p:txBody>
      </p:sp>
      <p:grpSp>
        <p:nvGrpSpPr>
          <p:cNvPr id="47" name="Group 46">
            <a:extLst>
              <a:ext uri="{FF2B5EF4-FFF2-40B4-BE49-F238E27FC236}">
                <a16:creationId xmlns:a16="http://schemas.microsoft.com/office/drawing/2014/main" id="{0FA2A5CF-C6BC-171B-315F-020C45B13CB2}"/>
              </a:ext>
            </a:extLst>
          </p:cNvPr>
          <p:cNvGrpSpPr/>
          <p:nvPr/>
        </p:nvGrpSpPr>
        <p:grpSpPr>
          <a:xfrm>
            <a:off x="838198" y="365125"/>
            <a:ext cx="1983884" cy="245531"/>
            <a:chOff x="4114799" y="3759391"/>
            <a:chExt cx="1983884" cy="1229241"/>
          </a:xfrm>
        </p:grpSpPr>
        <p:sp>
          <p:nvSpPr>
            <p:cNvPr id="48" name="Arrow: Pentagon 47">
              <a:extLst>
                <a:ext uri="{FF2B5EF4-FFF2-40B4-BE49-F238E27FC236}">
                  <a16:creationId xmlns:a16="http://schemas.microsoft.com/office/drawing/2014/main" id="{E2560821-4B7C-F71C-895D-B871C584B444}"/>
                </a:ext>
              </a:extLst>
            </p:cNvPr>
            <p:cNvSpPr/>
            <p:nvPr/>
          </p:nvSpPr>
          <p:spPr>
            <a:xfrm>
              <a:off x="4114799" y="3759391"/>
              <a:ext cx="794039" cy="1229241"/>
            </a:xfrm>
            <a:prstGeom prst="homePlate">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SE" sz="1400" dirty="0"/>
                <a:t>Theory</a:t>
              </a:r>
            </a:p>
          </p:txBody>
        </p:sp>
        <p:sp>
          <p:nvSpPr>
            <p:cNvPr id="49" name="Arrow: Chevron 48">
              <a:extLst>
                <a:ext uri="{FF2B5EF4-FFF2-40B4-BE49-F238E27FC236}">
                  <a16:creationId xmlns:a16="http://schemas.microsoft.com/office/drawing/2014/main" id="{D5DD8EFB-63D0-EF62-85B1-C205A0C00604}"/>
                </a:ext>
              </a:extLst>
            </p:cNvPr>
            <p:cNvSpPr/>
            <p:nvPr/>
          </p:nvSpPr>
          <p:spPr>
            <a:xfrm>
              <a:off x="4843616" y="3759391"/>
              <a:ext cx="1255067" cy="1229241"/>
            </a:xfrm>
            <a:prstGeom prst="chevron">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SE" sz="1400" dirty="0">
                  <a:solidFill>
                    <a:schemeClr val="tx1"/>
                  </a:solidFill>
                </a:rPr>
                <a:t>Use Case</a:t>
              </a:r>
            </a:p>
          </p:txBody>
        </p:sp>
      </p:grpSp>
    </p:spTree>
    <p:extLst>
      <p:ext uri="{BB962C8B-B14F-4D97-AF65-F5344CB8AC3E}">
        <p14:creationId xmlns:p14="http://schemas.microsoft.com/office/powerpoint/2010/main" val="65893655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med" p14:dur="700">
        <p159:morph option="byObject"/>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C96F52-B378-1394-5CAB-792564C1E93F}"/>
              </a:ext>
            </a:extLst>
          </p:cNvPr>
          <p:cNvSpPr>
            <a:spLocks noGrp="1"/>
          </p:cNvSpPr>
          <p:nvPr>
            <p:ph type="title"/>
          </p:nvPr>
        </p:nvSpPr>
        <p:spPr/>
        <p:txBody>
          <a:bodyPr/>
          <a:lstStyle/>
          <a:p>
            <a:r>
              <a:rPr lang="en-SE" dirty="0"/>
              <a:t>Types of Relationships</a:t>
            </a:r>
          </a:p>
        </p:txBody>
      </p:sp>
      <p:sp>
        <p:nvSpPr>
          <p:cNvPr id="3" name="Content Placeholder 2">
            <a:extLst>
              <a:ext uri="{FF2B5EF4-FFF2-40B4-BE49-F238E27FC236}">
                <a16:creationId xmlns:a16="http://schemas.microsoft.com/office/drawing/2014/main" id="{9444D3C4-2741-FAEA-7AC2-3C255861C53C}"/>
              </a:ext>
            </a:extLst>
          </p:cNvPr>
          <p:cNvSpPr>
            <a:spLocks noGrp="1"/>
          </p:cNvSpPr>
          <p:nvPr>
            <p:ph idx="1"/>
          </p:nvPr>
        </p:nvSpPr>
        <p:spPr>
          <a:xfrm>
            <a:off x="838200" y="1825625"/>
            <a:ext cx="10515600" cy="926540"/>
          </a:xfrm>
        </p:spPr>
        <p:txBody>
          <a:bodyPr/>
          <a:lstStyle/>
          <a:p>
            <a:pPr marL="0" indent="0">
              <a:buNone/>
            </a:pPr>
            <a:r>
              <a:rPr lang="en-SE" dirty="0"/>
              <a:t>When a DAG involves more than two variables, certain relationships can emerge:</a:t>
            </a:r>
          </a:p>
        </p:txBody>
      </p:sp>
      <p:sp>
        <p:nvSpPr>
          <p:cNvPr id="4" name="Date Placeholder 3">
            <a:extLst>
              <a:ext uri="{FF2B5EF4-FFF2-40B4-BE49-F238E27FC236}">
                <a16:creationId xmlns:a16="http://schemas.microsoft.com/office/drawing/2014/main" id="{57EBF0FE-A4B0-1AF0-48D3-7CA22C01A9B9}"/>
              </a:ext>
            </a:extLst>
          </p:cNvPr>
          <p:cNvSpPr>
            <a:spLocks noGrp="1"/>
          </p:cNvSpPr>
          <p:nvPr>
            <p:ph type="dt" sz="half" idx="10"/>
          </p:nvPr>
        </p:nvSpPr>
        <p:spPr/>
        <p:txBody>
          <a:bodyPr/>
          <a:lstStyle/>
          <a:p>
            <a:fld id="{A1C06950-82F8-45F4-A28D-9FBF8CAE29F7}" type="datetime1">
              <a:rPr lang="de-DE" smtClean="0"/>
              <a:t>17.03.2026</a:t>
            </a:fld>
            <a:endParaRPr lang="en-SE"/>
          </a:p>
        </p:txBody>
      </p:sp>
      <p:sp>
        <p:nvSpPr>
          <p:cNvPr id="5" name="Slide Number Placeholder 4">
            <a:extLst>
              <a:ext uri="{FF2B5EF4-FFF2-40B4-BE49-F238E27FC236}">
                <a16:creationId xmlns:a16="http://schemas.microsoft.com/office/drawing/2014/main" id="{2D1E3C6D-89D8-1203-A128-1FE70A05F231}"/>
              </a:ext>
            </a:extLst>
          </p:cNvPr>
          <p:cNvSpPr>
            <a:spLocks noGrp="1"/>
          </p:cNvSpPr>
          <p:nvPr>
            <p:ph type="sldNum" sz="quarter" idx="12"/>
          </p:nvPr>
        </p:nvSpPr>
        <p:spPr/>
        <p:txBody>
          <a:bodyPr/>
          <a:lstStyle/>
          <a:p>
            <a:fld id="{271ECC92-9CDE-4EB3-B1C5-F46B9E1FA3C1}" type="slidenum">
              <a:rPr lang="en-SE" smtClean="0"/>
              <a:t>11</a:t>
            </a:fld>
            <a:endParaRPr lang="en-SE"/>
          </a:p>
        </p:txBody>
      </p:sp>
      <p:grpSp>
        <p:nvGrpSpPr>
          <p:cNvPr id="36" name="Group 35">
            <a:extLst>
              <a:ext uri="{FF2B5EF4-FFF2-40B4-BE49-F238E27FC236}">
                <a16:creationId xmlns:a16="http://schemas.microsoft.com/office/drawing/2014/main" id="{16BE65C5-BAB6-92A6-D29A-1C9FA4338307}"/>
              </a:ext>
            </a:extLst>
          </p:cNvPr>
          <p:cNvGrpSpPr/>
          <p:nvPr/>
        </p:nvGrpSpPr>
        <p:grpSpPr>
          <a:xfrm>
            <a:off x="1674676" y="2966913"/>
            <a:ext cx="2355863" cy="3200607"/>
            <a:chOff x="1175334" y="2966913"/>
            <a:chExt cx="2355863" cy="3200607"/>
          </a:xfrm>
        </p:grpSpPr>
        <p:grpSp>
          <p:nvGrpSpPr>
            <p:cNvPr id="9" name="Group 8">
              <a:extLst>
                <a:ext uri="{FF2B5EF4-FFF2-40B4-BE49-F238E27FC236}">
                  <a16:creationId xmlns:a16="http://schemas.microsoft.com/office/drawing/2014/main" id="{3BCB4412-F48D-00A8-A0C7-59534AFB78D0}"/>
                </a:ext>
              </a:extLst>
            </p:cNvPr>
            <p:cNvGrpSpPr/>
            <p:nvPr/>
          </p:nvGrpSpPr>
          <p:grpSpPr>
            <a:xfrm>
              <a:off x="1314591" y="3515395"/>
              <a:ext cx="2077351" cy="1016248"/>
              <a:chOff x="4775076" y="3315677"/>
              <a:chExt cx="2077351" cy="1016248"/>
            </a:xfrm>
          </p:grpSpPr>
          <p:sp>
            <p:nvSpPr>
              <p:cNvPr id="10" name="Oval 9">
                <a:extLst>
                  <a:ext uri="{FF2B5EF4-FFF2-40B4-BE49-F238E27FC236}">
                    <a16:creationId xmlns:a16="http://schemas.microsoft.com/office/drawing/2014/main" id="{B64FE94F-D12B-3D41-A5A9-2AE1EAC921A0}"/>
                  </a:ext>
                </a:extLst>
              </p:cNvPr>
              <p:cNvSpPr/>
              <p:nvPr/>
            </p:nvSpPr>
            <p:spPr>
              <a:xfrm>
                <a:off x="4775076" y="3315677"/>
                <a:ext cx="360000" cy="360000"/>
              </a:xfrm>
              <a:prstGeom prst="ellipse">
                <a:avLst/>
              </a:prstGeom>
              <a:solidFill>
                <a:srgbClr val="F8766D"/>
              </a:solidFill>
              <a:ln>
                <a:solidFill>
                  <a:srgbClr val="D0180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SE" noProof="0" dirty="0">
                    <a:solidFill>
                      <a:srgbClr val="D0180A"/>
                    </a:solidFill>
                  </a:rPr>
                  <a:t>x</a:t>
                </a:r>
                <a:endParaRPr lang="en-US" noProof="0" dirty="0">
                  <a:solidFill>
                    <a:srgbClr val="D0180A"/>
                  </a:solidFill>
                </a:endParaRPr>
              </a:p>
            </p:txBody>
          </p:sp>
          <p:sp>
            <p:nvSpPr>
              <p:cNvPr id="11" name="Oval 10">
                <a:extLst>
                  <a:ext uri="{FF2B5EF4-FFF2-40B4-BE49-F238E27FC236}">
                    <a16:creationId xmlns:a16="http://schemas.microsoft.com/office/drawing/2014/main" id="{E50FC6EA-A2BB-D597-2D1D-C817A2F6EC48}"/>
                  </a:ext>
                </a:extLst>
              </p:cNvPr>
              <p:cNvSpPr/>
              <p:nvPr/>
            </p:nvSpPr>
            <p:spPr>
              <a:xfrm>
                <a:off x="6492427" y="3315677"/>
                <a:ext cx="360000" cy="360000"/>
              </a:xfrm>
              <a:prstGeom prst="ellipse">
                <a:avLst/>
              </a:prstGeom>
              <a:solidFill>
                <a:srgbClr val="00BFC4"/>
              </a:solidFill>
              <a:ln>
                <a:solidFill>
                  <a:srgbClr val="006D7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SE" noProof="0" dirty="0">
                    <a:solidFill>
                      <a:srgbClr val="006D70"/>
                    </a:solidFill>
                  </a:rPr>
                  <a:t>y</a:t>
                </a:r>
                <a:endParaRPr lang="en-US" noProof="0" dirty="0">
                  <a:solidFill>
                    <a:srgbClr val="006D70"/>
                  </a:solidFill>
                </a:endParaRPr>
              </a:p>
            </p:txBody>
          </p:sp>
          <p:cxnSp>
            <p:nvCxnSpPr>
              <p:cNvPr id="12" name="Straight Arrow Connector 11">
                <a:extLst>
                  <a:ext uri="{FF2B5EF4-FFF2-40B4-BE49-F238E27FC236}">
                    <a16:creationId xmlns:a16="http://schemas.microsoft.com/office/drawing/2014/main" id="{5AF66876-61A9-EF38-13C7-9F6E259F8501}"/>
                  </a:ext>
                </a:extLst>
              </p:cNvPr>
              <p:cNvCxnSpPr>
                <a:stCxn id="10" idx="6"/>
                <a:endCxn id="11" idx="2"/>
              </p:cNvCxnSpPr>
              <p:nvPr/>
            </p:nvCxnSpPr>
            <p:spPr>
              <a:xfrm>
                <a:off x="5135076" y="3495677"/>
                <a:ext cx="1357351"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14" name="Oval 13">
                <a:extLst>
                  <a:ext uri="{FF2B5EF4-FFF2-40B4-BE49-F238E27FC236}">
                    <a16:creationId xmlns:a16="http://schemas.microsoft.com/office/drawing/2014/main" id="{13DBE66E-892C-928A-80DB-68A14BA5F677}"/>
                  </a:ext>
                </a:extLst>
              </p:cNvPr>
              <p:cNvSpPr/>
              <p:nvPr/>
            </p:nvSpPr>
            <p:spPr>
              <a:xfrm>
                <a:off x="5635330" y="3971925"/>
                <a:ext cx="360000" cy="360000"/>
              </a:xfrm>
              <a:prstGeom prst="ellipse">
                <a:avLst/>
              </a:prstGeom>
              <a:solidFill>
                <a:schemeClr val="bg1">
                  <a:lumMod val="75000"/>
                </a:schemeClr>
              </a:solidFill>
              <a:ln>
                <a:solidFill>
                  <a:schemeClr val="bg1">
                    <a:lumMod val="50000"/>
                  </a:schemeClr>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SE" noProof="0" dirty="0">
                    <a:solidFill>
                      <a:schemeClr val="tx1">
                        <a:lumMod val="50000"/>
                        <a:lumOff val="50000"/>
                      </a:schemeClr>
                    </a:solidFill>
                  </a:rPr>
                  <a:t>z</a:t>
                </a:r>
                <a:endParaRPr lang="en-US" noProof="0" dirty="0">
                  <a:solidFill>
                    <a:schemeClr val="tx1">
                      <a:lumMod val="50000"/>
                      <a:lumOff val="50000"/>
                    </a:schemeClr>
                  </a:solidFill>
                </a:endParaRPr>
              </a:p>
            </p:txBody>
          </p:sp>
          <p:cxnSp>
            <p:nvCxnSpPr>
              <p:cNvPr id="15" name="Straight Arrow Connector 14">
                <a:extLst>
                  <a:ext uri="{FF2B5EF4-FFF2-40B4-BE49-F238E27FC236}">
                    <a16:creationId xmlns:a16="http://schemas.microsoft.com/office/drawing/2014/main" id="{4EB37684-3A8B-D4D2-9F41-8E055274705E}"/>
                  </a:ext>
                </a:extLst>
              </p:cNvPr>
              <p:cNvCxnSpPr>
                <a:cxnSpLocks/>
                <a:stCxn id="14" idx="7"/>
                <a:endCxn id="11" idx="3"/>
              </p:cNvCxnSpPr>
              <p:nvPr/>
            </p:nvCxnSpPr>
            <p:spPr>
              <a:xfrm flipV="1">
                <a:off x="5942609" y="3622956"/>
                <a:ext cx="602539" cy="40169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18" name="Straight Arrow Connector 17">
                <a:extLst>
                  <a:ext uri="{FF2B5EF4-FFF2-40B4-BE49-F238E27FC236}">
                    <a16:creationId xmlns:a16="http://schemas.microsoft.com/office/drawing/2014/main" id="{FF9DA5B0-7B87-2907-4947-B79ADEF4BB0F}"/>
                  </a:ext>
                </a:extLst>
              </p:cNvPr>
              <p:cNvCxnSpPr>
                <a:cxnSpLocks/>
                <a:stCxn id="10" idx="5"/>
                <a:endCxn id="14" idx="1"/>
              </p:cNvCxnSpPr>
              <p:nvPr/>
            </p:nvCxnSpPr>
            <p:spPr>
              <a:xfrm>
                <a:off x="5082355" y="3622956"/>
                <a:ext cx="605696" cy="40169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grpSp>
        <p:sp>
          <p:nvSpPr>
            <p:cNvPr id="34" name="TextBox 33">
              <a:extLst>
                <a:ext uri="{FF2B5EF4-FFF2-40B4-BE49-F238E27FC236}">
                  <a16:creationId xmlns:a16="http://schemas.microsoft.com/office/drawing/2014/main" id="{E9535487-4FB1-CDDA-6ABC-6CC5F0BA6AE4}"/>
                </a:ext>
              </a:extLst>
            </p:cNvPr>
            <p:cNvSpPr txBox="1"/>
            <p:nvPr/>
          </p:nvSpPr>
          <p:spPr>
            <a:xfrm>
              <a:off x="1676638" y="2966913"/>
              <a:ext cx="1353256" cy="400110"/>
            </a:xfrm>
            <a:prstGeom prst="rect">
              <a:avLst/>
            </a:prstGeom>
            <a:noFill/>
          </p:spPr>
          <p:txBody>
            <a:bodyPr wrap="none" rtlCol="0">
              <a:spAutoFit/>
            </a:bodyPr>
            <a:lstStyle/>
            <a:p>
              <a:pPr algn="ctr"/>
              <a:r>
                <a:rPr lang="en-SE" sz="2000" b="1" dirty="0"/>
                <a:t>Mediation</a:t>
              </a:r>
            </a:p>
          </p:txBody>
        </p:sp>
        <p:sp>
          <p:nvSpPr>
            <p:cNvPr id="35" name="TextBox 34">
              <a:extLst>
                <a:ext uri="{FF2B5EF4-FFF2-40B4-BE49-F238E27FC236}">
                  <a16:creationId xmlns:a16="http://schemas.microsoft.com/office/drawing/2014/main" id="{E06E7A17-D001-828D-7C8F-16B83D95C42A}"/>
                </a:ext>
              </a:extLst>
            </p:cNvPr>
            <p:cNvSpPr txBox="1"/>
            <p:nvPr/>
          </p:nvSpPr>
          <p:spPr>
            <a:xfrm>
              <a:off x="1175334" y="4690192"/>
              <a:ext cx="2355863" cy="1477328"/>
            </a:xfrm>
            <a:prstGeom prst="rect">
              <a:avLst/>
            </a:prstGeom>
            <a:noFill/>
          </p:spPr>
          <p:txBody>
            <a:bodyPr wrap="square" rtlCol="0">
              <a:spAutoFit/>
            </a:bodyPr>
            <a:lstStyle/>
            <a:p>
              <a:pPr algn="ctr"/>
              <a:r>
                <a:rPr lang="en-SE" dirty="0">
                  <a:solidFill>
                    <a:schemeClr val="tx1">
                      <a:lumMod val="65000"/>
                      <a:lumOff val="35000"/>
                    </a:schemeClr>
                  </a:solidFill>
                </a:rPr>
                <a:t>z</a:t>
              </a:r>
              <a:r>
                <a:rPr lang="en-SE" dirty="0"/>
                <a:t> </a:t>
              </a:r>
              <a:r>
                <a:rPr lang="en-SE" i="1" dirty="0"/>
                <a:t>mediates</a:t>
              </a:r>
              <a:r>
                <a:rPr lang="en-SE" dirty="0"/>
                <a:t> the effect of </a:t>
              </a:r>
              <a:r>
                <a:rPr lang="en-SE" dirty="0">
                  <a:solidFill>
                    <a:srgbClr val="C00000"/>
                  </a:solidFill>
                </a:rPr>
                <a:t>x</a:t>
              </a:r>
              <a:r>
                <a:rPr lang="en-SE" dirty="0"/>
                <a:t> on </a:t>
              </a:r>
              <a:r>
                <a:rPr lang="en-SE" dirty="0">
                  <a:solidFill>
                    <a:srgbClr val="006D70"/>
                  </a:solidFill>
                </a:rPr>
                <a:t>y</a:t>
              </a:r>
              <a:r>
                <a:rPr lang="en-SE" dirty="0"/>
                <a:t>. There is a direct (</a:t>
              </a:r>
              <a:r>
                <a:rPr lang="en-SE" dirty="0">
                  <a:solidFill>
                    <a:srgbClr val="C00000"/>
                  </a:solidFill>
                </a:rPr>
                <a:t>x </a:t>
              </a:r>
              <a:r>
                <a:rPr lang="en-SE" dirty="0"/>
                <a:t>→ </a:t>
              </a:r>
              <a:r>
                <a:rPr lang="en-SE" dirty="0">
                  <a:solidFill>
                    <a:srgbClr val="006D70"/>
                  </a:solidFill>
                </a:rPr>
                <a:t>y</a:t>
              </a:r>
              <a:r>
                <a:rPr lang="en-SE" dirty="0"/>
                <a:t>) and an indirect (</a:t>
              </a:r>
              <a:r>
                <a:rPr lang="en-SE" dirty="0">
                  <a:solidFill>
                    <a:srgbClr val="C00000"/>
                  </a:solidFill>
                </a:rPr>
                <a:t>x</a:t>
              </a:r>
              <a:r>
                <a:rPr lang="en-SE" dirty="0"/>
                <a:t> → </a:t>
              </a:r>
              <a:r>
                <a:rPr lang="en-SE" dirty="0">
                  <a:solidFill>
                    <a:schemeClr val="tx1">
                      <a:lumMod val="65000"/>
                      <a:lumOff val="35000"/>
                    </a:schemeClr>
                  </a:solidFill>
                </a:rPr>
                <a:t>z </a:t>
              </a:r>
              <a:r>
                <a:rPr lang="en-SE" dirty="0"/>
                <a:t>→ </a:t>
              </a:r>
              <a:r>
                <a:rPr lang="en-SE" dirty="0">
                  <a:solidFill>
                    <a:srgbClr val="006D70"/>
                  </a:solidFill>
                </a:rPr>
                <a:t>y</a:t>
              </a:r>
              <a:r>
                <a:rPr lang="en-SE" dirty="0"/>
                <a:t>) effect.</a:t>
              </a:r>
            </a:p>
          </p:txBody>
        </p:sp>
      </p:grpSp>
      <p:grpSp>
        <p:nvGrpSpPr>
          <p:cNvPr id="37" name="Group 36">
            <a:extLst>
              <a:ext uri="{FF2B5EF4-FFF2-40B4-BE49-F238E27FC236}">
                <a16:creationId xmlns:a16="http://schemas.microsoft.com/office/drawing/2014/main" id="{844D5AB8-2BB2-5D67-6DB2-EC76A993FE61}"/>
              </a:ext>
            </a:extLst>
          </p:cNvPr>
          <p:cNvGrpSpPr/>
          <p:nvPr/>
        </p:nvGrpSpPr>
        <p:grpSpPr>
          <a:xfrm>
            <a:off x="4866058" y="2966913"/>
            <a:ext cx="2459884" cy="3200607"/>
            <a:chOff x="1123324" y="2966913"/>
            <a:chExt cx="2459884" cy="3200607"/>
          </a:xfrm>
        </p:grpSpPr>
        <p:grpSp>
          <p:nvGrpSpPr>
            <p:cNvPr id="38" name="Group 37">
              <a:extLst>
                <a:ext uri="{FF2B5EF4-FFF2-40B4-BE49-F238E27FC236}">
                  <a16:creationId xmlns:a16="http://schemas.microsoft.com/office/drawing/2014/main" id="{BFB8F76A-4B9D-FEE4-7B1C-9575C5DF20F0}"/>
                </a:ext>
              </a:extLst>
            </p:cNvPr>
            <p:cNvGrpSpPr/>
            <p:nvPr/>
          </p:nvGrpSpPr>
          <p:grpSpPr>
            <a:xfrm>
              <a:off x="1314591" y="3515395"/>
              <a:ext cx="2077351" cy="1016248"/>
              <a:chOff x="4775076" y="3315677"/>
              <a:chExt cx="2077351" cy="1016248"/>
            </a:xfrm>
          </p:grpSpPr>
          <p:sp>
            <p:nvSpPr>
              <p:cNvPr id="41" name="Oval 40">
                <a:extLst>
                  <a:ext uri="{FF2B5EF4-FFF2-40B4-BE49-F238E27FC236}">
                    <a16:creationId xmlns:a16="http://schemas.microsoft.com/office/drawing/2014/main" id="{B74E8736-CD39-C3E3-4242-29306156D275}"/>
                  </a:ext>
                </a:extLst>
              </p:cNvPr>
              <p:cNvSpPr/>
              <p:nvPr/>
            </p:nvSpPr>
            <p:spPr>
              <a:xfrm>
                <a:off x="4775076" y="3315677"/>
                <a:ext cx="360000" cy="360000"/>
              </a:xfrm>
              <a:prstGeom prst="ellipse">
                <a:avLst/>
              </a:prstGeom>
              <a:solidFill>
                <a:srgbClr val="F8766D"/>
              </a:solidFill>
              <a:ln>
                <a:solidFill>
                  <a:srgbClr val="D0180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SE" noProof="0" dirty="0">
                    <a:solidFill>
                      <a:srgbClr val="D0180A"/>
                    </a:solidFill>
                  </a:rPr>
                  <a:t>x</a:t>
                </a:r>
                <a:endParaRPr lang="en-US" noProof="0" dirty="0">
                  <a:solidFill>
                    <a:srgbClr val="D0180A"/>
                  </a:solidFill>
                </a:endParaRPr>
              </a:p>
            </p:txBody>
          </p:sp>
          <p:sp>
            <p:nvSpPr>
              <p:cNvPr id="42" name="Oval 41">
                <a:extLst>
                  <a:ext uri="{FF2B5EF4-FFF2-40B4-BE49-F238E27FC236}">
                    <a16:creationId xmlns:a16="http://schemas.microsoft.com/office/drawing/2014/main" id="{6B982906-28A7-FF79-1DB4-639FC008B516}"/>
                  </a:ext>
                </a:extLst>
              </p:cNvPr>
              <p:cNvSpPr/>
              <p:nvPr/>
            </p:nvSpPr>
            <p:spPr>
              <a:xfrm>
                <a:off x="6492427" y="3315677"/>
                <a:ext cx="360000" cy="360000"/>
              </a:xfrm>
              <a:prstGeom prst="ellipse">
                <a:avLst/>
              </a:prstGeom>
              <a:solidFill>
                <a:srgbClr val="00BFC4"/>
              </a:solidFill>
              <a:ln>
                <a:solidFill>
                  <a:srgbClr val="006D7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SE" noProof="0" dirty="0">
                    <a:solidFill>
                      <a:srgbClr val="006D70"/>
                    </a:solidFill>
                  </a:rPr>
                  <a:t>y</a:t>
                </a:r>
                <a:endParaRPr lang="en-US" noProof="0" dirty="0">
                  <a:solidFill>
                    <a:srgbClr val="006D70"/>
                  </a:solidFill>
                </a:endParaRPr>
              </a:p>
            </p:txBody>
          </p:sp>
          <p:cxnSp>
            <p:nvCxnSpPr>
              <p:cNvPr id="43" name="Straight Arrow Connector 42">
                <a:extLst>
                  <a:ext uri="{FF2B5EF4-FFF2-40B4-BE49-F238E27FC236}">
                    <a16:creationId xmlns:a16="http://schemas.microsoft.com/office/drawing/2014/main" id="{4F6EC02E-FFF8-14E1-B180-E6081CD30813}"/>
                  </a:ext>
                </a:extLst>
              </p:cNvPr>
              <p:cNvCxnSpPr>
                <a:stCxn id="41" idx="6"/>
                <a:endCxn id="42" idx="2"/>
              </p:cNvCxnSpPr>
              <p:nvPr/>
            </p:nvCxnSpPr>
            <p:spPr>
              <a:xfrm>
                <a:off x="5135076" y="3495677"/>
                <a:ext cx="1357351"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44" name="Oval 43">
                <a:extLst>
                  <a:ext uri="{FF2B5EF4-FFF2-40B4-BE49-F238E27FC236}">
                    <a16:creationId xmlns:a16="http://schemas.microsoft.com/office/drawing/2014/main" id="{27B5AA7B-8097-7DAB-BFA3-1D8F00D3DC0E}"/>
                  </a:ext>
                </a:extLst>
              </p:cNvPr>
              <p:cNvSpPr/>
              <p:nvPr/>
            </p:nvSpPr>
            <p:spPr>
              <a:xfrm>
                <a:off x="5635330" y="3971925"/>
                <a:ext cx="360000" cy="360000"/>
              </a:xfrm>
              <a:prstGeom prst="ellipse">
                <a:avLst/>
              </a:prstGeom>
              <a:solidFill>
                <a:schemeClr val="bg1">
                  <a:lumMod val="75000"/>
                </a:schemeClr>
              </a:solidFill>
              <a:ln>
                <a:solidFill>
                  <a:schemeClr val="bg1">
                    <a:lumMod val="50000"/>
                  </a:schemeClr>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SE" noProof="0" dirty="0">
                    <a:solidFill>
                      <a:schemeClr val="tx1">
                        <a:lumMod val="50000"/>
                        <a:lumOff val="50000"/>
                      </a:schemeClr>
                    </a:solidFill>
                  </a:rPr>
                  <a:t>z</a:t>
                </a:r>
                <a:endParaRPr lang="en-US" noProof="0" dirty="0">
                  <a:solidFill>
                    <a:schemeClr val="tx1">
                      <a:lumMod val="50000"/>
                      <a:lumOff val="50000"/>
                    </a:schemeClr>
                  </a:solidFill>
                </a:endParaRPr>
              </a:p>
            </p:txBody>
          </p:sp>
          <p:cxnSp>
            <p:nvCxnSpPr>
              <p:cNvPr id="45" name="Straight Arrow Connector 44">
                <a:extLst>
                  <a:ext uri="{FF2B5EF4-FFF2-40B4-BE49-F238E27FC236}">
                    <a16:creationId xmlns:a16="http://schemas.microsoft.com/office/drawing/2014/main" id="{4B0DEBE4-0716-6FB7-F534-E47FFBEE6E91}"/>
                  </a:ext>
                </a:extLst>
              </p:cNvPr>
              <p:cNvCxnSpPr>
                <a:cxnSpLocks/>
                <a:stCxn id="44" idx="7"/>
                <a:endCxn id="42" idx="3"/>
              </p:cNvCxnSpPr>
              <p:nvPr/>
            </p:nvCxnSpPr>
            <p:spPr>
              <a:xfrm flipV="1">
                <a:off x="5942609" y="3622956"/>
                <a:ext cx="602539" cy="40169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46" name="Straight Arrow Connector 45">
                <a:extLst>
                  <a:ext uri="{FF2B5EF4-FFF2-40B4-BE49-F238E27FC236}">
                    <a16:creationId xmlns:a16="http://schemas.microsoft.com/office/drawing/2014/main" id="{D5EE27B8-36F6-9833-A4E6-F74CE35EC9BD}"/>
                  </a:ext>
                </a:extLst>
              </p:cNvPr>
              <p:cNvCxnSpPr>
                <a:cxnSpLocks/>
                <a:stCxn id="44" idx="1"/>
                <a:endCxn id="41" idx="5"/>
              </p:cNvCxnSpPr>
              <p:nvPr/>
            </p:nvCxnSpPr>
            <p:spPr>
              <a:xfrm flipH="1" flipV="1">
                <a:off x="5082355" y="3622956"/>
                <a:ext cx="605696" cy="40169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grpSp>
        <p:sp>
          <p:nvSpPr>
            <p:cNvPr id="39" name="TextBox 38">
              <a:extLst>
                <a:ext uri="{FF2B5EF4-FFF2-40B4-BE49-F238E27FC236}">
                  <a16:creationId xmlns:a16="http://schemas.microsoft.com/office/drawing/2014/main" id="{F111C5C2-58CA-627E-8D83-C27BC9CD2A8E}"/>
                </a:ext>
              </a:extLst>
            </p:cNvPr>
            <p:cNvSpPr txBox="1"/>
            <p:nvPr/>
          </p:nvSpPr>
          <p:spPr>
            <a:xfrm>
              <a:off x="1506914" y="2966913"/>
              <a:ext cx="1692707" cy="400110"/>
            </a:xfrm>
            <a:prstGeom prst="rect">
              <a:avLst/>
            </a:prstGeom>
            <a:noFill/>
          </p:spPr>
          <p:txBody>
            <a:bodyPr wrap="none" rtlCol="0">
              <a:spAutoFit/>
            </a:bodyPr>
            <a:lstStyle/>
            <a:p>
              <a:pPr algn="ctr"/>
              <a:r>
                <a:rPr lang="en-SE" sz="2000" b="1" dirty="0"/>
                <a:t>Confounding</a:t>
              </a:r>
            </a:p>
          </p:txBody>
        </p:sp>
        <p:sp>
          <p:nvSpPr>
            <p:cNvPr id="40" name="TextBox 39">
              <a:extLst>
                <a:ext uri="{FF2B5EF4-FFF2-40B4-BE49-F238E27FC236}">
                  <a16:creationId xmlns:a16="http://schemas.microsoft.com/office/drawing/2014/main" id="{0FBD48B2-4A24-2255-0DCE-2414C1F7899E}"/>
                </a:ext>
              </a:extLst>
            </p:cNvPr>
            <p:cNvSpPr txBox="1"/>
            <p:nvPr/>
          </p:nvSpPr>
          <p:spPr>
            <a:xfrm>
              <a:off x="1123324" y="4690192"/>
              <a:ext cx="2459884" cy="1477328"/>
            </a:xfrm>
            <a:prstGeom prst="rect">
              <a:avLst/>
            </a:prstGeom>
            <a:noFill/>
          </p:spPr>
          <p:txBody>
            <a:bodyPr wrap="square" rtlCol="0">
              <a:spAutoFit/>
            </a:bodyPr>
            <a:lstStyle/>
            <a:p>
              <a:pPr algn="ctr"/>
              <a:r>
                <a:rPr lang="en-SE" dirty="0">
                  <a:solidFill>
                    <a:schemeClr val="tx1">
                      <a:lumMod val="65000"/>
                      <a:lumOff val="35000"/>
                    </a:schemeClr>
                  </a:solidFill>
                </a:rPr>
                <a:t>z</a:t>
              </a:r>
              <a:r>
                <a:rPr lang="en-SE" dirty="0"/>
                <a:t> </a:t>
              </a:r>
              <a:r>
                <a:rPr lang="en-SE" i="1" dirty="0"/>
                <a:t>confounds</a:t>
              </a:r>
              <a:r>
                <a:rPr lang="en-SE" dirty="0"/>
                <a:t> the effect of </a:t>
              </a:r>
              <a:r>
                <a:rPr lang="en-SE" dirty="0">
                  <a:solidFill>
                    <a:srgbClr val="C00000"/>
                  </a:solidFill>
                </a:rPr>
                <a:t>x</a:t>
              </a:r>
              <a:r>
                <a:rPr lang="en-SE" dirty="0"/>
                <a:t> on </a:t>
              </a:r>
              <a:r>
                <a:rPr lang="en-SE" dirty="0">
                  <a:solidFill>
                    <a:srgbClr val="006D70"/>
                  </a:solidFill>
                </a:rPr>
                <a:t>y</a:t>
              </a:r>
              <a:r>
                <a:rPr lang="en-SE" dirty="0"/>
                <a:t>. An observed effect (</a:t>
              </a:r>
              <a:r>
                <a:rPr lang="en-SE" dirty="0">
                  <a:solidFill>
                    <a:srgbClr val="C00000"/>
                  </a:solidFill>
                </a:rPr>
                <a:t>x </a:t>
              </a:r>
              <a:r>
                <a:rPr lang="en-SE" dirty="0"/>
                <a:t>→ </a:t>
              </a:r>
              <a:r>
                <a:rPr lang="en-SE" dirty="0">
                  <a:solidFill>
                    <a:srgbClr val="006D70"/>
                  </a:solidFill>
                </a:rPr>
                <a:t>y</a:t>
              </a:r>
              <a:r>
                <a:rPr lang="en-SE" dirty="0"/>
                <a:t>) might be caused by the confounder (</a:t>
              </a:r>
              <a:r>
                <a:rPr lang="en-SE" dirty="0">
                  <a:solidFill>
                    <a:srgbClr val="C00000"/>
                  </a:solidFill>
                </a:rPr>
                <a:t>x</a:t>
              </a:r>
              <a:r>
                <a:rPr lang="en-SE" dirty="0"/>
                <a:t> ← </a:t>
              </a:r>
              <a:r>
                <a:rPr lang="en-SE" dirty="0">
                  <a:solidFill>
                    <a:schemeClr val="tx1">
                      <a:lumMod val="65000"/>
                      <a:lumOff val="35000"/>
                    </a:schemeClr>
                  </a:solidFill>
                </a:rPr>
                <a:t>z </a:t>
              </a:r>
              <a:r>
                <a:rPr lang="en-SE" dirty="0"/>
                <a:t>→ </a:t>
              </a:r>
              <a:r>
                <a:rPr lang="en-SE" dirty="0">
                  <a:solidFill>
                    <a:srgbClr val="006D70"/>
                  </a:solidFill>
                </a:rPr>
                <a:t>y</a:t>
              </a:r>
              <a:r>
                <a:rPr lang="en-SE" dirty="0"/>
                <a:t>).</a:t>
              </a:r>
            </a:p>
          </p:txBody>
        </p:sp>
      </p:grpSp>
      <p:grpSp>
        <p:nvGrpSpPr>
          <p:cNvPr id="47" name="Group 46">
            <a:extLst>
              <a:ext uri="{FF2B5EF4-FFF2-40B4-BE49-F238E27FC236}">
                <a16:creationId xmlns:a16="http://schemas.microsoft.com/office/drawing/2014/main" id="{E65D4C89-2750-57D8-CBD3-134305571D5F}"/>
              </a:ext>
            </a:extLst>
          </p:cNvPr>
          <p:cNvGrpSpPr/>
          <p:nvPr/>
        </p:nvGrpSpPr>
        <p:grpSpPr>
          <a:xfrm>
            <a:off x="8155918" y="2966913"/>
            <a:ext cx="2355863" cy="2369610"/>
            <a:chOff x="1175334" y="2966913"/>
            <a:chExt cx="2355863" cy="2369610"/>
          </a:xfrm>
        </p:grpSpPr>
        <p:grpSp>
          <p:nvGrpSpPr>
            <p:cNvPr id="48" name="Group 47">
              <a:extLst>
                <a:ext uri="{FF2B5EF4-FFF2-40B4-BE49-F238E27FC236}">
                  <a16:creationId xmlns:a16="http://schemas.microsoft.com/office/drawing/2014/main" id="{890779AF-1A92-4D2F-A8B9-67EC487FBEF6}"/>
                </a:ext>
              </a:extLst>
            </p:cNvPr>
            <p:cNvGrpSpPr/>
            <p:nvPr/>
          </p:nvGrpSpPr>
          <p:grpSpPr>
            <a:xfrm>
              <a:off x="1314591" y="3515395"/>
              <a:ext cx="2077351" cy="1016248"/>
              <a:chOff x="4775076" y="3315677"/>
              <a:chExt cx="2077351" cy="1016248"/>
            </a:xfrm>
          </p:grpSpPr>
          <p:sp>
            <p:nvSpPr>
              <p:cNvPr id="51" name="Oval 50">
                <a:extLst>
                  <a:ext uri="{FF2B5EF4-FFF2-40B4-BE49-F238E27FC236}">
                    <a16:creationId xmlns:a16="http://schemas.microsoft.com/office/drawing/2014/main" id="{35484460-98A6-7F8C-A44F-CD5DD63B412B}"/>
                  </a:ext>
                </a:extLst>
              </p:cNvPr>
              <p:cNvSpPr/>
              <p:nvPr/>
            </p:nvSpPr>
            <p:spPr>
              <a:xfrm>
                <a:off x="4775076" y="3315677"/>
                <a:ext cx="360000" cy="360000"/>
              </a:xfrm>
              <a:prstGeom prst="ellipse">
                <a:avLst/>
              </a:prstGeom>
              <a:solidFill>
                <a:srgbClr val="F8766D"/>
              </a:solidFill>
              <a:ln>
                <a:solidFill>
                  <a:srgbClr val="D0180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SE" noProof="0" dirty="0">
                    <a:solidFill>
                      <a:srgbClr val="D0180A"/>
                    </a:solidFill>
                  </a:rPr>
                  <a:t>x</a:t>
                </a:r>
                <a:endParaRPr lang="en-US" noProof="0" dirty="0">
                  <a:solidFill>
                    <a:srgbClr val="D0180A"/>
                  </a:solidFill>
                </a:endParaRPr>
              </a:p>
            </p:txBody>
          </p:sp>
          <p:sp>
            <p:nvSpPr>
              <p:cNvPr id="52" name="Oval 51">
                <a:extLst>
                  <a:ext uri="{FF2B5EF4-FFF2-40B4-BE49-F238E27FC236}">
                    <a16:creationId xmlns:a16="http://schemas.microsoft.com/office/drawing/2014/main" id="{712C398B-52E5-8629-0A85-874620CD5E8B}"/>
                  </a:ext>
                </a:extLst>
              </p:cNvPr>
              <p:cNvSpPr/>
              <p:nvPr/>
            </p:nvSpPr>
            <p:spPr>
              <a:xfrm>
                <a:off x="6492427" y="3315677"/>
                <a:ext cx="360000" cy="360000"/>
              </a:xfrm>
              <a:prstGeom prst="ellipse">
                <a:avLst/>
              </a:prstGeom>
              <a:solidFill>
                <a:srgbClr val="00BFC4"/>
              </a:solidFill>
              <a:ln>
                <a:solidFill>
                  <a:srgbClr val="006D7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SE" noProof="0" dirty="0">
                    <a:solidFill>
                      <a:srgbClr val="006D70"/>
                    </a:solidFill>
                  </a:rPr>
                  <a:t>y</a:t>
                </a:r>
                <a:endParaRPr lang="en-US" noProof="0" dirty="0">
                  <a:solidFill>
                    <a:srgbClr val="006D70"/>
                  </a:solidFill>
                </a:endParaRPr>
              </a:p>
            </p:txBody>
          </p:sp>
          <p:cxnSp>
            <p:nvCxnSpPr>
              <p:cNvPr id="53" name="Straight Arrow Connector 52">
                <a:extLst>
                  <a:ext uri="{FF2B5EF4-FFF2-40B4-BE49-F238E27FC236}">
                    <a16:creationId xmlns:a16="http://schemas.microsoft.com/office/drawing/2014/main" id="{7B8C3F01-14B3-C750-BCA7-532B5AFABAFC}"/>
                  </a:ext>
                </a:extLst>
              </p:cNvPr>
              <p:cNvCxnSpPr>
                <a:stCxn id="51" idx="6"/>
                <a:endCxn id="52" idx="2"/>
              </p:cNvCxnSpPr>
              <p:nvPr/>
            </p:nvCxnSpPr>
            <p:spPr>
              <a:xfrm>
                <a:off x="5135076" y="3495677"/>
                <a:ext cx="1357351"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54" name="Oval 53">
                <a:extLst>
                  <a:ext uri="{FF2B5EF4-FFF2-40B4-BE49-F238E27FC236}">
                    <a16:creationId xmlns:a16="http://schemas.microsoft.com/office/drawing/2014/main" id="{1D995665-E695-013D-3D0B-10CBE52B85D8}"/>
                  </a:ext>
                </a:extLst>
              </p:cNvPr>
              <p:cNvSpPr/>
              <p:nvPr/>
            </p:nvSpPr>
            <p:spPr>
              <a:xfrm>
                <a:off x="5635330" y="3971925"/>
                <a:ext cx="360000" cy="360000"/>
              </a:xfrm>
              <a:prstGeom prst="ellipse">
                <a:avLst/>
              </a:prstGeom>
              <a:solidFill>
                <a:schemeClr val="bg1">
                  <a:lumMod val="75000"/>
                </a:schemeClr>
              </a:solidFill>
              <a:ln>
                <a:solidFill>
                  <a:schemeClr val="bg1">
                    <a:lumMod val="50000"/>
                  </a:schemeClr>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SE" noProof="0" dirty="0">
                    <a:solidFill>
                      <a:schemeClr val="tx1">
                        <a:lumMod val="50000"/>
                        <a:lumOff val="50000"/>
                      </a:schemeClr>
                    </a:solidFill>
                  </a:rPr>
                  <a:t>z</a:t>
                </a:r>
                <a:endParaRPr lang="en-US" noProof="0" dirty="0">
                  <a:solidFill>
                    <a:schemeClr val="tx1">
                      <a:lumMod val="50000"/>
                      <a:lumOff val="50000"/>
                    </a:schemeClr>
                  </a:solidFill>
                </a:endParaRPr>
              </a:p>
            </p:txBody>
          </p:sp>
          <p:cxnSp>
            <p:nvCxnSpPr>
              <p:cNvPr id="55" name="Straight Arrow Connector 54">
                <a:extLst>
                  <a:ext uri="{FF2B5EF4-FFF2-40B4-BE49-F238E27FC236}">
                    <a16:creationId xmlns:a16="http://schemas.microsoft.com/office/drawing/2014/main" id="{ED76C213-3713-35BC-23F8-884CEF53F69F}"/>
                  </a:ext>
                </a:extLst>
              </p:cNvPr>
              <p:cNvCxnSpPr>
                <a:cxnSpLocks/>
                <a:stCxn id="52" idx="3"/>
                <a:endCxn id="54" idx="7"/>
              </p:cNvCxnSpPr>
              <p:nvPr/>
            </p:nvCxnSpPr>
            <p:spPr>
              <a:xfrm flipH="1">
                <a:off x="5942609" y="3622956"/>
                <a:ext cx="602539" cy="40169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56" name="Straight Arrow Connector 55">
                <a:extLst>
                  <a:ext uri="{FF2B5EF4-FFF2-40B4-BE49-F238E27FC236}">
                    <a16:creationId xmlns:a16="http://schemas.microsoft.com/office/drawing/2014/main" id="{6C44C426-CE66-006B-4E9D-FB00406FE97E}"/>
                  </a:ext>
                </a:extLst>
              </p:cNvPr>
              <p:cNvCxnSpPr>
                <a:cxnSpLocks/>
                <a:stCxn id="51" idx="5"/>
                <a:endCxn id="54" idx="1"/>
              </p:cNvCxnSpPr>
              <p:nvPr/>
            </p:nvCxnSpPr>
            <p:spPr>
              <a:xfrm>
                <a:off x="5082355" y="3622956"/>
                <a:ext cx="605696" cy="40169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grpSp>
        <p:sp>
          <p:nvSpPr>
            <p:cNvPr id="49" name="TextBox 48">
              <a:extLst>
                <a:ext uri="{FF2B5EF4-FFF2-40B4-BE49-F238E27FC236}">
                  <a16:creationId xmlns:a16="http://schemas.microsoft.com/office/drawing/2014/main" id="{CA1718B7-8EA7-F584-D8E0-7855E8F66DF6}"/>
                </a:ext>
              </a:extLst>
            </p:cNvPr>
            <p:cNvSpPr txBox="1"/>
            <p:nvPr/>
          </p:nvSpPr>
          <p:spPr>
            <a:xfrm>
              <a:off x="1792858" y="2966913"/>
              <a:ext cx="1120820" cy="400110"/>
            </a:xfrm>
            <a:prstGeom prst="rect">
              <a:avLst/>
            </a:prstGeom>
            <a:noFill/>
          </p:spPr>
          <p:txBody>
            <a:bodyPr wrap="none" rtlCol="0">
              <a:spAutoFit/>
            </a:bodyPr>
            <a:lstStyle/>
            <a:p>
              <a:pPr algn="ctr"/>
              <a:r>
                <a:rPr lang="en-SE" sz="2000" b="1" dirty="0"/>
                <a:t>Collider</a:t>
              </a:r>
            </a:p>
          </p:txBody>
        </p:sp>
        <p:sp>
          <p:nvSpPr>
            <p:cNvPr id="50" name="TextBox 49">
              <a:extLst>
                <a:ext uri="{FF2B5EF4-FFF2-40B4-BE49-F238E27FC236}">
                  <a16:creationId xmlns:a16="http://schemas.microsoft.com/office/drawing/2014/main" id="{69EC47AD-6D30-489F-524F-F93019DE8649}"/>
                </a:ext>
              </a:extLst>
            </p:cNvPr>
            <p:cNvSpPr txBox="1"/>
            <p:nvPr/>
          </p:nvSpPr>
          <p:spPr>
            <a:xfrm>
              <a:off x="1175334" y="4690192"/>
              <a:ext cx="2355863" cy="646331"/>
            </a:xfrm>
            <a:prstGeom prst="rect">
              <a:avLst/>
            </a:prstGeom>
            <a:noFill/>
          </p:spPr>
          <p:txBody>
            <a:bodyPr wrap="square" rtlCol="0">
              <a:spAutoFit/>
            </a:bodyPr>
            <a:lstStyle/>
            <a:p>
              <a:pPr algn="ctr"/>
              <a:r>
                <a:rPr lang="en-SE" dirty="0">
                  <a:solidFill>
                    <a:schemeClr val="tx1">
                      <a:lumMod val="65000"/>
                      <a:lumOff val="35000"/>
                    </a:schemeClr>
                  </a:solidFill>
                </a:rPr>
                <a:t>z</a:t>
              </a:r>
              <a:r>
                <a:rPr lang="en-SE" dirty="0"/>
                <a:t> is a common effect of </a:t>
              </a:r>
              <a:r>
                <a:rPr lang="en-SE" dirty="0">
                  <a:solidFill>
                    <a:srgbClr val="C00000"/>
                  </a:solidFill>
                </a:rPr>
                <a:t>x </a:t>
              </a:r>
              <a:r>
                <a:rPr lang="en-SE" dirty="0"/>
                <a:t>and </a:t>
              </a:r>
              <a:r>
                <a:rPr lang="en-SE" dirty="0">
                  <a:solidFill>
                    <a:srgbClr val="006D70"/>
                  </a:solidFill>
                </a:rPr>
                <a:t>y</a:t>
              </a:r>
              <a:r>
                <a:rPr lang="en-SE" dirty="0"/>
                <a:t>.</a:t>
              </a:r>
            </a:p>
          </p:txBody>
        </p:sp>
      </p:grpSp>
      <p:grpSp>
        <p:nvGrpSpPr>
          <p:cNvPr id="63" name="Group 62">
            <a:extLst>
              <a:ext uri="{FF2B5EF4-FFF2-40B4-BE49-F238E27FC236}">
                <a16:creationId xmlns:a16="http://schemas.microsoft.com/office/drawing/2014/main" id="{38131B82-70EB-5685-030A-597F582B9AB4}"/>
              </a:ext>
            </a:extLst>
          </p:cNvPr>
          <p:cNvGrpSpPr/>
          <p:nvPr/>
        </p:nvGrpSpPr>
        <p:grpSpPr>
          <a:xfrm>
            <a:off x="838198" y="365125"/>
            <a:ext cx="1983884" cy="245531"/>
            <a:chOff x="4114799" y="3759391"/>
            <a:chExt cx="1983884" cy="1229241"/>
          </a:xfrm>
        </p:grpSpPr>
        <p:sp>
          <p:nvSpPr>
            <p:cNvPr id="64" name="Arrow: Pentagon 63">
              <a:extLst>
                <a:ext uri="{FF2B5EF4-FFF2-40B4-BE49-F238E27FC236}">
                  <a16:creationId xmlns:a16="http://schemas.microsoft.com/office/drawing/2014/main" id="{27BFBA47-C23E-989C-7BD3-995CF5BE76C0}"/>
                </a:ext>
              </a:extLst>
            </p:cNvPr>
            <p:cNvSpPr/>
            <p:nvPr/>
          </p:nvSpPr>
          <p:spPr>
            <a:xfrm>
              <a:off x="4114799" y="3759391"/>
              <a:ext cx="794039" cy="1229241"/>
            </a:xfrm>
            <a:prstGeom prst="homePlate">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SE" sz="1400" dirty="0"/>
                <a:t>Theory</a:t>
              </a:r>
            </a:p>
          </p:txBody>
        </p:sp>
        <p:sp>
          <p:nvSpPr>
            <p:cNvPr id="65" name="Arrow: Chevron 64">
              <a:extLst>
                <a:ext uri="{FF2B5EF4-FFF2-40B4-BE49-F238E27FC236}">
                  <a16:creationId xmlns:a16="http://schemas.microsoft.com/office/drawing/2014/main" id="{50B20765-F225-874D-857C-2C31FA797ECE}"/>
                </a:ext>
              </a:extLst>
            </p:cNvPr>
            <p:cNvSpPr/>
            <p:nvPr/>
          </p:nvSpPr>
          <p:spPr>
            <a:xfrm>
              <a:off x="4843616" y="3759391"/>
              <a:ext cx="1255067" cy="1229241"/>
            </a:xfrm>
            <a:prstGeom prst="chevron">
              <a:avLst/>
            </a:prstGeom>
            <a:solidFill>
              <a:schemeClr val="bg1">
                <a:lumMod val="85000"/>
              </a:schemeClr>
            </a:solidFill>
            <a:ln>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SE" sz="1400" dirty="0">
                  <a:solidFill>
                    <a:schemeClr val="bg1">
                      <a:lumMod val="75000"/>
                    </a:schemeClr>
                  </a:solidFill>
                </a:rPr>
                <a:t>Use Case</a:t>
              </a:r>
            </a:p>
          </p:txBody>
        </p:sp>
      </p:grpSp>
    </p:spTree>
    <p:extLst>
      <p:ext uri="{BB962C8B-B14F-4D97-AF65-F5344CB8AC3E}">
        <p14:creationId xmlns:p14="http://schemas.microsoft.com/office/powerpoint/2010/main" val="61199489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med" p14:dur="700">
        <p159:morph option="byObject"/>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DFC76B-E085-1C3A-8041-B0012C645E57}"/>
              </a:ext>
            </a:extLst>
          </p:cNvPr>
          <p:cNvSpPr>
            <a:spLocks noGrp="1"/>
          </p:cNvSpPr>
          <p:nvPr>
            <p:ph type="title"/>
          </p:nvPr>
        </p:nvSpPr>
        <p:spPr/>
        <p:txBody>
          <a:bodyPr/>
          <a:lstStyle/>
          <a:p>
            <a:r>
              <a:rPr lang="en-SE" dirty="0"/>
              <a:t>Dealing with Variables</a:t>
            </a:r>
          </a:p>
        </p:txBody>
      </p:sp>
      <p:sp>
        <p:nvSpPr>
          <p:cNvPr id="3" name="Content Placeholder 2">
            <a:extLst>
              <a:ext uri="{FF2B5EF4-FFF2-40B4-BE49-F238E27FC236}">
                <a16:creationId xmlns:a16="http://schemas.microsoft.com/office/drawing/2014/main" id="{227C54F7-A656-1DB1-99B0-91845F9B3135}"/>
              </a:ext>
            </a:extLst>
          </p:cNvPr>
          <p:cNvSpPr>
            <a:spLocks noGrp="1"/>
          </p:cNvSpPr>
          <p:nvPr>
            <p:ph idx="1"/>
          </p:nvPr>
        </p:nvSpPr>
        <p:spPr>
          <a:xfrm>
            <a:off x="838200" y="1825625"/>
            <a:ext cx="10515600" cy="953434"/>
          </a:xfrm>
        </p:spPr>
        <p:txBody>
          <a:bodyPr/>
          <a:lstStyle/>
          <a:p>
            <a:pPr marL="0" indent="0">
              <a:buNone/>
            </a:pPr>
            <a:r>
              <a:rPr lang="en-SE" dirty="0"/>
              <a:t>Based on the type of relationship between variables, these additional factors need to be treated differently.</a:t>
            </a:r>
          </a:p>
        </p:txBody>
      </p:sp>
      <p:sp>
        <p:nvSpPr>
          <p:cNvPr id="4" name="Date Placeholder 3">
            <a:extLst>
              <a:ext uri="{FF2B5EF4-FFF2-40B4-BE49-F238E27FC236}">
                <a16:creationId xmlns:a16="http://schemas.microsoft.com/office/drawing/2014/main" id="{C7198028-883D-ADD7-8952-1B9D14F05262}"/>
              </a:ext>
            </a:extLst>
          </p:cNvPr>
          <p:cNvSpPr>
            <a:spLocks noGrp="1"/>
          </p:cNvSpPr>
          <p:nvPr>
            <p:ph type="dt" sz="half" idx="10"/>
          </p:nvPr>
        </p:nvSpPr>
        <p:spPr/>
        <p:txBody>
          <a:bodyPr/>
          <a:lstStyle/>
          <a:p>
            <a:fld id="{A1C06950-82F8-45F4-A28D-9FBF8CAE29F7}" type="datetime1">
              <a:rPr lang="de-DE" smtClean="0"/>
              <a:t>17.03.2026</a:t>
            </a:fld>
            <a:endParaRPr lang="en-SE"/>
          </a:p>
        </p:txBody>
      </p:sp>
      <p:sp>
        <p:nvSpPr>
          <p:cNvPr id="5" name="Slide Number Placeholder 4">
            <a:extLst>
              <a:ext uri="{FF2B5EF4-FFF2-40B4-BE49-F238E27FC236}">
                <a16:creationId xmlns:a16="http://schemas.microsoft.com/office/drawing/2014/main" id="{9E84A1A5-003C-5FE8-9EE0-EF263B6A409F}"/>
              </a:ext>
            </a:extLst>
          </p:cNvPr>
          <p:cNvSpPr>
            <a:spLocks noGrp="1"/>
          </p:cNvSpPr>
          <p:nvPr>
            <p:ph type="sldNum" sz="quarter" idx="12"/>
          </p:nvPr>
        </p:nvSpPr>
        <p:spPr/>
        <p:txBody>
          <a:bodyPr/>
          <a:lstStyle/>
          <a:p>
            <a:fld id="{271ECC92-9CDE-4EB3-B1C5-F46B9E1FA3C1}" type="slidenum">
              <a:rPr lang="en-SE" smtClean="0"/>
              <a:t>12</a:t>
            </a:fld>
            <a:endParaRPr lang="en-SE"/>
          </a:p>
        </p:txBody>
      </p:sp>
      <p:sp>
        <p:nvSpPr>
          <p:cNvPr id="9" name="Content Placeholder 2">
            <a:extLst>
              <a:ext uri="{FF2B5EF4-FFF2-40B4-BE49-F238E27FC236}">
                <a16:creationId xmlns:a16="http://schemas.microsoft.com/office/drawing/2014/main" id="{01EFB82E-744D-4531-9E4F-627A578DB3E7}"/>
              </a:ext>
            </a:extLst>
          </p:cNvPr>
          <p:cNvSpPr txBox="1">
            <a:spLocks/>
          </p:cNvSpPr>
          <p:nvPr/>
        </p:nvSpPr>
        <p:spPr>
          <a:xfrm>
            <a:off x="838198" y="5450699"/>
            <a:ext cx="10515600" cy="953434"/>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SE" dirty="0"/>
              <a:t>Control can either be by design (fixing variables) or by analysis (stratifying the data).</a:t>
            </a:r>
          </a:p>
        </p:txBody>
      </p:sp>
      <p:grpSp>
        <p:nvGrpSpPr>
          <p:cNvPr id="10" name="Group 9">
            <a:extLst>
              <a:ext uri="{FF2B5EF4-FFF2-40B4-BE49-F238E27FC236}">
                <a16:creationId xmlns:a16="http://schemas.microsoft.com/office/drawing/2014/main" id="{8430AF2D-EB76-E3A8-06EE-6F5FA47DDDE1}"/>
              </a:ext>
            </a:extLst>
          </p:cNvPr>
          <p:cNvGrpSpPr/>
          <p:nvPr/>
        </p:nvGrpSpPr>
        <p:grpSpPr>
          <a:xfrm>
            <a:off x="1226150" y="2779059"/>
            <a:ext cx="3191864" cy="2605247"/>
            <a:chOff x="727287" y="2966913"/>
            <a:chExt cx="3191864" cy="2605247"/>
          </a:xfrm>
        </p:grpSpPr>
        <p:grpSp>
          <p:nvGrpSpPr>
            <p:cNvPr id="11" name="Group 10">
              <a:extLst>
                <a:ext uri="{FF2B5EF4-FFF2-40B4-BE49-F238E27FC236}">
                  <a16:creationId xmlns:a16="http://schemas.microsoft.com/office/drawing/2014/main" id="{4C7AE6D3-33B2-AE1A-44F6-B9301657C7DD}"/>
                </a:ext>
              </a:extLst>
            </p:cNvPr>
            <p:cNvGrpSpPr/>
            <p:nvPr/>
          </p:nvGrpSpPr>
          <p:grpSpPr>
            <a:xfrm>
              <a:off x="1314591" y="3515395"/>
              <a:ext cx="2077351" cy="1016248"/>
              <a:chOff x="4775076" y="3315677"/>
              <a:chExt cx="2077351" cy="1016248"/>
            </a:xfrm>
          </p:grpSpPr>
          <p:sp>
            <p:nvSpPr>
              <p:cNvPr id="14" name="Oval 13">
                <a:extLst>
                  <a:ext uri="{FF2B5EF4-FFF2-40B4-BE49-F238E27FC236}">
                    <a16:creationId xmlns:a16="http://schemas.microsoft.com/office/drawing/2014/main" id="{8E6C76E5-000D-FDA1-09D9-3792E017A399}"/>
                  </a:ext>
                </a:extLst>
              </p:cNvPr>
              <p:cNvSpPr/>
              <p:nvPr/>
            </p:nvSpPr>
            <p:spPr>
              <a:xfrm>
                <a:off x="4775076" y="3315677"/>
                <a:ext cx="360000" cy="360000"/>
              </a:xfrm>
              <a:prstGeom prst="ellipse">
                <a:avLst/>
              </a:prstGeom>
              <a:solidFill>
                <a:srgbClr val="F8766D"/>
              </a:solidFill>
              <a:ln>
                <a:solidFill>
                  <a:srgbClr val="D0180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SE" noProof="0" dirty="0">
                    <a:solidFill>
                      <a:srgbClr val="D0180A"/>
                    </a:solidFill>
                  </a:rPr>
                  <a:t>x</a:t>
                </a:r>
                <a:endParaRPr lang="en-US" noProof="0" dirty="0">
                  <a:solidFill>
                    <a:srgbClr val="D0180A"/>
                  </a:solidFill>
                </a:endParaRPr>
              </a:p>
            </p:txBody>
          </p:sp>
          <p:sp>
            <p:nvSpPr>
              <p:cNvPr id="15" name="Oval 14">
                <a:extLst>
                  <a:ext uri="{FF2B5EF4-FFF2-40B4-BE49-F238E27FC236}">
                    <a16:creationId xmlns:a16="http://schemas.microsoft.com/office/drawing/2014/main" id="{6D8C0D06-0598-3099-CE1B-249F98FA14D8}"/>
                  </a:ext>
                </a:extLst>
              </p:cNvPr>
              <p:cNvSpPr/>
              <p:nvPr/>
            </p:nvSpPr>
            <p:spPr>
              <a:xfrm>
                <a:off x="6492427" y="3315677"/>
                <a:ext cx="360000" cy="360000"/>
              </a:xfrm>
              <a:prstGeom prst="ellipse">
                <a:avLst/>
              </a:prstGeom>
              <a:solidFill>
                <a:srgbClr val="00BFC4"/>
              </a:solidFill>
              <a:ln>
                <a:solidFill>
                  <a:srgbClr val="006D7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SE" noProof="0" dirty="0">
                    <a:solidFill>
                      <a:srgbClr val="006D70"/>
                    </a:solidFill>
                  </a:rPr>
                  <a:t>y</a:t>
                </a:r>
                <a:endParaRPr lang="en-US" noProof="0" dirty="0">
                  <a:solidFill>
                    <a:srgbClr val="006D70"/>
                  </a:solidFill>
                </a:endParaRPr>
              </a:p>
            </p:txBody>
          </p:sp>
          <p:cxnSp>
            <p:nvCxnSpPr>
              <p:cNvPr id="16" name="Straight Arrow Connector 15">
                <a:extLst>
                  <a:ext uri="{FF2B5EF4-FFF2-40B4-BE49-F238E27FC236}">
                    <a16:creationId xmlns:a16="http://schemas.microsoft.com/office/drawing/2014/main" id="{BA733C45-3433-5A6D-743A-8047B9D1DBAC}"/>
                  </a:ext>
                </a:extLst>
              </p:cNvPr>
              <p:cNvCxnSpPr>
                <a:stCxn id="14" idx="6"/>
                <a:endCxn id="15" idx="2"/>
              </p:cNvCxnSpPr>
              <p:nvPr/>
            </p:nvCxnSpPr>
            <p:spPr>
              <a:xfrm>
                <a:off x="5135076" y="3495677"/>
                <a:ext cx="1357351"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17" name="Oval 16">
                <a:extLst>
                  <a:ext uri="{FF2B5EF4-FFF2-40B4-BE49-F238E27FC236}">
                    <a16:creationId xmlns:a16="http://schemas.microsoft.com/office/drawing/2014/main" id="{B014FCB4-5D50-ADD8-8DCF-618AB5E1008E}"/>
                  </a:ext>
                </a:extLst>
              </p:cNvPr>
              <p:cNvSpPr/>
              <p:nvPr/>
            </p:nvSpPr>
            <p:spPr>
              <a:xfrm>
                <a:off x="5635330" y="3971925"/>
                <a:ext cx="360000" cy="360000"/>
              </a:xfrm>
              <a:prstGeom prst="ellipse">
                <a:avLst/>
              </a:prstGeom>
              <a:solidFill>
                <a:schemeClr val="bg1">
                  <a:lumMod val="75000"/>
                </a:schemeClr>
              </a:solidFill>
              <a:ln>
                <a:solidFill>
                  <a:schemeClr val="bg1">
                    <a:lumMod val="50000"/>
                  </a:schemeClr>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SE" noProof="0" dirty="0">
                    <a:solidFill>
                      <a:schemeClr val="tx1">
                        <a:lumMod val="50000"/>
                        <a:lumOff val="50000"/>
                      </a:schemeClr>
                    </a:solidFill>
                  </a:rPr>
                  <a:t>z</a:t>
                </a:r>
                <a:endParaRPr lang="en-US" noProof="0" dirty="0">
                  <a:solidFill>
                    <a:schemeClr val="tx1">
                      <a:lumMod val="50000"/>
                      <a:lumOff val="50000"/>
                    </a:schemeClr>
                  </a:solidFill>
                </a:endParaRPr>
              </a:p>
            </p:txBody>
          </p:sp>
          <p:cxnSp>
            <p:nvCxnSpPr>
              <p:cNvPr id="18" name="Straight Arrow Connector 17">
                <a:extLst>
                  <a:ext uri="{FF2B5EF4-FFF2-40B4-BE49-F238E27FC236}">
                    <a16:creationId xmlns:a16="http://schemas.microsoft.com/office/drawing/2014/main" id="{3290AE9B-D695-8E1F-C445-E55F1526D458}"/>
                  </a:ext>
                </a:extLst>
              </p:cNvPr>
              <p:cNvCxnSpPr>
                <a:cxnSpLocks/>
                <a:stCxn id="17" idx="7"/>
                <a:endCxn id="15" idx="3"/>
              </p:cNvCxnSpPr>
              <p:nvPr/>
            </p:nvCxnSpPr>
            <p:spPr>
              <a:xfrm flipV="1">
                <a:off x="5942609" y="3622956"/>
                <a:ext cx="602539" cy="40169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19" name="Straight Arrow Connector 18">
                <a:extLst>
                  <a:ext uri="{FF2B5EF4-FFF2-40B4-BE49-F238E27FC236}">
                    <a16:creationId xmlns:a16="http://schemas.microsoft.com/office/drawing/2014/main" id="{7F93EBE0-E14D-CED6-DB1E-BC27F7DC9C86}"/>
                  </a:ext>
                </a:extLst>
              </p:cNvPr>
              <p:cNvCxnSpPr>
                <a:cxnSpLocks/>
                <a:stCxn id="14" idx="5"/>
                <a:endCxn id="17" idx="1"/>
              </p:cNvCxnSpPr>
              <p:nvPr/>
            </p:nvCxnSpPr>
            <p:spPr>
              <a:xfrm>
                <a:off x="5082355" y="3622956"/>
                <a:ext cx="605696" cy="40169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grpSp>
        <p:sp>
          <p:nvSpPr>
            <p:cNvPr id="12" name="TextBox 11">
              <a:extLst>
                <a:ext uri="{FF2B5EF4-FFF2-40B4-BE49-F238E27FC236}">
                  <a16:creationId xmlns:a16="http://schemas.microsoft.com/office/drawing/2014/main" id="{318AA6C7-A27A-ECB2-8DFB-EDE0A6268DA1}"/>
                </a:ext>
              </a:extLst>
            </p:cNvPr>
            <p:cNvSpPr txBox="1"/>
            <p:nvPr/>
          </p:nvSpPr>
          <p:spPr>
            <a:xfrm>
              <a:off x="1676638" y="2966913"/>
              <a:ext cx="1353256" cy="400110"/>
            </a:xfrm>
            <a:prstGeom prst="rect">
              <a:avLst/>
            </a:prstGeom>
            <a:noFill/>
          </p:spPr>
          <p:txBody>
            <a:bodyPr wrap="none" rtlCol="0">
              <a:spAutoFit/>
            </a:bodyPr>
            <a:lstStyle/>
            <a:p>
              <a:pPr algn="ctr"/>
              <a:r>
                <a:rPr lang="en-SE" sz="2000" b="1" dirty="0"/>
                <a:t>Mediation</a:t>
              </a:r>
            </a:p>
          </p:txBody>
        </p:sp>
        <p:sp>
          <p:nvSpPr>
            <p:cNvPr id="13" name="TextBox 12">
              <a:extLst>
                <a:ext uri="{FF2B5EF4-FFF2-40B4-BE49-F238E27FC236}">
                  <a16:creationId xmlns:a16="http://schemas.microsoft.com/office/drawing/2014/main" id="{C4D23881-5978-044D-3344-833DA955F9EC}"/>
                </a:ext>
              </a:extLst>
            </p:cNvPr>
            <p:cNvSpPr txBox="1"/>
            <p:nvPr/>
          </p:nvSpPr>
          <p:spPr>
            <a:xfrm>
              <a:off x="727287" y="4648830"/>
              <a:ext cx="3191864" cy="923330"/>
            </a:xfrm>
            <a:prstGeom prst="rect">
              <a:avLst/>
            </a:prstGeom>
            <a:noFill/>
          </p:spPr>
          <p:txBody>
            <a:bodyPr wrap="square" rtlCol="0">
              <a:spAutoFit/>
            </a:bodyPr>
            <a:lstStyle/>
            <a:p>
              <a:pPr algn="ctr"/>
              <a:r>
                <a:rPr lang="en-SE" dirty="0"/>
                <a:t>You </a:t>
              </a:r>
              <a:r>
                <a:rPr lang="en-SE" b="1" dirty="0">
                  <a:solidFill>
                    <a:srgbClr val="FFC000"/>
                  </a:solidFill>
                </a:rPr>
                <a:t>can</a:t>
              </a:r>
              <a:r>
                <a:rPr lang="en-SE" dirty="0"/>
                <a:t> control z if you want to distinguish the direct from the indirect effect</a:t>
              </a:r>
            </a:p>
          </p:txBody>
        </p:sp>
      </p:grpSp>
      <p:grpSp>
        <p:nvGrpSpPr>
          <p:cNvPr id="20" name="Group 19">
            <a:extLst>
              <a:ext uri="{FF2B5EF4-FFF2-40B4-BE49-F238E27FC236}">
                <a16:creationId xmlns:a16="http://schemas.microsoft.com/office/drawing/2014/main" id="{2713E191-9224-2D99-BC7E-F31C4AA42A46}"/>
              </a:ext>
            </a:extLst>
          </p:cNvPr>
          <p:cNvGrpSpPr/>
          <p:nvPr/>
        </p:nvGrpSpPr>
        <p:grpSpPr>
          <a:xfrm>
            <a:off x="4866056" y="2779059"/>
            <a:ext cx="2459884" cy="2369610"/>
            <a:chOff x="1123324" y="2966913"/>
            <a:chExt cx="2459884" cy="2369610"/>
          </a:xfrm>
        </p:grpSpPr>
        <p:grpSp>
          <p:nvGrpSpPr>
            <p:cNvPr id="21" name="Group 20">
              <a:extLst>
                <a:ext uri="{FF2B5EF4-FFF2-40B4-BE49-F238E27FC236}">
                  <a16:creationId xmlns:a16="http://schemas.microsoft.com/office/drawing/2014/main" id="{7E24E2FF-B93E-4CED-B543-165E49927080}"/>
                </a:ext>
              </a:extLst>
            </p:cNvPr>
            <p:cNvGrpSpPr/>
            <p:nvPr/>
          </p:nvGrpSpPr>
          <p:grpSpPr>
            <a:xfrm>
              <a:off x="1314591" y="3515395"/>
              <a:ext cx="2077351" cy="1016248"/>
              <a:chOff x="4775076" y="3315677"/>
              <a:chExt cx="2077351" cy="1016248"/>
            </a:xfrm>
          </p:grpSpPr>
          <p:sp>
            <p:nvSpPr>
              <p:cNvPr id="24" name="Oval 23">
                <a:extLst>
                  <a:ext uri="{FF2B5EF4-FFF2-40B4-BE49-F238E27FC236}">
                    <a16:creationId xmlns:a16="http://schemas.microsoft.com/office/drawing/2014/main" id="{33ED6B84-F60B-86CA-BEEC-5662DD0FC4C7}"/>
                  </a:ext>
                </a:extLst>
              </p:cNvPr>
              <p:cNvSpPr/>
              <p:nvPr/>
            </p:nvSpPr>
            <p:spPr>
              <a:xfrm>
                <a:off x="4775076" y="3315677"/>
                <a:ext cx="360000" cy="360000"/>
              </a:xfrm>
              <a:prstGeom prst="ellipse">
                <a:avLst/>
              </a:prstGeom>
              <a:solidFill>
                <a:srgbClr val="F8766D"/>
              </a:solidFill>
              <a:ln>
                <a:solidFill>
                  <a:srgbClr val="D0180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SE" noProof="0" dirty="0">
                    <a:solidFill>
                      <a:srgbClr val="D0180A"/>
                    </a:solidFill>
                  </a:rPr>
                  <a:t>x</a:t>
                </a:r>
                <a:endParaRPr lang="en-US" noProof="0" dirty="0">
                  <a:solidFill>
                    <a:srgbClr val="D0180A"/>
                  </a:solidFill>
                </a:endParaRPr>
              </a:p>
            </p:txBody>
          </p:sp>
          <p:sp>
            <p:nvSpPr>
              <p:cNvPr id="25" name="Oval 24">
                <a:extLst>
                  <a:ext uri="{FF2B5EF4-FFF2-40B4-BE49-F238E27FC236}">
                    <a16:creationId xmlns:a16="http://schemas.microsoft.com/office/drawing/2014/main" id="{E4BF4B26-3E6F-C100-ADCC-5BB209053AA7}"/>
                  </a:ext>
                </a:extLst>
              </p:cNvPr>
              <p:cNvSpPr/>
              <p:nvPr/>
            </p:nvSpPr>
            <p:spPr>
              <a:xfrm>
                <a:off x="6492427" y="3315677"/>
                <a:ext cx="360000" cy="360000"/>
              </a:xfrm>
              <a:prstGeom prst="ellipse">
                <a:avLst/>
              </a:prstGeom>
              <a:solidFill>
                <a:srgbClr val="00BFC4"/>
              </a:solidFill>
              <a:ln>
                <a:solidFill>
                  <a:srgbClr val="006D7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SE" noProof="0" dirty="0">
                    <a:solidFill>
                      <a:srgbClr val="006D70"/>
                    </a:solidFill>
                  </a:rPr>
                  <a:t>y</a:t>
                </a:r>
                <a:endParaRPr lang="en-US" noProof="0" dirty="0">
                  <a:solidFill>
                    <a:srgbClr val="006D70"/>
                  </a:solidFill>
                </a:endParaRPr>
              </a:p>
            </p:txBody>
          </p:sp>
          <p:cxnSp>
            <p:nvCxnSpPr>
              <p:cNvPr id="26" name="Straight Arrow Connector 25">
                <a:extLst>
                  <a:ext uri="{FF2B5EF4-FFF2-40B4-BE49-F238E27FC236}">
                    <a16:creationId xmlns:a16="http://schemas.microsoft.com/office/drawing/2014/main" id="{84EAB315-C8A2-7646-4ADE-416C0BAEAE6B}"/>
                  </a:ext>
                </a:extLst>
              </p:cNvPr>
              <p:cNvCxnSpPr>
                <a:stCxn id="24" idx="6"/>
                <a:endCxn id="25" idx="2"/>
              </p:cNvCxnSpPr>
              <p:nvPr/>
            </p:nvCxnSpPr>
            <p:spPr>
              <a:xfrm>
                <a:off x="5135076" y="3495677"/>
                <a:ext cx="1357351"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27" name="Oval 26">
                <a:extLst>
                  <a:ext uri="{FF2B5EF4-FFF2-40B4-BE49-F238E27FC236}">
                    <a16:creationId xmlns:a16="http://schemas.microsoft.com/office/drawing/2014/main" id="{EA12F74D-68A2-138B-5599-D5E9400A0333}"/>
                  </a:ext>
                </a:extLst>
              </p:cNvPr>
              <p:cNvSpPr/>
              <p:nvPr/>
            </p:nvSpPr>
            <p:spPr>
              <a:xfrm>
                <a:off x="5635330" y="3971925"/>
                <a:ext cx="360000" cy="360000"/>
              </a:xfrm>
              <a:prstGeom prst="ellipse">
                <a:avLst/>
              </a:prstGeom>
              <a:solidFill>
                <a:schemeClr val="bg1">
                  <a:lumMod val="75000"/>
                </a:schemeClr>
              </a:solidFill>
              <a:ln>
                <a:solidFill>
                  <a:schemeClr val="bg1">
                    <a:lumMod val="50000"/>
                  </a:schemeClr>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SE" noProof="0" dirty="0">
                    <a:solidFill>
                      <a:schemeClr val="tx1">
                        <a:lumMod val="50000"/>
                        <a:lumOff val="50000"/>
                      </a:schemeClr>
                    </a:solidFill>
                  </a:rPr>
                  <a:t>z</a:t>
                </a:r>
                <a:endParaRPr lang="en-US" noProof="0" dirty="0">
                  <a:solidFill>
                    <a:schemeClr val="tx1">
                      <a:lumMod val="50000"/>
                      <a:lumOff val="50000"/>
                    </a:schemeClr>
                  </a:solidFill>
                </a:endParaRPr>
              </a:p>
            </p:txBody>
          </p:sp>
          <p:cxnSp>
            <p:nvCxnSpPr>
              <p:cNvPr id="28" name="Straight Arrow Connector 27">
                <a:extLst>
                  <a:ext uri="{FF2B5EF4-FFF2-40B4-BE49-F238E27FC236}">
                    <a16:creationId xmlns:a16="http://schemas.microsoft.com/office/drawing/2014/main" id="{CF4C2293-C912-5509-A387-3E73D2377E06}"/>
                  </a:ext>
                </a:extLst>
              </p:cNvPr>
              <p:cNvCxnSpPr>
                <a:cxnSpLocks/>
                <a:stCxn id="27" idx="7"/>
                <a:endCxn id="25" idx="3"/>
              </p:cNvCxnSpPr>
              <p:nvPr/>
            </p:nvCxnSpPr>
            <p:spPr>
              <a:xfrm flipV="1">
                <a:off x="5942609" y="3622956"/>
                <a:ext cx="602539" cy="40169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29" name="Straight Arrow Connector 28">
                <a:extLst>
                  <a:ext uri="{FF2B5EF4-FFF2-40B4-BE49-F238E27FC236}">
                    <a16:creationId xmlns:a16="http://schemas.microsoft.com/office/drawing/2014/main" id="{3D58E405-B9D2-E41B-F4AE-A713A386F1D4}"/>
                  </a:ext>
                </a:extLst>
              </p:cNvPr>
              <p:cNvCxnSpPr>
                <a:cxnSpLocks/>
                <a:stCxn id="27" idx="1"/>
                <a:endCxn id="24" idx="5"/>
              </p:cNvCxnSpPr>
              <p:nvPr/>
            </p:nvCxnSpPr>
            <p:spPr>
              <a:xfrm flipH="1" flipV="1">
                <a:off x="5082355" y="3622956"/>
                <a:ext cx="605696" cy="40169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grpSp>
        <p:sp>
          <p:nvSpPr>
            <p:cNvPr id="22" name="TextBox 21">
              <a:extLst>
                <a:ext uri="{FF2B5EF4-FFF2-40B4-BE49-F238E27FC236}">
                  <a16:creationId xmlns:a16="http://schemas.microsoft.com/office/drawing/2014/main" id="{D617B311-8122-A509-A786-BCE36D7B3EE0}"/>
                </a:ext>
              </a:extLst>
            </p:cNvPr>
            <p:cNvSpPr txBox="1"/>
            <p:nvPr/>
          </p:nvSpPr>
          <p:spPr>
            <a:xfrm>
              <a:off x="1506914" y="2966913"/>
              <a:ext cx="1692707" cy="400110"/>
            </a:xfrm>
            <a:prstGeom prst="rect">
              <a:avLst/>
            </a:prstGeom>
            <a:noFill/>
          </p:spPr>
          <p:txBody>
            <a:bodyPr wrap="none" rtlCol="0">
              <a:spAutoFit/>
            </a:bodyPr>
            <a:lstStyle/>
            <a:p>
              <a:pPr algn="ctr"/>
              <a:r>
                <a:rPr lang="en-SE" sz="2000" b="1" dirty="0"/>
                <a:t>Confounding</a:t>
              </a:r>
            </a:p>
          </p:txBody>
        </p:sp>
        <p:sp>
          <p:nvSpPr>
            <p:cNvPr id="23" name="TextBox 22">
              <a:extLst>
                <a:ext uri="{FF2B5EF4-FFF2-40B4-BE49-F238E27FC236}">
                  <a16:creationId xmlns:a16="http://schemas.microsoft.com/office/drawing/2014/main" id="{583C5DCB-C678-0056-7F68-7AA3312BAC46}"/>
                </a:ext>
              </a:extLst>
            </p:cNvPr>
            <p:cNvSpPr txBox="1"/>
            <p:nvPr/>
          </p:nvSpPr>
          <p:spPr>
            <a:xfrm>
              <a:off x="1123324" y="4690192"/>
              <a:ext cx="2459884" cy="646331"/>
            </a:xfrm>
            <a:prstGeom prst="rect">
              <a:avLst/>
            </a:prstGeom>
            <a:noFill/>
          </p:spPr>
          <p:txBody>
            <a:bodyPr wrap="square" rtlCol="0">
              <a:spAutoFit/>
            </a:bodyPr>
            <a:lstStyle/>
            <a:p>
              <a:pPr algn="ctr"/>
              <a:r>
                <a:rPr lang="en-SE" dirty="0"/>
                <a:t>You </a:t>
              </a:r>
              <a:r>
                <a:rPr lang="en-SE" b="1" dirty="0">
                  <a:solidFill>
                    <a:srgbClr val="C00000"/>
                  </a:solidFill>
                </a:rPr>
                <a:t>must</a:t>
              </a:r>
              <a:r>
                <a:rPr lang="en-SE" dirty="0"/>
                <a:t> control z to avoid confounding</a:t>
              </a:r>
            </a:p>
          </p:txBody>
        </p:sp>
      </p:grpSp>
      <p:grpSp>
        <p:nvGrpSpPr>
          <p:cNvPr id="30" name="Group 29">
            <a:extLst>
              <a:ext uri="{FF2B5EF4-FFF2-40B4-BE49-F238E27FC236}">
                <a16:creationId xmlns:a16="http://schemas.microsoft.com/office/drawing/2014/main" id="{2CFE650C-E3AE-5423-5269-F6F50FF02B83}"/>
              </a:ext>
            </a:extLst>
          </p:cNvPr>
          <p:cNvGrpSpPr/>
          <p:nvPr/>
        </p:nvGrpSpPr>
        <p:grpSpPr>
          <a:xfrm>
            <a:off x="8078306" y="2779059"/>
            <a:ext cx="2459884" cy="2364142"/>
            <a:chOff x="1123324" y="2966913"/>
            <a:chExt cx="2459884" cy="2364142"/>
          </a:xfrm>
        </p:grpSpPr>
        <p:grpSp>
          <p:nvGrpSpPr>
            <p:cNvPr id="31" name="Group 30">
              <a:extLst>
                <a:ext uri="{FF2B5EF4-FFF2-40B4-BE49-F238E27FC236}">
                  <a16:creationId xmlns:a16="http://schemas.microsoft.com/office/drawing/2014/main" id="{D32DA2B9-14EF-DA79-C376-CC40422ED0C0}"/>
                </a:ext>
              </a:extLst>
            </p:cNvPr>
            <p:cNvGrpSpPr/>
            <p:nvPr/>
          </p:nvGrpSpPr>
          <p:grpSpPr>
            <a:xfrm>
              <a:off x="1314591" y="3515395"/>
              <a:ext cx="2077351" cy="1016248"/>
              <a:chOff x="4775076" y="3315677"/>
              <a:chExt cx="2077351" cy="1016248"/>
            </a:xfrm>
          </p:grpSpPr>
          <p:sp>
            <p:nvSpPr>
              <p:cNvPr id="34" name="Oval 33">
                <a:extLst>
                  <a:ext uri="{FF2B5EF4-FFF2-40B4-BE49-F238E27FC236}">
                    <a16:creationId xmlns:a16="http://schemas.microsoft.com/office/drawing/2014/main" id="{AD11D4DD-4AB4-E1CF-65E2-C87C0CA2556B}"/>
                  </a:ext>
                </a:extLst>
              </p:cNvPr>
              <p:cNvSpPr/>
              <p:nvPr/>
            </p:nvSpPr>
            <p:spPr>
              <a:xfrm>
                <a:off x="4775076" y="3315677"/>
                <a:ext cx="360000" cy="360000"/>
              </a:xfrm>
              <a:prstGeom prst="ellipse">
                <a:avLst/>
              </a:prstGeom>
              <a:solidFill>
                <a:srgbClr val="F8766D"/>
              </a:solidFill>
              <a:ln>
                <a:solidFill>
                  <a:srgbClr val="D0180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SE" noProof="0" dirty="0">
                    <a:solidFill>
                      <a:srgbClr val="D0180A"/>
                    </a:solidFill>
                  </a:rPr>
                  <a:t>x</a:t>
                </a:r>
                <a:endParaRPr lang="en-US" noProof="0" dirty="0">
                  <a:solidFill>
                    <a:srgbClr val="D0180A"/>
                  </a:solidFill>
                </a:endParaRPr>
              </a:p>
            </p:txBody>
          </p:sp>
          <p:sp>
            <p:nvSpPr>
              <p:cNvPr id="35" name="Oval 34">
                <a:extLst>
                  <a:ext uri="{FF2B5EF4-FFF2-40B4-BE49-F238E27FC236}">
                    <a16:creationId xmlns:a16="http://schemas.microsoft.com/office/drawing/2014/main" id="{919DE96A-60A6-67E4-A54B-11204719B3B9}"/>
                  </a:ext>
                </a:extLst>
              </p:cNvPr>
              <p:cNvSpPr/>
              <p:nvPr/>
            </p:nvSpPr>
            <p:spPr>
              <a:xfrm>
                <a:off x="6492427" y="3315677"/>
                <a:ext cx="360000" cy="360000"/>
              </a:xfrm>
              <a:prstGeom prst="ellipse">
                <a:avLst/>
              </a:prstGeom>
              <a:solidFill>
                <a:srgbClr val="00BFC4"/>
              </a:solidFill>
              <a:ln>
                <a:solidFill>
                  <a:srgbClr val="006D7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SE" noProof="0" dirty="0">
                    <a:solidFill>
                      <a:srgbClr val="006D70"/>
                    </a:solidFill>
                  </a:rPr>
                  <a:t>y</a:t>
                </a:r>
                <a:endParaRPr lang="en-US" noProof="0" dirty="0">
                  <a:solidFill>
                    <a:srgbClr val="006D70"/>
                  </a:solidFill>
                </a:endParaRPr>
              </a:p>
            </p:txBody>
          </p:sp>
          <p:cxnSp>
            <p:nvCxnSpPr>
              <p:cNvPr id="36" name="Straight Arrow Connector 35">
                <a:extLst>
                  <a:ext uri="{FF2B5EF4-FFF2-40B4-BE49-F238E27FC236}">
                    <a16:creationId xmlns:a16="http://schemas.microsoft.com/office/drawing/2014/main" id="{060EB5E0-E113-9DF2-E468-AD966C9D1E67}"/>
                  </a:ext>
                </a:extLst>
              </p:cNvPr>
              <p:cNvCxnSpPr>
                <a:stCxn id="34" idx="6"/>
                <a:endCxn id="35" idx="2"/>
              </p:cNvCxnSpPr>
              <p:nvPr/>
            </p:nvCxnSpPr>
            <p:spPr>
              <a:xfrm>
                <a:off x="5135076" y="3495677"/>
                <a:ext cx="1357351"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37" name="Oval 36">
                <a:extLst>
                  <a:ext uri="{FF2B5EF4-FFF2-40B4-BE49-F238E27FC236}">
                    <a16:creationId xmlns:a16="http://schemas.microsoft.com/office/drawing/2014/main" id="{DF9A06EA-AE79-F441-70E9-D2BBAFF6563E}"/>
                  </a:ext>
                </a:extLst>
              </p:cNvPr>
              <p:cNvSpPr/>
              <p:nvPr/>
            </p:nvSpPr>
            <p:spPr>
              <a:xfrm>
                <a:off x="5635330" y="3971925"/>
                <a:ext cx="360000" cy="360000"/>
              </a:xfrm>
              <a:prstGeom prst="ellipse">
                <a:avLst/>
              </a:prstGeom>
              <a:solidFill>
                <a:schemeClr val="bg1">
                  <a:lumMod val="75000"/>
                </a:schemeClr>
              </a:solidFill>
              <a:ln>
                <a:solidFill>
                  <a:schemeClr val="bg1">
                    <a:lumMod val="50000"/>
                  </a:schemeClr>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SE" noProof="0" dirty="0">
                    <a:solidFill>
                      <a:schemeClr val="tx1">
                        <a:lumMod val="50000"/>
                        <a:lumOff val="50000"/>
                      </a:schemeClr>
                    </a:solidFill>
                  </a:rPr>
                  <a:t>z</a:t>
                </a:r>
                <a:endParaRPr lang="en-US" noProof="0" dirty="0">
                  <a:solidFill>
                    <a:schemeClr val="tx1">
                      <a:lumMod val="50000"/>
                      <a:lumOff val="50000"/>
                    </a:schemeClr>
                  </a:solidFill>
                </a:endParaRPr>
              </a:p>
            </p:txBody>
          </p:sp>
          <p:cxnSp>
            <p:nvCxnSpPr>
              <p:cNvPr id="38" name="Straight Arrow Connector 37">
                <a:extLst>
                  <a:ext uri="{FF2B5EF4-FFF2-40B4-BE49-F238E27FC236}">
                    <a16:creationId xmlns:a16="http://schemas.microsoft.com/office/drawing/2014/main" id="{29FAD130-575C-9EA8-F949-4315D877F440}"/>
                  </a:ext>
                </a:extLst>
              </p:cNvPr>
              <p:cNvCxnSpPr>
                <a:cxnSpLocks/>
                <a:stCxn id="35" idx="3"/>
                <a:endCxn id="37" idx="7"/>
              </p:cNvCxnSpPr>
              <p:nvPr/>
            </p:nvCxnSpPr>
            <p:spPr>
              <a:xfrm flipH="1">
                <a:off x="5942609" y="3622956"/>
                <a:ext cx="602539" cy="40169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39" name="Straight Arrow Connector 38">
                <a:extLst>
                  <a:ext uri="{FF2B5EF4-FFF2-40B4-BE49-F238E27FC236}">
                    <a16:creationId xmlns:a16="http://schemas.microsoft.com/office/drawing/2014/main" id="{C78A5542-4D32-18EC-BC81-372006177D5F}"/>
                  </a:ext>
                </a:extLst>
              </p:cNvPr>
              <p:cNvCxnSpPr>
                <a:cxnSpLocks/>
                <a:stCxn id="34" idx="5"/>
                <a:endCxn id="37" idx="1"/>
              </p:cNvCxnSpPr>
              <p:nvPr/>
            </p:nvCxnSpPr>
            <p:spPr>
              <a:xfrm>
                <a:off x="5082355" y="3622956"/>
                <a:ext cx="605696" cy="40169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grpSp>
        <p:sp>
          <p:nvSpPr>
            <p:cNvPr id="32" name="TextBox 31">
              <a:extLst>
                <a:ext uri="{FF2B5EF4-FFF2-40B4-BE49-F238E27FC236}">
                  <a16:creationId xmlns:a16="http://schemas.microsoft.com/office/drawing/2014/main" id="{C620ECC8-F003-68E2-CF40-7AD97E74ED38}"/>
                </a:ext>
              </a:extLst>
            </p:cNvPr>
            <p:cNvSpPr txBox="1"/>
            <p:nvPr/>
          </p:nvSpPr>
          <p:spPr>
            <a:xfrm>
              <a:off x="1792858" y="2966913"/>
              <a:ext cx="1120820" cy="400110"/>
            </a:xfrm>
            <a:prstGeom prst="rect">
              <a:avLst/>
            </a:prstGeom>
            <a:noFill/>
          </p:spPr>
          <p:txBody>
            <a:bodyPr wrap="none" rtlCol="0">
              <a:spAutoFit/>
            </a:bodyPr>
            <a:lstStyle/>
            <a:p>
              <a:pPr algn="ctr"/>
              <a:r>
                <a:rPr lang="en-SE" sz="2000" b="1" dirty="0"/>
                <a:t>Collider</a:t>
              </a:r>
            </a:p>
          </p:txBody>
        </p:sp>
        <p:sp>
          <p:nvSpPr>
            <p:cNvPr id="33" name="TextBox 32">
              <a:extLst>
                <a:ext uri="{FF2B5EF4-FFF2-40B4-BE49-F238E27FC236}">
                  <a16:creationId xmlns:a16="http://schemas.microsoft.com/office/drawing/2014/main" id="{56C103A4-FB2F-A14A-870A-7FA3DCF18DA8}"/>
                </a:ext>
              </a:extLst>
            </p:cNvPr>
            <p:cNvSpPr txBox="1"/>
            <p:nvPr/>
          </p:nvSpPr>
          <p:spPr>
            <a:xfrm>
              <a:off x="1123324" y="4684724"/>
              <a:ext cx="2459884" cy="646331"/>
            </a:xfrm>
            <a:prstGeom prst="rect">
              <a:avLst/>
            </a:prstGeom>
            <a:noFill/>
          </p:spPr>
          <p:txBody>
            <a:bodyPr wrap="square" rtlCol="0">
              <a:spAutoFit/>
            </a:bodyPr>
            <a:lstStyle/>
            <a:p>
              <a:pPr algn="ctr"/>
              <a:r>
                <a:rPr lang="en-SE" dirty="0"/>
                <a:t>You </a:t>
              </a:r>
              <a:r>
                <a:rPr lang="en-SE" b="1" dirty="0">
                  <a:solidFill>
                    <a:srgbClr val="92D050"/>
                  </a:solidFill>
                </a:rPr>
                <a:t>must not </a:t>
              </a:r>
              <a:r>
                <a:rPr lang="en-SE" dirty="0"/>
                <a:t>control z to avoid confounding</a:t>
              </a:r>
            </a:p>
          </p:txBody>
        </p:sp>
      </p:grpSp>
      <p:grpSp>
        <p:nvGrpSpPr>
          <p:cNvPr id="40" name="Group 39">
            <a:extLst>
              <a:ext uri="{FF2B5EF4-FFF2-40B4-BE49-F238E27FC236}">
                <a16:creationId xmlns:a16="http://schemas.microsoft.com/office/drawing/2014/main" id="{3520F82F-B69D-DA62-8421-7B15C04A4339}"/>
              </a:ext>
            </a:extLst>
          </p:cNvPr>
          <p:cNvGrpSpPr/>
          <p:nvPr/>
        </p:nvGrpSpPr>
        <p:grpSpPr>
          <a:xfrm>
            <a:off x="838198" y="365125"/>
            <a:ext cx="1983884" cy="245531"/>
            <a:chOff x="4114799" y="3759391"/>
            <a:chExt cx="1983884" cy="1229241"/>
          </a:xfrm>
        </p:grpSpPr>
        <p:sp>
          <p:nvSpPr>
            <p:cNvPr id="41" name="Arrow: Pentagon 40">
              <a:extLst>
                <a:ext uri="{FF2B5EF4-FFF2-40B4-BE49-F238E27FC236}">
                  <a16:creationId xmlns:a16="http://schemas.microsoft.com/office/drawing/2014/main" id="{D42EEA87-1A21-A673-AB5B-DCBCD4F5D1EC}"/>
                </a:ext>
              </a:extLst>
            </p:cNvPr>
            <p:cNvSpPr/>
            <p:nvPr/>
          </p:nvSpPr>
          <p:spPr>
            <a:xfrm>
              <a:off x="4114799" y="3759391"/>
              <a:ext cx="794039" cy="1229241"/>
            </a:xfrm>
            <a:prstGeom prst="homePlate">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SE" sz="1400" dirty="0"/>
                <a:t>Theory</a:t>
              </a:r>
            </a:p>
          </p:txBody>
        </p:sp>
        <p:sp>
          <p:nvSpPr>
            <p:cNvPr id="42" name="Arrow: Chevron 41">
              <a:extLst>
                <a:ext uri="{FF2B5EF4-FFF2-40B4-BE49-F238E27FC236}">
                  <a16:creationId xmlns:a16="http://schemas.microsoft.com/office/drawing/2014/main" id="{315C45EC-0311-83F9-D2FF-3EE7AB52C76A}"/>
                </a:ext>
              </a:extLst>
            </p:cNvPr>
            <p:cNvSpPr/>
            <p:nvPr/>
          </p:nvSpPr>
          <p:spPr>
            <a:xfrm>
              <a:off x="4843616" y="3759391"/>
              <a:ext cx="1255067" cy="1229241"/>
            </a:xfrm>
            <a:prstGeom prst="chevron">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SE" sz="1400" dirty="0">
                  <a:solidFill>
                    <a:schemeClr val="tx1"/>
                  </a:solidFill>
                </a:rPr>
                <a:t>Use Case</a:t>
              </a:r>
            </a:p>
          </p:txBody>
        </p:sp>
      </p:grpSp>
    </p:spTree>
    <p:extLst>
      <p:ext uri="{BB962C8B-B14F-4D97-AF65-F5344CB8AC3E}">
        <p14:creationId xmlns:p14="http://schemas.microsoft.com/office/powerpoint/2010/main" val="193881295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med" p14:dur="700">
        <p159:morph option="byObject"/>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47B305-8F2B-6BDC-C329-04F8B29D7D6F}"/>
              </a:ext>
            </a:extLst>
          </p:cNvPr>
          <p:cNvSpPr>
            <a:spLocks noGrp="1"/>
          </p:cNvSpPr>
          <p:nvPr>
            <p:ph type="title"/>
          </p:nvPr>
        </p:nvSpPr>
        <p:spPr/>
        <p:txBody>
          <a:bodyPr/>
          <a:lstStyle/>
          <a:p>
            <a:r>
              <a:rPr lang="en-SE" dirty="0"/>
              <a:t>Encoding Observability</a:t>
            </a:r>
          </a:p>
        </p:txBody>
      </p:sp>
      <p:sp>
        <p:nvSpPr>
          <p:cNvPr id="3" name="Content Placeholder 2">
            <a:extLst>
              <a:ext uri="{FF2B5EF4-FFF2-40B4-BE49-F238E27FC236}">
                <a16:creationId xmlns:a16="http://schemas.microsoft.com/office/drawing/2014/main" id="{FC0EFE05-CB51-289C-00DD-64CC828A1E25}"/>
              </a:ext>
            </a:extLst>
          </p:cNvPr>
          <p:cNvSpPr>
            <a:spLocks noGrp="1"/>
          </p:cNvSpPr>
          <p:nvPr>
            <p:ph idx="1"/>
          </p:nvPr>
        </p:nvSpPr>
        <p:spPr>
          <a:xfrm>
            <a:off x="838200" y="1825625"/>
            <a:ext cx="10515600" cy="845857"/>
          </a:xfrm>
        </p:spPr>
        <p:txBody>
          <a:bodyPr/>
          <a:lstStyle/>
          <a:p>
            <a:pPr marL="0" indent="0">
              <a:buNone/>
            </a:pPr>
            <a:r>
              <a:rPr lang="en-SE" dirty="0"/>
              <a:t>Nodes in </a:t>
            </a:r>
            <a:r>
              <a:rPr lang="en-SE" dirty="0" err="1"/>
              <a:t>DAGs</a:t>
            </a:r>
            <a:r>
              <a:rPr lang="en-SE" dirty="0"/>
              <a:t> can indicate whether a variable is observable or not.</a:t>
            </a:r>
          </a:p>
        </p:txBody>
      </p:sp>
      <p:sp>
        <p:nvSpPr>
          <p:cNvPr id="4" name="Date Placeholder 3">
            <a:extLst>
              <a:ext uri="{FF2B5EF4-FFF2-40B4-BE49-F238E27FC236}">
                <a16:creationId xmlns:a16="http://schemas.microsoft.com/office/drawing/2014/main" id="{F59717FF-AD17-8353-6403-14914920DD9A}"/>
              </a:ext>
            </a:extLst>
          </p:cNvPr>
          <p:cNvSpPr>
            <a:spLocks noGrp="1"/>
          </p:cNvSpPr>
          <p:nvPr>
            <p:ph type="dt" sz="half" idx="10"/>
          </p:nvPr>
        </p:nvSpPr>
        <p:spPr/>
        <p:txBody>
          <a:bodyPr/>
          <a:lstStyle/>
          <a:p>
            <a:fld id="{A1C06950-82F8-45F4-A28D-9FBF8CAE29F7}" type="datetime1">
              <a:rPr lang="de-DE" smtClean="0"/>
              <a:t>17.03.2026</a:t>
            </a:fld>
            <a:endParaRPr lang="en-SE"/>
          </a:p>
        </p:txBody>
      </p:sp>
      <p:sp>
        <p:nvSpPr>
          <p:cNvPr id="5" name="Slide Number Placeholder 4">
            <a:extLst>
              <a:ext uri="{FF2B5EF4-FFF2-40B4-BE49-F238E27FC236}">
                <a16:creationId xmlns:a16="http://schemas.microsoft.com/office/drawing/2014/main" id="{E571E8FB-0E6B-7F4B-41A0-490A8570CF4F}"/>
              </a:ext>
            </a:extLst>
          </p:cNvPr>
          <p:cNvSpPr>
            <a:spLocks noGrp="1"/>
          </p:cNvSpPr>
          <p:nvPr>
            <p:ph type="sldNum" sz="quarter" idx="12"/>
          </p:nvPr>
        </p:nvSpPr>
        <p:spPr/>
        <p:txBody>
          <a:bodyPr/>
          <a:lstStyle/>
          <a:p>
            <a:fld id="{271ECC92-9CDE-4EB3-B1C5-F46B9E1FA3C1}" type="slidenum">
              <a:rPr lang="en-SE" smtClean="0"/>
              <a:t>13</a:t>
            </a:fld>
            <a:endParaRPr lang="en-SE"/>
          </a:p>
        </p:txBody>
      </p:sp>
      <p:grpSp>
        <p:nvGrpSpPr>
          <p:cNvPr id="6" name="Group 5">
            <a:extLst>
              <a:ext uri="{FF2B5EF4-FFF2-40B4-BE49-F238E27FC236}">
                <a16:creationId xmlns:a16="http://schemas.microsoft.com/office/drawing/2014/main" id="{58C923B3-928D-573D-E1A3-D1CE04C12ED9}"/>
              </a:ext>
            </a:extLst>
          </p:cNvPr>
          <p:cNvGrpSpPr/>
          <p:nvPr/>
        </p:nvGrpSpPr>
        <p:grpSpPr>
          <a:xfrm>
            <a:off x="1076545" y="4856774"/>
            <a:ext cx="1417151" cy="360000"/>
            <a:chOff x="1076545" y="4856774"/>
            <a:chExt cx="1417151" cy="360000"/>
          </a:xfrm>
        </p:grpSpPr>
        <p:sp>
          <p:nvSpPr>
            <p:cNvPr id="7" name="Oval 6">
              <a:extLst>
                <a:ext uri="{FF2B5EF4-FFF2-40B4-BE49-F238E27FC236}">
                  <a16:creationId xmlns:a16="http://schemas.microsoft.com/office/drawing/2014/main" id="{1A06C76A-8083-8316-8D6D-B386366606BE}"/>
                </a:ext>
              </a:extLst>
            </p:cNvPr>
            <p:cNvSpPr/>
            <p:nvPr/>
          </p:nvSpPr>
          <p:spPr>
            <a:xfrm>
              <a:off x="1076545" y="4856774"/>
              <a:ext cx="360000" cy="360000"/>
            </a:xfrm>
            <a:prstGeom prst="ellipse">
              <a:avLst/>
            </a:prstGeom>
            <a:solidFill>
              <a:srgbClr val="F8766D"/>
            </a:solidFill>
            <a:ln>
              <a:solidFill>
                <a:srgbClr val="D0180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TextBox 7">
              <a:extLst>
                <a:ext uri="{FF2B5EF4-FFF2-40B4-BE49-F238E27FC236}">
                  <a16:creationId xmlns:a16="http://schemas.microsoft.com/office/drawing/2014/main" id="{4418E188-054E-0E00-764E-BB46C0DA3001}"/>
                </a:ext>
              </a:extLst>
            </p:cNvPr>
            <p:cNvSpPr txBox="1"/>
            <p:nvPr/>
          </p:nvSpPr>
          <p:spPr>
            <a:xfrm>
              <a:off x="1495794" y="4867742"/>
              <a:ext cx="997902" cy="338554"/>
            </a:xfrm>
            <a:prstGeom prst="rect">
              <a:avLst/>
            </a:prstGeom>
            <a:noFill/>
          </p:spPr>
          <p:txBody>
            <a:bodyPr wrap="none" rtlCol="0">
              <a:spAutoFit/>
            </a:bodyPr>
            <a:lstStyle/>
            <a:p>
              <a:r>
                <a:rPr lang="en-SE" sz="1600" noProof="0" dirty="0"/>
                <a:t>exposure</a:t>
              </a:r>
              <a:endParaRPr lang="en-US" sz="1600" noProof="0" dirty="0"/>
            </a:p>
          </p:txBody>
        </p:sp>
      </p:grpSp>
      <p:grpSp>
        <p:nvGrpSpPr>
          <p:cNvPr id="9" name="Group 8">
            <a:extLst>
              <a:ext uri="{FF2B5EF4-FFF2-40B4-BE49-F238E27FC236}">
                <a16:creationId xmlns:a16="http://schemas.microsoft.com/office/drawing/2014/main" id="{81130509-1A79-B05A-747F-2AFEE1F87B44}"/>
              </a:ext>
            </a:extLst>
          </p:cNvPr>
          <p:cNvGrpSpPr/>
          <p:nvPr/>
        </p:nvGrpSpPr>
        <p:grpSpPr>
          <a:xfrm>
            <a:off x="1074854" y="5309376"/>
            <a:ext cx="1428215" cy="360000"/>
            <a:chOff x="1074854" y="5309376"/>
            <a:chExt cx="1428215" cy="360000"/>
          </a:xfrm>
        </p:grpSpPr>
        <p:sp>
          <p:nvSpPr>
            <p:cNvPr id="10" name="Oval 9">
              <a:extLst>
                <a:ext uri="{FF2B5EF4-FFF2-40B4-BE49-F238E27FC236}">
                  <a16:creationId xmlns:a16="http://schemas.microsoft.com/office/drawing/2014/main" id="{2874E6AE-9808-B733-DDBD-555EEABEA89F}"/>
                </a:ext>
              </a:extLst>
            </p:cNvPr>
            <p:cNvSpPr/>
            <p:nvPr/>
          </p:nvSpPr>
          <p:spPr>
            <a:xfrm>
              <a:off x="1074854" y="5309376"/>
              <a:ext cx="360000" cy="360000"/>
            </a:xfrm>
            <a:prstGeom prst="ellipse">
              <a:avLst/>
            </a:prstGeom>
            <a:solidFill>
              <a:srgbClr val="00BFC4"/>
            </a:solidFill>
            <a:ln>
              <a:solidFill>
                <a:srgbClr val="006D7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1" name="TextBox 10">
              <a:extLst>
                <a:ext uri="{FF2B5EF4-FFF2-40B4-BE49-F238E27FC236}">
                  <a16:creationId xmlns:a16="http://schemas.microsoft.com/office/drawing/2014/main" id="{56330A05-7D0B-AAA0-50C9-BFB88C0C52E1}"/>
                </a:ext>
              </a:extLst>
            </p:cNvPr>
            <p:cNvSpPr txBox="1"/>
            <p:nvPr/>
          </p:nvSpPr>
          <p:spPr>
            <a:xfrm>
              <a:off x="1495677" y="5320099"/>
              <a:ext cx="1007392" cy="338554"/>
            </a:xfrm>
            <a:prstGeom prst="rect">
              <a:avLst/>
            </a:prstGeom>
            <a:noFill/>
          </p:spPr>
          <p:txBody>
            <a:bodyPr wrap="none" rtlCol="0">
              <a:spAutoFit/>
            </a:bodyPr>
            <a:lstStyle/>
            <a:p>
              <a:r>
                <a:rPr lang="en-SE" sz="1600" noProof="0" dirty="0"/>
                <a:t>response</a:t>
              </a:r>
              <a:endParaRPr lang="en-US" sz="1600" noProof="0" dirty="0"/>
            </a:p>
          </p:txBody>
        </p:sp>
      </p:grpSp>
      <p:grpSp>
        <p:nvGrpSpPr>
          <p:cNvPr id="12" name="Group 11">
            <a:extLst>
              <a:ext uri="{FF2B5EF4-FFF2-40B4-BE49-F238E27FC236}">
                <a16:creationId xmlns:a16="http://schemas.microsoft.com/office/drawing/2014/main" id="{33CE28CE-0DA1-D3CB-837D-F59E5FF260EC}"/>
              </a:ext>
            </a:extLst>
          </p:cNvPr>
          <p:cNvGrpSpPr/>
          <p:nvPr/>
        </p:nvGrpSpPr>
        <p:grpSpPr>
          <a:xfrm>
            <a:off x="3396566" y="4757200"/>
            <a:ext cx="2457272" cy="584775"/>
            <a:chOff x="3396566" y="4757200"/>
            <a:chExt cx="2457272" cy="584775"/>
          </a:xfrm>
        </p:grpSpPr>
        <p:cxnSp>
          <p:nvCxnSpPr>
            <p:cNvPr id="13" name="Straight Arrow Connector 12">
              <a:extLst>
                <a:ext uri="{FF2B5EF4-FFF2-40B4-BE49-F238E27FC236}">
                  <a16:creationId xmlns:a16="http://schemas.microsoft.com/office/drawing/2014/main" id="{16444157-8459-0275-F8A4-736ABCB8CEA6}"/>
                </a:ext>
              </a:extLst>
            </p:cNvPr>
            <p:cNvCxnSpPr>
              <a:cxnSpLocks/>
            </p:cNvCxnSpPr>
            <p:nvPr/>
          </p:nvCxnSpPr>
          <p:spPr>
            <a:xfrm>
              <a:off x="3396566" y="5052796"/>
              <a:ext cx="277200"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14" name="TextBox 13">
              <a:extLst>
                <a:ext uri="{FF2B5EF4-FFF2-40B4-BE49-F238E27FC236}">
                  <a16:creationId xmlns:a16="http://schemas.microsoft.com/office/drawing/2014/main" id="{3387E2B8-F348-4C07-7E2B-A3657E898956}"/>
                </a:ext>
              </a:extLst>
            </p:cNvPr>
            <p:cNvSpPr txBox="1"/>
            <p:nvPr/>
          </p:nvSpPr>
          <p:spPr>
            <a:xfrm>
              <a:off x="4093548" y="4757200"/>
              <a:ext cx="1760290" cy="584775"/>
            </a:xfrm>
            <a:prstGeom prst="rect">
              <a:avLst/>
            </a:prstGeom>
            <a:noFill/>
          </p:spPr>
          <p:txBody>
            <a:bodyPr wrap="none" rtlCol="0">
              <a:spAutoFit/>
            </a:bodyPr>
            <a:lstStyle/>
            <a:p>
              <a:r>
                <a:rPr lang="en-SE" sz="1600" noProof="0" dirty="0"/>
                <a:t>(assumed) causal</a:t>
              </a:r>
              <a:br>
                <a:rPr lang="en-SE" sz="1600" noProof="0" dirty="0"/>
              </a:br>
              <a:r>
                <a:rPr lang="en-SE" sz="1600" noProof="0" dirty="0"/>
                <a:t>relationship</a:t>
              </a:r>
              <a:endParaRPr lang="en-US" sz="1600" noProof="0" dirty="0"/>
            </a:p>
          </p:txBody>
        </p:sp>
      </p:grpSp>
      <p:grpSp>
        <p:nvGrpSpPr>
          <p:cNvPr id="15" name="Group 14">
            <a:extLst>
              <a:ext uri="{FF2B5EF4-FFF2-40B4-BE49-F238E27FC236}">
                <a16:creationId xmlns:a16="http://schemas.microsoft.com/office/drawing/2014/main" id="{65199DC7-FD94-F205-9FF6-0D5B01222E90}"/>
              </a:ext>
            </a:extLst>
          </p:cNvPr>
          <p:cNvGrpSpPr/>
          <p:nvPr/>
        </p:nvGrpSpPr>
        <p:grpSpPr>
          <a:xfrm>
            <a:off x="1074854" y="5649590"/>
            <a:ext cx="2062133" cy="584775"/>
            <a:chOff x="1074854" y="5649590"/>
            <a:chExt cx="2062133" cy="584775"/>
          </a:xfrm>
        </p:grpSpPr>
        <p:sp>
          <p:nvSpPr>
            <p:cNvPr id="16" name="Oval 15">
              <a:extLst>
                <a:ext uri="{FF2B5EF4-FFF2-40B4-BE49-F238E27FC236}">
                  <a16:creationId xmlns:a16="http://schemas.microsoft.com/office/drawing/2014/main" id="{7EC1861F-E53A-482C-0772-AFCF1D176B6B}"/>
                </a:ext>
              </a:extLst>
            </p:cNvPr>
            <p:cNvSpPr/>
            <p:nvPr/>
          </p:nvSpPr>
          <p:spPr>
            <a:xfrm>
              <a:off x="1074854" y="5761978"/>
              <a:ext cx="360000" cy="360000"/>
            </a:xfrm>
            <a:prstGeom prst="ellipse">
              <a:avLst/>
            </a:prstGeom>
            <a:solidFill>
              <a:schemeClr val="bg1">
                <a:lumMod val="75000"/>
              </a:schemeClr>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7" name="TextBox 16">
              <a:extLst>
                <a:ext uri="{FF2B5EF4-FFF2-40B4-BE49-F238E27FC236}">
                  <a16:creationId xmlns:a16="http://schemas.microsoft.com/office/drawing/2014/main" id="{170DC472-0E8B-D59A-E941-E6AFB86A28AA}"/>
                </a:ext>
              </a:extLst>
            </p:cNvPr>
            <p:cNvSpPr txBox="1"/>
            <p:nvPr/>
          </p:nvSpPr>
          <p:spPr>
            <a:xfrm>
              <a:off x="1497307" y="5649590"/>
              <a:ext cx="1639680" cy="584775"/>
            </a:xfrm>
            <a:prstGeom prst="rect">
              <a:avLst/>
            </a:prstGeom>
            <a:noFill/>
          </p:spPr>
          <p:txBody>
            <a:bodyPr wrap="none" rtlCol="0">
              <a:spAutoFit/>
            </a:bodyPr>
            <a:lstStyle/>
            <a:p>
              <a:r>
                <a:rPr lang="en-SE" sz="1600" noProof="0" dirty="0"/>
                <a:t>other (observed)</a:t>
              </a:r>
            </a:p>
            <a:p>
              <a:r>
                <a:rPr lang="en-SE" sz="1600" dirty="0"/>
                <a:t>factors</a:t>
              </a:r>
              <a:endParaRPr lang="en-US" sz="1600" noProof="0" dirty="0"/>
            </a:p>
          </p:txBody>
        </p:sp>
      </p:grpSp>
      <p:grpSp>
        <p:nvGrpSpPr>
          <p:cNvPr id="18" name="Group 17">
            <a:extLst>
              <a:ext uri="{FF2B5EF4-FFF2-40B4-BE49-F238E27FC236}">
                <a16:creationId xmlns:a16="http://schemas.microsoft.com/office/drawing/2014/main" id="{D719ED18-6D24-960E-77A7-6A846E568AFD}"/>
              </a:ext>
            </a:extLst>
          </p:cNvPr>
          <p:cNvGrpSpPr/>
          <p:nvPr/>
        </p:nvGrpSpPr>
        <p:grpSpPr>
          <a:xfrm>
            <a:off x="3036566" y="5308246"/>
            <a:ext cx="2435291" cy="360000"/>
            <a:chOff x="3036566" y="4872796"/>
            <a:chExt cx="2435291" cy="360000"/>
          </a:xfrm>
        </p:grpSpPr>
        <p:sp>
          <p:nvSpPr>
            <p:cNvPr id="19" name="Oval 18">
              <a:extLst>
                <a:ext uri="{FF2B5EF4-FFF2-40B4-BE49-F238E27FC236}">
                  <a16:creationId xmlns:a16="http://schemas.microsoft.com/office/drawing/2014/main" id="{30F03F84-99F3-A1C4-73DE-EE660B61D4F8}"/>
                </a:ext>
              </a:extLst>
            </p:cNvPr>
            <p:cNvSpPr/>
            <p:nvPr/>
          </p:nvSpPr>
          <p:spPr>
            <a:xfrm>
              <a:off x="3036566" y="4872796"/>
              <a:ext cx="360000" cy="360000"/>
            </a:xfrm>
            <a:prstGeom prst="ellipse">
              <a:avLst/>
            </a:prstGeom>
            <a:solidFill>
              <a:srgbClr val="F8766D"/>
            </a:solidFill>
            <a:ln>
              <a:solidFill>
                <a:srgbClr val="D0180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0" name="Oval 19">
              <a:extLst>
                <a:ext uri="{FF2B5EF4-FFF2-40B4-BE49-F238E27FC236}">
                  <a16:creationId xmlns:a16="http://schemas.microsoft.com/office/drawing/2014/main" id="{F53FCDCF-338E-F7B2-E307-6B45C66518BD}"/>
                </a:ext>
              </a:extLst>
            </p:cNvPr>
            <p:cNvSpPr/>
            <p:nvPr/>
          </p:nvSpPr>
          <p:spPr>
            <a:xfrm>
              <a:off x="3673766" y="4872796"/>
              <a:ext cx="360000" cy="360000"/>
            </a:xfrm>
            <a:prstGeom prst="ellipse">
              <a:avLst/>
            </a:prstGeom>
            <a:solidFill>
              <a:srgbClr val="00BFC4"/>
            </a:solidFill>
            <a:ln>
              <a:solidFill>
                <a:srgbClr val="006D7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cxnSp>
          <p:nvCxnSpPr>
            <p:cNvPr id="21" name="Straight Arrow Connector 20">
              <a:extLst>
                <a:ext uri="{FF2B5EF4-FFF2-40B4-BE49-F238E27FC236}">
                  <a16:creationId xmlns:a16="http://schemas.microsoft.com/office/drawing/2014/main" id="{144D7436-CE3F-5EFB-98E4-75F971886384}"/>
                </a:ext>
              </a:extLst>
            </p:cNvPr>
            <p:cNvCxnSpPr>
              <a:stCxn id="19" idx="6"/>
              <a:endCxn id="20" idx="2"/>
            </p:cNvCxnSpPr>
            <p:nvPr/>
          </p:nvCxnSpPr>
          <p:spPr>
            <a:xfrm>
              <a:off x="3396566" y="5052796"/>
              <a:ext cx="277200"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22" name="TextBox 21">
              <a:extLst>
                <a:ext uri="{FF2B5EF4-FFF2-40B4-BE49-F238E27FC236}">
                  <a16:creationId xmlns:a16="http://schemas.microsoft.com/office/drawing/2014/main" id="{4FECA6FA-BA5C-A13F-B247-ECFE1F83659B}"/>
                </a:ext>
              </a:extLst>
            </p:cNvPr>
            <p:cNvSpPr txBox="1"/>
            <p:nvPr/>
          </p:nvSpPr>
          <p:spPr>
            <a:xfrm>
              <a:off x="4099365" y="4877874"/>
              <a:ext cx="1372492" cy="338554"/>
            </a:xfrm>
            <a:prstGeom prst="rect">
              <a:avLst/>
            </a:prstGeom>
            <a:noFill/>
          </p:spPr>
          <p:txBody>
            <a:bodyPr wrap="none" rtlCol="0">
              <a:spAutoFit/>
            </a:bodyPr>
            <a:lstStyle/>
            <a:p>
              <a:r>
                <a:rPr lang="en-US" sz="1600" noProof="0" dirty="0"/>
                <a:t>phenomenon</a:t>
              </a:r>
            </a:p>
          </p:txBody>
        </p:sp>
      </p:grpSp>
      <p:grpSp>
        <p:nvGrpSpPr>
          <p:cNvPr id="23" name="Group 22">
            <a:extLst>
              <a:ext uri="{FF2B5EF4-FFF2-40B4-BE49-F238E27FC236}">
                <a16:creationId xmlns:a16="http://schemas.microsoft.com/office/drawing/2014/main" id="{A32E8DD7-BD42-17B7-5D00-9B4A05BF1FE5}"/>
              </a:ext>
            </a:extLst>
          </p:cNvPr>
          <p:cNvGrpSpPr/>
          <p:nvPr/>
        </p:nvGrpSpPr>
        <p:grpSpPr>
          <a:xfrm>
            <a:off x="4431353" y="2526255"/>
            <a:ext cx="2851380" cy="1925075"/>
            <a:chOff x="4431353" y="2526255"/>
            <a:chExt cx="2851380" cy="1925075"/>
          </a:xfrm>
        </p:grpSpPr>
        <p:sp>
          <p:nvSpPr>
            <p:cNvPr id="24" name="Oval 23">
              <a:extLst>
                <a:ext uri="{FF2B5EF4-FFF2-40B4-BE49-F238E27FC236}">
                  <a16:creationId xmlns:a16="http://schemas.microsoft.com/office/drawing/2014/main" id="{6F468A3B-D219-9143-D985-8C03D45F435D}"/>
                </a:ext>
              </a:extLst>
            </p:cNvPr>
            <p:cNvSpPr/>
            <p:nvPr/>
          </p:nvSpPr>
          <p:spPr>
            <a:xfrm>
              <a:off x="4431353" y="3315677"/>
              <a:ext cx="360000" cy="360000"/>
            </a:xfrm>
            <a:prstGeom prst="ellipse">
              <a:avLst/>
            </a:prstGeom>
            <a:solidFill>
              <a:srgbClr val="F8766D"/>
            </a:solidFill>
            <a:ln>
              <a:solidFill>
                <a:srgbClr val="D0180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SE" noProof="0" dirty="0">
                  <a:solidFill>
                    <a:srgbClr val="D0180A"/>
                  </a:solidFill>
                </a:rPr>
                <a:t>x</a:t>
              </a:r>
              <a:endParaRPr lang="en-US" noProof="0" dirty="0">
                <a:solidFill>
                  <a:srgbClr val="D0180A"/>
                </a:solidFill>
              </a:endParaRPr>
            </a:p>
          </p:txBody>
        </p:sp>
        <p:sp>
          <p:nvSpPr>
            <p:cNvPr id="25" name="Oval 24">
              <a:extLst>
                <a:ext uri="{FF2B5EF4-FFF2-40B4-BE49-F238E27FC236}">
                  <a16:creationId xmlns:a16="http://schemas.microsoft.com/office/drawing/2014/main" id="{06FD96EE-1DD6-842D-6DC8-FAB3C04787BA}"/>
                </a:ext>
              </a:extLst>
            </p:cNvPr>
            <p:cNvSpPr/>
            <p:nvPr/>
          </p:nvSpPr>
          <p:spPr>
            <a:xfrm>
              <a:off x="6922733" y="3315677"/>
              <a:ext cx="360000" cy="360000"/>
            </a:xfrm>
            <a:prstGeom prst="ellipse">
              <a:avLst/>
            </a:prstGeom>
            <a:solidFill>
              <a:srgbClr val="00BFC4"/>
            </a:solidFill>
            <a:ln>
              <a:solidFill>
                <a:srgbClr val="006D7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SE" noProof="0" dirty="0">
                  <a:solidFill>
                    <a:srgbClr val="006D70"/>
                  </a:solidFill>
                </a:rPr>
                <a:t>y</a:t>
              </a:r>
              <a:endParaRPr lang="en-US" noProof="0" dirty="0">
                <a:solidFill>
                  <a:srgbClr val="006D70"/>
                </a:solidFill>
              </a:endParaRPr>
            </a:p>
          </p:txBody>
        </p:sp>
        <p:cxnSp>
          <p:nvCxnSpPr>
            <p:cNvPr id="26" name="Straight Arrow Connector 25">
              <a:extLst>
                <a:ext uri="{FF2B5EF4-FFF2-40B4-BE49-F238E27FC236}">
                  <a16:creationId xmlns:a16="http://schemas.microsoft.com/office/drawing/2014/main" id="{B748BB6F-19D8-0857-F271-9B0637E99E12}"/>
                </a:ext>
              </a:extLst>
            </p:cNvPr>
            <p:cNvCxnSpPr>
              <a:stCxn id="24" idx="6"/>
              <a:endCxn id="25" idx="2"/>
            </p:cNvCxnSpPr>
            <p:nvPr/>
          </p:nvCxnSpPr>
          <p:spPr>
            <a:xfrm>
              <a:off x="4791353" y="3495677"/>
              <a:ext cx="2131380"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28" name="Oval 27">
              <a:extLst>
                <a:ext uri="{FF2B5EF4-FFF2-40B4-BE49-F238E27FC236}">
                  <a16:creationId xmlns:a16="http://schemas.microsoft.com/office/drawing/2014/main" id="{F249D55E-732A-AE44-5E03-227FF659FE6C}"/>
                </a:ext>
              </a:extLst>
            </p:cNvPr>
            <p:cNvSpPr/>
            <p:nvPr/>
          </p:nvSpPr>
          <p:spPr>
            <a:xfrm>
              <a:off x="5676494" y="4091330"/>
              <a:ext cx="360000" cy="360000"/>
            </a:xfrm>
            <a:prstGeom prst="ellipse">
              <a:avLst/>
            </a:prstGeom>
            <a:solidFill>
              <a:schemeClr val="bg1">
                <a:lumMod val="75000"/>
              </a:schemeClr>
            </a:solidFill>
            <a:ln>
              <a:solidFill>
                <a:schemeClr val="bg1">
                  <a:lumMod val="50000"/>
                </a:schemeClr>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SE" noProof="0" dirty="0">
                  <a:solidFill>
                    <a:schemeClr val="tx1">
                      <a:lumMod val="50000"/>
                      <a:lumOff val="50000"/>
                    </a:schemeClr>
                  </a:solidFill>
                </a:rPr>
                <a:t>a</a:t>
              </a:r>
              <a:endParaRPr lang="en-US" noProof="0" dirty="0">
                <a:solidFill>
                  <a:schemeClr val="tx1">
                    <a:lumMod val="50000"/>
                    <a:lumOff val="50000"/>
                  </a:schemeClr>
                </a:solidFill>
              </a:endParaRPr>
            </a:p>
          </p:txBody>
        </p:sp>
        <p:cxnSp>
          <p:nvCxnSpPr>
            <p:cNvPr id="29" name="Straight Arrow Connector 28">
              <a:extLst>
                <a:ext uri="{FF2B5EF4-FFF2-40B4-BE49-F238E27FC236}">
                  <a16:creationId xmlns:a16="http://schemas.microsoft.com/office/drawing/2014/main" id="{822BE3E7-ED1D-1F61-7720-7B34DC3070E5}"/>
                </a:ext>
              </a:extLst>
            </p:cNvPr>
            <p:cNvCxnSpPr>
              <a:cxnSpLocks/>
              <a:stCxn id="28" idx="7"/>
              <a:endCxn id="25" idx="3"/>
            </p:cNvCxnSpPr>
            <p:nvPr/>
          </p:nvCxnSpPr>
          <p:spPr>
            <a:xfrm flipV="1">
              <a:off x="5983773" y="3622956"/>
              <a:ext cx="991681" cy="521095"/>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32" name="Straight Arrow Connector 31">
              <a:extLst>
                <a:ext uri="{FF2B5EF4-FFF2-40B4-BE49-F238E27FC236}">
                  <a16:creationId xmlns:a16="http://schemas.microsoft.com/office/drawing/2014/main" id="{9E4A6843-D605-715C-8738-4FE496D9FE7A}"/>
                </a:ext>
              </a:extLst>
            </p:cNvPr>
            <p:cNvCxnSpPr>
              <a:cxnSpLocks/>
              <a:stCxn id="28" idx="1"/>
              <a:endCxn id="24" idx="5"/>
            </p:cNvCxnSpPr>
            <p:nvPr/>
          </p:nvCxnSpPr>
          <p:spPr>
            <a:xfrm flipH="1" flipV="1">
              <a:off x="4738632" y="3622956"/>
              <a:ext cx="990583" cy="521095"/>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33" name="Oval 32">
              <a:extLst>
                <a:ext uri="{FF2B5EF4-FFF2-40B4-BE49-F238E27FC236}">
                  <a16:creationId xmlns:a16="http://schemas.microsoft.com/office/drawing/2014/main" id="{BA8C7871-4656-6380-06F2-A7C11392730F}"/>
                </a:ext>
              </a:extLst>
            </p:cNvPr>
            <p:cNvSpPr/>
            <p:nvPr/>
          </p:nvSpPr>
          <p:spPr>
            <a:xfrm>
              <a:off x="5676668" y="2526255"/>
              <a:ext cx="360000" cy="360000"/>
            </a:xfrm>
            <a:prstGeom prst="ellipse">
              <a:avLst/>
            </a:prstGeom>
            <a:solidFill>
              <a:schemeClr val="bg1">
                <a:lumMod val="75000"/>
              </a:schemeClr>
            </a:solidFill>
            <a:ln>
              <a:solidFill>
                <a:schemeClr val="bg1">
                  <a:lumMod val="50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SE" noProof="0" dirty="0">
                  <a:solidFill>
                    <a:schemeClr val="tx1">
                      <a:lumMod val="50000"/>
                      <a:lumOff val="50000"/>
                    </a:schemeClr>
                  </a:solidFill>
                </a:rPr>
                <a:t>b</a:t>
              </a:r>
              <a:endParaRPr lang="en-US" noProof="0" dirty="0">
                <a:solidFill>
                  <a:schemeClr val="tx1">
                    <a:lumMod val="50000"/>
                    <a:lumOff val="50000"/>
                  </a:schemeClr>
                </a:solidFill>
              </a:endParaRPr>
            </a:p>
          </p:txBody>
        </p:sp>
        <p:cxnSp>
          <p:nvCxnSpPr>
            <p:cNvPr id="34" name="Straight Arrow Connector 33">
              <a:extLst>
                <a:ext uri="{FF2B5EF4-FFF2-40B4-BE49-F238E27FC236}">
                  <a16:creationId xmlns:a16="http://schemas.microsoft.com/office/drawing/2014/main" id="{D0F9CB1F-6F30-1CDD-A57D-A5615BF6811C}"/>
                </a:ext>
              </a:extLst>
            </p:cNvPr>
            <p:cNvCxnSpPr>
              <a:cxnSpLocks/>
              <a:stCxn id="24" idx="7"/>
              <a:endCxn id="33" idx="3"/>
            </p:cNvCxnSpPr>
            <p:nvPr/>
          </p:nvCxnSpPr>
          <p:spPr>
            <a:xfrm flipV="1">
              <a:off x="4738632" y="2833534"/>
              <a:ext cx="990757" cy="534864"/>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35" name="Straight Arrow Connector 34">
              <a:extLst>
                <a:ext uri="{FF2B5EF4-FFF2-40B4-BE49-F238E27FC236}">
                  <a16:creationId xmlns:a16="http://schemas.microsoft.com/office/drawing/2014/main" id="{7CD0DC8E-16BE-3E13-34F2-27A358A7695C}"/>
                </a:ext>
              </a:extLst>
            </p:cNvPr>
            <p:cNvCxnSpPr>
              <a:cxnSpLocks/>
              <a:stCxn id="33" idx="5"/>
              <a:endCxn id="25" idx="1"/>
            </p:cNvCxnSpPr>
            <p:nvPr/>
          </p:nvCxnSpPr>
          <p:spPr>
            <a:xfrm>
              <a:off x="5983947" y="2833534"/>
              <a:ext cx="991507" cy="534864"/>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grpSp>
      <p:grpSp>
        <p:nvGrpSpPr>
          <p:cNvPr id="36" name="Group 35">
            <a:extLst>
              <a:ext uri="{FF2B5EF4-FFF2-40B4-BE49-F238E27FC236}">
                <a16:creationId xmlns:a16="http://schemas.microsoft.com/office/drawing/2014/main" id="{D7A1A7F1-084B-11C4-AE22-E5B728085FD6}"/>
              </a:ext>
            </a:extLst>
          </p:cNvPr>
          <p:cNvGrpSpPr/>
          <p:nvPr/>
        </p:nvGrpSpPr>
        <p:grpSpPr>
          <a:xfrm>
            <a:off x="3667082" y="5649589"/>
            <a:ext cx="2062133" cy="584775"/>
            <a:chOff x="1074854" y="5649590"/>
            <a:chExt cx="2062133" cy="584775"/>
          </a:xfrm>
        </p:grpSpPr>
        <p:sp>
          <p:nvSpPr>
            <p:cNvPr id="37" name="Oval 36">
              <a:extLst>
                <a:ext uri="{FF2B5EF4-FFF2-40B4-BE49-F238E27FC236}">
                  <a16:creationId xmlns:a16="http://schemas.microsoft.com/office/drawing/2014/main" id="{22C7D780-5ADC-6996-5C54-06A6E07ED633}"/>
                </a:ext>
              </a:extLst>
            </p:cNvPr>
            <p:cNvSpPr/>
            <p:nvPr/>
          </p:nvSpPr>
          <p:spPr>
            <a:xfrm>
              <a:off x="1074854" y="5761978"/>
              <a:ext cx="360000" cy="360000"/>
            </a:xfrm>
            <a:prstGeom prst="ellipse">
              <a:avLst/>
            </a:prstGeom>
            <a:solidFill>
              <a:schemeClr val="bg1">
                <a:lumMod val="75000"/>
              </a:schemeClr>
            </a:solidFill>
            <a:ln>
              <a:solidFill>
                <a:schemeClr val="bg1">
                  <a:lumMod val="50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8" name="TextBox 37">
              <a:extLst>
                <a:ext uri="{FF2B5EF4-FFF2-40B4-BE49-F238E27FC236}">
                  <a16:creationId xmlns:a16="http://schemas.microsoft.com/office/drawing/2014/main" id="{AF84F55A-FD2C-E50A-3F68-73FAE6BE8BEC}"/>
                </a:ext>
              </a:extLst>
            </p:cNvPr>
            <p:cNvSpPr txBox="1"/>
            <p:nvPr/>
          </p:nvSpPr>
          <p:spPr>
            <a:xfrm>
              <a:off x="1497307" y="5649590"/>
              <a:ext cx="1639680" cy="584775"/>
            </a:xfrm>
            <a:prstGeom prst="rect">
              <a:avLst/>
            </a:prstGeom>
            <a:noFill/>
          </p:spPr>
          <p:txBody>
            <a:bodyPr wrap="none" rtlCol="0">
              <a:spAutoFit/>
            </a:bodyPr>
            <a:lstStyle/>
            <a:p>
              <a:r>
                <a:rPr lang="en-SE" sz="1600" noProof="0" dirty="0"/>
                <a:t>other (observed)</a:t>
              </a:r>
            </a:p>
            <a:p>
              <a:r>
                <a:rPr lang="en-SE" sz="1600" dirty="0"/>
                <a:t>factors</a:t>
              </a:r>
              <a:endParaRPr lang="en-US" sz="1600" noProof="0" dirty="0"/>
            </a:p>
          </p:txBody>
        </p:sp>
      </p:grpSp>
      <p:grpSp>
        <p:nvGrpSpPr>
          <p:cNvPr id="42" name="Group 41">
            <a:extLst>
              <a:ext uri="{FF2B5EF4-FFF2-40B4-BE49-F238E27FC236}">
                <a16:creationId xmlns:a16="http://schemas.microsoft.com/office/drawing/2014/main" id="{CA8858C3-704A-AC4A-40B3-776688D410B4}"/>
              </a:ext>
            </a:extLst>
          </p:cNvPr>
          <p:cNvGrpSpPr/>
          <p:nvPr/>
        </p:nvGrpSpPr>
        <p:grpSpPr>
          <a:xfrm>
            <a:off x="838198" y="365125"/>
            <a:ext cx="1983884" cy="245531"/>
            <a:chOff x="4114799" y="3759391"/>
            <a:chExt cx="1983884" cy="1229241"/>
          </a:xfrm>
        </p:grpSpPr>
        <p:sp>
          <p:nvSpPr>
            <p:cNvPr id="43" name="Arrow: Pentagon 42">
              <a:extLst>
                <a:ext uri="{FF2B5EF4-FFF2-40B4-BE49-F238E27FC236}">
                  <a16:creationId xmlns:a16="http://schemas.microsoft.com/office/drawing/2014/main" id="{BFCDC564-AAA1-5F80-88AC-F09117B772AE}"/>
                </a:ext>
              </a:extLst>
            </p:cNvPr>
            <p:cNvSpPr/>
            <p:nvPr/>
          </p:nvSpPr>
          <p:spPr>
            <a:xfrm>
              <a:off x="4114799" y="3759391"/>
              <a:ext cx="794039" cy="1229241"/>
            </a:xfrm>
            <a:prstGeom prst="homePlate">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SE" sz="1400" dirty="0"/>
                <a:t>Theory</a:t>
              </a:r>
            </a:p>
          </p:txBody>
        </p:sp>
        <p:sp>
          <p:nvSpPr>
            <p:cNvPr id="44" name="Arrow: Chevron 43">
              <a:extLst>
                <a:ext uri="{FF2B5EF4-FFF2-40B4-BE49-F238E27FC236}">
                  <a16:creationId xmlns:a16="http://schemas.microsoft.com/office/drawing/2014/main" id="{1BA3DABA-485F-9F0C-A5DA-FF8CFAFCD284}"/>
                </a:ext>
              </a:extLst>
            </p:cNvPr>
            <p:cNvSpPr/>
            <p:nvPr/>
          </p:nvSpPr>
          <p:spPr>
            <a:xfrm>
              <a:off x="4843616" y="3759391"/>
              <a:ext cx="1255067" cy="1229241"/>
            </a:xfrm>
            <a:prstGeom prst="chevron">
              <a:avLst/>
            </a:prstGeom>
            <a:solidFill>
              <a:schemeClr val="bg1">
                <a:lumMod val="85000"/>
              </a:schemeClr>
            </a:solidFill>
            <a:ln>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SE" sz="1400" dirty="0">
                  <a:solidFill>
                    <a:schemeClr val="bg1">
                      <a:lumMod val="75000"/>
                    </a:schemeClr>
                  </a:solidFill>
                </a:rPr>
                <a:t>Use Case</a:t>
              </a:r>
            </a:p>
          </p:txBody>
        </p:sp>
      </p:grpSp>
    </p:spTree>
    <p:extLst>
      <p:ext uri="{BB962C8B-B14F-4D97-AF65-F5344CB8AC3E}">
        <p14:creationId xmlns:p14="http://schemas.microsoft.com/office/powerpoint/2010/main" val="82961416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med" p14:dur="700">
        <p159:morph option="byObject"/>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8"/>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5"/>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5FF6ED-54C9-D02C-AE17-CF2285CBFEA8}"/>
              </a:ext>
            </a:extLst>
          </p:cNvPr>
          <p:cNvSpPr>
            <a:spLocks noGrp="1"/>
          </p:cNvSpPr>
          <p:nvPr>
            <p:ph type="title"/>
          </p:nvPr>
        </p:nvSpPr>
        <p:spPr/>
        <p:txBody>
          <a:bodyPr/>
          <a:lstStyle/>
          <a:p>
            <a:r>
              <a:rPr lang="en-SE" dirty="0"/>
              <a:t>Determining Study-ability</a:t>
            </a:r>
          </a:p>
        </p:txBody>
      </p:sp>
      <p:sp>
        <p:nvSpPr>
          <p:cNvPr id="3" name="Content Placeholder 2">
            <a:extLst>
              <a:ext uri="{FF2B5EF4-FFF2-40B4-BE49-F238E27FC236}">
                <a16:creationId xmlns:a16="http://schemas.microsoft.com/office/drawing/2014/main" id="{0ADB3DAC-3DC6-CAFC-0AEB-E44344952F63}"/>
              </a:ext>
            </a:extLst>
          </p:cNvPr>
          <p:cNvSpPr>
            <a:spLocks noGrp="1"/>
          </p:cNvSpPr>
          <p:nvPr>
            <p:ph idx="1"/>
          </p:nvPr>
        </p:nvSpPr>
        <p:spPr>
          <a:xfrm>
            <a:off x="838200" y="1825625"/>
            <a:ext cx="10515600" cy="1197859"/>
          </a:xfrm>
        </p:spPr>
        <p:txBody>
          <a:bodyPr/>
          <a:lstStyle/>
          <a:p>
            <a:pPr marL="0" indent="0">
              <a:buNone/>
            </a:pPr>
            <a:r>
              <a:rPr lang="en-SE" dirty="0"/>
              <a:t>Causal </a:t>
            </a:r>
            <a:r>
              <a:rPr lang="en-SE" dirty="0" err="1"/>
              <a:t>DAGs</a:t>
            </a:r>
            <a:r>
              <a:rPr lang="en-SE" dirty="0"/>
              <a:t> allow deciding whether it is even possible to determine the (unbiased) causal effect of a phenomenon.</a:t>
            </a:r>
          </a:p>
        </p:txBody>
      </p:sp>
      <p:sp>
        <p:nvSpPr>
          <p:cNvPr id="4" name="Date Placeholder 3">
            <a:extLst>
              <a:ext uri="{FF2B5EF4-FFF2-40B4-BE49-F238E27FC236}">
                <a16:creationId xmlns:a16="http://schemas.microsoft.com/office/drawing/2014/main" id="{DA228502-A329-4C8D-48E2-A7D5C116C81D}"/>
              </a:ext>
            </a:extLst>
          </p:cNvPr>
          <p:cNvSpPr>
            <a:spLocks noGrp="1"/>
          </p:cNvSpPr>
          <p:nvPr>
            <p:ph type="dt" sz="half" idx="10"/>
          </p:nvPr>
        </p:nvSpPr>
        <p:spPr/>
        <p:txBody>
          <a:bodyPr/>
          <a:lstStyle/>
          <a:p>
            <a:fld id="{A1C06950-82F8-45F4-A28D-9FBF8CAE29F7}" type="datetime1">
              <a:rPr lang="de-DE" smtClean="0"/>
              <a:t>17.03.2026</a:t>
            </a:fld>
            <a:endParaRPr lang="en-SE"/>
          </a:p>
        </p:txBody>
      </p:sp>
      <p:sp>
        <p:nvSpPr>
          <p:cNvPr id="5" name="Slide Number Placeholder 4">
            <a:extLst>
              <a:ext uri="{FF2B5EF4-FFF2-40B4-BE49-F238E27FC236}">
                <a16:creationId xmlns:a16="http://schemas.microsoft.com/office/drawing/2014/main" id="{960EE4DC-BE2C-AF46-B73D-9FCCE1FB4CDF}"/>
              </a:ext>
            </a:extLst>
          </p:cNvPr>
          <p:cNvSpPr>
            <a:spLocks noGrp="1"/>
          </p:cNvSpPr>
          <p:nvPr>
            <p:ph type="sldNum" sz="quarter" idx="12"/>
          </p:nvPr>
        </p:nvSpPr>
        <p:spPr/>
        <p:txBody>
          <a:bodyPr/>
          <a:lstStyle/>
          <a:p>
            <a:fld id="{271ECC92-9CDE-4EB3-B1C5-F46B9E1FA3C1}" type="slidenum">
              <a:rPr lang="en-SE" smtClean="0"/>
              <a:t>14</a:t>
            </a:fld>
            <a:endParaRPr lang="en-SE"/>
          </a:p>
        </p:txBody>
      </p:sp>
      <p:grpSp>
        <p:nvGrpSpPr>
          <p:cNvPr id="6" name="Group 5">
            <a:extLst>
              <a:ext uri="{FF2B5EF4-FFF2-40B4-BE49-F238E27FC236}">
                <a16:creationId xmlns:a16="http://schemas.microsoft.com/office/drawing/2014/main" id="{573E6DB4-1600-8443-065E-A2CB2B7E0A64}"/>
              </a:ext>
            </a:extLst>
          </p:cNvPr>
          <p:cNvGrpSpPr/>
          <p:nvPr/>
        </p:nvGrpSpPr>
        <p:grpSpPr>
          <a:xfrm>
            <a:off x="2675523" y="3302525"/>
            <a:ext cx="5688395" cy="1146564"/>
            <a:chOff x="2915038" y="3295434"/>
            <a:chExt cx="5688395" cy="1146564"/>
          </a:xfrm>
        </p:grpSpPr>
        <p:sp>
          <p:nvSpPr>
            <p:cNvPr id="7" name="Oval 6">
              <a:extLst>
                <a:ext uri="{FF2B5EF4-FFF2-40B4-BE49-F238E27FC236}">
                  <a16:creationId xmlns:a16="http://schemas.microsoft.com/office/drawing/2014/main" id="{8A637AFE-7E48-37AB-D6A5-5DA08955FB42}"/>
                </a:ext>
              </a:extLst>
            </p:cNvPr>
            <p:cNvSpPr/>
            <p:nvPr/>
          </p:nvSpPr>
          <p:spPr>
            <a:xfrm>
              <a:off x="4431353" y="3315677"/>
              <a:ext cx="360000" cy="360000"/>
            </a:xfrm>
            <a:prstGeom prst="ellipse">
              <a:avLst/>
            </a:prstGeom>
            <a:solidFill>
              <a:srgbClr val="F8766D"/>
            </a:solidFill>
            <a:ln>
              <a:solidFill>
                <a:srgbClr val="D0180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SE" noProof="0" dirty="0">
                  <a:solidFill>
                    <a:srgbClr val="D0180A"/>
                  </a:solidFill>
                </a:rPr>
                <a:t>x</a:t>
              </a:r>
              <a:endParaRPr lang="en-US" noProof="0" dirty="0">
                <a:solidFill>
                  <a:srgbClr val="D0180A"/>
                </a:solidFill>
              </a:endParaRPr>
            </a:p>
          </p:txBody>
        </p:sp>
        <p:sp>
          <p:nvSpPr>
            <p:cNvPr id="8" name="Oval 7">
              <a:extLst>
                <a:ext uri="{FF2B5EF4-FFF2-40B4-BE49-F238E27FC236}">
                  <a16:creationId xmlns:a16="http://schemas.microsoft.com/office/drawing/2014/main" id="{36EB22D7-F182-2BE2-29B8-168817DDE40F}"/>
                </a:ext>
              </a:extLst>
            </p:cNvPr>
            <p:cNvSpPr/>
            <p:nvPr/>
          </p:nvSpPr>
          <p:spPr>
            <a:xfrm>
              <a:off x="6922733" y="3315677"/>
              <a:ext cx="360000" cy="360000"/>
            </a:xfrm>
            <a:prstGeom prst="ellipse">
              <a:avLst/>
            </a:prstGeom>
            <a:solidFill>
              <a:srgbClr val="00BFC4"/>
            </a:solidFill>
            <a:ln>
              <a:solidFill>
                <a:srgbClr val="006D7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SE" noProof="0" dirty="0">
                  <a:solidFill>
                    <a:srgbClr val="006D70"/>
                  </a:solidFill>
                </a:rPr>
                <a:t>y</a:t>
              </a:r>
              <a:endParaRPr lang="en-US" noProof="0" dirty="0">
                <a:solidFill>
                  <a:srgbClr val="006D70"/>
                </a:solidFill>
              </a:endParaRPr>
            </a:p>
          </p:txBody>
        </p:sp>
        <p:cxnSp>
          <p:nvCxnSpPr>
            <p:cNvPr id="9" name="Straight Arrow Connector 8">
              <a:extLst>
                <a:ext uri="{FF2B5EF4-FFF2-40B4-BE49-F238E27FC236}">
                  <a16:creationId xmlns:a16="http://schemas.microsoft.com/office/drawing/2014/main" id="{6B0ADC5E-DCF0-28E2-F98D-3946AAD48299}"/>
                </a:ext>
              </a:extLst>
            </p:cNvPr>
            <p:cNvCxnSpPr>
              <a:stCxn id="7" idx="6"/>
              <a:endCxn id="8" idx="2"/>
            </p:cNvCxnSpPr>
            <p:nvPr/>
          </p:nvCxnSpPr>
          <p:spPr>
            <a:xfrm>
              <a:off x="4791353" y="3495677"/>
              <a:ext cx="2131380"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10" name="TextBox 9">
              <a:extLst>
                <a:ext uri="{FF2B5EF4-FFF2-40B4-BE49-F238E27FC236}">
                  <a16:creationId xmlns:a16="http://schemas.microsoft.com/office/drawing/2014/main" id="{34946A3C-3C60-D021-0BD0-8D782C09AC57}"/>
                </a:ext>
              </a:extLst>
            </p:cNvPr>
            <p:cNvSpPr txBox="1"/>
            <p:nvPr/>
          </p:nvSpPr>
          <p:spPr>
            <a:xfrm>
              <a:off x="2915038" y="3306345"/>
              <a:ext cx="1515809" cy="369332"/>
            </a:xfrm>
            <a:prstGeom prst="rect">
              <a:avLst/>
            </a:prstGeom>
            <a:noFill/>
          </p:spPr>
          <p:txBody>
            <a:bodyPr wrap="square" rtlCol="0" anchor="ctr">
              <a:spAutoFit/>
            </a:bodyPr>
            <a:lstStyle/>
            <a:p>
              <a:pPr algn="r"/>
              <a:r>
                <a:rPr lang="de-DE" noProof="0" dirty="0">
                  <a:solidFill>
                    <a:srgbClr val="D0180A"/>
                  </a:solidFill>
                </a:rPr>
                <a:t>u</a:t>
              </a:r>
              <a:r>
                <a:rPr lang="en-SE" noProof="0" dirty="0">
                  <a:solidFill>
                    <a:srgbClr val="D0180A"/>
                  </a:solidFill>
                </a:rPr>
                <a:t>se of GenAI</a:t>
              </a:r>
              <a:endParaRPr lang="en-US" noProof="0" dirty="0">
                <a:solidFill>
                  <a:srgbClr val="D0180A"/>
                </a:solidFill>
              </a:endParaRPr>
            </a:p>
          </p:txBody>
        </p:sp>
        <p:sp>
          <p:nvSpPr>
            <p:cNvPr id="11" name="TextBox 10">
              <a:extLst>
                <a:ext uri="{FF2B5EF4-FFF2-40B4-BE49-F238E27FC236}">
                  <a16:creationId xmlns:a16="http://schemas.microsoft.com/office/drawing/2014/main" id="{04DEBF64-3E63-AA0E-7CDF-0853CDF918DD}"/>
                </a:ext>
              </a:extLst>
            </p:cNvPr>
            <p:cNvSpPr txBox="1"/>
            <p:nvPr/>
          </p:nvSpPr>
          <p:spPr>
            <a:xfrm>
              <a:off x="7240496" y="3295434"/>
              <a:ext cx="1362937" cy="369332"/>
            </a:xfrm>
            <a:prstGeom prst="rect">
              <a:avLst/>
            </a:prstGeom>
            <a:noFill/>
          </p:spPr>
          <p:txBody>
            <a:bodyPr wrap="none" rtlCol="0">
              <a:spAutoFit/>
            </a:bodyPr>
            <a:lstStyle/>
            <a:p>
              <a:r>
                <a:rPr lang="en-SE" noProof="0" dirty="0">
                  <a:solidFill>
                    <a:srgbClr val="006D70"/>
                  </a:solidFill>
                </a:rPr>
                <a:t>productivity</a:t>
              </a:r>
              <a:endParaRPr lang="en-US" noProof="0" dirty="0">
                <a:solidFill>
                  <a:srgbClr val="006D70"/>
                </a:solidFill>
              </a:endParaRPr>
            </a:p>
          </p:txBody>
        </p:sp>
        <p:sp>
          <p:nvSpPr>
            <p:cNvPr id="13" name="Oval 12">
              <a:extLst>
                <a:ext uri="{FF2B5EF4-FFF2-40B4-BE49-F238E27FC236}">
                  <a16:creationId xmlns:a16="http://schemas.microsoft.com/office/drawing/2014/main" id="{4D464466-4632-4DD9-1C36-41AC9609D355}"/>
                </a:ext>
              </a:extLst>
            </p:cNvPr>
            <p:cNvSpPr/>
            <p:nvPr/>
          </p:nvSpPr>
          <p:spPr>
            <a:xfrm>
              <a:off x="5616222" y="4081998"/>
              <a:ext cx="360000" cy="360000"/>
            </a:xfrm>
            <a:prstGeom prst="ellipse">
              <a:avLst/>
            </a:prstGeom>
            <a:solidFill>
              <a:schemeClr val="bg1">
                <a:lumMod val="75000"/>
              </a:schemeClr>
            </a:solidFill>
            <a:ln>
              <a:solidFill>
                <a:schemeClr val="bg1">
                  <a:lumMod val="50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SE" noProof="0" dirty="0">
                  <a:solidFill>
                    <a:schemeClr val="tx1">
                      <a:lumMod val="50000"/>
                      <a:lumOff val="50000"/>
                    </a:schemeClr>
                  </a:solidFill>
                </a:rPr>
                <a:t>a</a:t>
              </a:r>
              <a:endParaRPr lang="en-US" noProof="0" dirty="0">
                <a:solidFill>
                  <a:schemeClr val="tx1">
                    <a:lumMod val="50000"/>
                    <a:lumOff val="50000"/>
                  </a:schemeClr>
                </a:solidFill>
              </a:endParaRPr>
            </a:p>
          </p:txBody>
        </p:sp>
        <p:sp>
          <p:nvSpPr>
            <p:cNvPr id="14" name="TextBox 13">
              <a:extLst>
                <a:ext uri="{FF2B5EF4-FFF2-40B4-BE49-F238E27FC236}">
                  <a16:creationId xmlns:a16="http://schemas.microsoft.com/office/drawing/2014/main" id="{3EACFF64-0D84-2392-990A-FAC02FD8D31D}"/>
                </a:ext>
              </a:extLst>
            </p:cNvPr>
            <p:cNvSpPr txBox="1"/>
            <p:nvPr/>
          </p:nvSpPr>
          <p:spPr>
            <a:xfrm>
              <a:off x="5967363" y="4072666"/>
              <a:ext cx="1246239" cy="369332"/>
            </a:xfrm>
            <a:prstGeom prst="rect">
              <a:avLst/>
            </a:prstGeom>
            <a:noFill/>
          </p:spPr>
          <p:txBody>
            <a:bodyPr wrap="none" rtlCol="0">
              <a:spAutoFit/>
            </a:bodyPr>
            <a:lstStyle/>
            <a:p>
              <a:r>
                <a:rPr lang="en-US" noProof="0" dirty="0">
                  <a:solidFill>
                    <a:schemeClr val="tx1">
                      <a:lumMod val="65000"/>
                      <a:lumOff val="35000"/>
                    </a:schemeClr>
                  </a:solidFill>
                </a:rPr>
                <a:t>motivation</a:t>
              </a:r>
            </a:p>
          </p:txBody>
        </p:sp>
        <p:cxnSp>
          <p:nvCxnSpPr>
            <p:cNvPr id="16" name="Straight Arrow Connector 15">
              <a:extLst>
                <a:ext uri="{FF2B5EF4-FFF2-40B4-BE49-F238E27FC236}">
                  <a16:creationId xmlns:a16="http://schemas.microsoft.com/office/drawing/2014/main" id="{AB8C72F4-2393-C075-B9EA-A93C1ED79981}"/>
                </a:ext>
              </a:extLst>
            </p:cNvPr>
            <p:cNvCxnSpPr>
              <a:cxnSpLocks/>
              <a:stCxn id="13" idx="7"/>
              <a:endCxn id="8" idx="3"/>
            </p:cNvCxnSpPr>
            <p:nvPr/>
          </p:nvCxnSpPr>
          <p:spPr>
            <a:xfrm flipV="1">
              <a:off x="5923501" y="3622956"/>
              <a:ext cx="1051953" cy="511763"/>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19" name="Straight Arrow Connector 18">
              <a:extLst>
                <a:ext uri="{FF2B5EF4-FFF2-40B4-BE49-F238E27FC236}">
                  <a16:creationId xmlns:a16="http://schemas.microsoft.com/office/drawing/2014/main" id="{0A15E184-ADF6-78F6-2F61-2FBBB9E2BB74}"/>
                </a:ext>
              </a:extLst>
            </p:cNvPr>
            <p:cNvCxnSpPr>
              <a:cxnSpLocks/>
              <a:stCxn id="13" idx="1"/>
              <a:endCxn id="7" idx="5"/>
            </p:cNvCxnSpPr>
            <p:nvPr/>
          </p:nvCxnSpPr>
          <p:spPr>
            <a:xfrm flipH="1" flipV="1">
              <a:off x="4738632" y="3622956"/>
              <a:ext cx="930311" cy="511763"/>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grpSp>
      <p:sp>
        <p:nvSpPr>
          <p:cNvPr id="27" name="Content Placeholder 2">
            <a:extLst>
              <a:ext uri="{FF2B5EF4-FFF2-40B4-BE49-F238E27FC236}">
                <a16:creationId xmlns:a16="http://schemas.microsoft.com/office/drawing/2014/main" id="{6E6271EC-AEE7-D6E4-63AF-5110EC2E349D}"/>
              </a:ext>
            </a:extLst>
          </p:cNvPr>
          <p:cNvSpPr txBox="1">
            <a:spLocks/>
          </p:cNvSpPr>
          <p:nvPr/>
        </p:nvSpPr>
        <p:spPr>
          <a:xfrm>
            <a:off x="838200" y="4968959"/>
            <a:ext cx="10515600" cy="1387392"/>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SE" dirty="0"/>
              <a:t>If a phenomenon has an unobserved confounder, then the causal effect of the exposure on the outcome cannot be estimated from observational data.</a:t>
            </a:r>
          </a:p>
        </p:txBody>
      </p:sp>
      <p:grpSp>
        <p:nvGrpSpPr>
          <p:cNvPr id="31" name="Group 30">
            <a:extLst>
              <a:ext uri="{FF2B5EF4-FFF2-40B4-BE49-F238E27FC236}">
                <a16:creationId xmlns:a16="http://schemas.microsoft.com/office/drawing/2014/main" id="{452D9ACB-5913-29F1-A473-78E174332ADB}"/>
              </a:ext>
            </a:extLst>
          </p:cNvPr>
          <p:cNvGrpSpPr/>
          <p:nvPr/>
        </p:nvGrpSpPr>
        <p:grpSpPr>
          <a:xfrm>
            <a:off x="838198" y="365125"/>
            <a:ext cx="1983884" cy="245531"/>
            <a:chOff x="4114799" y="3759391"/>
            <a:chExt cx="1983884" cy="1229241"/>
          </a:xfrm>
        </p:grpSpPr>
        <p:sp>
          <p:nvSpPr>
            <p:cNvPr id="32" name="Arrow: Pentagon 31">
              <a:extLst>
                <a:ext uri="{FF2B5EF4-FFF2-40B4-BE49-F238E27FC236}">
                  <a16:creationId xmlns:a16="http://schemas.microsoft.com/office/drawing/2014/main" id="{2084C7E3-C920-55D5-C5FE-C10E139E6760}"/>
                </a:ext>
              </a:extLst>
            </p:cNvPr>
            <p:cNvSpPr/>
            <p:nvPr/>
          </p:nvSpPr>
          <p:spPr>
            <a:xfrm>
              <a:off x="4114799" y="3759391"/>
              <a:ext cx="794039" cy="1229241"/>
            </a:xfrm>
            <a:prstGeom prst="homePlate">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SE" sz="1400" dirty="0"/>
                <a:t>Theory</a:t>
              </a:r>
            </a:p>
          </p:txBody>
        </p:sp>
        <p:sp>
          <p:nvSpPr>
            <p:cNvPr id="33" name="Arrow: Chevron 32">
              <a:extLst>
                <a:ext uri="{FF2B5EF4-FFF2-40B4-BE49-F238E27FC236}">
                  <a16:creationId xmlns:a16="http://schemas.microsoft.com/office/drawing/2014/main" id="{ABA4F49D-EA20-3D63-6A50-037142A5F981}"/>
                </a:ext>
              </a:extLst>
            </p:cNvPr>
            <p:cNvSpPr/>
            <p:nvPr/>
          </p:nvSpPr>
          <p:spPr>
            <a:xfrm>
              <a:off x="4843616" y="3759391"/>
              <a:ext cx="1255067" cy="1229241"/>
            </a:xfrm>
            <a:prstGeom prst="chevron">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SE" sz="1400" dirty="0">
                  <a:solidFill>
                    <a:schemeClr val="tx1"/>
                  </a:solidFill>
                </a:rPr>
                <a:t>Use Case</a:t>
              </a:r>
            </a:p>
          </p:txBody>
        </p:sp>
      </p:grpSp>
    </p:spTree>
    <p:extLst>
      <p:ext uri="{BB962C8B-B14F-4D97-AF65-F5344CB8AC3E}">
        <p14:creationId xmlns:p14="http://schemas.microsoft.com/office/powerpoint/2010/main" val="288722128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med" p14:dur="700">
        <p159:morph option="byObject"/>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3202E1-F45A-3338-8D3B-1B9CAEAF270C}"/>
              </a:ext>
            </a:extLst>
          </p:cNvPr>
          <p:cNvSpPr>
            <a:spLocks noGrp="1"/>
          </p:cNvSpPr>
          <p:nvPr>
            <p:ph type="title"/>
          </p:nvPr>
        </p:nvSpPr>
        <p:spPr/>
        <p:txBody>
          <a:bodyPr/>
          <a:lstStyle/>
          <a:p>
            <a:r>
              <a:rPr lang="en-SE" dirty="0"/>
              <a:t>Visualizing Moderation</a:t>
            </a:r>
          </a:p>
        </p:txBody>
      </p:sp>
      <p:sp>
        <p:nvSpPr>
          <p:cNvPr id="3" name="Content Placeholder 2">
            <a:extLst>
              <a:ext uri="{FF2B5EF4-FFF2-40B4-BE49-F238E27FC236}">
                <a16:creationId xmlns:a16="http://schemas.microsoft.com/office/drawing/2014/main" id="{C02159E7-7E1F-8187-76B6-5304365D31F9}"/>
              </a:ext>
            </a:extLst>
          </p:cNvPr>
          <p:cNvSpPr>
            <a:spLocks noGrp="1"/>
          </p:cNvSpPr>
          <p:nvPr>
            <p:ph idx="1"/>
          </p:nvPr>
        </p:nvSpPr>
        <p:spPr>
          <a:xfrm>
            <a:off x="838200" y="1825625"/>
            <a:ext cx="10515600" cy="1078940"/>
          </a:xfrm>
        </p:spPr>
        <p:txBody>
          <a:bodyPr/>
          <a:lstStyle/>
          <a:p>
            <a:pPr marL="0" indent="0">
              <a:buNone/>
            </a:pPr>
            <a:r>
              <a:rPr lang="en-SE" dirty="0"/>
              <a:t>Factors can not only affect other factors, but also other relationships in a process called moderation.</a:t>
            </a:r>
          </a:p>
        </p:txBody>
      </p:sp>
      <p:sp>
        <p:nvSpPr>
          <p:cNvPr id="4" name="Date Placeholder 3">
            <a:extLst>
              <a:ext uri="{FF2B5EF4-FFF2-40B4-BE49-F238E27FC236}">
                <a16:creationId xmlns:a16="http://schemas.microsoft.com/office/drawing/2014/main" id="{72947B3C-CE70-AD3E-ED85-7A987D533488}"/>
              </a:ext>
            </a:extLst>
          </p:cNvPr>
          <p:cNvSpPr>
            <a:spLocks noGrp="1"/>
          </p:cNvSpPr>
          <p:nvPr>
            <p:ph type="dt" sz="half" idx="10"/>
          </p:nvPr>
        </p:nvSpPr>
        <p:spPr/>
        <p:txBody>
          <a:bodyPr/>
          <a:lstStyle/>
          <a:p>
            <a:fld id="{A1C06950-82F8-45F4-A28D-9FBF8CAE29F7}" type="datetime1">
              <a:rPr lang="de-DE" smtClean="0"/>
              <a:t>17.03.2026</a:t>
            </a:fld>
            <a:endParaRPr lang="en-SE"/>
          </a:p>
        </p:txBody>
      </p:sp>
      <p:sp>
        <p:nvSpPr>
          <p:cNvPr id="5" name="Slide Number Placeholder 4">
            <a:extLst>
              <a:ext uri="{FF2B5EF4-FFF2-40B4-BE49-F238E27FC236}">
                <a16:creationId xmlns:a16="http://schemas.microsoft.com/office/drawing/2014/main" id="{CBF38104-5A34-8621-CA65-691493CD9C33}"/>
              </a:ext>
            </a:extLst>
          </p:cNvPr>
          <p:cNvSpPr>
            <a:spLocks noGrp="1"/>
          </p:cNvSpPr>
          <p:nvPr>
            <p:ph type="sldNum" sz="quarter" idx="12"/>
          </p:nvPr>
        </p:nvSpPr>
        <p:spPr/>
        <p:txBody>
          <a:bodyPr/>
          <a:lstStyle/>
          <a:p>
            <a:fld id="{271ECC92-9CDE-4EB3-B1C5-F46B9E1FA3C1}" type="slidenum">
              <a:rPr lang="en-SE" smtClean="0"/>
              <a:t>15</a:t>
            </a:fld>
            <a:endParaRPr lang="en-SE"/>
          </a:p>
        </p:txBody>
      </p:sp>
      <p:grpSp>
        <p:nvGrpSpPr>
          <p:cNvPr id="6" name="Group 5">
            <a:extLst>
              <a:ext uri="{FF2B5EF4-FFF2-40B4-BE49-F238E27FC236}">
                <a16:creationId xmlns:a16="http://schemas.microsoft.com/office/drawing/2014/main" id="{FF3D7A37-AB88-3FEE-2AB0-C86684322364}"/>
              </a:ext>
            </a:extLst>
          </p:cNvPr>
          <p:cNvGrpSpPr/>
          <p:nvPr/>
        </p:nvGrpSpPr>
        <p:grpSpPr>
          <a:xfrm>
            <a:off x="2675523" y="3302525"/>
            <a:ext cx="5688395" cy="1146564"/>
            <a:chOff x="2915038" y="3295434"/>
            <a:chExt cx="5688395" cy="1146564"/>
          </a:xfrm>
        </p:grpSpPr>
        <p:sp>
          <p:nvSpPr>
            <p:cNvPr id="7" name="Oval 6">
              <a:extLst>
                <a:ext uri="{FF2B5EF4-FFF2-40B4-BE49-F238E27FC236}">
                  <a16:creationId xmlns:a16="http://schemas.microsoft.com/office/drawing/2014/main" id="{7CFAD965-308A-0AB6-0940-278132ACCE0B}"/>
                </a:ext>
              </a:extLst>
            </p:cNvPr>
            <p:cNvSpPr/>
            <p:nvPr/>
          </p:nvSpPr>
          <p:spPr>
            <a:xfrm>
              <a:off x="4431353" y="3315677"/>
              <a:ext cx="360000" cy="360000"/>
            </a:xfrm>
            <a:prstGeom prst="ellipse">
              <a:avLst/>
            </a:prstGeom>
            <a:solidFill>
              <a:srgbClr val="F8766D"/>
            </a:solidFill>
            <a:ln>
              <a:solidFill>
                <a:srgbClr val="D0180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SE" noProof="0" dirty="0">
                  <a:solidFill>
                    <a:srgbClr val="D0180A"/>
                  </a:solidFill>
                </a:rPr>
                <a:t>x</a:t>
              </a:r>
              <a:endParaRPr lang="en-US" noProof="0" dirty="0">
                <a:solidFill>
                  <a:srgbClr val="D0180A"/>
                </a:solidFill>
              </a:endParaRPr>
            </a:p>
          </p:txBody>
        </p:sp>
        <p:sp>
          <p:nvSpPr>
            <p:cNvPr id="8" name="Oval 7">
              <a:extLst>
                <a:ext uri="{FF2B5EF4-FFF2-40B4-BE49-F238E27FC236}">
                  <a16:creationId xmlns:a16="http://schemas.microsoft.com/office/drawing/2014/main" id="{9D67468D-3751-DCC8-E956-DFEC4DA451DA}"/>
                </a:ext>
              </a:extLst>
            </p:cNvPr>
            <p:cNvSpPr/>
            <p:nvPr/>
          </p:nvSpPr>
          <p:spPr>
            <a:xfrm>
              <a:off x="6922733" y="3315677"/>
              <a:ext cx="360000" cy="360000"/>
            </a:xfrm>
            <a:prstGeom prst="ellipse">
              <a:avLst/>
            </a:prstGeom>
            <a:solidFill>
              <a:srgbClr val="00BFC4"/>
            </a:solidFill>
            <a:ln>
              <a:solidFill>
                <a:srgbClr val="006D7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SE" noProof="0" dirty="0">
                  <a:solidFill>
                    <a:srgbClr val="006D70"/>
                  </a:solidFill>
                </a:rPr>
                <a:t>y</a:t>
              </a:r>
              <a:endParaRPr lang="en-US" noProof="0" dirty="0">
                <a:solidFill>
                  <a:srgbClr val="006D70"/>
                </a:solidFill>
              </a:endParaRPr>
            </a:p>
          </p:txBody>
        </p:sp>
        <p:cxnSp>
          <p:nvCxnSpPr>
            <p:cNvPr id="9" name="Straight Arrow Connector 8">
              <a:extLst>
                <a:ext uri="{FF2B5EF4-FFF2-40B4-BE49-F238E27FC236}">
                  <a16:creationId xmlns:a16="http://schemas.microsoft.com/office/drawing/2014/main" id="{4F630BD4-B1A4-B17F-1932-B81813943531}"/>
                </a:ext>
              </a:extLst>
            </p:cNvPr>
            <p:cNvCxnSpPr>
              <a:stCxn id="7" idx="6"/>
              <a:endCxn id="8" idx="2"/>
            </p:cNvCxnSpPr>
            <p:nvPr/>
          </p:nvCxnSpPr>
          <p:spPr>
            <a:xfrm>
              <a:off x="4791353" y="3495677"/>
              <a:ext cx="2131380"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10" name="TextBox 9">
              <a:extLst>
                <a:ext uri="{FF2B5EF4-FFF2-40B4-BE49-F238E27FC236}">
                  <a16:creationId xmlns:a16="http://schemas.microsoft.com/office/drawing/2014/main" id="{69B4818B-BF89-1724-BA1B-B6FAF9560D9E}"/>
                </a:ext>
              </a:extLst>
            </p:cNvPr>
            <p:cNvSpPr txBox="1"/>
            <p:nvPr/>
          </p:nvSpPr>
          <p:spPr>
            <a:xfrm>
              <a:off x="2915038" y="3306345"/>
              <a:ext cx="1515809" cy="369332"/>
            </a:xfrm>
            <a:prstGeom prst="rect">
              <a:avLst/>
            </a:prstGeom>
            <a:noFill/>
          </p:spPr>
          <p:txBody>
            <a:bodyPr wrap="square" rtlCol="0" anchor="ctr">
              <a:spAutoFit/>
            </a:bodyPr>
            <a:lstStyle/>
            <a:p>
              <a:pPr algn="r"/>
              <a:r>
                <a:rPr lang="de-DE" noProof="0" dirty="0">
                  <a:solidFill>
                    <a:srgbClr val="D0180A"/>
                  </a:solidFill>
                </a:rPr>
                <a:t>u</a:t>
              </a:r>
              <a:r>
                <a:rPr lang="en-SE" noProof="0" dirty="0">
                  <a:solidFill>
                    <a:srgbClr val="D0180A"/>
                  </a:solidFill>
                </a:rPr>
                <a:t>se of GenAI</a:t>
              </a:r>
              <a:endParaRPr lang="en-US" noProof="0" dirty="0">
                <a:solidFill>
                  <a:srgbClr val="D0180A"/>
                </a:solidFill>
              </a:endParaRPr>
            </a:p>
          </p:txBody>
        </p:sp>
        <p:sp>
          <p:nvSpPr>
            <p:cNvPr id="11" name="TextBox 10">
              <a:extLst>
                <a:ext uri="{FF2B5EF4-FFF2-40B4-BE49-F238E27FC236}">
                  <a16:creationId xmlns:a16="http://schemas.microsoft.com/office/drawing/2014/main" id="{CB994EAA-61B3-2950-6E0D-82317647E54B}"/>
                </a:ext>
              </a:extLst>
            </p:cNvPr>
            <p:cNvSpPr txBox="1"/>
            <p:nvPr/>
          </p:nvSpPr>
          <p:spPr>
            <a:xfrm>
              <a:off x="7240496" y="3295434"/>
              <a:ext cx="1362937" cy="369332"/>
            </a:xfrm>
            <a:prstGeom prst="rect">
              <a:avLst/>
            </a:prstGeom>
            <a:noFill/>
          </p:spPr>
          <p:txBody>
            <a:bodyPr wrap="none" rtlCol="0">
              <a:spAutoFit/>
            </a:bodyPr>
            <a:lstStyle/>
            <a:p>
              <a:r>
                <a:rPr lang="en-SE" noProof="0" dirty="0">
                  <a:solidFill>
                    <a:srgbClr val="006D70"/>
                  </a:solidFill>
                </a:rPr>
                <a:t>productivity</a:t>
              </a:r>
              <a:endParaRPr lang="en-US" noProof="0" dirty="0">
                <a:solidFill>
                  <a:srgbClr val="006D70"/>
                </a:solidFill>
              </a:endParaRPr>
            </a:p>
          </p:txBody>
        </p:sp>
        <p:sp>
          <p:nvSpPr>
            <p:cNvPr id="12" name="Oval 11">
              <a:extLst>
                <a:ext uri="{FF2B5EF4-FFF2-40B4-BE49-F238E27FC236}">
                  <a16:creationId xmlns:a16="http://schemas.microsoft.com/office/drawing/2014/main" id="{8002BF3F-7FD6-C458-24C5-22BF82CED507}"/>
                </a:ext>
              </a:extLst>
            </p:cNvPr>
            <p:cNvSpPr/>
            <p:nvPr/>
          </p:nvSpPr>
          <p:spPr>
            <a:xfrm>
              <a:off x="5616222" y="4081998"/>
              <a:ext cx="360000" cy="360000"/>
            </a:xfrm>
            <a:prstGeom prst="ellipse">
              <a:avLst/>
            </a:prstGeom>
            <a:solidFill>
              <a:schemeClr val="bg1">
                <a:lumMod val="75000"/>
              </a:schemeClr>
            </a:solidFill>
            <a:ln>
              <a:solidFill>
                <a:schemeClr val="bg1">
                  <a:lumMod val="50000"/>
                </a:schemeClr>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SE" noProof="0" dirty="0">
                  <a:solidFill>
                    <a:schemeClr val="tx1">
                      <a:lumMod val="50000"/>
                      <a:lumOff val="50000"/>
                    </a:schemeClr>
                  </a:solidFill>
                </a:rPr>
                <a:t>a</a:t>
              </a:r>
              <a:endParaRPr lang="en-US" noProof="0" dirty="0">
                <a:solidFill>
                  <a:schemeClr val="tx1">
                    <a:lumMod val="50000"/>
                    <a:lumOff val="50000"/>
                  </a:schemeClr>
                </a:solidFill>
              </a:endParaRPr>
            </a:p>
          </p:txBody>
        </p:sp>
        <p:sp>
          <p:nvSpPr>
            <p:cNvPr id="13" name="TextBox 12">
              <a:extLst>
                <a:ext uri="{FF2B5EF4-FFF2-40B4-BE49-F238E27FC236}">
                  <a16:creationId xmlns:a16="http://schemas.microsoft.com/office/drawing/2014/main" id="{E749BA1F-1402-EDB0-3A04-6501D9A3AE92}"/>
                </a:ext>
              </a:extLst>
            </p:cNvPr>
            <p:cNvSpPr txBox="1"/>
            <p:nvPr/>
          </p:nvSpPr>
          <p:spPr>
            <a:xfrm>
              <a:off x="5967363" y="4072666"/>
              <a:ext cx="1280863" cy="369332"/>
            </a:xfrm>
            <a:prstGeom prst="rect">
              <a:avLst/>
            </a:prstGeom>
            <a:noFill/>
          </p:spPr>
          <p:txBody>
            <a:bodyPr wrap="none" rtlCol="0">
              <a:spAutoFit/>
            </a:bodyPr>
            <a:lstStyle/>
            <a:p>
              <a:r>
                <a:rPr lang="en-SE" noProof="0" dirty="0">
                  <a:solidFill>
                    <a:schemeClr val="tx1">
                      <a:lumMod val="65000"/>
                      <a:lumOff val="35000"/>
                    </a:schemeClr>
                  </a:solidFill>
                </a:rPr>
                <a:t>experience</a:t>
              </a:r>
              <a:endParaRPr lang="en-US" noProof="0" dirty="0">
                <a:solidFill>
                  <a:schemeClr val="tx1">
                    <a:lumMod val="65000"/>
                    <a:lumOff val="35000"/>
                  </a:schemeClr>
                </a:solidFill>
              </a:endParaRPr>
            </a:p>
          </p:txBody>
        </p:sp>
        <p:cxnSp>
          <p:nvCxnSpPr>
            <p:cNvPr id="14" name="Straight Arrow Connector 13">
              <a:extLst>
                <a:ext uri="{FF2B5EF4-FFF2-40B4-BE49-F238E27FC236}">
                  <a16:creationId xmlns:a16="http://schemas.microsoft.com/office/drawing/2014/main" id="{E1D0E132-15C6-2CB4-15DE-1236AA44DE34}"/>
                </a:ext>
              </a:extLst>
            </p:cNvPr>
            <p:cNvCxnSpPr>
              <a:cxnSpLocks/>
              <a:stCxn id="12" idx="7"/>
              <a:endCxn id="8" idx="3"/>
            </p:cNvCxnSpPr>
            <p:nvPr/>
          </p:nvCxnSpPr>
          <p:spPr>
            <a:xfrm flipV="1">
              <a:off x="5923501" y="3622956"/>
              <a:ext cx="1051953" cy="511763"/>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15" name="Straight Arrow Connector 14">
              <a:extLst>
                <a:ext uri="{FF2B5EF4-FFF2-40B4-BE49-F238E27FC236}">
                  <a16:creationId xmlns:a16="http://schemas.microsoft.com/office/drawing/2014/main" id="{CB2771A6-0FDD-D9A1-E04C-4CF385EBF170}"/>
                </a:ext>
              </a:extLst>
            </p:cNvPr>
            <p:cNvCxnSpPr>
              <a:cxnSpLocks/>
              <a:stCxn id="12" idx="0"/>
            </p:cNvCxnSpPr>
            <p:nvPr/>
          </p:nvCxnSpPr>
          <p:spPr>
            <a:xfrm flipV="1">
              <a:off x="5796222" y="3495677"/>
              <a:ext cx="0" cy="586321"/>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grpSp>
      <p:grpSp>
        <p:nvGrpSpPr>
          <p:cNvPr id="21" name="Group 20">
            <a:extLst>
              <a:ext uri="{FF2B5EF4-FFF2-40B4-BE49-F238E27FC236}">
                <a16:creationId xmlns:a16="http://schemas.microsoft.com/office/drawing/2014/main" id="{A74DB258-1542-81D8-B8BA-70BDCFFF1200}"/>
              </a:ext>
            </a:extLst>
          </p:cNvPr>
          <p:cNvGrpSpPr/>
          <p:nvPr/>
        </p:nvGrpSpPr>
        <p:grpSpPr>
          <a:xfrm>
            <a:off x="838198" y="365125"/>
            <a:ext cx="1983884" cy="245531"/>
            <a:chOff x="4114799" y="3759391"/>
            <a:chExt cx="1983884" cy="1229241"/>
          </a:xfrm>
        </p:grpSpPr>
        <p:sp>
          <p:nvSpPr>
            <p:cNvPr id="22" name="Arrow: Pentagon 21">
              <a:extLst>
                <a:ext uri="{FF2B5EF4-FFF2-40B4-BE49-F238E27FC236}">
                  <a16:creationId xmlns:a16="http://schemas.microsoft.com/office/drawing/2014/main" id="{9097E93E-845A-B7A2-A13C-0C6B0DF645E7}"/>
                </a:ext>
              </a:extLst>
            </p:cNvPr>
            <p:cNvSpPr/>
            <p:nvPr/>
          </p:nvSpPr>
          <p:spPr>
            <a:xfrm>
              <a:off x="4114799" y="3759391"/>
              <a:ext cx="794039" cy="1229241"/>
            </a:xfrm>
            <a:prstGeom prst="homePlate">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SE" sz="1400" dirty="0"/>
                <a:t>Theory</a:t>
              </a:r>
            </a:p>
          </p:txBody>
        </p:sp>
        <p:sp>
          <p:nvSpPr>
            <p:cNvPr id="23" name="Arrow: Chevron 22">
              <a:extLst>
                <a:ext uri="{FF2B5EF4-FFF2-40B4-BE49-F238E27FC236}">
                  <a16:creationId xmlns:a16="http://schemas.microsoft.com/office/drawing/2014/main" id="{B49FC200-4081-1CA7-F0DE-55093F9E16CD}"/>
                </a:ext>
              </a:extLst>
            </p:cNvPr>
            <p:cNvSpPr/>
            <p:nvPr/>
          </p:nvSpPr>
          <p:spPr>
            <a:xfrm>
              <a:off x="4843616" y="3759391"/>
              <a:ext cx="1255067" cy="1229241"/>
            </a:xfrm>
            <a:prstGeom prst="chevron">
              <a:avLst/>
            </a:prstGeom>
            <a:solidFill>
              <a:schemeClr val="bg1">
                <a:lumMod val="85000"/>
              </a:schemeClr>
            </a:solidFill>
            <a:ln>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SE" sz="1400" dirty="0">
                  <a:solidFill>
                    <a:schemeClr val="bg1">
                      <a:lumMod val="75000"/>
                    </a:schemeClr>
                  </a:solidFill>
                </a:rPr>
                <a:t>Use Case</a:t>
              </a:r>
            </a:p>
          </p:txBody>
        </p:sp>
      </p:grpSp>
      <p:sp>
        <p:nvSpPr>
          <p:cNvPr id="24" name="Content Placeholder 2">
            <a:extLst>
              <a:ext uri="{FF2B5EF4-FFF2-40B4-BE49-F238E27FC236}">
                <a16:creationId xmlns:a16="http://schemas.microsoft.com/office/drawing/2014/main" id="{6669B191-882C-7D89-A901-9548494856EA}"/>
              </a:ext>
            </a:extLst>
          </p:cNvPr>
          <p:cNvSpPr txBox="1">
            <a:spLocks/>
          </p:cNvSpPr>
          <p:nvPr/>
        </p:nvSpPr>
        <p:spPr>
          <a:xfrm>
            <a:off x="838198" y="5266499"/>
            <a:ext cx="10515600" cy="107894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SE" dirty="0"/>
              <a:t>A moderator changes the effect that one variable has on another.</a:t>
            </a:r>
          </a:p>
        </p:txBody>
      </p:sp>
    </p:spTree>
    <p:extLst>
      <p:ext uri="{BB962C8B-B14F-4D97-AF65-F5344CB8AC3E}">
        <p14:creationId xmlns:p14="http://schemas.microsoft.com/office/powerpoint/2010/main" val="231376300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med" p14:dur="700">
        <p159:morph option="byObject"/>
      </p:transition>
    </mc:Choice>
    <mc:Fallback xmlns="">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220DAF-5E72-EDBB-BC3E-BECE1DE91A51}"/>
              </a:ext>
            </a:extLst>
          </p:cNvPr>
          <p:cNvSpPr>
            <a:spLocks noGrp="1"/>
          </p:cNvSpPr>
          <p:nvPr>
            <p:ph type="title"/>
          </p:nvPr>
        </p:nvSpPr>
        <p:spPr/>
        <p:txBody>
          <a:bodyPr/>
          <a:lstStyle/>
          <a:p>
            <a:r>
              <a:rPr lang="en-SE" dirty="0"/>
              <a:t>Determining Moderation</a:t>
            </a:r>
          </a:p>
        </p:txBody>
      </p:sp>
      <p:sp>
        <p:nvSpPr>
          <p:cNvPr id="3" name="Content Placeholder 2">
            <a:extLst>
              <a:ext uri="{FF2B5EF4-FFF2-40B4-BE49-F238E27FC236}">
                <a16:creationId xmlns:a16="http://schemas.microsoft.com/office/drawing/2014/main" id="{C3D55DBE-9AE5-09F2-AE92-CEF20D4F02B2}"/>
              </a:ext>
            </a:extLst>
          </p:cNvPr>
          <p:cNvSpPr>
            <a:spLocks noGrp="1"/>
          </p:cNvSpPr>
          <p:nvPr>
            <p:ph idx="1"/>
          </p:nvPr>
        </p:nvSpPr>
        <p:spPr>
          <a:xfrm>
            <a:off x="838200" y="1825625"/>
            <a:ext cx="10515600" cy="801034"/>
          </a:xfrm>
        </p:spPr>
        <p:txBody>
          <a:bodyPr/>
          <a:lstStyle/>
          <a:p>
            <a:pPr marL="0" indent="0">
              <a:buNone/>
            </a:pPr>
            <a:r>
              <a:rPr lang="en-SE" dirty="0"/>
              <a:t>The existence of a moderator evokes a distinct effect pattern.</a:t>
            </a:r>
          </a:p>
        </p:txBody>
      </p:sp>
      <p:sp>
        <p:nvSpPr>
          <p:cNvPr id="4" name="Date Placeholder 3">
            <a:extLst>
              <a:ext uri="{FF2B5EF4-FFF2-40B4-BE49-F238E27FC236}">
                <a16:creationId xmlns:a16="http://schemas.microsoft.com/office/drawing/2014/main" id="{92349020-D570-280D-1BAC-76588B3E5B37}"/>
              </a:ext>
            </a:extLst>
          </p:cNvPr>
          <p:cNvSpPr>
            <a:spLocks noGrp="1"/>
          </p:cNvSpPr>
          <p:nvPr>
            <p:ph type="dt" sz="half" idx="10"/>
          </p:nvPr>
        </p:nvSpPr>
        <p:spPr/>
        <p:txBody>
          <a:bodyPr/>
          <a:lstStyle/>
          <a:p>
            <a:fld id="{A1C06950-82F8-45F4-A28D-9FBF8CAE29F7}" type="datetime1">
              <a:rPr lang="de-DE" smtClean="0"/>
              <a:t>17.03.2026</a:t>
            </a:fld>
            <a:endParaRPr lang="en-SE"/>
          </a:p>
        </p:txBody>
      </p:sp>
      <p:sp>
        <p:nvSpPr>
          <p:cNvPr id="5" name="Slide Number Placeholder 4">
            <a:extLst>
              <a:ext uri="{FF2B5EF4-FFF2-40B4-BE49-F238E27FC236}">
                <a16:creationId xmlns:a16="http://schemas.microsoft.com/office/drawing/2014/main" id="{4523DC79-057E-4D72-43D2-6F5315B2191C}"/>
              </a:ext>
            </a:extLst>
          </p:cNvPr>
          <p:cNvSpPr>
            <a:spLocks noGrp="1"/>
          </p:cNvSpPr>
          <p:nvPr>
            <p:ph type="sldNum" sz="quarter" idx="12"/>
          </p:nvPr>
        </p:nvSpPr>
        <p:spPr/>
        <p:txBody>
          <a:bodyPr/>
          <a:lstStyle/>
          <a:p>
            <a:fld id="{271ECC92-9CDE-4EB3-B1C5-F46B9E1FA3C1}" type="slidenum">
              <a:rPr lang="en-SE" smtClean="0"/>
              <a:t>16</a:t>
            </a:fld>
            <a:endParaRPr lang="en-SE"/>
          </a:p>
        </p:txBody>
      </p:sp>
      <p:grpSp>
        <p:nvGrpSpPr>
          <p:cNvPr id="9" name="Group 8">
            <a:extLst>
              <a:ext uri="{FF2B5EF4-FFF2-40B4-BE49-F238E27FC236}">
                <a16:creationId xmlns:a16="http://schemas.microsoft.com/office/drawing/2014/main" id="{AD117927-50DD-4E06-7836-D89CEC07A388}"/>
              </a:ext>
            </a:extLst>
          </p:cNvPr>
          <p:cNvGrpSpPr/>
          <p:nvPr/>
        </p:nvGrpSpPr>
        <p:grpSpPr>
          <a:xfrm>
            <a:off x="838198" y="365125"/>
            <a:ext cx="1983884" cy="245531"/>
            <a:chOff x="4114799" y="3759391"/>
            <a:chExt cx="1983884" cy="1229241"/>
          </a:xfrm>
        </p:grpSpPr>
        <p:sp>
          <p:nvSpPr>
            <p:cNvPr id="10" name="Arrow: Pentagon 9">
              <a:extLst>
                <a:ext uri="{FF2B5EF4-FFF2-40B4-BE49-F238E27FC236}">
                  <a16:creationId xmlns:a16="http://schemas.microsoft.com/office/drawing/2014/main" id="{D2E73671-C23A-1652-2F16-D3E2037B56A7}"/>
                </a:ext>
              </a:extLst>
            </p:cNvPr>
            <p:cNvSpPr/>
            <p:nvPr/>
          </p:nvSpPr>
          <p:spPr>
            <a:xfrm>
              <a:off x="4114799" y="3759391"/>
              <a:ext cx="794039" cy="1229241"/>
            </a:xfrm>
            <a:prstGeom prst="homePlate">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SE" sz="1400" dirty="0"/>
                <a:t>Theory</a:t>
              </a:r>
            </a:p>
          </p:txBody>
        </p:sp>
        <p:sp>
          <p:nvSpPr>
            <p:cNvPr id="11" name="Arrow: Chevron 10">
              <a:extLst>
                <a:ext uri="{FF2B5EF4-FFF2-40B4-BE49-F238E27FC236}">
                  <a16:creationId xmlns:a16="http://schemas.microsoft.com/office/drawing/2014/main" id="{C58369D4-8BDB-402A-69C4-5BADA3040B7E}"/>
                </a:ext>
              </a:extLst>
            </p:cNvPr>
            <p:cNvSpPr/>
            <p:nvPr/>
          </p:nvSpPr>
          <p:spPr>
            <a:xfrm>
              <a:off x="4843616" y="3759391"/>
              <a:ext cx="1255067" cy="1229241"/>
            </a:xfrm>
            <a:prstGeom prst="chevron">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SE" sz="1400" dirty="0">
                  <a:solidFill>
                    <a:schemeClr val="tx1"/>
                  </a:solidFill>
                </a:rPr>
                <a:t>Use Case</a:t>
              </a:r>
            </a:p>
          </p:txBody>
        </p:sp>
      </p:grpSp>
      <p:grpSp>
        <p:nvGrpSpPr>
          <p:cNvPr id="89" name="Group 88">
            <a:extLst>
              <a:ext uri="{FF2B5EF4-FFF2-40B4-BE49-F238E27FC236}">
                <a16:creationId xmlns:a16="http://schemas.microsoft.com/office/drawing/2014/main" id="{C3F9A4C8-1063-F8B2-B0F7-1D7DE81F80C6}"/>
              </a:ext>
            </a:extLst>
          </p:cNvPr>
          <p:cNvGrpSpPr/>
          <p:nvPr/>
        </p:nvGrpSpPr>
        <p:grpSpPr>
          <a:xfrm>
            <a:off x="1167619" y="2761596"/>
            <a:ext cx="1547041" cy="1074447"/>
            <a:chOff x="1829785" y="2801594"/>
            <a:chExt cx="1547041" cy="1074447"/>
          </a:xfrm>
        </p:grpSpPr>
        <p:sp>
          <p:nvSpPr>
            <p:cNvPr id="13" name="Oval 12">
              <a:extLst>
                <a:ext uri="{FF2B5EF4-FFF2-40B4-BE49-F238E27FC236}">
                  <a16:creationId xmlns:a16="http://schemas.microsoft.com/office/drawing/2014/main" id="{2526D6DF-8897-358B-0E12-9E11A8BE0094}"/>
                </a:ext>
              </a:extLst>
            </p:cNvPr>
            <p:cNvSpPr/>
            <p:nvPr/>
          </p:nvSpPr>
          <p:spPr>
            <a:xfrm>
              <a:off x="1829785" y="2962232"/>
              <a:ext cx="360000" cy="360000"/>
            </a:xfrm>
            <a:prstGeom prst="ellipse">
              <a:avLst/>
            </a:prstGeom>
            <a:solidFill>
              <a:srgbClr val="F8766D"/>
            </a:solidFill>
            <a:ln>
              <a:solidFill>
                <a:srgbClr val="D0180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SE" noProof="0" dirty="0">
                  <a:solidFill>
                    <a:srgbClr val="D0180A"/>
                  </a:solidFill>
                </a:rPr>
                <a:t>x</a:t>
              </a:r>
              <a:endParaRPr lang="en-US" noProof="0" dirty="0">
                <a:solidFill>
                  <a:srgbClr val="D0180A"/>
                </a:solidFill>
              </a:endParaRPr>
            </a:p>
          </p:txBody>
        </p:sp>
        <p:sp>
          <p:nvSpPr>
            <p:cNvPr id="14" name="Oval 13">
              <a:extLst>
                <a:ext uri="{FF2B5EF4-FFF2-40B4-BE49-F238E27FC236}">
                  <a16:creationId xmlns:a16="http://schemas.microsoft.com/office/drawing/2014/main" id="{2FA4D6E9-CABF-7DDF-09F2-237C21096155}"/>
                </a:ext>
              </a:extLst>
            </p:cNvPr>
            <p:cNvSpPr/>
            <p:nvPr/>
          </p:nvSpPr>
          <p:spPr>
            <a:xfrm>
              <a:off x="3016826" y="2962232"/>
              <a:ext cx="360000" cy="360000"/>
            </a:xfrm>
            <a:prstGeom prst="ellipse">
              <a:avLst/>
            </a:prstGeom>
            <a:solidFill>
              <a:srgbClr val="00BFC4"/>
            </a:solidFill>
            <a:ln>
              <a:solidFill>
                <a:srgbClr val="006D7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SE" noProof="0" dirty="0">
                  <a:solidFill>
                    <a:srgbClr val="006D70"/>
                  </a:solidFill>
                </a:rPr>
                <a:t>y</a:t>
              </a:r>
              <a:endParaRPr lang="en-US" noProof="0" dirty="0">
                <a:solidFill>
                  <a:srgbClr val="006D70"/>
                </a:solidFill>
              </a:endParaRPr>
            </a:p>
          </p:txBody>
        </p:sp>
        <p:cxnSp>
          <p:nvCxnSpPr>
            <p:cNvPr id="15" name="Straight Arrow Connector 14">
              <a:extLst>
                <a:ext uri="{FF2B5EF4-FFF2-40B4-BE49-F238E27FC236}">
                  <a16:creationId xmlns:a16="http://schemas.microsoft.com/office/drawing/2014/main" id="{7EC4245F-3940-2959-D561-55DDA4335892}"/>
                </a:ext>
              </a:extLst>
            </p:cNvPr>
            <p:cNvCxnSpPr>
              <a:stCxn id="13" idx="6"/>
              <a:endCxn id="14" idx="2"/>
            </p:cNvCxnSpPr>
            <p:nvPr/>
          </p:nvCxnSpPr>
          <p:spPr>
            <a:xfrm>
              <a:off x="2189785" y="3142232"/>
              <a:ext cx="827041"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18" name="Oval 17">
              <a:extLst>
                <a:ext uri="{FF2B5EF4-FFF2-40B4-BE49-F238E27FC236}">
                  <a16:creationId xmlns:a16="http://schemas.microsoft.com/office/drawing/2014/main" id="{7919D0B5-08BE-7575-6CD6-6A0CBAE3B283}"/>
                </a:ext>
              </a:extLst>
            </p:cNvPr>
            <p:cNvSpPr/>
            <p:nvPr/>
          </p:nvSpPr>
          <p:spPr>
            <a:xfrm>
              <a:off x="2413260" y="3516041"/>
              <a:ext cx="360000" cy="360000"/>
            </a:xfrm>
            <a:prstGeom prst="ellipse">
              <a:avLst/>
            </a:prstGeom>
            <a:solidFill>
              <a:schemeClr val="bg1">
                <a:lumMod val="75000"/>
              </a:schemeClr>
            </a:solidFill>
            <a:ln>
              <a:solidFill>
                <a:schemeClr val="bg1">
                  <a:lumMod val="50000"/>
                </a:schemeClr>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SE" noProof="0" dirty="0">
                  <a:solidFill>
                    <a:schemeClr val="tx1">
                      <a:lumMod val="50000"/>
                      <a:lumOff val="50000"/>
                    </a:schemeClr>
                  </a:solidFill>
                </a:rPr>
                <a:t>a</a:t>
              </a:r>
              <a:endParaRPr lang="en-US" noProof="0" dirty="0">
                <a:solidFill>
                  <a:schemeClr val="tx1">
                    <a:lumMod val="50000"/>
                    <a:lumOff val="50000"/>
                  </a:schemeClr>
                </a:solidFill>
              </a:endParaRPr>
            </a:p>
          </p:txBody>
        </p:sp>
        <mc:AlternateContent xmlns:mc="http://schemas.openxmlformats.org/markup-compatibility/2006">
          <mc:Choice xmlns:a14="http://schemas.microsoft.com/office/drawing/2010/main" Requires="a14">
            <p:sp>
              <p:nvSpPr>
                <p:cNvPr id="71" name="TextBox 70">
                  <a:extLst>
                    <a:ext uri="{FF2B5EF4-FFF2-40B4-BE49-F238E27FC236}">
                      <a16:creationId xmlns:a16="http://schemas.microsoft.com/office/drawing/2014/main" id="{619A6BE8-2A72-2BCB-5672-DBF5D98C47B3}"/>
                    </a:ext>
                  </a:extLst>
                </p:cNvPr>
                <p:cNvSpPr txBox="1"/>
                <p:nvPr/>
              </p:nvSpPr>
              <p:spPr>
                <a:xfrm>
                  <a:off x="2450914" y="2801594"/>
                  <a:ext cx="284693" cy="276999"/>
                </a:xfrm>
                <a:prstGeom prst="rect">
                  <a:avLst/>
                </a:prstGeom>
                <a:noFill/>
              </p:spPr>
              <p:txBody>
                <a:bodyPr wrap="none" lIns="0" tIns="0" rIns="0" bIns="0" rtlCol="0">
                  <a:spAutoFit/>
                </a:bodyPr>
                <a:lstStyle/>
                <a:p>
                  <a14:m>
                    <m:oMathPara xmlns:m="http://schemas.openxmlformats.org/officeDocument/2006/math">
                      <m:oMathParaPr>
                        <m:jc m:val="centerGroup"/>
                      </m:oMathParaPr>
                      <m:oMath xmlns:m="http://schemas.openxmlformats.org/officeDocument/2006/math">
                        <m:sSub>
                          <m:sSubPr>
                            <m:ctrlPr>
                              <a:rPr lang="en-SE" b="0" i="1" smtClean="0">
                                <a:solidFill>
                                  <a:srgbClr val="C00000"/>
                                </a:solidFill>
                                <a:latin typeface="Cambria Math" panose="02040503050406030204" pitchFamily="18" charset="0"/>
                              </a:rPr>
                            </m:ctrlPr>
                          </m:sSubPr>
                          <m:e>
                            <m:r>
                              <a:rPr lang="en-SE" b="0" i="1" smtClean="0">
                                <a:solidFill>
                                  <a:srgbClr val="C00000"/>
                                </a:solidFill>
                                <a:latin typeface="Cambria Math" panose="02040503050406030204" pitchFamily="18" charset="0"/>
                              </a:rPr>
                              <m:t>𝛽</m:t>
                            </m:r>
                          </m:e>
                          <m:sub>
                            <m:r>
                              <a:rPr lang="en-SE" b="0" i="1" smtClean="0">
                                <a:solidFill>
                                  <a:srgbClr val="C00000"/>
                                </a:solidFill>
                                <a:latin typeface="Cambria Math" panose="02040503050406030204" pitchFamily="18" charset="0"/>
                              </a:rPr>
                              <m:t>𝑥</m:t>
                            </m:r>
                          </m:sub>
                        </m:sSub>
                      </m:oMath>
                    </m:oMathPara>
                  </a14:m>
                  <a:endParaRPr lang="en-SE" dirty="0"/>
                </a:p>
              </p:txBody>
            </p:sp>
          </mc:Choice>
          <mc:Fallback>
            <p:sp>
              <p:nvSpPr>
                <p:cNvPr id="71" name="TextBox 70">
                  <a:extLst>
                    <a:ext uri="{FF2B5EF4-FFF2-40B4-BE49-F238E27FC236}">
                      <a16:creationId xmlns:a16="http://schemas.microsoft.com/office/drawing/2014/main" id="{619A6BE8-2A72-2BCB-5672-DBF5D98C47B3}"/>
                    </a:ext>
                  </a:extLst>
                </p:cNvPr>
                <p:cNvSpPr txBox="1">
                  <a:spLocks noRot="1" noChangeAspect="1" noMove="1" noResize="1" noEditPoints="1" noAdjustHandles="1" noChangeArrowheads="1" noChangeShapeType="1" noTextEdit="1"/>
                </p:cNvSpPr>
                <p:nvPr/>
              </p:nvSpPr>
              <p:spPr>
                <a:xfrm>
                  <a:off x="2450914" y="2801594"/>
                  <a:ext cx="284693" cy="276999"/>
                </a:xfrm>
                <a:prstGeom prst="rect">
                  <a:avLst/>
                </a:prstGeom>
                <a:blipFill>
                  <a:blip r:embed="rId2"/>
                  <a:stretch>
                    <a:fillRect l="-29787" t="-2222" r="-2128" b="-35556"/>
                  </a:stretch>
                </a:blipFill>
              </p:spPr>
              <p:txBody>
                <a:bodyPr/>
                <a:lstStyle/>
                <a:p>
                  <a:r>
                    <a:rPr lang="en-SE">
                      <a:noFill/>
                    </a:rPr>
                    <a:t> </a:t>
                  </a:r>
                </a:p>
              </p:txBody>
            </p:sp>
          </mc:Fallback>
        </mc:AlternateContent>
      </p:grpSp>
      <p:grpSp>
        <p:nvGrpSpPr>
          <p:cNvPr id="83" name="Group 82">
            <a:extLst>
              <a:ext uri="{FF2B5EF4-FFF2-40B4-BE49-F238E27FC236}">
                <a16:creationId xmlns:a16="http://schemas.microsoft.com/office/drawing/2014/main" id="{C63A1D3F-A3B5-6DAD-4B0D-553051DE024D}"/>
              </a:ext>
            </a:extLst>
          </p:cNvPr>
          <p:cNvGrpSpPr/>
          <p:nvPr/>
        </p:nvGrpSpPr>
        <p:grpSpPr>
          <a:xfrm>
            <a:off x="838198" y="3923754"/>
            <a:ext cx="2078246" cy="1872140"/>
            <a:chOff x="1008094" y="3821667"/>
            <a:chExt cx="2078246" cy="1872140"/>
          </a:xfrm>
        </p:grpSpPr>
        <p:cxnSp>
          <p:nvCxnSpPr>
            <p:cNvPr id="77" name="Straight Arrow Connector 76">
              <a:extLst>
                <a:ext uri="{FF2B5EF4-FFF2-40B4-BE49-F238E27FC236}">
                  <a16:creationId xmlns:a16="http://schemas.microsoft.com/office/drawing/2014/main" id="{1472BDCA-6872-C7C0-5DC3-F794D9A35AEB}"/>
                </a:ext>
              </a:extLst>
            </p:cNvPr>
            <p:cNvCxnSpPr/>
            <p:nvPr/>
          </p:nvCxnSpPr>
          <p:spPr>
            <a:xfrm>
              <a:off x="1152525" y="5324475"/>
              <a:ext cx="1917022" cy="0"/>
            </a:xfrm>
            <a:prstGeom prst="straightConnector1">
              <a:avLst/>
            </a:prstGeom>
            <a:ln w="28575">
              <a:tailEnd type="triangle"/>
            </a:ln>
          </p:spPr>
          <p:style>
            <a:lnRef idx="2">
              <a:schemeClr val="dk1"/>
            </a:lnRef>
            <a:fillRef idx="0">
              <a:schemeClr val="dk1"/>
            </a:fillRef>
            <a:effectRef idx="1">
              <a:schemeClr val="dk1"/>
            </a:effectRef>
            <a:fontRef idx="minor">
              <a:schemeClr val="tx1"/>
            </a:fontRef>
          </p:style>
        </p:cxnSp>
        <p:cxnSp>
          <p:nvCxnSpPr>
            <p:cNvPr id="78" name="Straight Arrow Connector 77">
              <a:extLst>
                <a:ext uri="{FF2B5EF4-FFF2-40B4-BE49-F238E27FC236}">
                  <a16:creationId xmlns:a16="http://schemas.microsoft.com/office/drawing/2014/main" id="{80352C6B-0557-FEA9-BAF0-56C54E81C191}"/>
                </a:ext>
              </a:extLst>
            </p:cNvPr>
            <p:cNvCxnSpPr>
              <a:cxnSpLocks/>
            </p:cNvCxnSpPr>
            <p:nvPr/>
          </p:nvCxnSpPr>
          <p:spPr>
            <a:xfrm flipV="1">
              <a:off x="1152525" y="4191000"/>
              <a:ext cx="0" cy="1133475"/>
            </a:xfrm>
            <a:prstGeom prst="straightConnector1">
              <a:avLst/>
            </a:prstGeom>
            <a:ln w="28575">
              <a:tailEnd type="triangle"/>
            </a:ln>
          </p:spPr>
          <p:style>
            <a:lnRef idx="2">
              <a:schemeClr val="dk1"/>
            </a:lnRef>
            <a:fillRef idx="0">
              <a:schemeClr val="dk1"/>
            </a:fillRef>
            <a:effectRef idx="1">
              <a:schemeClr val="dk1"/>
            </a:effectRef>
            <a:fontRef idx="minor">
              <a:schemeClr val="tx1"/>
            </a:fontRef>
          </p:style>
        </p:cxnSp>
        <p:sp>
          <p:nvSpPr>
            <p:cNvPr id="81" name="TextBox 80">
              <a:extLst>
                <a:ext uri="{FF2B5EF4-FFF2-40B4-BE49-F238E27FC236}">
                  <a16:creationId xmlns:a16="http://schemas.microsoft.com/office/drawing/2014/main" id="{B5B2036B-3925-647A-A2C1-073706B8694A}"/>
                </a:ext>
              </a:extLst>
            </p:cNvPr>
            <p:cNvSpPr txBox="1"/>
            <p:nvPr/>
          </p:nvSpPr>
          <p:spPr>
            <a:xfrm>
              <a:off x="2778242" y="5324475"/>
              <a:ext cx="308098" cy="369332"/>
            </a:xfrm>
            <a:prstGeom prst="rect">
              <a:avLst/>
            </a:prstGeom>
            <a:noFill/>
          </p:spPr>
          <p:txBody>
            <a:bodyPr wrap="none" rtlCol="0">
              <a:spAutoFit/>
            </a:bodyPr>
            <a:lstStyle/>
            <a:p>
              <a:r>
                <a:rPr lang="en-SE" dirty="0">
                  <a:solidFill>
                    <a:schemeClr val="tx1">
                      <a:lumMod val="50000"/>
                      <a:lumOff val="50000"/>
                    </a:schemeClr>
                  </a:solidFill>
                </a:rPr>
                <a:t>a</a:t>
              </a:r>
            </a:p>
          </p:txBody>
        </p:sp>
        <p:sp>
          <p:nvSpPr>
            <p:cNvPr id="82" name="TextBox 81">
              <a:extLst>
                <a:ext uri="{FF2B5EF4-FFF2-40B4-BE49-F238E27FC236}">
                  <a16:creationId xmlns:a16="http://schemas.microsoft.com/office/drawing/2014/main" id="{0A776A93-0951-E675-82AE-485B4BDEFF50}"/>
                </a:ext>
              </a:extLst>
            </p:cNvPr>
            <p:cNvSpPr txBox="1"/>
            <p:nvPr/>
          </p:nvSpPr>
          <p:spPr>
            <a:xfrm>
              <a:off x="1008094" y="3821667"/>
              <a:ext cx="288862" cy="369332"/>
            </a:xfrm>
            <a:prstGeom prst="rect">
              <a:avLst/>
            </a:prstGeom>
            <a:noFill/>
          </p:spPr>
          <p:txBody>
            <a:bodyPr wrap="none" rtlCol="0">
              <a:spAutoFit/>
            </a:bodyPr>
            <a:lstStyle/>
            <a:p>
              <a:r>
                <a:rPr lang="en-SE" dirty="0">
                  <a:solidFill>
                    <a:srgbClr val="006D70"/>
                  </a:solidFill>
                </a:rPr>
                <a:t>y</a:t>
              </a:r>
            </a:p>
          </p:txBody>
        </p:sp>
      </p:grpSp>
      <p:cxnSp>
        <p:nvCxnSpPr>
          <p:cNvPr id="85" name="Straight Connector 84">
            <a:extLst>
              <a:ext uri="{FF2B5EF4-FFF2-40B4-BE49-F238E27FC236}">
                <a16:creationId xmlns:a16="http://schemas.microsoft.com/office/drawing/2014/main" id="{35C1CF14-4278-7B65-A43D-B0D626AD66A7}"/>
              </a:ext>
            </a:extLst>
          </p:cNvPr>
          <p:cNvCxnSpPr>
            <a:cxnSpLocks/>
          </p:cNvCxnSpPr>
          <p:nvPr/>
        </p:nvCxnSpPr>
        <p:spPr>
          <a:xfrm>
            <a:off x="982629" y="5032078"/>
            <a:ext cx="1841175" cy="0"/>
          </a:xfrm>
          <a:prstGeom prst="line">
            <a:avLst/>
          </a:prstGeom>
          <a:ln>
            <a:solidFill>
              <a:schemeClr val="tx1">
                <a:lumMod val="75000"/>
                <a:lumOff val="25000"/>
              </a:schemeClr>
            </a:solidFill>
          </a:ln>
        </p:spPr>
        <p:style>
          <a:lnRef idx="2">
            <a:schemeClr val="dk1"/>
          </a:lnRef>
          <a:fillRef idx="0">
            <a:schemeClr val="dk1"/>
          </a:fillRef>
          <a:effectRef idx="1">
            <a:schemeClr val="dk1"/>
          </a:effectRef>
          <a:fontRef idx="minor">
            <a:schemeClr val="tx1"/>
          </a:fontRef>
        </p:style>
      </p:cxnSp>
      <p:cxnSp>
        <p:nvCxnSpPr>
          <p:cNvPr id="87" name="Straight Connector 86">
            <a:extLst>
              <a:ext uri="{FF2B5EF4-FFF2-40B4-BE49-F238E27FC236}">
                <a16:creationId xmlns:a16="http://schemas.microsoft.com/office/drawing/2014/main" id="{C8E64C31-44B6-7C18-8836-741C188CCCD0}"/>
              </a:ext>
            </a:extLst>
          </p:cNvPr>
          <p:cNvCxnSpPr>
            <a:cxnSpLocks/>
          </p:cNvCxnSpPr>
          <p:nvPr/>
        </p:nvCxnSpPr>
        <p:spPr>
          <a:xfrm>
            <a:off x="982629" y="4670128"/>
            <a:ext cx="1841175" cy="0"/>
          </a:xfrm>
          <a:prstGeom prst="line">
            <a:avLst/>
          </a:prstGeom>
          <a:ln>
            <a:solidFill>
              <a:srgbClr val="C00000"/>
            </a:solidFill>
          </a:ln>
        </p:spPr>
        <p:style>
          <a:lnRef idx="2">
            <a:schemeClr val="dk1"/>
          </a:lnRef>
          <a:fillRef idx="0">
            <a:schemeClr val="dk1"/>
          </a:fillRef>
          <a:effectRef idx="1">
            <a:schemeClr val="dk1"/>
          </a:effectRef>
          <a:fontRef idx="minor">
            <a:schemeClr val="tx1"/>
          </a:fontRef>
        </p:style>
      </p:cxnSp>
      <p:grpSp>
        <p:nvGrpSpPr>
          <p:cNvPr id="91" name="Group 90">
            <a:extLst>
              <a:ext uri="{FF2B5EF4-FFF2-40B4-BE49-F238E27FC236}">
                <a16:creationId xmlns:a16="http://schemas.microsoft.com/office/drawing/2014/main" id="{EF0831FD-3AAD-E052-3B95-21468A1D07ED}"/>
              </a:ext>
            </a:extLst>
          </p:cNvPr>
          <p:cNvGrpSpPr/>
          <p:nvPr/>
        </p:nvGrpSpPr>
        <p:grpSpPr>
          <a:xfrm>
            <a:off x="3600088" y="2761596"/>
            <a:ext cx="2078246" cy="3034298"/>
            <a:chOff x="938580" y="2768243"/>
            <a:chExt cx="2078246" cy="3034298"/>
          </a:xfrm>
        </p:grpSpPr>
        <p:grpSp>
          <p:nvGrpSpPr>
            <p:cNvPr id="92" name="Group 91">
              <a:extLst>
                <a:ext uri="{FF2B5EF4-FFF2-40B4-BE49-F238E27FC236}">
                  <a16:creationId xmlns:a16="http://schemas.microsoft.com/office/drawing/2014/main" id="{F932D58B-E1EC-2C16-ABB9-881828FCB4A4}"/>
                </a:ext>
              </a:extLst>
            </p:cNvPr>
            <p:cNvGrpSpPr/>
            <p:nvPr/>
          </p:nvGrpSpPr>
          <p:grpSpPr>
            <a:xfrm>
              <a:off x="1268001" y="2768243"/>
              <a:ext cx="1547041" cy="1074447"/>
              <a:chOff x="1829785" y="2801594"/>
              <a:chExt cx="1547041" cy="1074447"/>
            </a:xfrm>
          </p:grpSpPr>
          <p:sp>
            <p:nvSpPr>
              <p:cNvPr id="100" name="Oval 99">
                <a:extLst>
                  <a:ext uri="{FF2B5EF4-FFF2-40B4-BE49-F238E27FC236}">
                    <a16:creationId xmlns:a16="http://schemas.microsoft.com/office/drawing/2014/main" id="{64CFCF6D-1868-0FD9-3DEE-F334C848ECC0}"/>
                  </a:ext>
                </a:extLst>
              </p:cNvPr>
              <p:cNvSpPr/>
              <p:nvPr/>
            </p:nvSpPr>
            <p:spPr>
              <a:xfrm>
                <a:off x="1829785" y="2962232"/>
                <a:ext cx="360000" cy="360000"/>
              </a:xfrm>
              <a:prstGeom prst="ellipse">
                <a:avLst/>
              </a:prstGeom>
              <a:solidFill>
                <a:srgbClr val="F8766D"/>
              </a:solidFill>
              <a:ln>
                <a:solidFill>
                  <a:srgbClr val="D0180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SE" noProof="0" dirty="0">
                    <a:solidFill>
                      <a:srgbClr val="D0180A"/>
                    </a:solidFill>
                  </a:rPr>
                  <a:t>x</a:t>
                </a:r>
                <a:endParaRPr lang="en-US" noProof="0" dirty="0">
                  <a:solidFill>
                    <a:srgbClr val="D0180A"/>
                  </a:solidFill>
                </a:endParaRPr>
              </a:p>
            </p:txBody>
          </p:sp>
          <p:sp>
            <p:nvSpPr>
              <p:cNvPr id="101" name="Oval 100">
                <a:extLst>
                  <a:ext uri="{FF2B5EF4-FFF2-40B4-BE49-F238E27FC236}">
                    <a16:creationId xmlns:a16="http://schemas.microsoft.com/office/drawing/2014/main" id="{72101797-6FEE-E354-181E-B341A2B2FD80}"/>
                  </a:ext>
                </a:extLst>
              </p:cNvPr>
              <p:cNvSpPr/>
              <p:nvPr/>
            </p:nvSpPr>
            <p:spPr>
              <a:xfrm>
                <a:off x="3016826" y="2962232"/>
                <a:ext cx="360000" cy="360000"/>
              </a:xfrm>
              <a:prstGeom prst="ellipse">
                <a:avLst/>
              </a:prstGeom>
              <a:solidFill>
                <a:srgbClr val="00BFC4"/>
              </a:solidFill>
              <a:ln>
                <a:solidFill>
                  <a:srgbClr val="006D7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SE" noProof="0" dirty="0">
                    <a:solidFill>
                      <a:srgbClr val="006D70"/>
                    </a:solidFill>
                  </a:rPr>
                  <a:t>y</a:t>
                </a:r>
                <a:endParaRPr lang="en-US" noProof="0" dirty="0">
                  <a:solidFill>
                    <a:srgbClr val="006D70"/>
                  </a:solidFill>
                </a:endParaRPr>
              </a:p>
            </p:txBody>
          </p:sp>
          <p:cxnSp>
            <p:nvCxnSpPr>
              <p:cNvPr id="102" name="Straight Arrow Connector 101">
                <a:extLst>
                  <a:ext uri="{FF2B5EF4-FFF2-40B4-BE49-F238E27FC236}">
                    <a16:creationId xmlns:a16="http://schemas.microsoft.com/office/drawing/2014/main" id="{A93306A8-F300-B518-1D88-3B02632939D5}"/>
                  </a:ext>
                </a:extLst>
              </p:cNvPr>
              <p:cNvCxnSpPr>
                <a:stCxn id="100" idx="6"/>
                <a:endCxn id="101" idx="2"/>
              </p:cNvCxnSpPr>
              <p:nvPr/>
            </p:nvCxnSpPr>
            <p:spPr>
              <a:xfrm>
                <a:off x="2189785" y="3142232"/>
                <a:ext cx="827041"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103" name="Oval 102">
                <a:extLst>
                  <a:ext uri="{FF2B5EF4-FFF2-40B4-BE49-F238E27FC236}">
                    <a16:creationId xmlns:a16="http://schemas.microsoft.com/office/drawing/2014/main" id="{67D42D92-33D4-C7E4-7D4C-69D5ABC004C1}"/>
                  </a:ext>
                </a:extLst>
              </p:cNvPr>
              <p:cNvSpPr/>
              <p:nvPr/>
            </p:nvSpPr>
            <p:spPr>
              <a:xfrm>
                <a:off x="2413260" y="3516041"/>
                <a:ext cx="360000" cy="360000"/>
              </a:xfrm>
              <a:prstGeom prst="ellipse">
                <a:avLst/>
              </a:prstGeom>
              <a:solidFill>
                <a:schemeClr val="bg1">
                  <a:lumMod val="75000"/>
                </a:schemeClr>
              </a:solidFill>
              <a:ln>
                <a:solidFill>
                  <a:schemeClr val="bg1">
                    <a:lumMod val="50000"/>
                  </a:schemeClr>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SE" noProof="0" dirty="0">
                    <a:solidFill>
                      <a:schemeClr val="tx1">
                        <a:lumMod val="50000"/>
                        <a:lumOff val="50000"/>
                      </a:schemeClr>
                    </a:solidFill>
                  </a:rPr>
                  <a:t>a</a:t>
                </a:r>
                <a:endParaRPr lang="en-US" noProof="0" dirty="0">
                  <a:solidFill>
                    <a:schemeClr val="tx1">
                      <a:lumMod val="50000"/>
                      <a:lumOff val="50000"/>
                    </a:schemeClr>
                  </a:solidFill>
                </a:endParaRPr>
              </a:p>
            </p:txBody>
          </p:sp>
          <p:cxnSp>
            <p:nvCxnSpPr>
              <p:cNvPr id="104" name="Straight Arrow Connector 103">
                <a:extLst>
                  <a:ext uri="{FF2B5EF4-FFF2-40B4-BE49-F238E27FC236}">
                    <a16:creationId xmlns:a16="http://schemas.microsoft.com/office/drawing/2014/main" id="{7E3B9810-9E86-040B-4B9D-5DDD9A942656}"/>
                  </a:ext>
                </a:extLst>
              </p:cNvPr>
              <p:cNvCxnSpPr>
                <a:cxnSpLocks/>
                <a:stCxn id="103" idx="7"/>
                <a:endCxn id="101" idx="3"/>
              </p:cNvCxnSpPr>
              <p:nvPr/>
            </p:nvCxnSpPr>
            <p:spPr>
              <a:xfrm flipV="1">
                <a:off x="2720539" y="3269511"/>
                <a:ext cx="349008" cy="299251"/>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mc:AlternateContent xmlns:mc="http://schemas.openxmlformats.org/markup-compatibility/2006">
            <mc:Choice xmlns:a14="http://schemas.microsoft.com/office/drawing/2010/main" Requires="a14">
              <p:sp>
                <p:nvSpPr>
                  <p:cNvPr id="106" name="TextBox 105">
                    <a:extLst>
                      <a:ext uri="{FF2B5EF4-FFF2-40B4-BE49-F238E27FC236}">
                        <a16:creationId xmlns:a16="http://schemas.microsoft.com/office/drawing/2014/main" id="{2F281DDA-E611-37C6-551A-C5D7F42C8996}"/>
                      </a:ext>
                    </a:extLst>
                  </p:cNvPr>
                  <p:cNvSpPr txBox="1"/>
                  <p:nvPr/>
                </p:nvSpPr>
                <p:spPr>
                  <a:xfrm>
                    <a:off x="2450914" y="2801594"/>
                    <a:ext cx="284693" cy="276999"/>
                  </a:xfrm>
                  <a:prstGeom prst="rect">
                    <a:avLst/>
                  </a:prstGeom>
                  <a:noFill/>
                </p:spPr>
                <p:txBody>
                  <a:bodyPr wrap="none" lIns="0" tIns="0" rIns="0" bIns="0" rtlCol="0">
                    <a:spAutoFit/>
                  </a:bodyPr>
                  <a:lstStyle/>
                  <a:p>
                    <a14:m>
                      <m:oMathPara xmlns:m="http://schemas.openxmlformats.org/officeDocument/2006/math">
                        <m:oMathParaPr>
                          <m:jc m:val="centerGroup"/>
                        </m:oMathParaPr>
                        <m:oMath xmlns:m="http://schemas.openxmlformats.org/officeDocument/2006/math">
                          <m:sSub>
                            <m:sSubPr>
                              <m:ctrlPr>
                                <a:rPr lang="en-SE" b="0" i="1" smtClean="0">
                                  <a:solidFill>
                                    <a:srgbClr val="C00000"/>
                                  </a:solidFill>
                                  <a:latin typeface="Cambria Math" panose="02040503050406030204" pitchFamily="18" charset="0"/>
                                </a:rPr>
                              </m:ctrlPr>
                            </m:sSubPr>
                            <m:e>
                              <m:r>
                                <a:rPr lang="en-SE" b="0" i="1" smtClean="0">
                                  <a:solidFill>
                                    <a:srgbClr val="C00000"/>
                                  </a:solidFill>
                                  <a:latin typeface="Cambria Math" panose="02040503050406030204" pitchFamily="18" charset="0"/>
                                </a:rPr>
                                <m:t>𝛽</m:t>
                              </m:r>
                            </m:e>
                            <m:sub>
                              <m:r>
                                <a:rPr lang="en-SE" b="0" i="1" smtClean="0">
                                  <a:solidFill>
                                    <a:srgbClr val="C00000"/>
                                  </a:solidFill>
                                  <a:latin typeface="Cambria Math" panose="02040503050406030204" pitchFamily="18" charset="0"/>
                                </a:rPr>
                                <m:t>𝑥</m:t>
                              </m:r>
                            </m:sub>
                          </m:sSub>
                        </m:oMath>
                      </m:oMathPara>
                    </a14:m>
                    <a:endParaRPr lang="en-SE" dirty="0"/>
                  </a:p>
                </p:txBody>
              </p:sp>
            </mc:Choice>
            <mc:Fallback>
              <p:sp>
                <p:nvSpPr>
                  <p:cNvPr id="106" name="TextBox 105">
                    <a:extLst>
                      <a:ext uri="{FF2B5EF4-FFF2-40B4-BE49-F238E27FC236}">
                        <a16:creationId xmlns:a16="http://schemas.microsoft.com/office/drawing/2014/main" id="{2F281DDA-E611-37C6-551A-C5D7F42C8996}"/>
                      </a:ext>
                    </a:extLst>
                  </p:cNvPr>
                  <p:cNvSpPr txBox="1">
                    <a:spLocks noRot="1" noChangeAspect="1" noMove="1" noResize="1" noEditPoints="1" noAdjustHandles="1" noChangeArrowheads="1" noChangeShapeType="1" noTextEdit="1"/>
                  </p:cNvSpPr>
                  <p:nvPr/>
                </p:nvSpPr>
                <p:spPr>
                  <a:xfrm>
                    <a:off x="2450914" y="2801594"/>
                    <a:ext cx="284693" cy="276999"/>
                  </a:xfrm>
                  <a:prstGeom prst="rect">
                    <a:avLst/>
                  </a:prstGeom>
                  <a:blipFill>
                    <a:blip r:embed="rId3"/>
                    <a:stretch>
                      <a:fillRect l="-29787" t="-2222" r="-2128" b="-35556"/>
                    </a:stretch>
                  </a:blipFill>
                </p:spPr>
                <p:txBody>
                  <a:bodyPr/>
                  <a:lstStyle/>
                  <a:p>
                    <a:r>
                      <a:rPr lang="en-SE">
                        <a:noFill/>
                      </a:rPr>
                      <a:t> </a:t>
                    </a:r>
                  </a:p>
                </p:txBody>
              </p:sp>
            </mc:Fallback>
          </mc:AlternateContent>
          <mc:AlternateContent xmlns:mc="http://schemas.openxmlformats.org/markup-compatibility/2006">
            <mc:Choice xmlns:a14="http://schemas.microsoft.com/office/drawing/2010/main" Requires="a14">
              <p:sp>
                <p:nvSpPr>
                  <p:cNvPr id="107" name="TextBox 106">
                    <a:extLst>
                      <a:ext uri="{FF2B5EF4-FFF2-40B4-BE49-F238E27FC236}">
                        <a16:creationId xmlns:a16="http://schemas.microsoft.com/office/drawing/2014/main" id="{47D753E1-75FA-F686-076D-32D06C405BD4}"/>
                      </a:ext>
                    </a:extLst>
                  </p:cNvPr>
                  <p:cNvSpPr txBox="1"/>
                  <p:nvPr/>
                </p:nvSpPr>
                <p:spPr>
                  <a:xfrm>
                    <a:off x="2924186" y="3449510"/>
                    <a:ext cx="290721" cy="276999"/>
                  </a:xfrm>
                  <a:prstGeom prst="rect">
                    <a:avLst/>
                  </a:prstGeom>
                  <a:noFill/>
                </p:spPr>
                <p:txBody>
                  <a:bodyPr wrap="none" lIns="0" tIns="0" rIns="0" bIns="0" rtlCol="0">
                    <a:spAutoFit/>
                  </a:bodyPr>
                  <a:lstStyle/>
                  <a:p>
                    <a14:m>
                      <m:oMathPara xmlns:m="http://schemas.openxmlformats.org/officeDocument/2006/math">
                        <m:oMathParaPr>
                          <m:jc m:val="centerGroup"/>
                        </m:oMathParaPr>
                        <m:oMath xmlns:m="http://schemas.openxmlformats.org/officeDocument/2006/math">
                          <m:sSub>
                            <m:sSubPr>
                              <m:ctrlPr>
                                <a:rPr lang="en-SE" b="0" i="1" smtClean="0">
                                  <a:solidFill>
                                    <a:schemeClr val="bg1">
                                      <a:lumMod val="50000"/>
                                    </a:schemeClr>
                                  </a:solidFill>
                                  <a:latin typeface="Cambria Math" panose="02040503050406030204" pitchFamily="18" charset="0"/>
                                </a:rPr>
                              </m:ctrlPr>
                            </m:sSubPr>
                            <m:e>
                              <m:r>
                                <a:rPr lang="en-SE" b="0" i="1" smtClean="0">
                                  <a:solidFill>
                                    <a:schemeClr val="bg1">
                                      <a:lumMod val="50000"/>
                                    </a:schemeClr>
                                  </a:solidFill>
                                  <a:latin typeface="Cambria Math" panose="02040503050406030204" pitchFamily="18" charset="0"/>
                                </a:rPr>
                                <m:t>𝛽</m:t>
                              </m:r>
                            </m:e>
                            <m:sub>
                              <m:r>
                                <a:rPr lang="en-SE" b="0" i="1" smtClean="0">
                                  <a:solidFill>
                                    <a:schemeClr val="bg1">
                                      <a:lumMod val="50000"/>
                                    </a:schemeClr>
                                  </a:solidFill>
                                  <a:latin typeface="Cambria Math" panose="02040503050406030204" pitchFamily="18" charset="0"/>
                                </a:rPr>
                                <m:t>𝑎</m:t>
                              </m:r>
                            </m:sub>
                          </m:sSub>
                        </m:oMath>
                      </m:oMathPara>
                    </a14:m>
                    <a:endParaRPr lang="en-SE" dirty="0">
                      <a:solidFill>
                        <a:schemeClr val="bg1">
                          <a:lumMod val="50000"/>
                        </a:schemeClr>
                      </a:solidFill>
                    </a:endParaRPr>
                  </a:p>
                </p:txBody>
              </p:sp>
            </mc:Choice>
            <mc:Fallback>
              <p:sp>
                <p:nvSpPr>
                  <p:cNvPr id="107" name="TextBox 106">
                    <a:extLst>
                      <a:ext uri="{FF2B5EF4-FFF2-40B4-BE49-F238E27FC236}">
                        <a16:creationId xmlns:a16="http://schemas.microsoft.com/office/drawing/2014/main" id="{47D753E1-75FA-F686-076D-32D06C405BD4}"/>
                      </a:ext>
                    </a:extLst>
                  </p:cNvPr>
                  <p:cNvSpPr txBox="1">
                    <a:spLocks noRot="1" noChangeAspect="1" noMove="1" noResize="1" noEditPoints="1" noAdjustHandles="1" noChangeArrowheads="1" noChangeShapeType="1" noTextEdit="1"/>
                  </p:cNvSpPr>
                  <p:nvPr/>
                </p:nvSpPr>
                <p:spPr>
                  <a:xfrm>
                    <a:off x="2924186" y="3449510"/>
                    <a:ext cx="290721" cy="276999"/>
                  </a:xfrm>
                  <a:prstGeom prst="rect">
                    <a:avLst/>
                  </a:prstGeom>
                  <a:blipFill>
                    <a:blip r:embed="rId4"/>
                    <a:stretch>
                      <a:fillRect l="-29167" t="-2174" r="-2083" b="-32609"/>
                    </a:stretch>
                  </a:blipFill>
                </p:spPr>
                <p:txBody>
                  <a:bodyPr/>
                  <a:lstStyle/>
                  <a:p>
                    <a:r>
                      <a:rPr lang="en-SE">
                        <a:noFill/>
                      </a:rPr>
                      <a:t> </a:t>
                    </a:r>
                  </a:p>
                </p:txBody>
              </p:sp>
            </mc:Fallback>
          </mc:AlternateContent>
        </p:grpSp>
        <p:grpSp>
          <p:nvGrpSpPr>
            <p:cNvPr id="93" name="Group 92">
              <a:extLst>
                <a:ext uri="{FF2B5EF4-FFF2-40B4-BE49-F238E27FC236}">
                  <a16:creationId xmlns:a16="http://schemas.microsoft.com/office/drawing/2014/main" id="{B382D480-9E6C-A060-1914-4CF676C5359B}"/>
                </a:ext>
              </a:extLst>
            </p:cNvPr>
            <p:cNvGrpSpPr/>
            <p:nvPr/>
          </p:nvGrpSpPr>
          <p:grpSpPr>
            <a:xfrm>
              <a:off x="938580" y="3930401"/>
              <a:ext cx="2078246" cy="1872140"/>
              <a:chOff x="1008094" y="3821667"/>
              <a:chExt cx="2078246" cy="1872140"/>
            </a:xfrm>
          </p:grpSpPr>
          <p:cxnSp>
            <p:nvCxnSpPr>
              <p:cNvPr id="96" name="Straight Arrow Connector 95">
                <a:extLst>
                  <a:ext uri="{FF2B5EF4-FFF2-40B4-BE49-F238E27FC236}">
                    <a16:creationId xmlns:a16="http://schemas.microsoft.com/office/drawing/2014/main" id="{E322592B-E452-6AAA-71D5-932009B0A76F}"/>
                  </a:ext>
                </a:extLst>
              </p:cNvPr>
              <p:cNvCxnSpPr/>
              <p:nvPr/>
            </p:nvCxnSpPr>
            <p:spPr>
              <a:xfrm>
                <a:off x="1152525" y="5324475"/>
                <a:ext cx="1917022" cy="0"/>
              </a:xfrm>
              <a:prstGeom prst="straightConnector1">
                <a:avLst/>
              </a:prstGeom>
              <a:ln w="28575">
                <a:tailEnd type="triangle"/>
              </a:ln>
            </p:spPr>
            <p:style>
              <a:lnRef idx="2">
                <a:schemeClr val="dk1"/>
              </a:lnRef>
              <a:fillRef idx="0">
                <a:schemeClr val="dk1"/>
              </a:fillRef>
              <a:effectRef idx="1">
                <a:schemeClr val="dk1"/>
              </a:effectRef>
              <a:fontRef idx="minor">
                <a:schemeClr val="tx1"/>
              </a:fontRef>
            </p:style>
          </p:cxnSp>
          <p:cxnSp>
            <p:nvCxnSpPr>
              <p:cNvPr id="97" name="Straight Arrow Connector 96">
                <a:extLst>
                  <a:ext uri="{FF2B5EF4-FFF2-40B4-BE49-F238E27FC236}">
                    <a16:creationId xmlns:a16="http://schemas.microsoft.com/office/drawing/2014/main" id="{8D352D1A-5D5F-A4C5-0935-AAFEB244B603}"/>
                  </a:ext>
                </a:extLst>
              </p:cNvPr>
              <p:cNvCxnSpPr>
                <a:cxnSpLocks/>
              </p:cNvCxnSpPr>
              <p:nvPr/>
            </p:nvCxnSpPr>
            <p:spPr>
              <a:xfrm flipV="1">
                <a:off x="1152525" y="4191000"/>
                <a:ext cx="0" cy="1133475"/>
              </a:xfrm>
              <a:prstGeom prst="straightConnector1">
                <a:avLst/>
              </a:prstGeom>
              <a:ln w="28575">
                <a:tailEnd type="triangle"/>
              </a:ln>
            </p:spPr>
            <p:style>
              <a:lnRef idx="2">
                <a:schemeClr val="dk1"/>
              </a:lnRef>
              <a:fillRef idx="0">
                <a:schemeClr val="dk1"/>
              </a:fillRef>
              <a:effectRef idx="1">
                <a:schemeClr val="dk1"/>
              </a:effectRef>
              <a:fontRef idx="minor">
                <a:schemeClr val="tx1"/>
              </a:fontRef>
            </p:style>
          </p:cxnSp>
          <p:sp>
            <p:nvSpPr>
              <p:cNvPr id="98" name="TextBox 97">
                <a:extLst>
                  <a:ext uri="{FF2B5EF4-FFF2-40B4-BE49-F238E27FC236}">
                    <a16:creationId xmlns:a16="http://schemas.microsoft.com/office/drawing/2014/main" id="{693FE6E1-2E5A-EC1F-0E68-DDA53C042338}"/>
                  </a:ext>
                </a:extLst>
              </p:cNvPr>
              <p:cNvSpPr txBox="1"/>
              <p:nvPr/>
            </p:nvSpPr>
            <p:spPr>
              <a:xfrm>
                <a:off x="2778242" y="5324475"/>
                <a:ext cx="308098" cy="369332"/>
              </a:xfrm>
              <a:prstGeom prst="rect">
                <a:avLst/>
              </a:prstGeom>
              <a:noFill/>
            </p:spPr>
            <p:txBody>
              <a:bodyPr wrap="none" rtlCol="0">
                <a:spAutoFit/>
              </a:bodyPr>
              <a:lstStyle/>
              <a:p>
                <a:r>
                  <a:rPr lang="en-SE" dirty="0">
                    <a:solidFill>
                      <a:schemeClr val="tx1">
                        <a:lumMod val="50000"/>
                        <a:lumOff val="50000"/>
                      </a:schemeClr>
                    </a:solidFill>
                  </a:rPr>
                  <a:t>a</a:t>
                </a:r>
              </a:p>
            </p:txBody>
          </p:sp>
          <p:sp>
            <p:nvSpPr>
              <p:cNvPr id="99" name="TextBox 98">
                <a:extLst>
                  <a:ext uri="{FF2B5EF4-FFF2-40B4-BE49-F238E27FC236}">
                    <a16:creationId xmlns:a16="http://schemas.microsoft.com/office/drawing/2014/main" id="{22C192E1-4B6B-3790-B220-C1A0E2DD3172}"/>
                  </a:ext>
                </a:extLst>
              </p:cNvPr>
              <p:cNvSpPr txBox="1"/>
              <p:nvPr/>
            </p:nvSpPr>
            <p:spPr>
              <a:xfrm>
                <a:off x="1008094" y="3821667"/>
                <a:ext cx="288862" cy="369332"/>
              </a:xfrm>
              <a:prstGeom prst="rect">
                <a:avLst/>
              </a:prstGeom>
              <a:noFill/>
            </p:spPr>
            <p:txBody>
              <a:bodyPr wrap="none" rtlCol="0">
                <a:spAutoFit/>
              </a:bodyPr>
              <a:lstStyle/>
              <a:p>
                <a:r>
                  <a:rPr lang="en-SE" dirty="0">
                    <a:solidFill>
                      <a:srgbClr val="006D70"/>
                    </a:solidFill>
                  </a:rPr>
                  <a:t>y</a:t>
                </a:r>
              </a:p>
            </p:txBody>
          </p:sp>
        </p:grpSp>
        <p:cxnSp>
          <p:nvCxnSpPr>
            <p:cNvPr id="94" name="Straight Connector 93">
              <a:extLst>
                <a:ext uri="{FF2B5EF4-FFF2-40B4-BE49-F238E27FC236}">
                  <a16:creationId xmlns:a16="http://schemas.microsoft.com/office/drawing/2014/main" id="{0B062682-3FE2-5C2F-56C9-E048F2F3C4B1}"/>
                </a:ext>
              </a:extLst>
            </p:cNvPr>
            <p:cNvCxnSpPr>
              <a:cxnSpLocks/>
            </p:cNvCxnSpPr>
            <p:nvPr/>
          </p:nvCxnSpPr>
          <p:spPr>
            <a:xfrm flipV="1">
              <a:off x="1083011" y="4825215"/>
              <a:ext cx="1841175" cy="213510"/>
            </a:xfrm>
            <a:prstGeom prst="line">
              <a:avLst/>
            </a:prstGeom>
            <a:ln>
              <a:solidFill>
                <a:schemeClr val="tx1">
                  <a:lumMod val="75000"/>
                  <a:lumOff val="25000"/>
                </a:schemeClr>
              </a:solidFill>
            </a:ln>
          </p:spPr>
          <p:style>
            <a:lnRef idx="2">
              <a:schemeClr val="dk1"/>
            </a:lnRef>
            <a:fillRef idx="0">
              <a:schemeClr val="dk1"/>
            </a:fillRef>
            <a:effectRef idx="1">
              <a:schemeClr val="dk1"/>
            </a:effectRef>
            <a:fontRef idx="minor">
              <a:schemeClr val="tx1"/>
            </a:fontRef>
          </p:style>
        </p:cxnSp>
        <p:cxnSp>
          <p:nvCxnSpPr>
            <p:cNvPr id="95" name="Straight Connector 94">
              <a:extLst>
                <a:ext uri="{FF2B5EF4-FFF2-40B4-BE49-F238E27FC236}">
                  <a16:creationId xmlns:a16="http://schemas.microsoft.com/office/drawing/2014/main" id="{D9780E64-7B92-0C87-1848-82CD0AEAAC31}"/>
                </a:ext>
              </a:extLst>
            </p:cNvPr>
            <p:cNvCxnSpPr>
              <a:cxnSpLocks/>
            </p:cNvCxnSpPr>
            <p:nvPr/>
          </p:nvCxnSpPr>
          <p:spPr>
            <a:xfrm flipV="1">
              <a:off x="1083011" y="4463268"/>
              <a:ext cx="1841175" cy="213507"/>
            </a:xfrm>
            <a:prstGeom prst="line">
              <a:avLst/>
            </a:prstGeom>
            <a:ln>
              <a:solidFill>
                <a:srgbClr val="C00000"/>
              </a:solidFill>
            </a:ln>
          </p:spPr>
          <p:style>
            <a:lnRef idx="2">
              <a:schemeClr val="dk1"/>
            </a:lnRef>
            <a:fillRef idx="0">
              <a:schemeClr val="dk1"/>
            </a:fillRef>
            <a:effectRef idx="1">
              <a:schemeClr val="dk1"/>
            </a:effectRef>
            <a:fontRef idx="minor">
              <a:schemeClr val="tx1"/>
            </a:fontRef>
          </p:style>
        </p:cxnSp>
      </p:grpSp>
      <p:grpSp>
        <p:nvGrpSpPr>
          <p:cNvPr id="109" name="Group 108">
            <a:extLst>
              <a:ext uri="{FF2B5EF4-FFF2-40B4-BE49-F238E27FC236}">
                <a16:creationId xmlns:a16="http://schemas.microsoft.com/office/drawing/2014/main" id="{0B1D5DDA-C9E6-3290-7B6B-78155E33AC25}"/>
              </a:ext>
            </a:extLst>
          </p:cNvPr>
          <p:cNvGrpSpPr/>
          <p:nvPr/>
        </p:nvGrpSpPr>
        <p:grpSpPr>
          <a:xfrm>
            <a:off x="6361978" y="2761596"/>
            <a:ext cx="2078246" cy="3034298"/>
            <a:chOff x="938580" y="2768243"/>
            <a:chExt cx="2078246" cy="3034298"/>
          </a:xfrm>
        </p:grpSpPr>
        <p:grpSp>
          <p:nvGrpSpPr>
            <p:cNvPr id="110" name="Group 109">
              <a:extLst>
                <a:ext uri="{FF2B5EF4-FFF2-40B4-BE49-F238E27FC236}">
                  <a16:creationId xmlns:a16="http://schemas.microsoft.com/office/drawing/2014/main" id="{8C508F59-D369-9AA4-77ED-25AC232C4647}"/>
                </a:ext>
              </a:extLst>
            </p:cNvPr>
            <p:cNvGrpSpPr/>
            <p:nvPr/>
          </p:nvGrpSpPr>
          <p:grpSpPr>
            <a:xfrm>
              <a:off x="1268001" y="2768243"/>
              <a:ext cx="1547041" cy="1074447"/>
              <a:chOff x="1829785" y="2801594"/>
              <a:chExt cx="1547041" cy="1074447"/>
            </a:xfrm>
          </p:grpSpPr>
          <p:sp>
            <p:nvSpPr>
              <p:cNvPr id="118" name="Oval 117">
                <a:extLst>
                  <a:ext uri="{FF2B5EF4-FFF2-40B4-BE49-F238E27FC236}">
                    <a16:creationId xmlns:a16="http://schemas.microsoft.com/office/drawing/2014/main" id="{852047AA-3519-C899-FAA2-3819C5E7D3AB}"/>
                  </a:ext>
                </a:extLst>
              </p:cNvPr>
              <p:cNvSpPr/>
              <p:nvPr/>
            </p:nvSpPr>
            <p:spPr>
              <a:xfrm>
                <a:off x="1829785" y="2962232"/>
                <a:ext cx="360000" cy="360000"/>
              </a:xfrm>
              <a:prstGeom prst="ellipse">
                <a:avLst/>
              </a:prstGeom>
              <a:solidFill>
                <a:srgbClr val="F8766D"/>
              </a:solidFill>
              <a:ln>
                <a:solidFill>
                  <a:srgbClr val="D0180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SE" noProof="0" dirty="0">
                    <a:solidFill>
                      <a:srgbClr val="D0180A"/>
                    </a:solidFill>
                  </a:rPr>
                  <a:t>x</a:t>
                </a:r>
                <a:endParaRPr lang="en-US" noProof="0" dirty="0">
                  <a:solidFill>
                    <a:srgbClr val="D0180A"/>
                  </a:solidFill>
                </a:endParaRPr>
              </a:p>
            </p:txBody>
          </p:sp>
          <p:sp>
            <p:nvSpPr>
              <p:cNvPr id="119" name="Oval 118">
                <a:extLst>
                  <a:ext uri="{FF2B5EF4-FFF2-40B4-BE49-F238E27FC236}">
                    <a16:creationId xmlns:a16="http://schemas.microsoft.com/office/drawing/2014/main" id="{2792E6BE-4DD0-B003-3A90-EBCA70C445AB}"/>
                  </a:ext>
                </a:extLst>
              </p:cNvPr>
              <p:cNvSpPr/>
              <p:nvPr/>
            </p:nvSpPr>
            <p:spPr>
              <a:xfrm>
                <a:off x="3016826" y="2962232"/>
                <a:ext cx="360000" cy="360000"/>
              </a:xfrm>
              <a:prstGeom prst="ellipse">
                <a:avLst/>
              </a:prstGeom>
              <a:solidFill>
                <a:srgbClr val="00BFC4"/>
              </a:solidFill>
              <a:ln>
                <a:solidFill>
                  <a:srgbClr val="006D7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SE" noProof="0" dirty="0">
                    <a:solidFill>
                      <a:srgbClr val="006D70"/>
                    </a:solidFill>
                  </a:rPr>
                  <a:t>y</a:t>
                </a:r>
                <a:endParaRPr lang="en-US" noProof="0" dirty="0">
                  <a:solidFill>
                    <a:srgbClr val="006D70"/>
                  </a:solidFill>
                </a:endParaRPr>
              </a:p>
            </p:txBody>
          </p:sp>
          <p:cxnSp>
            <p:nvCxnSpPr>
              <p:cNvPr id="120" name="Straight Arrow Connector 119">
                <a:extLst>
                  <a:ext uri="{FF2B5EF4-FFF2-40B4-BE49-F238E27FC236}">
                    <a16:creationId xmlns:a16="http://schemas.microsoft.com/office/drawing/2014/main" id="{CEE1EB45-BD52-5F94-C5C1-6F0D3690AA49}"/>
                  </a:ext>
                </a:extLst>
              </p:cNvPr>
              <p:cNvCxnSpPr>
                <a:stCxn id="118" idx="6"/>
                <a:endCxn id="119" idx="2"/>
              </p:cNvCxnSpPr>
              <p:nvPr/>
            </p:nvCxnSpPr>
            <p:spPr>
              <a:xfrm>
                <a:off x="2189785" y="3142232"/>
                <a:ext cx="827041"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121" name="Oval 120">
                <a:extLst>
                  <a:ext uri="{FF2B5EF4-FFF2-40B4-BE49-F238E27FC236}">
                    <a16:creationId xmlns:a16="http://schemas.microsoft.com/office/drawing/2014/main" id="{20BF16CF-9C04-0B07-9359-31AE29EDC2E4}"/>
                  </a:ext>
                </a:extLst>
              </p:cNvPr>
              <p:cNvSpPr/>
              <p:nvPr/>
            </p:nvSpPr>
            <p:spPr>
              <a:xfrm>
                <a:off x="2413260" y="3516041"/>
                <a:ext cx="360000" cy="360000"/>
              </a:xfrm>
              <a:prstGeom prst="ellipse">
                <a:avLst/>
              </a:prstGeom>
              <a:solidFill>
                <a:schemeClr val="bg1">
                  <a:lumMod val="75000"/>
                </a:schemeClr>
              </a:solidFill>
              <a:ln>
                <a:solidFill>
                  <a:schemeClr val="bg1">
                    <a:lumMod val="50000"/>
                  </a:schemeClr>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SE" noProof="0" dirty="0">
                    <a:solidFill>
                      <a:schemeClr val="tx1">
                        <a:lumMod val="50000"/>
                        <a:lumOff val="50000"/>
                      </a:schemeClr>
                    </a:solidFill>
                  </a:rPr>
                  <a:t>a</a:t>
                </a:r>
                <a:endParaRPr lang="en-US" noProof="0" dirty="0">
                  <a:solidFill>
                    <a:schemeClr val="tx1">
                      <a:lumMod val="50000"/>
                      <a:lumOff val="50000"/>
                    </a:schemeClr>
                  </a:solidFill>
                </a:endParaRPr>
              </a:p>
            </p:txBody>
          </p:sp>
          <p:cxnSp>
            <p:nvCxnSpPr>
              <p:cNvPr id="123" name="Straight Arrow Connector 122">
                <a:extLst>
                  <a:ext uri="{FF2B5EF4-FFF2-40B4-BE49-F238E27FC236}">
                    <a16:creationId xmlns:a16="http://schemas.microsoft.com/office/drawing/2014/main" id="{A88082CE-247A-6730-217F-6C4D2F7D03C9}"/>
                  </a:ext>
                </a:extLst>
              </p:cNvPr>
              <p:cNvCxnSpPr>
                <a:cxnSpLocks/>
                <a:stCxn id="121" idx="0"/>
              </p:cNvCxnSpPr>
              <p:nvPr/>
            </p:nvCxnSpPr>
            <p:spPr>
              <a:xfrm flipV="1">
                <a:off x="2593260" y="3142232"/>
                <a:ext cx="0" cy="373809"/>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mc:AlternateContent xmlns:mc="http://schemas.openxmlformats.org/markup-compatibility/2006">
            <mc:Choice xmlns:a14="http://schemas.microsoft.com/office/drawing/2010/main" Requires="a14">
              <p:sp>
                <p:nvSpPr>
                  <p:cNvPr id="124" name="TextBox 123">
                    <a:extLst>
                      <a:ext uri="{FF2B5EF4-FFF2-40B4-BE49-F238E27FC236}">
                        <a16:creationId xmlns:a16="http://schemas.microsoft.com/office/drawing/2014/main" id="{6540CE31-659C-5904-76E5-B6547597BF6F}"/>
                      </a:ext>
                    </a:extLst>
                  </p:cNvPr>
                  <p:cNvSpPr txBox="1"/>
                  <p:nvPr/>
                </p:nvSpPr>
                <p:spPr>
                  <a:xfrm>
                    <a:off x="2450914" y="2801594"/>
                    <a:ext cx="284693" cy="276999"/>
                  </a:xfrm>
                  <a:prstGeom prst="rect">
                    <a:avLst/>
                  </a:prstGeom>
                  <a:noFill/>
                </p:spPr>
                <p:txBody>
                  <a:bodyPr wrap="none" lIns="0" tIns="0" rIns="0" bIns="0" rtlCol="0">
                    <a:spAutoFit/>
                  </a:bodyPr>
                  <a:lstStyle/>
                  <a:p>
                    <a14:m>
                      <m:oMathPara xmlns:m="http://schemas.openxmlformats.org/officeDocument/2006/math">
                        <m:oMathParaPr>
                          <m:jc m:val="centerGroup"/>
                        </m:oMathParaPr>
                        <m:oMath xmlns:m="http://schemas.openxmlformats.org/officeDocument/2006/math">
                          <m:sSub>
                            <m:sSubPr>
                              <m:ctrlPr>
                                <a:rPr lang="en-SE" b="0" i="1" smtClean="0">
                                  <a:solidFill>
                                    <a:srgbClr val="C00000"/>
                                  </a:solidFill>
                                  <a:latin typeface="Cambria Math" panose="02040503050406030204" pitchFamily="18" charset="0"/>
                                </a:rPr>
                              </m:ctrlPr>
                            </m:sSubPr>
                            <m:e>
                              <m:r>
                                <a:rPr lang="en-SE" b="0" i="1" smtClean="0">
                                  <a:solidFill>
                                    <a:srgbClr val="C00000"/>
                                  </a:solidFill>
                                  <a:latin typeface="Cambria Math" panose="02040503050406030204" pitchFamily="18" charset="0"/>
                                </a:rPr>
                                <m:t>𝛽</m:t>
                              </m:r>
                            </m:e>
                            <m:sub>
                              <m:r>
                                <a:rPr lang="en-SE" b="0" i="1" smtClean="0">
                                  <a:solidFill>
                                    <a:srgbClr val="C00000"/>
                                  </a:solidFill>
                                  <a:latin typeface="Cambria Math" panose="02040503050406030204" pitchFamily="18" charset="0"/>
                                </a:rPr>
                                <m:t>𝑥</m:t>
                              </m:r>
                            </m:sub>
                          </m:sSub>
                        </m:oMath>
                      </m:oMathPara>
                    </a14:m>
                    <a:endParaRPr lang="en-SE" dirty="0"/>
                  </a:p>
                </p:txBody>
              </p:sp>
            </mc:Choice>
            <mc:Fallback>
              <p:sp>
                <p:nvSpPr>
                  <p:cNvPr id="124" name="TextBox 123">
                    <a:extLst>
                      <a:ext uri="{FF2B5EF4-FFF2-40B4-BE49-F238E27FC236}">
                        <a16:creationId xmlns:a16="http://schemas.microsoft.com/office/drawing/2014/main" id="{6540CE31-659C-5904-76E5-B6547597BF6F}"/>
                      </a:ext>
                    </a:extLst>
                  </p:cNvPr>
                  <p:cNvSpPr txBox="1">
                    <a:spLocks noRot="1" noChangeAspect="1" noMove="1" noResize="1" noEditPoints="1" noAdjustHandles="1" noChangeArrowheads="1" noChangeShapeType="1" noTextEdit="1"/>
                  </p:cNvSpPr>
                  <p:nvPr/>
                </p:nvSpPr>
                <p:spPr>
                  <a:xfrm>
                    <a:off x="2450914" y="2801594"/>
                    <a:ext cx="284693" cy="276999"/>
                  </a:xfrm>
                  <a:prstGeom prst="rect">
                    <a:avLst/>
                  </a:prstGeom>
                  <a:blipFill>
                    <a:blip r:embed="rId5"/>
                    <a:stretch>
                      <a:fillRect l="-30435" t="-2222" r="-4348" b="-35556"/>
                    </a:stretch>
                  </a:blipFill>
                </p:spPr>
                <p:txBody>
                  <a:bodyPr/>
                  <a:lstStyle/>
                  <a:p>
                    <a:r>
                      <a:rPr lang="en-SE">
                        <a:noFill/>
                      </a:rPr>
                      <a:t> </a:t>
                    </a:r>
                  </a:p>
                </p:txBody>
              </p:sp>
            </mc:Fallback>
          </mc:AlternateContent>
          <mc:AlternateContent xmlns:mc="http://schemas.openxmlformats.org/markup-compatibility/2006">
            <mc:Choice xmlns:a14="http://schemas.microsoft.com/office/drawing/2010/main" Requires="a14">
              <p:sp>
                <p:nvSpPr>
                  <p:cNvPr id="126" name="TextBox 125">
                    <a:extLst>
                      <a:ext uri="{FF2B5EF4-FFF2-40B4-BE49-F238E27FC236}">
                        <a16:creationId xmlns:a16="http://schemas.microsoft.com/office/drawing/2014/main" id="{73014C33-2AA6-1EF6-6B1F-885924D9A860}"/>
                      </a:ext>
                    </a:extLst>
                  </p:cNvPr>
                  <p:cNvSpPr txBox="1"/>
                  <p:nvPr/>
                </p:nvSpPr>
                <p:spPr>
                  <a:xfrm>
                    <a:off x="2260349" y="3205872"/>
                    <a:ext cx="265650" cy="276999"/>
                  </a:xfrm>
                  <a:prstGeom prst="rect">
                    <a:avLst/>
                  </a:prstGeom>
                  <a:noFill/>
                </p:spPr>
                <p:txBody>
                  <a:bodyPr wrap="none" lIns="0" tIns="0" rIns="0" bIns="0" rtlCol="0">
                    <a:spAutoFit/>
                  </a:bodyPr>
                  <a:lstStyle/>
                  <a:p>
                    <a14:m>
                      <m:oMathPara xmlns:m="http://schemas.openxmlformats.org/officeDocument/2006/math">
                        <m:oMathParaPr>
                          <m:jc m:val="centerGroup"/>
                        </m:oMathParaPr>
                        <m:oMath xmlns:m="http://schemas.openxmlformats.org/officeDocument/2006/math">
                          <m:sSub>
                            <m:sSubPr>
                              <m:ctrlPr>
                                <a:rPr lang="en-SE" b="0" i="1" smtClean="0">
                                  <a:solidFill>
                                    <a:srgbClr val="FFC000"/>
                                  </a:solidFill>
                                  <a:latin typeface="Cambria Math" panose="02040503050406030204" pitchFamily="18" charset="0"/>
                                </a:rPr>
                              </m:ctrlPr>
                            </m:sSubPr>
                            <m:e>
                              <m:r>
                                <a:rPr lang="en-SE" b="0" i="1" smtClean="0">
                                  <a:solidFill>
                                    <a:srgbClr val="FFC000"/>
                                  </a:solidFill>
                                  <a:latin typeface="Cambria Math" panose="02040503050406030204" pitchFamily="18" charset="0"/>
                                </a:rPr>
                                <m:t>𝛾</m:t>
                              </m:r>
                            </m:e>
                            <m:sub>
                              <m:r>
                                <a:rPr lang="en-SE" b="0" i="1" smtClean="0">
                                  <a:solidFill>
                                    <a:srgbClr val="FFC000"/>
                                  </a:solidFill>
                                  <a:latin typeface="Cambria Math" panose="02040503050406030204" pitchFamily="18" charset="0"/>
                                </a:rPr>
                                <m:t>𝑎</m:t>
                              </m:r>
                            </m:sub>
                          </m:sSub>
                        </m:oMath>
                      </m:oMathPara>
                    </a14:m>
                    <a:endParaRPr lang="en-SE" dirty="0"/>
                  </a:p>
                </p:txBody>
              </p:sp>
            </mc:Choice>
            <mc:Fallback>
              <p:sp>
                <p:nvSpPr>
                  <p:cNvPr id="126" name="TextBox 125">
                    <a:extLst>
                      <a:ext uri="{FF2B5EF4-FFF2-40B4-BE49-F238E27FC236}">
                        <a16:creationId xmlns:a16="http://schemas.microsoft.com/office/drawing/2014/main" id="{73014C33-2AA6-1EF6-6B1F-885924D9A860}"/>
                      </a:ext>
                    </a:extLst>
                  </p:cNvPr>
                  <p:cNvSpPr txBox="1">
                    <a:spLocks noRot="1" noChangeAspect="1" noMove="1" noResize="1" noEditPoints="1" noAdjustHandles="1" noChangeArrowheads="1" noChangeShapeType="1" noTextEdit="1"/>
                  </p:cNvSpPr>
                  <p:nvPr/>
                </p:nvSpPr>
                <p:spPr>
                  <a:xfrm>
                    <a:off x="2260349" y="3205872"/>
                    <a:ext cx="265650" cy="276999"/>
                  </a:xfrm>
                  <a:prstGeom prst="rect">
                    <a:avLst/>
                  </a:prstGeom>
                  <a:blipFill>
                    <a:blip r:embed="rId6"/>
                    <a:stretch>
                      <a:fillRect l="-20455" b="-21739"/>
                    </a:stretch>
                  </a:blipFill>
                </p:spPr>
                <p:txBody>
                  <a:bodyPr/>
                  <a:lstStyle/>
                  <a:p>
                    <a:r>
                      <a:rPr lang="en-SE">
                        <a:noFill/>
                      </a:rPr>
                      <a:t> </a:t>
                    </a:r>
                  </a:p>
                </p:txBody>
              </p:sp>
            </mc:Fallback>
          </mc:AlternateContent>
        </p:grpSp>
        <p:grpSp>
          <p:nvGrpSpPr>
            <p:cNvPr id="111" name="Group 110">
              <a:extLst>
                <a:ext uri="{FF2B5EF4-FFF2-40B4-BE49-F238E27FC236}">
                  <a16:creationId xmlns:a16="http://schemas.microsoft.com/office/drawing/2014/main" id="{2CC73435-58AB-D9FD-033C-44AB3837EBD9}"/>
                </a:ext>
              </a:extLst>
            </p:cNvPr>
            <p:cNvGrpSpPr/>
            <p:nvPr/>
          </p:nvGrpSpPr>
          <p:grpSpPr>
            <a:xfrm>
              <a:off x="938580" y="3930401"/>
              <a:ext cx="2078246" cy="1872140"/>
              <a:chOff x="1008094" y="3821667"/>
              <a:chExt cx="2078246" cy="1872140"/>
            </a:xfrm>
          </p:grpSpPr>
          <p:cxnSp>
            <p:nvCxnSpPr>
              <p:cNvPr id="114" name="Straight Arrow Connector 113">
                <a:extLst>
                  <a:ext uri="{FF2B5EF4-FFF2-40B4-BE49-F238E27FC236}">
                    <a16:creationId xmlns:a16="http://schemas.microsoft.com/office/drawing/2014/main" id="{F7206CEC-B3A1-0471-5921-64773698A046}"/>
                  </a:ext>
                </a:extLst>
              </p:cNvPr>
              <p:cNvCxnSpPr/>
              <p:nvPr/>
            </p:nvCxnSpPr>
            <p:spPr>
              <a:xfrm>
                <a:off x="1152525" y="5324475"/>
                <a:ext cx="1917022" cy="0"/>
              </a:xfrm>
              <a:prstGeom prst="straightConnector1">
                <a:avLst/>
              </a:prstGeom>
              <a:ln w="28575">
                <a:tailEnd type="triangle"/>
              </a:ln>
            </p:spPr>
            <p:style>
              <a:lnRef idx="2">
                <a:schemeClr val="dk1"/>
              </a:lnRef>
              <a:fillRef idx="0">
                <a:schemeClr val="dk1"/>
              </a:fillRef>
              <a:effectRef idx="1">
                <a:schemeClr val="dk1"/>
              </a:effectRef>
              <a:fontRef idx="minor">
                <a:schemeClr val="tx1"/>
              </a:fontRef>
            </p:style>
          </p:cxnSp>
          <p:cxnSp>
            <p:nvCxnSpPr>
              <p:cNvPr id="115" name="Straight Arrow Connector 114">
                <a:extLst>
                  <a:ext uri="{FF2B5EF4-FFF2-40B4-BE49-F238E27FC236}">
                    <a16:creationId xmlns:a16="http://schemas.microsoft.com/office/drawing/2014/main" id="{151E84EB-7C4E-3000-37C3-6098B00F2B70}"/>
                  </a:ext>
                </a:extLst>
              </p:cNvPr>
              <p:cNvCxnSpPr>
                <a:cxnSpLocks/>
              </p:cNvCxnSpPr>
              <p:nvPr/>
            </p:nvCxnSpPr>
            <p:spPr>
              <a:xfrm flipV="1">
                <a:off x="1152525" y="4191000"/>
                <a:ext cx="0" cy="1133475"/>
              </a:xfrm>
              <a:prstGeom prst="straightConnector1">
                <a:avLst/>
              </a:prstGeom>
              <a:ln w="28575">
                <a:tailEnd type="triangle"/>
              </a:ln>
            </p:spPr>
            <p:style>
              <a:lnRef idx="2">
                <a:schemeClr val="dk1"/>
              </a:lnRef>
              <a:fillRef idx="0">
                <a:schemeClr val="dk1"/>
              </a:fillRef>
              <a:effectRef idx="1">
                <a:schemeClr val="dk1"/>
              </a:effectRef>
              <a:fontRef idx="minor">
                <a:schemeClr val="tx1"/>
              </a:fontRef>
            </p:style>
          </p:cxnSp>
          <p:sp>
            <p:nvSpPr>
              <p:cNvPr id="116" name="TextBox 115">
                <a:extLst>
                  <a:ext uri="{FF2B5EF4-FFF2-40B4-BE49-F238E27FC236}">
                    <a16:creationId xmlns:a16="http://schemas.microsoft.com/office/drawing/2014/main" id="{A6A6F3F2-4A22-7D09-564E-05B58DC09575}"/>
                  </a:ext>
                </a:extLst>
              </p:cNvPr>
              <p:cNvSpPr txBox="1"/>
              <p:nvPr/>
            </p:nvSpPr>
            <p:spPr>
              <a:xfrm>
                <a:off x="2778242" y="5324475"/>
                <a:ext cx="308098" cy="369332"/>
              </a:xfrm>
              <a:prstGeom prst="rect">
                <a:avLst/>
              </a:prstGeom>
              <a:noFill/>
            </p:spPr>
            <p:txBody>
              <a:bodyPr wrap="none" rtlCol="0">
                <a:spAutoFit/>
              </a:bodyPr>
              <a:lstStyle/>
              <a:p>
                <a:r>
                  <a:rPr lang="en-SE" dirty="0">
                    <a:solidFill>
                      <a:schemeClr val="tx1">
                        <a:lumMod val="50000"/>
                        <a:lumOff val="50000"/>
                      </a:schemeClr>
                    </a:solidFill>
                  </a:rPr>
                  <a:t>a</a:t>
                </a:r>
              </a:p>
            </p:txBody>
          </p:sp>
          <p:sp>
            <p:nvSpPr>
              <p:cNvPr id="117" name="TextBox 116">
                <a:extLst>
                  <a:ext uri="{FF2B5EF4-FFF2-40B4-BE49-F238E27FC236}">
                    <a16:creationId xmlns:a16="http://schemas.microsoft.com/office/drawing/2014/main" id="{6B67AB1C-53D0-858D-1D5D-4981D9AE46E4}"/>
                  </a:ext>
                </a:extLst>
              </p:cNvPr>
              <p:cNvSpPr txBox="1"/>
              <p:nvPr/>
            </p:nvSpPr>
            <p:spPr>
              <a:xfrm>
                <a:off x="1008094" y="3821667"/>
                <a:ext cx="288862" cy="369332"/>
              </a:xfrm>
              <a:prstGeom prst="rect">
                <a:avLst/>
              </a:prstGeom>
              <a:noFill/>
            </p:spPr>
            <p:txBody>
              <a:bodyPr wrap="none" rtlCol="0">
                <a:spAutoFit/>
              </a:bodyPr>
              <a:lstStyle/>
              <a:p>
                <a:r>
                  <a:rPr lang="en-SE" dirty="0">
                    <a:solidFill>
                      <a:srgbClr val="006D70"/>
                    </a:solidFill>
                  </a:rPr>
                  <a:t>y</a:t>
                </a:r>
              </a:p>
            </p:txBody>
          </p:sp>
        </p:grpSp>
        <p:cxnSp>
          <p:nvCxnSpPr>
            <p:cNvPr id="112" name="Straight Connector 111">
              <a:extLst>
                <a:ext uri="{FF2B5EF4-FFF2-40B4-BE49-F238E27FC236}">
                  <a16:creationId xmlns:a16="http://schemas.microsoft.com/office/drawing/2014/main" id="{B961CFD2-B265-B2FA-8451-73AF22CF5965}"/>
                </a:ext>
              </a:extLst>
            </p:cNvPr>
            <p:cNvCxnSpPr>
              <a:cxnSpLocks/>
            </p:cNvCxnSpPr>
            <p:nvPr/>
          </p:nvCxnSpPr>
          <p:spPr>
            <a:xfrm>
              <a:off x="1083011" y="5038725"/>
              <a:ext cx="1841175" cy="0"/>
            </a:xfrm>
            <a:prstGeom prst="line">
              <a:avLst/>
            </a:prstGeom>
            <a:ln>
              <a:solidFill>
                <a:schemeClr val="tx1">
                  <a:lumMod val="75000"/>
                  <a:lumOff val="25000"/>
                </a:schemeClr>
              </a:solidFill>
            </a:ln>
          </p:spPr>
          <p:style>
            <a:lnRef idx="2">
              <a:schemeClr val="dk1"/>
            </a:lnRef>
            <a:fillRef idx="0">
              <a:schemeClr val="dk1"/>
            </a:fillRef>
            <a:effectRef idx="1">
              <a:schemeClr val="dk1"/>
            </a:effectRef>
            <a:fontRef idx="minor">
              <a:schemeClr val="tx1"/>
            </a:fontRef>
          </p:style>
        </p:cxnSp>
        <p:cxnSp>
          <p:nvCxnSpPr>
            <p:cNvPr id="113" name="Straight Connector 112">
              <a:extLst>
                <a:ext uri="{FF2B5EF4-FFF2-40B4-BE49-F238E27FC236}">
                  <a16:creationId xmlns:a16="http://schemas.microsoft.com/office/drawing/2014/main" id="{FC254BBC-2AEF-20DB-AB2C-34D50B2E6081}"/>
                </a:ext>
              </a:extLst>
            </p:cNvPr>
            <p:cNvCxnSpPr>
              <a:cxnSpLocks/>
            </p:cNvCxnSpPr>
            <p:nvPr/>
          </p:nvCxnSpPr>
          <p:spPr>
            <a:xfrm>
              <a:off x="1083011" y="4676775"/>
              <a:ext cx="1845941" cy="734975"/>
            </a:xfrm>
            <a:prstGeom prst="line">
              <a:avLst/>
            </a:prstGeom>
            <a:ln>
              <a:solidFill>
                <a:srgbClr val="C00000"/>
              </a:solidFill>
            </a:ln>
          </p:spPr>
          <p:style>
            <a:lnRef idx="2">
              <a:schemeClr val="dk1"/>
            </a:lnRef>
            <a:fillRef idx="0">
              <a:schemeClr val="dk1"/>
            </a:fillRef>
            <a:effectRef idx="1">
              <a:schemeClr val="dk1"/>
            </a:effectRef>
            <a:fontRef idx="minor">
              <a:schemeClr val="tx1"/>
            </a:fontRef>
          </p:style>
        </p:cxnSp>
      </p:grpSp>
      <p:grpSp>
        <p:nvGrpSpPr>
          <p:cNvPr id="127" name="Group 126">
            <a:extLst>
              <a:ext uri="{FF2B5EF4-FFF2-40B4-BE49-F238E27FC236}">
                <a16:creationId xmlns:a16="http://schemas.microsoft.com/office/drawing/2014/main" id="{792D7BB3-98E2-7928-0F09-E57AB8C0B75E}"/>
              </a:ext>
            </a:extLst>
          </p:cNvPr>
          <p:cNvGrpSpPr/>
          <p:nvPr/>
        </p:nvGrpSpPr>
        <p:grpSpPr>
          <a:xfrm>
            <a:off x="9123868" y="2761596"/>
            <a:ext cx="2078246" cy="3034298"/>
            <a:chOff x="938580" y="2768243"/>
            <a:chExt cx="2078246" cy="3034298"/>
          </a:xfrm>
        </p:grpSpPr>
        <p:grpSp>
          <p:nvGrpSpPr>
            <p:cNvPr id="128" name="Group 127">
              <a:extLst>
                <a:ext uri="{FF2B5EF4-FFF2-40B4-BE49-F238E27FC236}">
                  <a16:creationId xmlns:a16="http://schemas.microsoft.com/office/drawing/2014/main" id="{D2E66ED3-EFCC-F600-C0E6-2E5F8B2ED017}"/>
                </a:ext>
              </a:extLst>
            </p:cNvPr>
            <p:cNvGrpSpPr/>
            <p:nvPr/>
          </p:nvGrpSpPr>
          <p:grpSpPr>
            <a:xfrm>
              <a:off x="1268001" y="2768243"/>
              <a:ext cx="1547041" cy="1074447"/>
              <a:chOff x="1829785" y="2801594"/>
              <a:chExt cx="1547041" cy="1074447"/>
            </a:xfrm>
          </p:grpSpPr>
          <p:sp>
            <p:nvSpPr>
              <p:cNvPr id="136" name="Oval 135">
                <a:extLst>
                  <a:ext uri="{FF2B5EF4-FFF2-40B4-BE49-F238E27FC236}">
                    <a16:creationId xmlns:a16="http://schemas.microsoft.com/office/drawing/2014/main" id="{3A7E56E1-11CE-7769-5F70-96FBD0604CEC}"/>
                  </a:ext>
                </a:extLst>
              </p:cNvPr>
              <p:cNvSpPr/>
              <p:nvPr/>
            </p:nvSpPr>
            <p:spPr>
              <a:xfrm>
                <a:off x="1829785" y="2962232"/>
                <a:ext cx="360000" cy="360000"/>
              </a:xfrm>
              <a:prstGeom prst="ellipse">
                <a:avLst/>
              </a:prstGeom>
              <a:solidFill>
                <a:srgbClr val="F8766D"/>
              </a:solidFill>
              <a:ln>
                <a:solidFill>
                  <a:srgbClr val="D0180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SE" noProof="0" dirty="0">
                    <a:solidFill>
                      <a:srgbClr val="D0180A"/>
                    </a:solidFill>
                  </a:rPr>
                  <a:t>x</a:t>
                </a:r>
                <a:endParaRPr lang="en-US" noProof="0" dirty="0">
                  <a:solidFill>
                    <a:srgbClr val="D0180A"/>
                  </a:solidFill>
                </a:endParaRPr>
              </a:p>
            </p:txBody>
          </p:sp>
          <p:sp>
            <p:nvSpPr>
              <p:cNvPr id="137" name="Oval 136">
                <a:extLst>
                  <a:ext uri="{FF2B5EF4-FFF2-40B4-BE49-F238E27FC236}">
                    <a16:creationId xmlns:a16="http://schemas.microsoft.com/office/drawing/2014/main" id="{83DAC9E4-8B9F-1FE2-88D8-D6EECF2C4A14}"/>
                  </a:ext>
                </a:extLst>
              </p:cNvPr>
              <p:cNvSpPr/>
              <p:nvPr/>
            </p:nvSpPr>
            <p:spPr>
              <a:xfrm>
                <a:off x="3016826" y="2962232"/>
                <a:ext cx="360000" cy="360000"/>
              </a:xfrm>
              <a:prstGeom prst="ellipse">
                <a:avLst/>
              </a:prstGeom>
              <a:solidFill>
                <a:srgbClr val="00BFC4"/>
              </a:solidFill>
              <a:ln>
                <a:solidFill>
                  <a:srgbClr val="006D7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SE" noProof="0" dirty="0">
                    <a:solidFill>
                      <a:srgbClr val="006D70"/>
                    </a:solidFill>
                  </a:rPr>
                  <a:t>y</a:t>
                </a:r>
                <a:endParaRPr lang="en-US" noProof="0" dirty="0">
                  <a:solidFill>
                    <a:srgbClr val="006D70"/>
                  </a:solidFill>
                </a:endParaRPr>
              </a:p>
            </p:txBody>
          </p:sp>
          <p:cxnSp>
            <p:nvCxnSpPr>
              <p:cNvPr id="138" name="Straight Arrow Connector 137">
                <a:extLst>
                  <a:ext uri="{FF2B5EF4-FFF2-40B4-BE49-F238E27FC236}">
                    <a16:creationId xmlns:a16="http://schemas.microsoft.com/office/drawing/2014/main" id="{552897FA-8983-6F14-39EE-5A00110E43E9}"/>
                  </a:ext>
                </a:extLst>
              </p:cNvPr>
              <p:cNvCxnSpPr>
                <a:stCxn id="136" idx="6"/>
                <a:endCxn id="137" idx="2"/>
              </p:cNvCxnSpPr>
              <p:nvPr/>
            </p:nvCxnSpPr>
            <p:spPr>
              <a:xfrm>
                <a:off x="2189785" y="3142232"/>
                <a:ext cx="827041"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139" name="Oval 138">
                <a:extLst>
                  <a:ext uri="{FF2B5EF4-FFF2-40B4-BE49-F238E27FC236}">
                    <a16:creationId xmlns:a16="http://schemas.microsoft.com/office/drawing/2014/main" id="{3AEF5059-DA99-893E-CD0E-CFB40FCF94D4}"/>
                  </a:ext>
                </a:extLst>
              </p:cNvPr>
              <p:cNvSpPr/>
              <p:nvPr/>
            </p:nvSpPr>
            <p:spPr>
              <a:xfrm>
                <a:off x="2413260" y="3516041"/>
                <a:ext cx="360000" cy="360000"/>
              </a:xfrm>
              <a:prstGeom prst="ellipse">
                <a:avLst/>
              </a:prstGeom>
              <a:solidFill>
                <a:schemeClr val="bg1">
                  <a:lumMod val="75000"/>
                </a:schemeClr>
              </a:solidFill>
              <a:ln>
                <a:solidFill>
                  <a:schemeClr val="bg1">
                    <a:lumMod val="50000"/>
                  </a:schemeClr>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SE" noProof="0" dirty="0">
                    <a:solidFill>
                      <a:schemeClr val="tx1">
                        <a:lumMod val="50000"/>
                        <a:lumOff val="50000"/>
                      </a:schemeClr>
                    </a:solidFill>
                  </a:rPr>
                  <a:t>a</a:t>
                </a:r>
                <a:endParaRPr lang="en-US" noProof="0" dirty="0">
                  <a:solidFill>
                    <a:schemeClr val="tx1">
                      <a:lumMod val="50000"/>
                      <a:lumOff val="50000"/>
                    </a:schemeClr>
                  </a:solidFill>
                </a:endParaRPr>
              </a:p>
            </p:txBody>
          </p:sp>
          <p:cxnSp>
            <p:nvCxnSpPr>
              <p:cNvPr id="140" name="Straight Arrow Connector 139">
                <a:extLst>
                  <a:ext uri="{FF2B5EF4-FFF2-40B4-BE49-F238E27FC236}">
                    <a16:creationId xmlns:a16="http://schemas.microsoft.com/office/drawing/2014/main" id="{6C0FCDA8-6A9E-D432-C83F-8AACC4A28C86}"/>
                  </a:ext>
                </a:extLst>
              </p:cNvPr>
              <p:cNvCxnSpPr>
                <a:cxnSpLocks/>
                <a:stCxn id="139" idx="7"/>
                <a:endCxn id="137" idx="3"/>
              </p:cNvCxnSpPr>
              <p:nvPr/>
            </p:nvCxnSpPr>
            <p:spPr>
              <a:xfrm flipV="1">
                <a:off x="2720539" y="3269511"/>
                <a:ext cx="349008" cy="299251"/>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141" name="Straight Arrow Connector 140">
                <a:extLst>
                  <a:ext uri="{FF2B5EF4-FFF2-40B4-BE49-F238E27FC236}">
                    <a16:creationId xmlns:a16="http://schemas.microsoft.com/office/drawing/2014/main" id="{D8CA478B-6084-88C0-6CA9-860DFBA6FB2D}"/>
                  </a:ext>
                </a:extLst>
              </p:cNvPr>
              <p:cNvCxnSpPr>
                <a:cxnSpLocks/>
                <a:stCxn id="139" idx="0"/>
              </p:cNvCxnSpPr>
              <p:nvPr/>
            </p:nvCxnSpPr>
            <p:spPr>
              <a:xfrm flipV="1">
                <a:off x="2593260" y="3142232"/>
                <a:ext cx="0" cy="373809"/>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mc:AlternateContent xmlns:mc="http://schemas.openxmlformats.org/markup-compatibility/2006">
            <mc:Choice xmlns:a14="http://schemas.microsoft.com/office/drawing/2010/main" Requires="a14">
              <p:sp>
                <p:nvSpPr>
                  <p:cNvPr id="142" name="TextBox 141">
                    <a:extLst>
                      <a:ext uri="{FF2B5EF4-FFF2-40B4-BE49-F238E27FC236}">
                        <a16:creationId xmlns:a16="http://schemas.microsoft.com/office/drawing/2014/main" id="{4E338BF5-D5A3-172E-877A-272CF0BB8A1A}"/>
                      </a:ext>
                    </a:extLst>
                  </p:cNvPr>
                  <p:cNvSpPr txBox="1"/>
                  <p:nvPr/>
                </p:nvSpPr>
                <p:spPr>
                  <a:xfrm>
                    <a:off x="2450914" y="2801594"/>
                    <a:ext cx="284693" cy="276999"/>
                  </a:xfrm>
                  <a:prstGeom prst="rect">
                    <a:avLst/>
                  </a:prstGeom>
                  <a:noFill/>
                </p:spPr>
                <p:txBody>
                  <a:bodyPr wrap="none" lIns="0" tIns="0" rIns="0" bIns="0" rtlCol="0">
                    <a:spAutoFit/>
                  </a:bodyPr>
                  <a:lstStyle/>
                  <a:p>
                    <a14:m>
                      <m:oMathPara xmlns:m="http://schemas.openxmlformats.org/officeDocument/2006/math">
                        <m:oMathParaPr>
                          <m:jc m:val="centerGroup"/>
                        </m:oMathParaPr>
                        <m:oMath xmlns:m="http://schemas.openxmlformats.org/officeDocument/2006/math">
                          <m:sSub>
                            <m:sSubPr>
                              <m:ctrlPr>
                                <a:rPr lang="en-SE" b="0" i="1" smtClean="0">
                                  <a:solidFill>
                                    <a:srgbClr val="C00000"/>
                                  </a:solidFill>
                                  <a:latin typeface="Cambria Math" panose="02040503050406030204" pitchFamily="18" charset="0"/>
                                </a:rPr>
                              </m:ctrlPr>
                            </m:sSubPr>
                            <m:e>
                              <m:r>
                                <a:rPr lang="en-SE" b="0" i="1" smtClean="0">
                                  <a:solidFill>
                                    <a:srgbClr val="C00000"/>
                                  </a:solidFill>
                                  <a:latin typeface="Cambria Math" panose="02040503050406030204" pitchFamily="18" charset="0"/>
                                </a:rPr>
                                <m:t>𝛽</m:t>
                              </m:r>
                            </m:e>
                            <m:sub>
                              <m:r>
                                <a:rPr lang="en-SE" b="0" i="1" smtClean="0">
                                  <a:solidFill>
                                    <a:srgbClr val="C00000"/>
                                  </a:solidFill>
                                  <a:latin typeface="Cambria Math" panose="02040503050406030204" pitchFamily="18" charset="0"/>
                                </a:rPr>
                                <m:t>𝑥</m:t>
                              </m:r>
                            </m:sub>
                          </m:sSub>
                        </m:oMath>
                      </m:oMathPara>
                    </a14:m>
                    <a:endParaRPr lang="en-SE" dirty="0"/>
                  </a:p>
                </p:txBody>
              </p:sp>
            </mc:Choice>
            <mc:Fallback>
              <p:sp>
                <p:nvSpPr>
                  <p:cNvPr id="142" name="TextBox 141">
                    <a:extLst>
                      <a:ext uri="{FF2B5EF4-FFF2-40B4-BE49-F238E27FC236}">
                        <a16:creationId xmlns:a16="http://schemas.microsoft.com/office/drawing/2014/main" id="{4E338BF5-D5A3-172E-877A-272CF0BB8A1A}"/>
                      </a:ext>
                    </a:extLst>
                  </p:cNvPr>
                  <p:cNvSpPr txBox="1">
                    <a:spLocks noRot="1" noChangeAspect="1" noMove="1" noResize="1" noEditPoints="1" noAdjustHandles="1" noChangeArrowheads="1" noChangeShapeType="1" noTextEdit="1"/>
                  </p:cNvSpPr>
                  <p:nvPr/>
                </p:nvSpPr>
                <p:spPr>
                  <a:xfrm>
                    <a:off x="2450914" y="2801594"/>
                    <a:ext cx="284693" cy="276999"/>
                  </a:xfrm>
                  <a:prstGeom prst="rect">
                    <a:avLst/>
                  </a:prstGeom>
                  <a:blipFill>
                    <a:blip r:embed="rId7"/>
                    <a:stretch>
                      <a:fillRect l="-30435" t="-2222" r="-4348" b="-35556"/>
                    </a:stretch>
                  </a:blipFill>
                </p:spPr>
                <p:txBody>
                  <a:bodyPr/>
                  <a:lstStyle/>
                  <a:p>
                    <a:r>
                      <a:rPr lang="en-SE">
                        <a:noFill/>
                      </a:rPr>
                      <a:t> </a:t>
                    </a:r>
                  </a:p>
                </p:txBody>
              </p:sp>
            </mc:Fallback>
          </mc:AlternateContent>
          <mc:AlternateContent xmlns:mc="http://schemas.openxmlformats.org/markup-compatibility/2006">
            <mc:Choice xmlns:a14="http://schemas.microsoft.com/office/drawing/2010/main" Requires="a14">
              <p:sp>
                <p:nvSpPr>
                  <p:cNvPr id="143" name="TextBox 142">
                    <a:extLst>
                      <a:ext uri="{FF2B5EF4-FFF2-40B4-BE49-F238E27FC236}">
                        <a16:creationId xmlns:a16="http://schemas.microsoft.com/office/drawing/2014/main" id="{EF391927-C120-F9EE-1808-987685ECD5E1}"/>
                      </a:ext>
                    </a:extLst>
                  </p:cNvPr>
                  <p:cNvSpPr txBox="1"/>
                  <p:nvPr/>
                </p:nvSpPr>
                <p:spPr>
                  <a:xfrm>
                    <a:off x="2924186" y="3449510"/>
                    <a:ext cx="290721" cy="276999"/>
                  </a:xfrm>
                  <a:prstGeom prst="rect">
                    <a:avLst/>
                  </a:prstGeom>
                  <a:noFill/>
                </p:spPr>
                <p:txBody>
                  <a:bodyPr wrap="none" lIns="0" tIns="0" rIns="0" bIns="0" rtlCol="0">
                    <a:spAutoFit/>
                  </a:bodyPr>
                  <a:lstStyle/>
                  <a:p>
                    <a14:m>
                      <m:oMathPara xmlns:m="http://schemas.openxmlformats.org/officeDocument/2006/math">
                        <m:oMathParaPr>
                          <m:jc m:val="centerGroup"/>
                        </m:oMathParaPr>
                        <m:oMath xmlns:m="http://schemas.openxmlformats.org/officeDocument/2006/math">
                          <m:sSub>
                            <m:sSubPr>
                              <m:ctrlPr>
                                <a:rPr lang="en-SE" b="0" i="1" smtClean="0">
                                  <a:solidFill>
                                    <a:schemeClr val="bg1">
                                      <a:lumMod val="50000"/>
                                    </a:schemeClr>
                                  </a:solidFill>
                                  <a:latin typeface="Cambria Math" panose="02040503050406030204" pitchFamily="18" charset="0"/>
                                </a:rPr>
                              </m:ctrlPr>
                            </m:sSubPr>
                            <m:e>
                              <m:r>
                                <a:rPr lang="en-SE" b="0" i="1" smtClean="0">
                                  <a:solidFill>
                                    <a:schemeClr val="bg1">
                                      <a:lumMod val="50000"/>
                                    </a:schemeClr>
                                  </a:solidFill>
                                  <a:latin typeface="Cambria Math" panose="02040503050406030204" pitchFamily="18" charset="0"/>
                                </a:rPr>
                                <m:t>𝛽</m:t>
                              </m:r>
                            </m:e>
                            <m:sub>
                              <m:r>
                                <a:rPr lang="en-SE" b="0" i="1" smtClean="0">
                                  <a:solidFill>
                                    <a:schemeClr val="bg1">
                                      <a:lumMod val="50000"/>
                                    </a:schemeClr>
                                  </a:solidFill>
                                  <a:latin typeface="Cambria Math" panose="02040503050406030204" pitchFamily="18" charset="0"/>
                                </a:rPr>
                                <m:t>𝑎</m:t>
                              </m:r>
                            </m:sub>
                          </m:sSub>
                        </m:oMath>
                      </m:oMathPara>
                    </a14:m>
                    <a:endParaRPr lang="en-SE" dirty="0">
                      <a:solidFill>
                        <a:schemeClr val="bg1">
                          <a:lumMod val="50000"/>
                        </a:schemeClr>
                      </a:solidFill>
                    </a:endParaRPr>
                  </a:p>
                </p:txBody>
              </p:sp>
            </mc:Choice>
            <mc:Fallback>
              <p:sp>
                <p:nvSpPr>
                  <p:cNvPr id="143" name="TextBox 142">
                    <a:extLst>
                      <a:ext uri="{FF2B5EF4-FFF2-40B4-BE49-F238E27FC236}">
                        <a16:creationId xmlns:a16="http://schemas.microsoft.com/office/drawing/2014/main" id="{EF391927-C120-F9EE-1808-987685ECD5E1}"/>
                      </a:ext>
                    </a:extLst>
                  </p:cNvPr>
                  <p:cNvSpPr txBox="1">
                    <a:spLocks noRot="1" noChangeAspect="1" noMove="1" noResize="1" noEditPoints="1" noAdjustHandles="1" noChangeArrowheads="1" noChangeShapeType="1" noTextEdit="1"/>
                  </p:cNvSpPr>
                  <p:nvPr/>
                </p:nvSpPr>
                <p:spPr>
                  <a:xfrm>
                    <a:off x="2924186" y="3449510"/>
                    <a:ext cx="290721" cy="276999"/>
                  </a:xfrm>
                  <a:prstGeom prst="rect">
                    <a:avLst/>
                  </a:prstGeom>
                  <a:blipFill>
                    <a:blip r:embed="rId8"/>
                    <a:stretch>
                      <a:fillRect l="-29167" t="-2174" r="-2083" b="-32609"/>
                    </a:stretch>
                  </a:blipFill>
                </p:spPr>
                <p:txBody>
                  <a:bodyPr/>
                  <a:lstStyle/>
                  <a:p>
                    <a:r>
                      <a:rPr lang="en-SE">
                        <a:noFill/>
                      </a:rPr>
                      <a:t> </a:t>
                    </a:r>
                  </a:p>
                </p:txBody>
              </p:sp>
            </mc:Fallback>
          </mc:AlternateContent>
          <mc:AlternateContent xmlns:mc="http://schemas.openxmlformats.org/markup-compatibility/2006">
            <mc:Choice xmlns:a14="http://schemas.microsoft.com/office/drawing/2010/main" Requires="a14">
              <p:sp>
                <p:nvSpPr>
                  <p:cNvPr id="144" name="TextBox 143">
                    <a:extLst>
                      <a:ext uri="{FF2B5EF4-FFF2-40B4-BE49-F238E27FC236}">
                        <a16:creationId xmlns:a16="http://schemas.microsoft.com/office/drawing/2014/main" id="{C4BED58C-1B13-E684-7F5A-CF8200A4A5DC}"/>
                      </a:ext>
                    </a:extLst>
                  </p:cNvPr>
                  <p:cNvSpPr txBox="1"/>
                  <p:nvPr/>
                </p:nvSpPr>
                <p:spPr>
                  <a:xfrm>
                    <a:off x="2260349" y="3205872"/>
                    <a:ext cx="265650" cy="276999"/>
                  </a:xfrm>
                  <a:prstGeom prst="rect">
                    <a:avLst/>
                  </a:prstGeom>
                  <a:noFill/>
                </p:spPr>
                <p:txBody>
                  <a:bodyPr wrap="none" lIns="0" tIns="0" rIns="0" bIns="0" rtlCol="0">
                    <a:spAutoFit/>
                  </a:bodyPr>
                  <a:lstStyle/>
                  <a:p>
                    <a14:m>
                      <m:oMathPara xmlns:m="http://schemas.openxmlformats.org/officeDocument/2006/math">
                        <m:oMathParaPr>
                          <m:jc m:val="centerGroup"/>
                        </m:oMathParaPr>
                        <m:oMath xmlns:m="http://schemas.openxmlformats.org/officeDocument/2006/math">
                          <m:sSub>
                            <m:sSubPr>
                              <m:ctrlPr>
                                <a:rPr lang="en-SE" b="0" i="1" smtClean="0">
                                  <a:solidFill>
                                    <a:srgbClr val="FFC000"/>
                                  </a:solidFill>
                                  <a:latin typeface="Cambria Math" panose="02040503050406030204" pitchFamily="18" charset="0"/>
                                </a:rPr>
                              </m:ctrlPr>
                            </m:sSubPr>
                            <m:e>
                              <m:r>
                                <a:rPr lang="en-SE" b="0" i="1" smtClean="0">
                                  <a:solidFill>
                                    <a:srgbClr val="FFC000"/>
                                  </a:solidFill>
                                  <a:latin typeface="Cambria Math" panose="02040503050406030204" pitchFamily="18" charset="0"/>
                                </a:rPr>
                                <m:t>𝛾</m:t>
                              </m:r>
                            </m:e>
                            <m:sub>
                              <m:r>
                                <a:rPr lang="en-SE" b="0" i="1" smtClean="0">
                                  <a:solidFill>
                                    <a:srgbClr val="FFC000"/>
                                  </a:solidFill>
                                  <a:latin typeface="Cambria Math" panose="02040503050406030204" pitchFamily="18" charset="0"/>
                                </a:rPr>
                                <m:t>𝑎</m:t>
                              </m:r>
                            </m:sub>
                          </m:sSub>
                        </m:oMath>
                      </m:oMathPara>
                    </a14:m>
                    <a:endParaRPr lang="en-SE" dirty="0"/>
                  </a:p>
                </p:txBody>
              </p:sp>
            </mc:Choice>
            <mc:Fallback>
              <p:sp>
                <p:nvSpPr>
                  <p:cNvPr id="144" name="TextBox 143">
                    <a:extLst>
                      <a:ext uri="{FF2B5EF4-FFF2-40B4-BE49-F238E27FC236}">
                        <a16:creationId xmlns:a16="http://schemas.microsoft.com/office/drawing/2014/main" id="{C4BED58C-1B13-E684-7F5A-CF8200A4A5DC}"/>
                      </a:ext>
                    </a:extLst>
                  </p:cNvPr>
                  <p:cNvSpPr txBox="1">
                    <a:spLocks noRot="1" noChangeAspect="1" noMove="1" noResize="1" noEditPoints="1" noAdjustHandles="1" noChangeArrowheads="1" noChangeShapeType="1" noTextEdit="1"/>
                  </p:cNvSpPr>
                  <p:nvPr/>
                </p:nvSpPr>
                <p:spPr>
                  <a:xfrm>
                    <a:off x="2260349" y="3205872"/>
                    <a:ext cx="265650" cy="276999"/>
                  </a:xfrm>
                  <a:prstGeom prst="rect">
                    <a:avLst/>
                  </a:prstGeom>
                  <a:blipFill>
                    <a:blip r:embed="rId9"/>
                    <a:stretch>
                      <a:fillRect l="-20455" b="-21739"/>
                    </a:stretch>
                  </a:blipFill>
                </p:spPr>
                <p:txBody>
                  <a:bodyPr/>
                  <a:lstStyle/>
                  <a:p>
                    <a:r>
                      <a:rPr lang="en-SE">
                        <a:noFill/>
                      </a:rPr>
                      <a:t> </a:t>
                    </a:r>
                  </a:p>
                </p:txBody>
              </p:sp>
            </mc:Fallback>
          </mc:AlternateContent>
        </p:grpSp>
        <p:grpSp>
          <p:nvGrpSpPr>
            <p:cNvPr id="129" name="Group 128">
              <a:extLst>
                <a:ext uri="{FF2B5EF4-FFF2-40B4-BE49-F238E27FC236}">
                  <a16:creationId xmlns:a16="http://schemas.microsoft.com/office/drawing/2014/main" id="{5F615352-EDB2-3862-0D49-3C7112F092C3}"/>
                </a:ext>
              </a:extLst>
            </p:cNvPr>
            <p:cNvGrpSpPr/>
            <p:nvPr/>
          </p:nvGrpSpPr>
          <p:grpSpPr>
            <a:xfrm>
              <a:off x="938580" y="3930401"/>
              <a:ext cx="2078246" cy="1872140"/>
              <a:chOff x="1008094" y="3821667"/>
              <a:chExt cx="2078246" cy="1872140"/>
            </a:xfrm>
          </p:grpSpPr>
          <p:cxnSp>
            <p:nvCxnSpPr>
              <p:cNvPr id="132" name="Straight Arrow Connector 131">
                <a:extLst>
                  <a:ext uri="{FF2B5EF4-FFF2-40B4-BE49-F238E27FC236}">
                    <a16:creationId xmlns:a16="http://schemas.microsoft.com/office/drawing/2014/main" id="{493BBC1D-5C31-719F-0520-FCCE51406FF4}"/>
                  </a:ext>
                </a:extLst>
              </p:cNvPr>
              <p:cNvCxnSpPr/>
              <p:nvPr/>
            </p:nvCxnSpPr>
            <p:spPr>
              <a:xfrm>
                <a:off x="1152525" y="5324475"/>
                <a:ext cx="1917022" cy="0"/>
              </a:xfrm>
              <a:prstGeom prst="straightConnector1">
                <a:avLst/>
              </a:prstGeom>
              <a:ln w="28575">
                <a:tailEnd type="triangle"/>
              </a:ln>
            </p:spPr>
            <p:style>
              <a:lnRef idx="2">
                <a:schemeClr val="dk1"/>
              </a:lnRef>
              <a:fillRef idx="0">
                <a:schemeClr val="dk1"/>
              </a:fillRef>
              <a:effectRef idx="1">
                <a:schemeClr val="dk1"/>
              </a:effectRef>
              <a:fontRef idx="minor">
                <a:schemeClr val="tx1"/>
              </a:fontRef>
            </p:style>
          </p:cxnSp>
          <p:cxnSp>
            <p:nvCxnSpPr>
              <p:cNvPr id="133" name="Straight Arrow Connector 132">
                <a:extLst>
                  <a:ext uri="{FF2B5EF4-FFF2-40B4-BE49-F238E27FC236}">
                    <a16:creationId xmlns:a16="http://schemas.microsoft.com/office/drawing/2014/main" id="{6960C8EC-C60D-EB8A-0298-C5479BF1EDD5}"/>
                  </a:ext>
                </a:extLst>
              </p:cNvPr>
              <p:cNvCxnSpPr>
                <a:cxnSpLocks/>
              </p:cNvCxnSpPr>
              <p:nvPr/>
            </p:nvCxnSpPr>
            <p:spPr>
              <a:xfrm flipV="1">
                <a:off x="1152525" y="4191000"/>
                <a:ext cx="0" cy="1133475"/>
              </a:xfrm>
              <a:prstGeom prst="straightConnector1">
                <a:avLst/>
              </a:prstGeom>
              <a:ln w="28575">
                <a:tailEnd type="triangle"/>
              </a:ln>
            </p:spPr>
            <p:style>
              <a:lnRef idx="2">
                <a:schemeClr val="dk1"/>
              </a:lnRef>
              <a:fillRef idx="0">
                <a:schemeClr val="dk1"/>
              </a:fillRef>
              <a:effectRef idx="1">
                <a:schemeClr val="dk1"/>
              </a:effectRef>
              <a:fontRef idx="minor">
                <a:schemeClr val="tx1"/>
              </a:fontRef>
            </p:style>
          </p:cxnSp>
          <p:sp>
            <p:nvSpPr>
              <p:cNvPr id="134" name="TextBox 133">
                <a:extLst>
                  <a:ext uri="{FF2B5EF4-FFF2-40B4-BE49-F238E27FC236}">
                    <a16:creationId xmlns:a16="http://schemas.microsoft.com/office/drawing/2014/main" id="{F550D13C-4D27-45A2-868B-C64617977558}"/>
                  </a:ext>
                </a:extLst>
              </p:cNvPr>
              <p:cNvSpPr txBox="1"/>
              <p:nvPr/>
            </p:nvSpPr>
            <p:spPr>
              <a:xfrm>
                <a:off x="2778242" y="5324475"/>
                <a:ext cx="308098" cy="369332"/>
              </a:xfrm>
              <a:prstGeom prst="rect">
                <a:avLst/>
              </a:prstGeom>
              <a:noFill/>
            </p:spPr>
            <p:txBody>
              <a:bodyPr wrap="none" rtlCol="0">
                <a:spAutoFit/>
              </a:bodyPr>
              <a:lstStyle/>
              <a:p>
                <a:r>
                  <a:rPr lang="en-SE" dirty="0">
                    <a:solidFill>
                      <a:schemeClr val="tx1">
                        <a:lumMod val="50000"/>
                        <a:lumOff val="50000"/>
                      </a:schemeClr>
                    </a:solidFill>
                  </a:rPr>
                  <a:t>a</a:t>
                </a:r>
              </a:p>
            </p:txBody>
          </p:sp>
          <p:sp>
            <p:nvSpPr>
              <p:cNvPr id="135" name="TextBox 134">
                <a:extLst>
                  <a:ext uri="{FF2B5EF4-FFF2-40B4-BE49-F238E27FC236}">
                    <a16:creationId xmlns:a16="http://schemas.microsoft.com/office/drawing/2014/main" id="{9396E138-9D34-1B5C-7779-0D9FB23683BC}"/>
                  </a:ext>
                </a:extLst>
              </p:cNvPr>
              <p:cNvSpPr txBox="1"/>
              <p:nvPr/>
            </p:nvSpPr>
            <p:spPr>
              <a:xfrm>
                <a:off x="1008094" y="3821667"/>
                <a:ext cx="288862" cy="369332"/>
              </a:xfrm>
              <a:prstGeom prst="rect">
                <a:avLst/>
              </a:prstGeom>
              <a:noFill/>
            </p:spPr>
            <p:txBody>
              <a:bodyPr wrap="none" rtlCol="0">
                <a:spAutoFit/>
              </a:bodyPr>
              <a:lstStyle/>
              <a:p>
                <a:r>
                  <a:rPr lang="en-SE" dirty="0">
                    <a:solidFill>
                      <a:srgbClr val="006D70"/>
                    </a:solidFill>
                  </a:rPr>
                  <a:t>y</a:t>
                </a:r>
              </a:p>
            </p:txBody>
          </p:sp>
        </p:grpSp>
        <p:cxnSp>
          <p:nvCxnSpPr>
            <p:cNvPr id="130" name="Straight Connector 129">
              <a:extLst>
                <a:ext uri="{FF2B5EF4-FFF2-40B4-BE49-F238E27FC236}">
                  <a16:creationId xmlns:a16="http://schemas.microsoft.com/office/drawing/2014/main" id="{AECA7ACF-2BB0-83F5-9FFD-CAD5AD3810C2}"/>
                </a:ext>
              </a:extLst>
            </p:cNvPr>
            <p:cNvCxnSpPr>
              <a:cxnSpLocks/>
              <a:endCxn id="161" idx="0"/>
            </p:cNvCxnSpPr>
            <p:nvPr/>
          </p:nvCxnSpPr>
          <p:spPr>
            <a:xfrm flipV="1">
              <a:off x="1083011" y="4825333"/>
              <a:ext cx="1830306" cy="213392"/>
            </a:xfrm>
            <a:prstGeom prst="line">
              <a:avLst/>
            </a:prstGeom>
            <a:ln>
              <a:solidFill>
                <a:schemeClr val="tx1">
                  <a:lumMod val="75000"/>
                  <a:lumOff val="25000"/>
                </a:schemeClr>
              </a:solidFill>
            </a:ln>
          </p:spPr>
          <p:style>
            <a:lnRef idx="2">
              <a:schemeClr val="dk1"/>
            </a:lnRef>
            <a:fillRef idx="0">
              <a:schemeClr val="dk1"/>
            </a:fillRef>
            <a:effectRef idx="1">
              <a:schemeClr val="dk1"/>
            </a:effectRef>
            <a:fontRef idx="minor">
              <a:schemeClr val="tx1"/>
            </a:fontRef>
          </p:style>
        </p:cxnSp>
        <p:cxnSp>
          <p:nvCxnSpPr>
            <p:cNvPr id="131" name="Straight Connector 130">
              <a:extLst>
                <a:ext uri="{FF2B5EF4-FFF2-40B4-BE49-F238E27FC236}">
                  <a16:creationId xmlns:a16="http://schemas.microsoft.com/office/drawing/2014/main" id="{3667FD72-9F83-1384-C9C3-CE7079C4AB90}"/>
                </a:ext>
              </a:extLst>
            </p:cNvPr>
            <p:cNvCxnSpPr>
              <a:cxnSpLocks/>
            </p:cNvCxnSpPr>
            <p:nvPr/>
          </p:nvCxnSpPr>
          <p:spPr>
            <a:xfrm>
              <a:off x="1083011" y="4676775"/>
              <a:ext cx="1830306" cy="524172"/>
            </a:xfrm>
            <a:prstGeom prst="line">
              <a:avLst/>
            </a:prstGeom>
            <a:ln>
              <a:solidFill>
                <a:srgbClr val="C00000"/>
              </a:solidFill>
            </a:ln>
          </p:spPr>
          <p:style>
            <a:lnRef idx="2">
              <a:schemeClr val="dk1"/>
            </a:lnRef>
            <a:fillRef idx="0">
              <a:schemeClr val="dk1"/>
            </a:fillRef>
            <a:effectRef idx="1">
              <a:schemeClr val="dk1"/>
            </a:effectRef>
            <a:fontRef idx="minor">
              <a:schemeClr val="tx1"/>
            </a:fontRef>
          </p:style>
        </p:cxnSp>
      </p:grpSp>
      <p:sp>
        <p:nvSpPr>
          <p:cNvPr id="145" name="Right Brace 144">
            <a:extLst>
              <a:ext uri="{FF2B5EF4-FFF2-40B4-BE49-F238E27FC236}">
                <a16:creationId xmlns:a16="http://schemas.microsoft.com/office/drawing/2014/main" id="{45BEB69C-DAB4-6916-6D89-59BF53580A19}"/>
              </a:ext>
            </a:extLst>
          </p:cNvPr>
          <p:cNvSpPr/>
          <p:nvPr/>
        </p:nvSpPr>
        <p:spPr>
          <a:xfrm>
            <a:off x="1019175" y="4670128"/>
            <a:ext cx="148440" cy="361947"/>
          </a:xfrm>
          <a:prstGeom prst="rightBrace">
            <a:avLst/>
          </a:prstGeom>
          <a:ln>
            <a:solidFill>
              <a:srgbClr val="D0180A"/>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SE"/>
          </a:p>
        </p:txBody>
      </p:sp>
      <mc:AlternateContent xmlns:mc="http://schemas.openxmlformats.org/markup-compatibility/2006">
        <mc:Choice xmlns:a14="http://schemas.microsoft.com/office/drawing/2010/main" Requires="a14">
          <p:sp>
            <p:nvSpPr>
              <p:cNvPr id="146" name="TextBox 145">
                <a:extLst>
                  <a:ext uri="{FF2B5EF4-FFF2-40B4-BE49-F238E27FC236}">
                    <a16:creationId xmlns:a16="http://schemas.microsoft.com/office/drawing/2014/main" id="{BD59E05A-B10E-9C8B-1431-952C31E94234}"/>
                  </a:ext>
                </a:extLst>
              </p:cNvPr>
              <p:cNvSpPr txBox="1"/>
              <p:nvPr/>
            </p:nvSpPr>
            <p:spPr>
              <a:xfrm>
                <a:off x="1169699" y="4711627"/>
                <a:ext cx="284693" cy="276999"/>
              </a:xfrm>
              <a:prstGeom prst="rect">
                <a:avLst/>
              </a:prstGeom>
              <a:noFill/>
            </p:spPr>
            <p:txBody>
              <a:bodyPr wrap="none" lIns="0" tIns="0" rIns="0" bIns="0" rtlCol="0">
                <a:spAutoFit/>
              </a:bodyPr>
              <a:lstStyle/>
              <a:p>
                <a14:m>
                  <m:oMathPara xmlns:m="http://schemas.openxmlformats.org/officeDocument/2006/math">
                    <m:oMathParaPr>
                      <m:jc m:val="centerGroup"/>
                    </m:oMathParaPr>
                    <m:oMath xmlns:m="http://schemas.openxmlformats.org/officeDocument/2006/math">
                      <m:sSub>
                        <m:sSubPr>
                          <m:ctrlPr>
                            <a:rPr lang="en-SE" b="0" i="1" smtClean="0">
                              <a:solidFill>
                                <a:srgbClr val="C00000"/>
                              </a:solidFill>
                              <a:latin typeface="Cambria Math" panose="02040503050406030204" pitchFamily="18" charset="0"/>
                            </a:rPr>
                          </m:ctrlPr>
                        </m:sSubPr>
                        <m:e>
                          <m:r>
                            <a:rPr lang="en-SE" b="0" i="1" smtClean="0">
                              <a:solidFill>
                                <a:srgbClr val="C00000"/>
                              </a:solidFill>
                              <a:latin typeface="Cambria Math" panose="02040503050406030204" pitchFamily="18" charset="0"/>
                            </a:rPr>
                            <m:t>𝛽</m:t>
                          </m:r>
                        </m:e>
                        <m:sub>
                          <m:r>
                            <a:rPr lang="en-SE" b="0" i="1" smtClean="0">
                              <a:solidFill>
                                <a:srgbClr val="C00000"/>
                              </a:solidFill>
                              <a:latin typeface="Cambria Math" panose="02040503050406030204" pitchFamily="18" charset="0"/>
                            </a:rPr>
                            <m:t>𝑥</m:t>
                          </m:r>
                        </m:sub>
                      </m:sSub>
                    </m:oMath>
                  </m:oMathPara>
                </a14:m>
                <a:endParaRPr lang="en-SE" dirty="0"/>
              </a:p>
            </p:txBody>
          </p:sp>
        </mc:Choice>
        <mc:Fallback>
          <p:sp>
            <p:nvSpPr>
              <p:cNvPr id="146" name="TextBox 145">
                <a:extLst>
                  <a:ext uri="{FF2B5EF4-FFF2-40B4-BE49-F238E27FC236}">
                    <a16:creationId xmlns:a16="http://schemas.microsoft.com/office/drawing/2014/main" id="{BD59E05A-B10E-9C8B-1431-952C31E94234}"/>
                  </a:ext>
                </a:extLst>
              </p:cNvPr>
              <p:cNvSpPr txBox="1">
                <a:spLocks noRot="1" noChangeAspect="1" noMove="1" noResize="1" noEditPoints="1" noAdjustHandles="1" noChangeArrowheads="1" noChangeShapeType="1" noTextEdit="1"/>
              </p:cNvSpPr>
              <p:nvPr/>
            </p:nvSpPr>
            <p:spPr>
              <a:xfrm>
                <a:off x="1169699" y="4711627"/>
                <a:ext cx="284693" cy="276999"/>
              </a:xfrm>
              <a:prstGeom prst="rect">
                <a:avLst/>
              </a:prstGeom>
              <a:blipFill>
                <a:blip r:embed="rId10"/>
                <a:stretch>
                  <a:fillRect l="-29787" t="-2222" r="-2128" b="-35556"/>
                </a:stretch>
              </a:blipFill>
            </p:spPr>
            <p:txBody>
              <a:bodyPr/>
              <a:lstStyle/>
              <a:p>
                <a:r>
                  <a:rPr lang="en-SE">
                    <a:noFill/>
                  </a:rPr>
                  <a:t> </a:t>
                </a:r>
              </a:p>
            </p:txBody>
          </p:sp>
        </mc:Fallback>
      </mc:AlternateContent>
      <p:sp>
        <p:nvSpPr>
          <p:cNvPr id="147" name="Right Brace 146">
            <a:extLst>
              <a:ext uri="{FF2B5EF4-FFF2-40B4-BE49-F238E27FC236}">
                <a16:creationId xmlns:a16="http://schemas.microsoft.com/office/drawing/2014/main" id="{090AE9B5-06C2-2C58-489F-9DBB8FF0115C}"/>
              </a:ext>
            </a:extLst>
          </p:cNvPr>
          <p:cNvSpPr/>
          <p:nvPr/>
        </p:nvSpPr>
        <p:spPr>
          <a:xfrm>
            <a:off x="3801393" y="4670128"/>
            <a:ext cx="148440" cy="361947"/>
          </a:xfrm>
          <a:prstGeom prst="rightBrace">
            <a:avLst/>
          </a:prstGeom>
          <a:ln>
            <a:solidFill>
              <a:srgbClr val="D0180A"/>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SE"/>
          </a:p>
        </p:txBody>
      </p:sp>
      <mc:AlternateContent xmlns:mc="http://schemas.openxmlformats.org/markup-compatibility/2006">
        <mc:Choice xmlns:a14="http://schemas.microsoft.com/office/drawing/2010/main" Requires="a14">
          <p:sp>
            <p:nvSpPr>
              <p:cNvPr id="148" name="TextBox 147">
                <a:extLst>
                  <a:ext uri="{FF2B5EF4-FFF2-40B4-BE49-F238E27FC236}">
                    <a16:creationId xmlns:a16="http://schemas.microsoft.com/office/drawing/2014/main" id="{6CC6A92D-9BD1-E6A2-AA1F-2CF31B6F2731}"/>
                  </a:ext>
                </a:extLst>
              </p:cNvPr>
              <p:cNvSpPr txBox="1"/>
              <p:nvPr/>
            </p:nvSpPr>
            <p:spPr>
              <a:xfrm>
                <a:off x="3951917" y="4711627"/>
                <a:ext cx="284693" cy="276999"/>
              </a:xfrm>
              <a:prstGeom prst="rect">
                <a:avLst/>
              </a:prstGeom>
              <a:noFill/>
            </p:spPr>
            <p:txBody>
              <a:bodyPr wrap="none" lIns="0" tIns="0" rIns="0" bIns="0" rtlCol="0">
                <a:spAutoFit/>
              </a:bodyPr>
              <a:lstStyle/>
              <a:p>
                <a14:m>
                  <m:oMathPara xmlns:m="http://schemas.openxmlformats.org/officeDocument/2006/math">
                    <m:oMathParaPr>
                      <m:jc m:val="centerGroup"/>
                    </m:oMathParaPr>
                    <m:oMath xmlns:m="http://schemas.openxmlformats.org/officeDocument/2006/math">
                      <m:sSub>
                        <m:sSubPr>
                          <m:ctrlPr>
                            <a:rPr lang="en-SE" b="0" i="1" smtClean="0">
                              <a:solidFill>
                                <a:srgbClr val="C00000"/>
                              </a:solidFill>
                              <a:latin typeface="Cambria Math" panose="02040503050406030204" pitchFamily="18" charset="0"/>
                            </a:rPr>
                          </m:ctrlPr>
                        </m:sSubPr>
                        <m:e>
                          <m:r>
                            <a:rPr lang="en-SE" b="0" i="1" smtClean="0">
                              <a:solidFill>
                                <a:srgbClr val="C00000"/>
                              </a:solidFill>
                              <a:latin typeface="Cambria Math" panose="02040503050406030204" pitchFamily="18" charset="0"/>
                            </a:rPr>
                            <m:t>𝛽</m:t>
                          </m:r>
                        </m:e>
                        <m:sub>
                          <m:r>
                            <a:rPr lang="en-SE" b="0" i="1" smtClean="0">
                              <a:solidFill>
                                <a:srgbClr val="C00000"/>
                              </a:solidFill>
                              <a:latin typeface="Cambria Math" panose="02040503050406030204" pitchFamily="18" charset="0"/>
                            </a:rPr>
                            <m:t>𝑥</m:t>
                          </m:r>
                        </m:sub>
                      </m:sSub>
                    </m:oMath>
                  </m:oMathPara>
                </a14:m>
                <a:endParaRPr lang="en-SE" dirty="0"/>
              </a:p>
            </p:txBody>
          </p:sp>
        </mc:Choice>
        <mc:Fallback>
          <p:sp>
            <p:nvSpPr>
              <p:cNvPr id="148" name="TextBox 147">
                <a:extLst>
                  <a:ext uri="{FF2B5EF4-FFF2-40B4-BE49-F238E27FC236}">
                    <a16:creationId xmlns:a16="http://schemas.microsoft.com/office/drawing/2014/main" id="{6CC6A92D-9BD1-E6A2-AA1F-2CF31B6F2731}"/>
                  </a:ext>
                </a:extLst>
              </p:cNvPr>
              <p:cNvSpPr txBox="1">
                <a:spLocks noRot="1" noChangeAspect="1" noMove="1" noResize="1" noEditPoints="1" noAdjustHandles="1" noChangeArrowheads="1" noChangeShapeType="1" noTextEdit="1"/>
              </p:cNvSpPr>
              <p:nvPr/>
            </p:nvSpPr>
            <p:spPr>
              <a:xfrm>
                <a:off x="3951917" y="4711627"/>
                <a:ext cx="284693" cy="276999"/>
              </a:xfrm>
              <a:prstGeom prst="rect">
                <a:avLst/>
              </a:prstGeom>
              <a:blipFill>
                <a:blip r:embed="rId11"/>
                <a:stretch>
                  <a:fillRect l="-29787" t="-2222" r="-2128" b="-35556"/>
                </a:stretch>
              </a:blipFill>
            </p:spPr>
            <p:txBody>
              <a:bodyPr/>
              <a:lstStyle/>
              <a:p>
                <a:r>
                  <a:rPr lang="en-SE">
                    <a:noFill/>
                  </a:rPr>
                  <a:t> </a:t>
                </a:r>
              </a:p>
            </p:txBody>
          </p:sp>
        </mc:Fallback>
      </mc:AlternateContent>
      <p:sp>
        <p:nvSpPr>
          <p:cNvPr id="150" name="Right Brace 149">
            <a:extLst>
              <a:ext uri="{FF2B5EF4-FFF2-40B4-BE49-F238E27FC236}">
                <a16:creationId xmlns:a16="http://schemas.microsoft.com/office/drawing/2014/main" id="{08A95D20-C549-3149-CC87-D5E2C2EEF198}"/>
              </a:ext>
            </a:extLst>
          </p:cNvPr>
          <p:cNvSpPr/>
          <p:nvPr/>
        </p:nvSpPr>
        <p:spPr>
          <a:xfrm>
            <a:off x="5581685" y="4818686"/>
            <a:ext cx="148440" cy="213389"/>
          </a:xfrm>
          <a:prstGeom prst="rightBrace">
            <a:avLst/>
          </a:prstGeom>
          <a:ln>
            <a:solidFill>
              <a:schemeClr val="bg1">
                <a:lumMod val="50000"/>
              </a:schemeClr>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SE"/>
          </a:p>
        </p:txBody>
      </p:sp>
      <mc:AlternateContent xmlns:mc="http://schemas.openxmlformats.org/markup-compatibility/2006">
        <mc:Choice xmlns:a14="http://schemas.microsoft.com/office/drawing/2010/main" Requires="a14">
          <p:sp>
            <p:nvSpPr>
              <p:cNvPr id="153" name="TextBox 152">
                <a:extLst>
                  <a:ext uri="{FF2B5EF4-FFF2-40B4-BE49-F238E27FC236}">
                    <a16:creationId xmlns:a16="http://schemas.microsoft.com/office/drawing/2014/main" id="{115B1D19-3053-6515-4FFE-F81202FF8D45}"/>
                  </a:ext>
                </a:extLst>
              </p:cNvPr>
              <p:cNvSpPr txBox="1"/>
              <p:nvPr/>
            </p:nvSpPr>
            <p:spPr>
              <a:xfrm>
                <a:off x="5743926" y="4786823"/>
                <a:ext cx="290721" cy="276999"/>
              </a:xfrm>
              <a:prstGeom prst="rect">
                <a:avLst/>
              </a:prstGeom>
              <a:noFill/>
            </p:spPr>
            <p:txBody>
              <a:bodyPr wrap="none" lIns="0" tIns="0" rIns="0" bIns="0" rtlCol="0">
                <a:spAutoFit/>
              </a:bodyPr>
              <a:lstStyle/>
              <a:p>
                <a14:m>
                  <m:oMathPara xmlns:m="http://schemas.openxmlformats.org/officeDocument/2006/math">
                    <m:oMathParaPr>
                      <m:jc m:val="centerGroup"/>
                    </m:oMathParaPr>
                    <m:oMath xmlns:m="http://schemas.openxmlformats.org/officeDocument/2006/math">
                      <m:sSub>
                        <m:sSubPr>
                          <m:ctrlPr>
                            <a:rPr lang="en-SE" b="0" i="1" smtClean="0">
                              <a:solidFill>
                                <a:schemeClr val="bg1">
                                  <a:lumMod val="50000"/>
                                </a:schemeClr>
                              </a:solidFill>
                              <a:latin typeface="Cambria Math" panose="02040503050406030204" pitchFamily="18" charset="0"/>
                            </a:rPr>
                          </m:ctrlPr>
                        </m:sSubPr>
                        <m:e>
                          <m:r>
                            <a:rPr lang="en-SE" b="0" i="1" smtClean="0">
                              <a:solidFill>
                                <a:schemeClr val="bg1">
                                  <a:lumMod val="50000"/>
                                </a:schemeClr>
                              </a:solidFill>
                              <a:latin typeface="Cambria Math" panose="02040503050406030204" pitchFamily="18" charset="0"/>
                            </a:rPr>
                            <m:t>𝛽</m:t>
                          </m:r>
                        </m:e>
                        <m:sub>
                          <m:r>
                            <a:rPr lang="en-SE" b="0" i="1" smtClean="0">
                              <a:solidFill>
                                <a:schemeClr val="bg1">
                                  <a:lumMod val="50000"/>
                                </a:schemeClr>
                              </a:solidFill>
                              <a:latin typeface="Cambria Math" panose="02040503050406030204" pitchFamily="18" charset="0"/>
                            </a:rPr>
                            <m:t>𝑎</m:t>
                          </m:r>
                        </m:sub>
                      </m:sSub>
                    </m:oMath>
                  </m:oMathPara>
                </a14:m>
                <a:endParaRPr lang="en-SE" dirty="0">
                  <a:solidFill>
                    <a:schemeClr val="bg1">
                      <a:lumMod val="50000"/>
                    </a:schemeClr>
                  </a:solidFill>
                </a:endParaRPr>
              </a:p>
            </p:txBody>
          </p:sp>
        </mc:Choice>
        <mc:Fallback>
          <p:sp>
            <p:nvSpPr>
              <p:cNvPr id="153" name="TextBox 152">
                <a:extLst>
                  <a:ext uri="{FF2B5EF4-FFF2-40B4-BE49-F238E27FC236}">
                    <a16:creationId xmlns:a16="http://schemas.microsoft.com/office/drawing/2014/main" id="{115B1D19-3053-6515-4FFE-F81202FF8D45}"/>
                  </a:ext>
                </a:extLst>
              </p:cNvPr>
              <p:cNvSpPr txBox="1">
                <a:spLocks noRot="1" noChangeAspect="1" noMove="1" noResize="1" noEditPoints="1" noAdjustHandles="1" noChangeArrowheads="1" noChangeShapeType="1" noTextEdit="1"/>
              </p:cNvSpPr>
              <p:nvPr/>
            </p:nvSpPr>
            <p:spPr>
              <a:xfrm>
                <a:off x="5743926" y="4786823"/>
                <a:ext cx="290721" cy="276999"/>
              </a:xfrm>
              <a:prstGeom prst="rect">
                <a:avLst/>
              </a:prstGeom>
              <a:blipFill>
                <a:blip r:embed="rId12"/>
                <a:stretch>
                  <a:fillRect l="-29167" t="-2174" r="-2083" b="-32609"/>
                </a:stretch>
              </a:blipFill>
            </p:spPr>
            <p:txBody>
              <a:bodyPr/>
              <a:lstStyle/>
              <a:p>
                <a:r>
                  <a:rPr lang="en-SE">
                    <a:noFill/>
                  </a:rPr>
                  <a:t> </a:t>
                </a:r>
              </a:p>
            </p:txBody>
          </p:sp>
        </mc:Fallback>
      </mc:AlternateContent>
      <p:sp>
        <p:nvSpPr>
          <p:cNvPr id="154" name="Right Brace 153">
            <a:extLst>
              <a:ext uri="{FF2B5EF4-FFF2-40B4-BE49-F238E27FC236}">
                <a16:creationId xmlns:a16="http://schemas.microsoft.com/office/drawing/2014/main" id="{991C08EB-2B87-35B1-2ACC-A881BCCAC6B6}"/>
              </a:ext>
            </a:extLst>
          </p:cNvPr>
          <p:cNvSpPr/>
          <p:nvPr/>
        </p:nvSpPr>
        <p:spPr>
          <a:xfrm>
            <a:off x="6559202" y="4672202"/>
            <a:ext cx="148440" cy="361947"/>
          </a:xfrm>
          <a:prstGeom prst="rightBrace">
            <a:avLst/>
          </a:prstGeom>
          <a:ln>
            <a:solidFill>
              <a:srgbClr val="D0180A"/>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SE"/>
          </a:p>
        </p:txBody>
      </p:sp>
      <mc:AlternateContent xmlns:mc="http://schemas.openxmlformats.org/markup-compatibility/2006">
        <mc:Choice xmlns:a14="http://schemas.microsoft.com/office/drawing/2010/main" Requires="a14">
          <p:sp>
            <p:nvSpPr>
              <p:cNvPr id="155" name="TextBox 154">
                <a:extLst>
                  <a:ext uri="{FF2B5EF4-FFF2-40B4-BE49-F238E27FC236}">
                    <a16:creationId xmlns:a16="http://schemas.microsoft.com/office/drawing/2014/main" id="{5571E6BA-C849-0A85-92E1-6D277CF33FF4}"/>
                  </a:ext>
                </a:extLst>
              </p:cNvPr>
              <p:cNvSpPr txBox="1"/>
              <p:nvPr/>
            </p:nvSpPr>
            <p:spPr>
              <a:xfrm>
                <a:off x="6709726" y="4713701"/>
                <a:ext cx="284693" cy="276999"/>
              </a:xfrm>
              <a:prstGeom prst="rect">
                <a:avLst/>
              </a:prstGeom>
              <a:noFill/>
            </p:spPr>
            <p:txBody>
              <a:bodyPr wrap="none" lIns="0" tIns="0" rIns="0" bIns="0" rtlCol="0">
                <a:spAutoFit/>
              </a:bodyPr>
              <a:lstStyle/>
              <a:p>
                <a14:m>
                  <m:oMathPara xmlns:m="http://schemas.openxmlformats.org/officeDocument/2006/math">
                    <m:oMathParaPr>
                      <m:jc m:val="centerGroup"/>
                    </m:oMathParaPr>
                    <m:oMath xmlns:m="http://schemas.openxmlformats.org/officeDocument/2006/math">
                      <m:sSub>
                        <m:sSubPr>
                          <m:ctrlPr>
                            <a:rPr lang="en-SE" b="0" i="1" smtClean="0">
                              <a:solidFill>
                                <a:srgbClr val="C00000"/>
                              </a:solidFill>
                              <a:latin typeface="Cambria Math" panose="02040503050406030204" pitchFamily="18" charset="0"/>
                            </a:rPr>
                          </m:ctrlPr>
                        </m:sSubPr>
                        <m:e>
                          <m:r>
                            <a:rPr lang="en-SE" b="0" i="1" smtClean="0">
                              <a:solidFill>
                                <a:srgbClr val="C00000"/>
                              </a:solidFill>
                              <a:latin typeface="Cambria Math" panose="02040503050406030204" pitchFamily="18" charset="0"/>
                            </a:rPr>
                            <m:t>𝛽</m:t>
                          </m:r>
                        </m:e>
                        <m:sub>
                          <m:r>
                            <a:rPr lang="en-SE" b="0" i="1" smtClean="0">
                              <a:solidFill>
                                <a:srgbClr val="C00000"/>
                              </a:solidFill>
                              <a:latin typeface="Cambria Math" panose="02040503050406030204" pitchFamily="18" charset="0"/>
                            </a:rPr>
                            <m:t>𝑥</m:t>
                          </m:r>
                        </m:sub>
                      </m:sSub>
                    </m:oMath>
                  </m:oMathPara>
                </a14:m>
                <a:endParaRPr lang="en-SE" dirty="0"/>
              </a:p>
            </p:txBody>
          </p:sp>
        </mc:Choice>
        <mc:Fallback>
          <p:sp>
            <p:nvSpPr>
              <p:cNvPr id="155" name="TextBox 154">
                <a:extLst>
                  <a:ext uri="{FF2B5EF4-FFF2-40B4-BE49-F238E27FC236}">
                    <a16:creationId xmlns:a16="http://schemas.microsoft.com/office/drawing/2014/main" id="{5571E6BA-C849-0A85-92E1-6D277CF33FF4}"/>
                  </a:ext>
                </a:extLst>
              </p:cNvPr>
              <p:cNvSpPr txBox="1">
                <a:spLocks noRot="1" noChangeAspect="1" noMove="1" noResize="1" noEditPoints="1" noAdjustHandles="1" noChangeArrowheads="1" noChangeShapeType="1" noTextEdit="1"/>
              </p:cNvSpPr>
              <p:nvPr/>
            </p:nvSpPr>
            <p:spPr>
              <a:xfrm>
                <a:off x="6709726" y="4713701"/>
                <a:ext cx="284693" cy="276999"/>
              </a:xfrm>
              <a:prstGeom prst="rect">
                <a:avLst/>
              </a:prstGeom>
              <a:blipFill>
                <a:blip r:embed="rId13"/>
                <a:stretch>
                  <a:fillRect l="-30435" t="-2174" r="-4348" b="-32609"/>
                </a:stretch>
              </a:blipFill>
            </p:spPr>
            <p:txBody>
              <a:bodyPr/>
              <a:lstStyle/>
              <a:p>
                <a:r>
                  <a:rPr lang="en-SE">
                    <a:noFill/>
                  </a:rPr>
                  <a:t> </a:t>
                </a:r>
              </a:p>
            </p:txBody>
          </p:sp>
        </mc:Fallback>
      </mc:AlternateContent>
      <p:sp>
        <p:nvSpPr>
          <p:cNvPr id="156" name="Right Brace 155">
            <a:extLst>
              <a:ext uri="{FF2B5EF4-FFF2-40B4-BE49-F238E27FC236}">
                <a16:creationId xmlns:a16="http://schemas.microsoft.com/office/drawing/2014/main" id="{C31B79DC-60F9-483D-001B-48F30C83FC91}"/>
              </a:ext>
            </a:extLst>
          </p:cNvPr>
          <p:cNvSpPr/>
          <p:nvPr/>
        </p:nvSpPr>
        <p:spPr>
          <a:xfrm>
            <a:off x="9321091" y="4670128"/>
            <a:ext cx="148440" cy="361947"/>
          </a:xfrm>
          <a:prstGeom prst="rightBrace">
            <a:avLst/>
          </a:prstGeom>
          <a:ln>
            <a:solidFill>
              <a:srgbClr val="D0180A"/>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SE"/>
          </a:p>
        </p:txBody>
      </p:sp>
      <mc:AlternateContent xmlns:mc="http://schemas.openxmlformats.org/markup-compatibility/2006">
        <mc:Choice xmlns:a14="http://schemas.microsoft.com/office/drawing/2010/main" Requires="a14">
          <p:sp>
            <p:nvSpPr>
              <p:cNvPr id="157" name="TextBox 156">
                <a:extLst>
                  <a:ext uri="{FF2B5EF4-FFF2-40B4-BE49-F238E27FC236}">
                    <a16:creationId xmlns:a16="http://schemas.microsoft.com/office/drawing/2014/main" id="{5A361CD7-32A9-11F2-60E5-B2D5071B53E7}"/>
                  </a:ext>
                </a:extLst>
              </p:cNvPr>
              <p:cNvSpPr txBox="1"/>
              <p:nvPr/>
            </p:nvSpPr>
            <p:spPr>
              <a:xfrm>
                <a:off x="9471615" y="4711627"/>
                <a:ext cx="284693" cy="276999"/>
              </a:xfrm>
              <a:prstGeom prst="rect">
                <a:avLst/>
              </a:prstGeom>
              <a:noFill/>
            </p:spPr>
            <p:txBody>
              <a:bodyPr wrap="none" lIns="0" tIns="0" rIns="0" bIns="0" rtlCol="0">
                <a:spAutoFit/>
              </a:bodyPr>
              <a:lstStyle/>
              <a:p>
                <a14:m>
                  <m:oMathPara xmlns:m="http://schemas.openxmlformats.org/officeDocument/2006/math">
                    <m:oMathParaPr>
                      <m:jc m:val="centerGroup"/>
                    </m:oMathParaPr>
                    <m:oMath xmlns:m="http://schemas.openxmlformats.org/officeDocument/2006/math">
                      <m:sSub>
                        <m:sSubPr>
                          <m:ctrlPr>
                            <a:rPr lang="en-SE" b="0" i="1" smtClean="0">
                              <a:solidFill>
                                <a:srgbClr val="C00000"/>
                              </a:solidFill>
                              <a:latin typeface="Cambria Math" panose="02040503050406030204" pitchFamily="18" charset="0"/>
                            </a:rPr>
                          </m:ctrlPr>
                        </m:sSubPr>
                        <m:e>
                          <m:r>
                            <a:rPr lang="en-SE" b="0" i="1" smtClean="0">
                              <a:solidFill>
                                <a:srgbClr val="C00000"/>
                              </a:solidFill>
                              <a:latin typeface="Cambria Math" panose="02040503050406030204" pitchFamily="18" charset="0"/>
                            </a:rPr>
                            <m:t>𝛽</m:t>
                          </m:r>
                        </m:e>
                        <m:sub>
                          <m:r>
                            <a:rPr lang="en-SE" b="0" i="1" smtClean="0">
                              <a:solidFill>
                                <a:srgbClr val="C00000"/>
                              </a:solidFill>
                              <a:latin typeface="Cambria Math" panose="02040503050406030204" pitchFamily="18" charset="0"/>
                            </a:rPr>
                            <m:t>𝑥</m:t>
                          </m:r>
                        </m:sub>
                      </m:sSub>
                    </m:oMath>
                  </m:oMathPara>
                </a14:m>
                <a:endParaRPr lang="en-SE" dirty="0"/>
              </a:p>
            </p:txBody>
          </p:sp>
        </mc:Choice>
        <mc:Fallback>
          <p:sp>
            <p:nvSpPr>
              <p:cNvPr id="157" name="TextBox 156">
                <a:extLst>
                  <a:ext uri="{FF2B5EF4-FFF2-40B4-BE49-F238E27FC236}">
                    <a16:creationId xmlns:a16="http://schemas.microsoft.com/office/drawing/2014/main" id="{5A361CD7-32A9-11F2-60E5-B2D5071B53E7}"/>
                  </a:ext>
                </a:extLst>
              </p:cNvPr>
              <p:cNvSpPr txBox="1">
                <a:spLocks noRot="1" noChangeAspect="1" noMove="1" noResize="1" noEditPoints="1" noAdjustHandles="1" noChangeArrowheads="1" noChangeShapeType="1" noTextEdit="1"/>
              </p:cNvSpPr>
              <p:nvPr/>
            </p:nvSpPr>
            <p:spPr>
              <a:xfrm>
                <a:off x="9471615" y="4711627"/>
                <a:ext cx="284693" cy="276999"/>
              </a:xfrm>
              <a:prstGeom prst="rect">
                <a:avLst/>
              </a:prstGeom>
              <a:blipFill>
                <a:blip r:embed="rId14"/>
                <a:stretch>
                  <a:fillRect l="-30435" t="-2222" r="-4348" b="-35556"/>
                </a:stretch>
              </a:blipFill>
            </p:spPr>
            <p:txBody>
              <a:bodyPr/>
              <a:lstStyle/>
              <a:p>
                <a:r>
                  <a:rPr lang="en-SE">
                    <a:noFill/>
                  </a:rPr>
                  <a:t> </a:t>
                </a:r>
              </a:p>
            </p:txBody>
          </p:sp>
        </mc:Fallback>
      </mc:AlternateContent>
      <mc:AlternateContent xmlns:mc="http://schemas.openxmlformats.org/markup-compatibility/2006">
        <mc:Choice xmlns:a14="http://schemas.microsoft.com/office/drawing/2010/main" Requires="a14">
          <p:sp>
            <p:nvSpPr>
              <p:cNvPr id="160" name="TextBox 159">
                <a:extLst>
                  <a:ext uri="{FF2B5EF4-FFF2-40B4-BE49-F238E27FC236}">
                    <a16:creationId xmlns:a16="http://schemas.microsoft.com/office/drawing/2014/main" id="{65B7F7EA-9F22-6401-4903-7999BEA689A6}"/>
                  </a:ext>
                </a:extLst>
              </p:cNvPr>
              <p:cNvSpPr txBox="1"/>
              <p:nvPr/>
            </p:nvSpPr>
            <p:spPr>
              <a:xfrm>
                <a:off x="8481146" y="4858747"/>
                <a:ext cx="265650" cy="276999"/>
              </a:xfrm>
              <a:prstGeom prst="rect">
                <a:avLst/>
              </a:prstGeom>
              <a:noFill/>
            </p:spPr>
            <p:txBody>
              <a:bodyPr wrap="none" lIns="0" tIns="0" rIns="0" bIns="0" rtlCol="0">
                <a:spAutoFit/>
              </a:bodyPr>
              <a:lstStyle/>
              <a:p>
                <a14:m>
                  <m:oMathPara xmlns:m="http://schemas.openxmlformats.org/officeDocument/2006/math">
                    <m:oMathParaPr>
                      <m:jc m:val="centerGroup"/>
                    </m:oMathParaPr>
                    <m:oMath xmlns:m="http://schemas.openxmlformats.org/officeDocument/2006/math">
                      <m:sSub>
                        <m:sSubPr>
                          <m:ctrlPr>
                            <a:rPr lang="en-SE" b="0" i="1" smtClean="0">
                              <a:solidFill>
                                <a:srgbClr val="FFC000"/>
                              </a:solidFill>
                              <a:latin typeface="Cambria Math" panose="02040503050406030204" pitchFamily="18" charset="0"/>
                            </a:rPr>
                          </m:ctrlPr>
                        </m:sSubPr>
                        <m:e>
                          <m:r>
                            <a:rPr lang="en-SE" b="0" i="1" smtClean="0">
                              <a:solidFill>
                                <a:srgbClr val="FFC000"/>
                              </a:solidFill>
                              <a:latin typeface="Cambria Math" panose="02040503050406030204" pitchFamily="18" charset="0"/>
                            </a:rPr>
                            <m:t>𝛾</m:t>
                          </m:r>
                        </m:e>
                        <m:sub>
                          <m:r>
                            <a:rPr lang="en-SE" b="0" i="1" smtClean="0">
                              <a:solidFill>
                                <a:srgbClr val="FFC000"/>
                              </a:solidFill>
                              <a:latin typeface="Cambria Math" panose="02040503050406030204" pitchFamily="18" charset="0"/>
                            </a:rPr>
                            <m:t>𝑎</m:t>
                          </m:r>
                        </m:sub>
                      </m:sSub>
                    </m:oMath>
                  </m:oMathPara>
                </a14:m>
                <a:endParaRPr lang="en-SE" dirty="0"/>
              </a:p>
            </p:txBody>
          </p:sp>
        </mc:Choice>
        <mc:Fallback>
          <p:sp>
            <p:nvSpPr>
              <p:cNvPr id="160" name="TextBox 159">
                <a:extLst>
                  <a:ext uri="{FF2B5EF4-FFF2-40B4-BE49-F238E27FC236}">
                    <a16:creationId xmlns:a16="http://schemas.microsoft.com/office/drawing/2014/main" id="{65B7F7EA-9F22-6401-4903-7999BEA689A6}"/>
                  </a:ext>
                </a:extLst>
              </p:cNvPr>
              <p:cNvSpPr txBox="1">
                <a:spLocks noRot="1" noChangeAspect="1" noMove="1" noResize="1" noEditPoints="1" noAdjustHandles="1" noChangeArrowheads="1" noChangeShapeType="1" noTextEdit="1"/>
              </p:cNvSpPr>
              <p:nvPr/>
            </p:nvSpPr>
            <p:spPr>
              <a:xfrm>
                <a:off x="8481146" y="4858747"/>
                <a:ext cx="265650" cy="276999"/>
              </a:xfrm>
              <a:prstGeom prst="rect">
                <a:avLst/>
              </a:prstGeom>
              <a:blipFill>
                <a:blip r:embed="rId15"/>
                <a:stretch>
                  <a:fillRect l="-20455" b="-24444"/>
                </a:stretch>
              </a:blipFill>
            </p:spPr>
            <p:txBody>
              <a:bodyPr/>
              <a:lstStyle/>
              <a:p>
                <a:r>
                  <a:rPr lang="en-SE">
                    <a:noFill/>
                  </a:rPr>
                  <a:t> </a:t>
                </a:r>
              </a:p>
            </p:txBody>
          </p:sp>
        </mc:Fallback>
      </mc:AlternateContent>
      <p:sp>
        <p:nvSpPr>
          <p:cNvPr id="161" name="Right Brace 160">
            <a:extLst>
              <a:ext uri="{FF2B5EF4-FFF2-40B4-BE49-F238E27FC236}">
                <a16:creationId xmlns:a16="http://schemas.microsoft.com/office/drawing/2014/main" id="{4BD4C581-9692-BB41-054B-6BF4D72C8CE9}"/>
              </a:ext>
            </a:extLst>
          </p:cNvPr>
          <p:cNvSpPr/>
          <p:nvPr/>
        </p:nvSpPr>
        <p:spPr>
          <a:xfrm flipH="1">
            <a:off x="10965043" y="4818686"/>
            <a:ext cx="133562" cy="213389"/>
          </a:xfrm>
          <a:prstGeom prst="rightBrace">
            <a:avLst/>
          </a:prstGeom>
          <a:ln>
            <a:solidFill>
              <a:schemeClr val="bg1">
                <a:lumMod val="50000"/>
              </a:schemeClr>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SE"/>
          </a:p>
        </p:txBody>
      </p:sp>
      <mc:AlternateContent xmlns:mc="http://schemas.openxmlformats.org/markup-compatibility/2006">
        <mc:Choice xmlns:a14="http://schemas.microsoft.com/office/drawing/2010/main" Requires="a14">
          <p:sp>
            <p:nvSpPr>
              <p:cNvPr id="162" name="TextBox 161">
                <a:extLst>
                  <a:ext uri="{FF2B5EF4-FFF2-40B4-BE49-F238E27FC236}">
                    <a16:creationId xmlns:a16="http://schemas.microsoft.com/office/drawing/2014/main" id="{D3A56F84-3EFC-BF09-5DAE-9FE6DCE7E753}"/>
                  </a:ext>
                </a:extLst>
              </p:cNvPr>
              <p:cNvSpPr txBox="1"/>
              <p:nvPr/>
            </p:nvSpPr>
            <p:spPr>
              <a:xfrm>
                <a:off x="10728659" y="4858747"/>
                <a:ext cx="290721" cy="276999"/>
              </a:xfrm>
              <a:prstGeom prst="rect">
                <a:avLst/>
              </a:prstGeom>
              <a:noFill/>
            </p:spPr>
            <p:txBody>
              <a:bodyPr wrap="none" lIns="0" tIns="0" rIns="0" bIns="0" rtlCol="0">
                <a:spAutoFit/>
              </a:bodyPr>
              <a:lstStyle/>
              <a:p>
                <a14:m>
                  <m:oMathPara xmlns:m="http://schemas.openxmlformats.org/officeDocument/2006/math">
                    <m:oMathParaPr>
                      <m:jc m:val="centerGroup"/>
                    </m:oMathParaPr>
                    <m:oMath xmlns:m="http://schemas.openxmlformats.org/officeDocument/2006/math">
                      <m:sSub>
                        <m:sSubPr>
                          <m:ctrlPr>
                            <a:rPr lang="en-SE" b="0" i="1" smtClean="0">
                              <a:solidFill>
                                <a:schemeClr val="bg1">
                                  <a:lumMod val="50000"/>
                                </a:schemeClr>
                              </a:solidFill>
                              <a:latin typeface="Cambria Math" panose="02040503050406030204" pitchFamily="18" charset="0"/>
                            </a:rPr>
                          </m:ctrlPr>
                        </m:sSubPr>
                        <m:e>
                          <m:r>
                            <a:rPr lang="en-SE" b="0" i="1" smtClean="0">
                              <a:solidFill>
                                <a:schemeClr val="bg1">
                                  <a:lumMod val="50000"/>
                                </a:schemeClr>
                              </a:solidFill>
                              <a:latin typeface="Cambria Math" panose="02040503050406030204" pitchFamily="18" charset="0"/>
                            </a:rPr>
                            <m:t>𝛽</m:t>
                          </m:r>
                        </m:e>
                        <m:sub>
                          <m:r>
                            <a:rPr lang="en-SE" b="0" i="1" smtClean="0">
                              <a:solidFill>
                                <a:schemeClr val="bg1">
                                  <a:lumMod val="50000"/>
                                </a:schemeClr>
                              </a:solidFill>
                              <a:latin typeface="Cambria Math" panose="02040503050406030204" pitchFamily="18" charset="0"/>
                            </a:rPr>
                            <m:t>𝑎</m:t>
                          </m:r>
                        </m:sub>
                      </m:sSub>
                    </m:oMath>
                  </m:oMathPara>
                </a14:m>
                <a:endParaRPr lang="en-SE" dirty="0">
                  <a:solidFill>
                    <a:schemeClr val="bg1">
                      <a:lumMod val="50000"/>
                    </a:schemeClr>
                  </a:solidFill>
                </a:endParaRPr>
              </a:p>
            </p:txBody>
          </p:sp>
        </mc:Choice>
        <mc:Fallback>
          <p:sp>
            <p:nvSpPr>
              <p:cNvPr id="162" name="TextBox 161">
                <a:extLst>
                  <a:ext uri="{FF2B5EF4-FFF2-40B4-BE49-F238E27FC236}">
                    <a16:creationId xmlns:a16="http://schemas.microsoft.com/office/drawing/2014/main" id="{D3A56F84-3EFC-BF09-5DAE-9FE6DCE7E753}"/>
                  </a:ext>
                </a:extLst>
              </p:cNvPr>
              <p:cNvSpPr txBox="1">
                <a:spLocks noRot="1" noChangeAspect="1" noMove="1" noResize="1" noEditPoints="1" noAdjustHandles="1" noChangeArrowheads="1" noChangeShapeType="1" noTextEdit="1"/>
              </p:cNvSpPr>
              <p:nvPr/>
            </p:nvSpPr>
            <p:spPr>
              <a:xfrm>
                <a:off x="10728659" y="4858747"/>
                <a:ext cx="290721" cy="276999"/>
              </a:xfrm>
              <a:prstGeom prst="rect">
                <a:avLst/>
              </a:prstGeom>
              <a:blipFill>
                <a:blip r:embed="rId16"/>
                <a:stretch>
                  <a:fillRect l="-29167" t="-2222" r="-2083" b="-35556"/>
                </a:stretch>
              </a:blipFill>
            </p:spPr>
            <p:txBody>
              <a:bodyPr/>
              <a:lstStyle/>
              <a:p>
                <a:r>
                  <a:rPr lang="en-SE">
                    <a:noFill/>
                  </a:rPr>
                  <a:t> </a:t>
                </a:r>
              </a:p>
            </p:txBody>
          </p:sp>
        </mc:Fallback>
      </mc:AlternateContent>
      <p:sp>
        <p:nvSpPr>
          <p:cNvPr id="166" name="Right Brace 165">
            <a:extLst>
              <a:ext uri="{FF2B5EF4-FFF2-40B4-BE49-F238E27FC236}">
                <a16:creationId xmlns:a16="http://schemas.microsoft.com/office/drawing/2014/main" id="{DB70B39D-F6DB-A05E-AC3D-2B4EFA30EC9E}"/>
              </a:ext>
            </a:extLst>
          </p:cNvPr>
          <p:cNvSpPr/>
          <p:nvPr/>
        </p:nvSpPr>
        <p:spPr>
          <a:xfrm>
            <a:off x="11098605" y="4456621"/>
            <a:ext cx="110766" cy="737679"/>
          </a:xfrm>
          <a:prstGeom prst="rightBrace">
            <a:avLst/>
          </a:prstGeom>
          <a:ln>
            <a:solidFill>
              <a:srgbClr val="FFC000"/>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SE"/>
          </a:p>
        </p:txBody>
      </p:sp>
      <mc:AlternateContent xmlns:mc="http://schemas.openxmlformats.org/markup-compatibility/2006">
        <mc:Choice xmlns:a14="http://schemas.microsoft.com/office/drawing/2010/main" Requires="a14">
          <p:sp>
            <p:nvSpPr>
              <p:cNvPr id="167" name="TextBox 166">
                <a:extLst>
                  <a:ext uri="{FF2B5EF4-FFF2-40B4-BE49-F238E27FC236}">
                    <a16:creationId xmlns:a16="http://schemas.microsoft.com/office/drawing/2014/main" id="{5EA3D497-54B7-3891-79D1-1CDDDDFFD017}"/>
                  </a:ext>
                </a:extLst>
              </p:cNvPr>
              <p:cNvSpPr txBox="1"/>
              <p:nvPr/>
            </p:nvSpPr>
            <p:spPr>
              <a:xfrm>
                <a:off x="11209370" y="4718763"/>
                <a:ext cx="265650" cy="276999"/>
              </a:xfrm>
              <a:prstGeom prst="rect">
                <a:avLst/>
              </a:prstGeom>
              <a:noFill/>
            </p:spPr>
            <p:txBody>
              <a:bodyPr wrap="none" lIns="0" tIns="0" rIns="0" bIns="0" rtlCol="0">
                <a:spAutoFit/>
              </a:bodyPr>
              <a:lstStyle/>
              <a:p>
                <a14:m>
                  <m:oMathPara xmlns:m="http://schemas.openxmlformats.org/officeDocument/2006/math">
                    <m:oMathParaPr>
                      <m:jc m:val="centerGroup"/>
                    </m:oMathParaPr>
                    <m:oMath xmlns:m="http://schemas.openxmlformats.org/officeDocument/2006/math">
                      <m:sSub>
                        <m:sSubPr>
                          <m:ctrlPr>
                            <a:rPr lang="en-SE" b="0" i="1" smtClean="0">
                              <a:solidFill>
                                <a:srgbClr val="FFC000"/>
                              </a:solidFill>
                              <a:latin typeface="Cambria Math" panose="02040503050406030204" pitchFamily="18" charset="0"/>
                            </a:rPr>
                          </m:ctrlPr>
                        </m:sSubPr>
                        <m:e>
                          <m:r>
                            <a:rPr lang="en-SE" b="0" i="1" smtClean="0">
                              <a:solidFill>
                                <a:srgbClr val="FFC000"/>
                              </a:solidFill>
                              <a:latin typeface="Cambria Math" panose="02040503050406030204" pitchFamily="18" charset="0"/>
                            </a:rPr>
                            <m:t>𝛾</m:t>
                          </m:r>
                        </m:e>
                        <m:sub>
                          <m:r>
                            <a:rPr lang="en-SE" b="0" i="1" smtClean="0">
                              <a:solidFill>
                                <a:srgbClr val="FFC000"/>
                              </a:solidFill>
                              <a:latin typeface="Cambria Math" panose="02040503050406030204" pitchFamily="18" charset="0"/>
                            </a:rPr>
                            <m:t>𝑎</m:t>
                          </m:r>
                        </m:sub>
                      </m:sSub>
                    </m:oMath>
                  </m:oMathPara>
                </a14:m>
                <a:endParaRPr lang="en-SE" dirty="0"/>
              </a:p>
            </p:txBody>
          </p:sp>
        </mc:Choice>
        <mc:Fallback>
          <p:sp>
            <p:nvSpPr>
              <p:cNvPr id="167" name="TextBox 166">
                <a:extLst>
                  <a:ext uri="{FF2B5EF4-FFF2-40B4-BE49-F238E27FC236}">
                    <a16:creationId xmlns:a16="http://schemas.microsoft.com/office/drawing/2014/main" id="{5EA3D497-54B7-3891-79D1-1CDDDDFFD017}"/>
                  </a:ext>
                </a:extLst>
              </p:cNvPr>
              <p:cNvSpPr txBox="1">
                <a:spLocks noRot="1" noChangeAspect="1" noMove="1" noResize="1" noEditPoints="1" noAdjustHandles="1" noChangeArrowheads="1" noChangeShapeType="1" noTextEdit="1"/>
              </p:cNvSpPr>
              <p:nvPr/>
            </p:nvSpPr>
            <p:spPr>
              <a:xfrm>
                <a:off x="11209370" y="4718763"/>
                <a:ext cx="265650" cy="276999"/>
              </a:xfrm>
              <a:prstGeom prst="rect">
                <a:avLst/>
              </a:prstGeom>
              <a:blipFill>
                <a:blip r:embed="rId17"/>
                <a:stretch>
                  <a:fillRect l="-23256" r="-2326" b="-21739"/>
                </a:stretch>
              </a:blipFill>
            </p:spPr>
            <p:txBody>
              <a:bodyPr/>
              <a:lstStyle/>
              <a:p>
                <a:r>
                  <a:rPr lang="en-SE">
                    <a:noFill/>
                  </a:rPr>
                  <a:t> </a:t>
                </a:r>
              </a:p>
            </p:txBody>
          </p:sp>
        </mc:Fallback>
      </mc:AlternateContent>
      <p:sp>
        <p:nvSpPr>
          <p:cNvPr id="169" name="Right Brace 168">
            <a:extLst>
              <a:ext uri="{FF2B5EF4-FFF2-40B4-BE49-F238E27FC236}">
                <a16:creationId xmlns:a16="http://schemas.microsoft.com/office/drawing/2014/main" id="{90237242-64A5-1A43-AAF7-005498315523}"/>
              </a:ext>
            </a:extLst>
          </p:cNvPr>
          <p:cNvSpPr/>
          <p:nvPr/>
        </p:nvSpPr>
        <p:spPr>
          <a:xfrm flipH="1">
            <a:off x="10955769" y="4459493"/>
            <a:ext cx="133562" cy="361947"/>
          </a:xfrm>
          <a:prstGeom prst="rightBrace">
            <a:avLst/>
          </a:prstGeom>
          <a:ln>
            <a:solidFill>
              <a:srgbClr val="D0180A"/>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SE"/>
          </a:p>
        </p:txBody>
      </p:sp>
      <mc:AlternateContent xmlns:mc="http://schemas.openxmlformats.org/markup-compatibility/2006">
        <mc:Choice xmlns:a14="http://schemas.microsoft.com/office/drawing/2010/main" Requires="a14">
          <p:sp>
            <p:nvSpPr>
              <p:cNvPr id="170" name="TextBox 169">
                <a:extLst>
                  <a:ext uri="{FF2B5EF4-FFF2-40B4-BE49-F238E27FC236}">
                    <a16:creationId xmlns:a16="http://schemas.microsoft.com/office/drawing/2014/main" id="{9DC7883D-3861-BF2F-91A2-5222CE5DCB4F}"/>
                  </a:ext>
                </a:extLst>
              </p:cNvPr>
              <p:cNvSpPr txBox="1"/>
              <p:nvPr/>
            </p:nvSpPr>
            <p:spPr>
              <a:xfrm>
                <a:off x="10667973" y="4444284"/>
                <a:ext cx="284693" cy="276999"/>
              </a:xfrm>
              <a:prstGeom prst="rect">
                <a:avLst/>
              </a:prstGeom>
              <a:noFill/>
            </p:spPr>
            <p:txBody>
              <a:bodyPr wrap="none" lIns="0" tIns="0" rIns="0" bIns="0" rtlCol="0">
                <a:spAutoFit/>
              </a:bodyPr>
              <a:lstStyle/>
              <a:p>
                <a14:m>
                  <m:oMathPara xmlns:m="http://schemas.openxmlformats.org/officeDocument/2006/math">
                    <m:oMathParaPr>
                      <m:jc m:val="centerGroup"/>
                    </m:oMathParaPr>
                    <m:oMath xmlns:m="http://schemas.openxmlformats.org/officeDocument/2006/math">
                      <m:sSub>
                        <m:sSubPr>
                          <m:ctrlPr>
                            <a:rPr lang="en-SE" b="0" i="1" smtClean="0">
                              <a:solidFill>
                                <a:srgbClr val="C00000"/>
                              </a:solidFill>
                              <a:latin typeface="Cambria Math" panose="02040503050406030204" pitchFamily="18" charset="0"/>
                            </a:rPr>
                          </m:ctrlPr>
                        </m:sSubPr>
                        <m:e>
                          <m:r>
                            <a:rPr lang="en-SE" b="0" i="1" smtClean="0">
                              <a:solidFill>
                                <a:srgbClr val="C00000"/>
                              </a:solidFill>
                              <a:latin typeface="Cambria Math" panose="02040503050406030204" pitchFamily="18" charset="0"/>
                            </a:rPr>
                            <m:t>𝛽</m:t>
                          </m:r>
                        </m:e>
                        <m:sub>
                          <m:r>
                            <a:rPr lang="en-SE" b="0" i="1" smtClean="0">
                              <a:solidFill>
                                <a:srgbClr val="C00000"/>
                              </a:solidFill>
                              <a:latin typeface="Cambria Math" panose="02040503050406030204" pitchFamily="18" charset="0"/>
                            </a:rPr>
                            <m:t>𝑥</m:t>
                          </m:r>
                        </m:sub>
                      </m:sSub>
                    </m:oMath>
                  </m:oMathPara>
                </a14:m>
                <a:endParaRPr lang="en-SE" dirty="0"/>
              </a:p>
            </p:txBody>
          </p:sp>
        </mc:Choice>
        <mc:Fallback>
          <p:sp>
            <p:nvSpPr>
              <p:cNvPr id="170" name="TextBox 169">
                <a:extLst>
                  <a:ext uri="{FF2B5EF4-FFF2-40B4-BE49-F238E27FC236}">
                    <a16:creationId xmlns:a16="http://schemas.microsoft.com/office/drawing/2014/main" id="{9DC7883D-3861-BF2F-91A2-5222CE5DCB4F}"/>
                  </a:ext>
                </a:extLst>
              </p:cNvPr>
              <p:cNvSpPr txBox="1">
                <a:spLocks noRot="1" noChangeAspect="1" noMove="1" noResize="1" noEditPoints="1" noAdjustHandles="1" noChangeArrowheads="1" noChangeShapeType="1" noTextEdit="1"/>
              </p:cNvSpPr>
              <p:nvPr/>
            </p:nvSpPr>
            <p:spPr>
              <a:xfrm>
                <a:off x="10667973" y="4444284"/>
                <a:ext cx="284693" cy="276999"/>
              </a:xfrm>
              <a:prstGeom prst="rect">
                <a:avLst/>
              </a:prstGeom>
              <a:blipFill>
                <a:blip r:embed="rId18"/>
                <a:stretch>
                  <a:fillRect l="-29787" t="-2222" r="-2128" b="-35556"/>
                </a:stretch>
              </a:blipFill>
            </p:spPr>
            <p:txBody>
              <a:bodyPr/>
              <a:lstStyle/>
              <a:p>
                <a:r>
                  <a:rPr lang="en-SE">
                    <a:noFill/>
                  </a:rPr>
                  <a:t> </a:t>
                </a:r>
              </a:p>
            </p:txBody>
          </p:sp>
        </mc:Fallback>
      </mc:AlternateContent>
      <p:sp>
        <p:nvSpPr>
          <p:cNvPr id="171" name="Right Brace 170">
            <a:extLst>
              <a:ext uri="{FF2B5EF4-FFF2-40B4-BE49-F238E27FC236}">
                <a16:creationId xmlns:a16="http://schemas.microsoft.com/office/drawing/2014/main" id="{6024923D-39FA-CEED-1D0A-682FAB858164}"/>
              </a:ext>
            </a:extLst>
          </p:cNvPr>
          <p:cNvSpPr/>
          <p:nvPr/>
        </p:nvSpPr>
        <p:spPr>
          <a:xfrm>
            <a:off x="8348657" y="4667424"/>
            <a:ext cx="110766" cy="737679"/>
          </a:xfrm>
          <a:prstGeom prst="rightBrace">
            <a:avLst/>
          </a:prstGeom>
          <a:ln>
            <a:solidFill>
              <a:srgbClr val="FFC000"/>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SE"/>
          </a:p>
        </p:txBody>
      </p:sp>
    </p:spTree>
    <p:extLst>
      <p:ext uri="{BB962C8B-B14F-4D97-AF65-F5344CB8AC3E}">
        <p14:creationId xmlns:p14="http://schemas.microsoft.com/office/powerpoint/2010/main" val="107728880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med" p14:dur="700">
        <p159:morph option="byObject"/>
      </p:transition>
    </mc:Choice>
    <mc:Fallback xmlns="">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5D821E-2C3E-A13D-936A-5860148C0E1B}"/>
              </a:ext>
            </a:extLst>
          </p:cNvPr>
          <p:cNvSpPr>
            <a:spLocks noGrp="1"/>
          </p:cNvSpPr>
          <p:nvPr>
            <p:ph type="title"/>
          </p:nvPr>
        </p:nvSpPr>
        <p:spPr/>
        <p:txBody>
          <a:bodyPr/>
          <a:lstStyle/>
          <a:p>
            <a:r>
              <a:rPr lang="en-SE" dirty="0"/>
              <a:t>Probabilistic vs. Deterministic Relationships</a:t>
            </a:r>
          </a:p>
        </p:txBody>
      </p:sp>
      <p:sp>
        <p:nvSpPr>
          <p:cNvPr id="3" name="Content Placeholder 2">
            <a:extLst>
              <a:ext uri="{FF2B5EF4-FFF2-40B4-BE49-F238E27FC236}">
                <a16:creationId xmlns:a16="http://schemas.microsoft.com/office/drawing/2014/main" id="{D64CFEE5-6A1A-B47E-0C1E-D12FBD33EB0F}"/>
              </a:ext>
            </a:extLst>
          </p:cNvPr>
          <p:cNvSpPr>
            <a:spLocks noGrp="1"/>
          </p:cNvSpPr>
          <p:nvPr>
            <p:ph idx="1"/>
          </p:nvPr>
        </p:nvSpPr>
        <p:spPr/>
        <p:txBody>
          <a:bodyPr/>
          <a:lstStyle/>
          <a:p>
            <a:endParaRPr lang="en-SE"/>
          </a:p>
        </p:txBody>
      </p:sp>
      <p:sp>
        <p:nvSpPr>
          <p:cNvPr id="4" name="Date Placeholder 3">
            <a:extLst>
              <a:ext uri="{FF2B5EF4-FFF2-40B4-BE49-F238E27FC236}">
                <a16:creationId xmlns:a16="http://schemas.microsoft.com/office/drawing/2014/main" id="{8F537F0D-D10B-066A-D358-987B5E1F967E}"/>
              </a:ext>
            </a:extLst>
          </p:cNvPr>
          <p:cNvSpPr>
            <a:spLocks noGrp="1"/>
          </p:cNvSpPr>
          <p:nvPr>
            <p:ph type="dt" sz="half" idx="10"/>
          </p:nvPr>
        </p:nvSpPr>
        <p:spPr/>
        <p:txBody>
          <a:bodyPr/>
          <a:lstStyle/>
          <a:p>
            <a:fld id="{A1C06950-82F8-45F4-A28D-9FBF8CAE29F7}" type="datetime1">
              <a:rPr lang="de-DE" smtClean="0"/>
              <a:t>17.03.2026</a:t>
            </a:fld>
            <a:endParaRPr lang="en-SE"/>
          </a:p>
        </p:txBody>
      </p:sp>
      <p:sp>
        <p:nvSpPr>
          <p:cNvPr id="5" name="Slide Number Placeholder 4">
            <a:extLst>
              <a:ext uri="{FF2B5EF4-FFF2-40B4-BE49-F238E27FC236}">
                <a16:creationId xmlns:a16="http://schemas.microsoft.com/office/drawing/2014/main" id="{B224B256-581B-E101-7F5A-F537CDFEB3C7}"/>
              </a:ext>
            </a:extLst>
          </p:cNvPr>
          <p:cNvSpPr>
            <a:spLocks noGrp="1"/>
          </p:cNvSpPr>
          <p:nvPr>
            <p:ph type="sldNum" sz="quarter" idx="12"/>
          </p:nvPr>
        </p:nvSpPr>
        <p:spPr/>
        <p:txBody>
          <a:bodyPr/>
          <a:lstStyle/>
          <a:p>
            <a:fld id="{271ECC92-9CDE-4EB3-B1C5-F46B9E1FA3C1}" type="slidenum">
              <a:rPr lang="en-SE" smtClean="0"/>
              <a:t>17</a:t>
            </a:fld>
            <a:endParaRPr lang="en-SE"/>
          </a:p>
        </p:txBody>
      </p:sp>
      <p:grpSp>
        <p:nvGrpSpPr>
          <p:cNvPr id="6" name="Group 5">
            <a:extLst>
              <a:ext uri="{FF2B5EF4-FFF2-40B4-BE49-F238E27FC236}">
                <a16:creationId xmlns:a16="http://schemas.microsoft.com/office/drawing/2014/main" id="{CD010C7A-86B5-550A-2C2D-068938D6C751}"/>
              </a:ext>
            </a:extLst>
          </p:cNvPr>
          <p:cNvGrpSpPr/>
          <p:nvPr/>
        </p:nvGrpSpPr>
        <p:grpSpPr>
          <a:xfrm>
            <a:off x="838198" y="365125"/>
            <a:ext cx="1983884" cy="245531"/>
            <a:chOff x="4114799" y="3759391"/>
            <a:chExt cx="1983884" cy="1229241"/>
          </a:xfrm>
        </p:grpSpPr>
        <p:sp>
          <p:nvSpPr>
            <p:cNvPr id="7" name="Arrow: Pentagon 6">
              <a:extLst>
                <a:ext uri="{FF2B5EF4-FFF2-40B4-BE49-F238E27FC236}">
                  <a16:creationId xmlns:a16="http://schemas.microsoft.com/office/drawing/2014/main" id="{501DDA79-2414-9A3A-0D81-F55BDFF2C7A3}"/>
                </a:ext>
              </a:extLst>
            </p:cNvPr>
            <p:cNvSpPr/>
            <p:nvPr/>
          </p:nvSpPr>
          <p:spPr>
            <a:xfrm>
              <a:off x="4114799" y="3759391"/>
              <a:ext cx="794039" cy="1229241"/>
            </a:xfrm>
            <a:prstGeom prst="homePlate">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SE" sz="1400" dirty="0"/>
                <a:t>Theory</a:t>
              </a:r>
            </a:p>
          </p:txBody>
        </p:sp>
        <p:sp>
          <p:nvSpPr>
            <p:cNvPr id="8" name="Arrow: Chevron 7">
              <a:extLst>
                <a:ext uri="{FF2B5EF4-FFF2-40B4-BE49-F238E27FC236}">
                  <a16:creationId xmlns:a16="http://schemas.microsoft.com/office/drawing/2014/main" id="{3D9032DC-929B-4348-B9FB-EF75B2C8CBA1}"/>
                </a:ext>
              </a:extLst>
            </p:cNvPr>
            <p:cNvSpPr/>
            <p:nvPr/>
          </p:nvSpPr>
          <p:spPr>
            <a:xfrm>
              <a:off x="4843616" y="3759391"/>
              <a:ext cx="1255067" cy="1229241"/>
            </a:xfrm>
            <a:prstGeom prst="chevron">
              <a:avLst/>
            </a:prstGeom>
            <a:solidFill>
              <a:schemeClr val="bg1">
                <a:lumMod val="85000"/>
              </a:schemeClr>
            </a:solidFill>
            <a:ln>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SE" sz="1400" dirty="0">
                  <a:solidFill>
                    <a:schemeClr val="bg1">
                      <a:lumMod val="75000"/>
                    </a:schemeClr>
                  </a:solidFill>
                </a:rPr>
                <a:t>Use Case</a:t>
              </a:r>
            </a:p>
          </p:txBody>
        </p:sp>
      </p:grpSp>
    </p:spTree>
    <p:extLst>
      <p:ext uri="{BB962C8B-B14F-4D97-AF65-F5344CB8AC3E}">
        <p14:creationId xmlns:p14="http://schemas.microsoft.com/office/powerpoint/2010/main" val="3585209806"/>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med" p14:dur="700">
        <p159:morph option="byObject"/>
      </p:transition>
    </mc:Choice>
    <mc:Fallback>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9">
            <a:extLst>
              <a:ext uri="{FF2B5EF4-FFF2-40B4-BE49-F238E27FC236}">
                <a16:creationId xmlns:a16="http://schemas.microsoft.com/office/drawing/2014/main" id="{3FFA4818-262D-6932-B75A-9BDEF72E4C59}"/>
              </a:ext>
            </a:extLst>
          </p:cNvPr>
          <p:cNvSpPr>
            <a:spLocks noGrp="1"/>
          </p:cNvSpPr>
          <p:nvPr>
            <p:ph type="title"/>
          </p:nvPr>
        </p:nvSpPr>
        <p:spPr/>
        <p:txBody>
          <a:bodyPr/>
          <a:lstStyle/>
          <a:p>
            <a:r>
              <a:rPr lang="en-SE" dirty="0"/>
              <a:t>Exercises</a:t>
            </a:r>
          </a:p>
        </p:txBody>
      </p:sp>
      <p:sp>
        <p:nvSpPr>
          <p:cNvPr id="11" name="Text Placeholder 10">
            <a:extLst>
              <a:ext uri="{FF2B5EF4-FFF2-40B4-BE49-F238E27FC236}">
                <a16:creationId xmlns:a16="http://schemas.microsoft.com/office/drawing/2014/main" id="{523125DB-3A48-E008-D899-4661594270C5}"/>
              </a:ext>
            </a:extLst>
          </p:cNvPr>
          <p:cNvSpPr>
            <a:spLocks noGrp="1"/>
          </p:cNvSpPr>
          <p:nvPr>
            <p:ph type="body" idx="1"/>
          </p:nvPr>
        </p:nvSpPr>
        <p:spPr/>
        <p:txBody>
          <a:bodyPr/>
          <a:lstStyle/>
          <a:p>
            <a:r>
              <a:rPr lang="en-SE" dirty="0"/>
              <a:t>Applying Causal Modelling</a:t>
            </a:r>
          </a:p>
        </p:txBody>
      </p:sp>
      <p:sp>
        <p:nvSpPr>
          <p:cNvPr id="4" name="Date Placeholder 3">
            <a:extLst>
              <a:ext uri="{FF2B5EF4-FFF2-40B4-BE49-F238E27FC236}">
                <a16:creationId xmlns:a16="http://schemas.microsoft.com/office/drawing/2014/main" id="{7EA8CF23-3595-EE99-8981-C0395FF9F982}"/>
              </a:ext>
            </a:extLst>
          </p:cNvPr>
          <p:cNvSpPr>
            <a:spLocks noGrp="1"/>
          </p:cNvSpPr>
          <p:nvPr>
            <p:ph type="dt" sz="half" idx="10"/>
          </p:nvPr>
        </p:nvSpPr>
        <p:spPr/>
        <p:txBody>
          <a:bodyPr/>
          <a:lstStyle/>
          <a:p>
            <a:fld id="{A1C06950-82F8-45F4-A28D-9FBF8CAE29F7}" type="datetime1">
              <a:rPr lang="de-DE" smtClean="0"/>
              <a:pPr/>
              <a:t>17.03.2026</a:t>
            </a:fld>
            <a:endParaRPr lang="en-SE"/>
          </a:p>
        </p:txBody>
      </p:sp>
      <p:sp>
        <p:nvSpPr>
          <p:cNvPr id="5" name="Slide Number Placeholder 4">
            <a:extLst>
              <a:ext uri="{FF2B5EF4-FFF2-40B4-BE49-F238E27FC236}">
                <a16:creationId xmlns:a16="http://schemas.microsoft.com/office/drawing/2014/main" id="{EA9F62DA-4306-06D4-FA37-5A4455B591DD}"/>
              </a:ext>
            </a:extLst>
          </p:cNvPr>
          <p:cNvSpPr>
            <a:spLocks noGrp="1"/>
          </p:cNvSpPr>
          <p:nvPr>
            <p:ph type="sldNum" sz="quarter" idx="12"/>
          </p:nvPr>
        </p:nvSpPr>
        <p:spPr/>
        <p:txBody>
          <a:bodyPr/>
          <a:lstStyle/>
          <a:p>
            <a:fld id="{271ECC92-9CDE-4EB3-B1C5-F46B9E1FA3C1}" type="slidenum">
              <a:rPr lang="en-SE" smtClean="0"/>
              <a:pPr/>
              <a:t>18</a:t>
            </a:fld>
            <a:endParaRPr lang="en-SE"/>
          </a:p>
        </p:txBody>
      </p:sp>
    </p:spTree>
    <p:extLst>
      <p:ext uri="{BB962C8B-B14F-4D97-AF65-F5344CB8AC3E}">
        <p14:creationId xmlns:p14="http://schemas.microsoft.com/office/powerpoint/2010/main" val="41498185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med" p14:dur="700">
        <p159:morph option="byObject"/>
      </p:transition>
    </mc:Choice>
    <mc:Fallback xmlns="">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903FBD-3F15-097F-0A5A-4356A50C9436}"/>
              </a:ext>
            </a:extLst>
          </p:cNvPr>
          <p:cNvSpPr>
            <a:spLocks noGrp="1"/>
          </p:cNvSpPr>
          <p:nvPr>
            <p:ph type="title"/>
          </p:nvPr>
        </p:nvSpPr>
        <p:spPr/>
        <p:txBody>
          <a:bodyPr/>
          <a:lstStyle/>
          <a:p>
            <a:r>
              <a:rPr lang="en-SE" dirty="0"/>
              <a:t>Exercise: Formulating a DAG</a:t>
            </a:r>
          </a:p>
        </p:txBody>
      </p:sp>
      <p:sp>
        <p:nvSpPr>
          <p:cNvPr id="3" name="Content Placeholder 2">
            <a:extLst>
              <a:ext uri="{FF2B5EF4-FFF2-40B4-BE49-F238E27FC236}">
                <a16:creationId xmlns:a16="http://schemas.microsoft.com/office/drawing/2014/main" id="{8520E043-937F-A4D7-A99D-101016C7F97D}"/>
              </a:ext>
            </a:extLst>
          </p:cNvPr>
          <p:cNvSpPr>
            <a:spLocks noGrp="1"/>
          </p:cNvSpPr>
          <p:nvPr>
            <p:ph idx="1"/>
          </p:nvPr>
        </p:nvSpPr>
        <p:spPr/>
        <p:txBody>
          <a:bodyPr/>
          <a:lstStyle/>
          <a:p>
            <a:pPr marL="0" indent="0">
              <a:buNone/>
            </a:pPr>
            <a:r>
              <a:rPr lang="en-SE" dirty="0"/>
              <a:t>Derive a causal DAG from the following description:</a:t>
            </a:r>
          </a:p>
          <a:p>
            <a:pPr marL="0" indent="0">
              <a:buNone/>
            </a:pPr>
            <a:r>
              <a:rPr lang="en-SE" dirty="0"/>
              <a:t>“Researchers are interested in knowing if using ChatGPT affects the quality and length of code reviews at a company. Since they cannot interrupt the regular workflow, they cannot force anyone to use or not use ChatGPT. They do know, however, that younger developers use ChatGPT more often. On the other hand, they know that more skilled developers generally produce more concise (i.e., shorter) and better code reviews.”</a:t>
            </a:r>
          </a:p>
        </p:txBody>
      </p:sp>
      <p:sp>
        <p:nvSpPr>
          <p:cNvPr id="4" name="Date Placeholder 3">
            <a:extLst>
              <a:ext uri="{FF2B5EF4-FFF2-40B4-BE49-F238E27FC236}">
                <a16:creationId xmlns:a16="http://schemas.microsoft.com/office/drawing/2014/main" id="{FE30DA3F-B36B-C446-2568-6FB2E8D7CD11}"/>
              </a:ext>
            </a:extLst>
          </p:cNvPr>
          <p:cNvSpPr>
            <a:spLocks noGrp="1"/>
          </p:cNvSpPr>
          <p:nvPr>
            <p:ph type="dt" sz="half" idx="10"/>
          </p:nvPr>
        </p:nvSpPr>
        <p:spPr/>
        <p:txBody>
          <a:bodyPr/>
          <a:lstStyle/>
          <a:p>
            <a:r>
              <a:rPr lang="de-DE"/>
              <a:t>20.01.2026</a:t>
            </a:r>
            <a:endParaRPr lang="en-US"/>
          </a:p>
        </p:txBody>
      </p:sp>
      <p:sp>
        <p:nvSpPr>
          <p:cNvPr id="5" name="Footer Placeholder 4">
            <a:extLst>
              <a:ext uri="{FF2B5EF4-FFF2-40B4-BE49-F238E27FC236}">
                <a16:creationId xmlns:a16="http://schemas.microsoft.com/office/drawing/2014/main" id="{38C1258D-69CE-0243-5B7F-09B485770739}"/>
              </a:ext>
            </a:extLst>
          </p:cNvPr>
          <p:cNvSpPr>
            <a:spLocks noGrp="1"/>
          </p:cNvSpPr>
          <p:nvPr>
            <p:ph type="ftr" sz="quarter" idx="11"/>
          </p:nvPr>
        </p:nvSpPr>
        <p:spPr/>
        <p:txBody>
          <a:bodyPr/>
          <a:lstStyle/>
          <a:p>
            <a:r>
              <a:rPr lang="en-US"/>
              <a:t>Introduction to Statistical Causal Inference</a:t>
            </a:r>
          </a:p>
        </p:txBody>
      </p:sp>
      <p:sp>
        <p:nvSpPr>
          <p:cNvPr id="6" name="Slide Number Placeholder 5">
            <a:extLst>
              <a:ext uri="{FF2B5EF4-FFF2-40B4-BE49-F238E27FC236}">
                <a16:creationId xmlns:a16="http://schemas.microsoft.com/office/drawing/2014/main" id="{FD2CEE6E-05D8-428C-90C9-B674D6C83BC3}"/>
              </a:ext>
            </a:extLst>
          </p:cNvPr>
          <p:cNvSpPr>
            <a:spLocks noGrp="1"/>
          </p:cNvSpPr>
          <p:nvPr>
            <p:ph type="sldNum" sz="quarter" idx="12"/>
          </p:nvPr>
        </p:nvSpPr>
        <p:spPr/>
        <p:txBody>
          <a:bodyPr/>
          <a:lstStyle/>
          <a:p>
            <a:fld id="{0FA2D919-C0DE-4971-A2E9-D4AC0031921B}" type="slidenum">
              <a:rPr lang="en-US" smtClean="0"/>
              <a:t>19</a:t>
            </a:fld>
            <a:endParaRPr lang="en-US"/>
          </a:p>
        </p:txBody>
      </p:sp>
    </p:spTree>
    <p:extLst>
      <p:ext uri="{BB962C8B-B14F-4D97-AF65-F5344CB8AC3E}">
        <p14:creationId xmlns:p14="http://schemas.microsoft.com/office/powerpoint/2010/main" val="363989155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med" p14:dur="700">
        <p159:morph option="byObject"/>
      </p:transition>
    </mc:Choice>
    <mc:Fallback xmlns="">
      <p:transitio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26BC84-5614-7D01-2D78-2D3ABA246A68}"/>
              </a:ext>
            </a:extLst>
          </p:cNvPr>
          <p:cNvSpPr>
            <a:spLocks noGrp="1"/>
          </p:cNvSpPr>
          <p:nvPr>
            <p:ph type="title"/>
          </p:nvPr>
        </p:nvSpPr>
        <p:spPr/>
        <p:txBody>
          <a:bodyPr/>
          <a:lstStyle/>
          <a:p>
            <a:r>
              <a:rPr lang="en-SE" dirty="0"/>
              <a:t>Solution: Formulating a DAG</a:t>
            </a:r>
          </a:p>
        </p:txBody>
      </p:sp>
      <p:sp>
        <p:nvSpPr>
          <p:cNvPr id="3" name="Content Placeholder 2">
            <a:extLst>
              <a:ext uri="{FF2B5EF4-FFF2-40B4-BE49-F238E27FC236}">
                <a16:creationId xmlns:a16="http://schemas.microsoft.com/office/drawing/2014/main" id="{532C4A99-4A50-C416-A31F-28FD0E0B24AC}"/>
              </a:ext>
            </a:extLst>
          </p:cNvPr>
          <p:cNvSpPr>
            <a:spLocks noGrp="1"/>
          </p:cNvSpPr>
          <p:nvPr>
            <p:ph idx="1"/>
          </p:nvPr>
        </p:nvSpPr>
        <p:spPr>
          <a:xfrm>
            <a:off x="838200" y="1825625"/>
            <a:ext cx="10515600" cy="2106295"/>
          </a:xfrm>
        </p:spPr>
        <p:txBody>
          <a:bodyPr>
            <a:normAutofit fontScale="92500" lnSpcReduction="20000"/>
          </a:bodyPr>
          <a:lstStyle/>
          <a:p>
            <a:pPr marL="0" indent="0">
              <a:buNone/>
            </a:pPr>
            <a:r>
              <a:rPr lang="en-SE" dirty="0"/>
              <a:t>“Researchers are interested in knowing if </a:t>
            </a:r>
            <a:r>
              <a:rPr lang="en-SE" b="1" dirty="0">
                <a:solidFill>
                  <a:srgbClr val="D0180A"/>
                </a:solidFill>
              </a:rPr>
              <a:t>using ChatGPT </a:t>
            </a:r>
            <a:r>
              <a:rPr lang="en-SE" dirty="0"/>
              <a:t>affects the </a:t>
            </a:r>
            <a:r>
              <a:rPr lang="en-SE" b="1" dirty="0">
                <a:solidFill>
                  <a:srgbClr val="006D70"/>
                </a:solidFill>
              </a:rPr>
              <a:t>quality</a:t>
            </a:r>
            <a:r>
              <a:rPr lang="en-SE" dirty="0"/>
              <a:t> and </a:t>
            </a:r>
            <a:r>
              <a:rPr lang="en-SE" b="1" dirty="0">
                <a:solidFill>
                  <a:srgbClr val="006D70"/>
                </a:solidFill>
              </a:rPr>
              <a:t>length of code reviews </a:t>
            </a:r>
            <a:r>
              <a:rPr lang="en-SE" dirty="0"/>
              <a:t>at a company. Since they cannot interrupt the regular workflow, they cannot force anyone to use or not use ChatGPT. They do know, however, that younger developers use ChatGPT more often. On the other hand, they know that more skilled developers generally produce more concise (i.e., shorter) and better code reviews.”</a:t>
            </a:r>
          </a:p>
        </p:txBody>
      </p:sp>
      <p:sp>
        <p:nvSpPr>
          <p:cNvPr id="4" name="Date Placeholder 3">
            <a:extLst>
              <a:ext uri="{FF2B5EF4-FFF2-40B4-BE49-F238E27FC236}">
                <a16:creationId xmlns:a16="http://schemas.microsoft.com/office/drawing/2014/main" id="{95E1153F-693D-D8AE-050C-27F8E6809906}"/>
              </a:ext>
            </a:extLst>
          </p:cNvPr>
          <p:cNvSpPr>
            <a:spLocks noGrp="1"/>
          </p:cNvSpPr>
          <p:nvPr>
            <p:ph type="dt" sz="half" idx="10"/>
          </p:nvPr>
        </p:nvSpPr>
        <p:spPr/>
        <p:txBody>
          <a:bodyPr/>
          <a:lstStyle/>
          <a:p>
            <a:r>
              <a:rPr lang="de-DE"/>
              <a:t>20.01.2026</a:t>
            </a:r>
            <a:endParaRPr lang="en-US"/>
          </a:p>
        </p:txBody>
      </p:sp>
      <p:sp>
        <p:nvSpPr>
          <p:cNvPr id="5" name="Footer Placeholder 4">
            <a:extLst>
              <a:ext uri="{FF2B5EF4-FFF2-40B4-BE49-F238E27FC236}">
                <a16:creationId xmlns:a16="http://schemas.microsoft.com/office/drawing/2014/main" id="{52B03A78-3F16-F624-7D27-419C8623AE34}"/>
              </a:ext>
            </a:extLst>
          </p:cNvPr>
          <p:cNvSpPr>
            <a:spLocks noGrp="1"/>
          </p:cNvSpPr>
          <p:nvPr>
            <p:ph type="ftr" sz="quarter" idx="11"/>
          </p:nvPr>
        </p:nvSpPr>
        <p:spPr/>
        <p:txBody>
          <a:bodyPr/>
          <a:lstStyle/>
          <a:p>
            <a:r>
              <a:rPr lang="en-US"/>
              <a:t>Introduction to Statistical Causal Inference</a:t>
            </a:r>
          </a:p>
        </p:txBody>
      </p:sp>
      <p:sp>
        <p:nvSpPr>
          <p:cNvPr id="6" name="Slide Number Placeholder 5">
            <a:extLst>
              <a:ext uri="{FF2B5EF4-FFF2-40B4-BE49-F238E27FC236}">
                <a16:creationId xmlns:a16="http://schemas.microsoft.com/office/drawing/2014/main" id="{8054C5B4-8E28-1D83-AA8A-C6FD58D80896}"/>
              </a:ext>
            </a:extLst>
          </p:cNvPr>
          <p:cNvSpPr>
            <a:spLocks noGrp="1"/>
          </p:cNvSpPr>
          <p:nvPr>
            <p:ph type="sldNum" sz="quarter" idx="12"/>
          </p:nvPr>
        </p:nvSpPr>
        <p:spPr/>
        <p:txBody>
          <a:bodyPr/>
          <a:lstStyle/>
          <a:p>
            <a:fld id="{0FA2D919-C0DE-4971-A2E9-D4AC0031921B}" type="slidenum">
              <a:rPr lang="en-US" smtClean="0"/>
              <a:t>20</a:t>
            </a:fld>
            <a:endParaRPr lang="en-US"/>
          </a:p>
        </p:txBody>
      </p:sp>
      <p:sp>
        <p:nvSpPr>
          <p:cNvPr id="8" name="Oval 7">
            <a:extLst>
              <a:ext uri="{FF2B5EF4-FFF2-40B4-BE49-F238E27FC236}">
                <a16:creationId xmlns:a16="http://schemas.microsoft.com/office/drawing/2014/main" id="{18175F8B-187A-30E0-30C2-F02D74199FCA}"/>
              </a:ext>
            </a:extLst>
          </p:cNvPr>
          <p:cNvSpPr/>
          <p:nvPr/>
        </p:nvSpPr>
        <p:spPr>
          <a:xfrm>
            <a:off x="4607392" y="4467770"/>
            <a:ext cx="360000" cy="360000"/>
          </a:xfrm>
          <a:prstGeom prst="ellipse">
            <a:avLst/>
          </a:prstGeom>
          <a:solidFill>
            <a:srgbClr val="F8766D"/>
          </a:solidFill>
          <a:ln>
            <a:solidFill>
              <a:srgbClr val="D0180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9" name="Oval 8">
            <a:extLst>
              <a:ext uri="{FF2B5EF4-FFF2-40B4-BE49-F238E27FC236}">
                <a16:creationId xmlns:a16="http://schemas.microsoft.com/office/drawing/2014/main" id="{75714894-43F6-757E-1CB0-106EDA63EE87}"/>
              </a:ext>
            </a:extLst>
          </p:cNvPr>
          <p:cNvSpPr/>
          <p:nvPr/>
        </p:nvSpPr>
        <p:spPr>
          <a:xfrm>
            <a:off x="6953083" y="4086787"/>
            <a:ext cx="360000" cy="360000"/>
          </a:xfrm>
          <a:prstGeom prst="ellipse">
            <a:avLst/>
          </a:prstGeom>
          <a:solidFill>
            <a:srgbClr val="00BFC4"/>
          </a:solidFill>
          <a:ln>
            <a:solidFill>
              <a:srgbClr val="006D7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1" name="TextBox 10">
            <a:extLst>
              <a:ext uri="{FF2B5EF4-FFF2-40B4-BE49-F238E27FC236}">
                <a16:creationId xmlns:a16="http://schemas.microsoft.com/office/drawing/2014/main" id="{C3E838D0-C15A-76A0-AF04-F5770A4C116F}"/>
              </a:ext>
            </a:extLst>
          </p:cNvPr>
          <p:cNvSpPr txBox="1"/>
          <p:nvPr/>
        </p:nvSpPr>
        <p:spPr>
          <a:xfrm>
            <a:off x="3405801" y="4456119"/>
            <a:ext cx="1071640" cy="369332"/>
          </a:xfrm>
          <a:prstGeom prst="rect">
            <a:avLst/>
          </a:prstGeom>
          <a:noFill/>
        </p:spPr>
        <p:txBody>
          <a:bodyPr wrap="none" rtlCol="0">
            <a:spAutoFit/>
          </a:bodyPr>
          <a:lstStyle/>
          <a:p>
            <a:pPr algn="r"/>
            <a:r>
              <a:rPr lang="en-SE" noProof="0" dirty="0">
                <a:solidFill>
                  <a:srgbClr val="D0180A"/>
                </a:solidFill>
              </a:rPr>
              <a:t>ChatGPT</a:t>
            </a:r>
            <a:endParaRPr lang="en-US" noProof="0" dirty="0">
              <a:solidFill>
                <a:srgbClr val="D0180A"/>
              </a:solidFill>
            </a:endParaRPr>
          </a:p>
        </p:txBody>
      </p:sp>
      <p:sp>
        <p:nvSpPr>
          <p:cNvPr id="12" name="TextBox 11">
            <a:extLst>
              <a:ext uri="{FF2B5EF4-FFF2-40B4-BE49-F238E27FC236}">
                <a16:creationId xmlns:a16="http://schemas.microsoft.com/office/drawing/2014/main" id="{133C62B1-3A48-4ECA-316A-EE2AD7FA5063}"/>
              </a:ext>
            </a:extLst>
          </p:cNvPr>
          <p:cNvSpPr txBox="1"/>
          <p:nvPr/>
        </p:nvSpPr>
        <p:spPr>
          <a:xfrm>
            <a:off x="7404821" y="4086787"/>
            <a:ext cx="1205779" cy="369332"/>
          </a:xfrm>
          <a:prstGeom prst="rect">
            <a:avLst/>
          </a:prstGeom>
          <a:noFill/>
        </p:spPr>
        <p:txBody>
          <a:bodyPr wrap="none" rtlCol="0">
            <a:spAutoFit/>
          </a:bodyPr>
          <a:lstStyle/>
          <a:p>
            <a:r>
              <a:rPr lang="en-SE" noProof="0" dirty="0">
                <a:solidFill>
                  <a:srgbClr val="006D70"/>
                </a:solidFill>
              </a:rPr>
              <a:t>CR quality</a:t>
            </a:r>
            <a:endParaRPr lang="en-US" noProof="0" dirty="0">
              <a:solidFill>
                <a:srgbClr val="006D70"/>
              </a:solidFill>
            </a:endParaRPr>
          </a:p>
        </p:txBody>
      </p:sp>
      <p:sp>
        <p:nvSpPr>
          <p:cNvPr id="13" name="Oval 12">
            <a:extLst>
              <a:ext uri="{FF2B5EF4-FFF2-40B4-BE49-F238E27FC236}">
                <a16:creationId xmlns:a16="http://schemas.microsoft.com/office/drawing/2014/main" id="{2BF66CED-272B-EA6A-5C41-BEB0955019CD}"/>
              </a:ext>
            </a:extLst>
          </p:cNvPr>
          <p:cNvSpPr/>
          <p:nvPr/>
        </p:nvSpPr>
        <p:spPr>
          <a:xfrm>
            <a:off x="6953083" y="4827770"/>
            <a:ext cx="360000" cy="360000"/>
          </a:xfrm>
          <a:prstGeom prst="ellipse">
            <a:avLst/>
          </a:prstGeom>
          <a:solidFill>
            <a:srgbClr val="00BFC4"/>
          </a:solidFill>
          <a:ln>
            <a:solidFill>
              <a:srgbClr val="006D7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4" name="TextBox 13">
            <a:extLst>
              <a:ext uri="{FF2B5EF4-FFF2-40B4-BE49-F238E27FC236}">
                <a16:creationId xmlns:a16="http://schemas.microsoft.com/office/drawing/2014/main" id="{813E89A1-C46F-C36C-BDD3-88AA1C5DC749}"/>
              </a:ext>
            </a:extLst>
          </p:cNvPr>
          <p:cNvSpPr txBox="1"/>
          <p:nvPr/>
        </p:nvSpPr>
        <p:spPr>
          <a:xfrm>
            <a:off x="7404821" y="4827770"/>
            <a:ext cx="1152880" cy="369332"/>
          </a:xfrm>
          <a:prstGeom prst="rect">
            <a:avLst/>
          </a:prstGeom>
          <a:noFill/>
        </p:spPr>
        <p:txBody>
          <a:bodyPr wrap="none" rtlCol="0">
            <a:spAutoFit/>
          </a:bodyPr>
          <a:lstStyle/>
          <a:p>
            <a:r>
              <a:rPr lang="en-SE" noProof="0" dirty="0">
                <a:solidFill>
                  <a:srgbClr val="006D70"/>
                </a:solidFill>
              </a:rPr>
              <a:t>CR length</a:t>
            </a:r>
            <a:endParaRPr lang="en-US" noProof="0" dirty="0">
              <a:solidFill>
                <a:srgbClr val="006D70"/>
              </a:solidFill>
            </a:endParaRPr>
          </a:p>
        </p:txBody>
      </p:sp>
      <p:cxnSp>
        <p:nvCxnSpPr>
          <p:cNvPr id="16" name="Straight Arrow Connector 15">
            <a:extLst>
              <a:ext uri="{FF2B5EF4-FFF2-40B4-BE49-F238E27FC236}">
                <a16:creationId xmlns:a16="http://schemas.microsoft.com/office/drawing/2014/main" id="{2EEA25BF-6D9F-44D0-6B1A-2E21982658EB}"/>
              </a:ext>
            </a:extLst>
          </p:cNvPr>
          <p:cNvCxnSpPr>
            <a:stCxn id="8" idx="6"/>
            <a:endCxn id="9" idx="2"/>
          </p:cNvCxnSpPr>
          <p:nvPr/>
        </p:nvCxnSpPr>
        <p:spPr>
          <a:xfrm flipV="1">
            <a:off x="4967392" y="4266787"/>
            <a:ext cx="1985691" cy="380983"/>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17" name="Straight Arrow Connector 16">
            <a:extLst>
              <a:ext uri="{FF2B5EF4-FFF2-40B4-BE49-F238E27FC236}">
                <a16:creationId xmlns:a16="http://schemas.microsoft.com/office/drawing/2014/main" id="{08E56E22-C969-C2CE-75E5-5FA5F5B3A0FF}"/>
              </a:ext>
            </a:extLst>
          </p:cNvPr>
          <p:cNvCxnSpPr>
            <a:cxnSpLocks/>
            <a:stCxn id="8" idx="6"/>
            <a:endCxn id="13" idx="2"/>
          </p:cNvCxnSpPr>
          <p:nvPr/>
        </p:nvCxnSpPr>
        <p:spPr>
          <a:xfrm>
            <a:off x="4967392" y="4647770"/>
            <a:ext cx="1985691" cy="36000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Tree>
    <p:extLst>
      <p:ext uri="{BB962C8B-B14F-4D97-AF65-F5344CB8AC3E}">
        <p14:creationId xmlns:p14="http://schemas.microsoft.com/office/powerpoint/2010/main" val="162272849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med" p14:dur="700">
        <p159:morph option="byObject"/>
      </p:transition>
    </mc:Choice>
    <mc:Fallback xmlns="">
      <p:transitio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3CA498-8414-567E-6E35-B446EF79CEF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FA404F4-9740-2A34-C7C3-080DA6AA4F2A}"/>
              </a:ext>
            </a:extLst>
          </p:cNvPr>
          <p:cNvSpPr>
            <a:spLocks noGrp="1"/>
          </p:cNvSpPr>
          <p:nvPr>
            <p:ph type="title"/>
          </p:nvPr>
        </p:nvSpPr>
        <p:spPr/>
        <p:txBody>
          <a:bodyPr/>
          <a:lstStyle/>
          <a:p>
            <a:r>
              <a:rPr lang="en-SE" dirty="0"/>
              <a:t>Solution: Formulating a DAG</a:t>
            </a:r>
          </a:p>
        </p:txBody>
      </p:sp>
      <p:sp>
        <p:nvSpPr>
          <p:cNvPr id="3" name="Content Placeholder 2">
            <a:extLst>
              <a:ext uri="{FF2B5EF4-FFF2-40B4-BE49-F238E27FC236}">
                <a16:creationId xmlns:a16="http://schemas.microsoft.com/office/drawing/2014/main" id="{ADD477A6-9DC8-1C3B-1A18-6DBF23DBC90E}"/>
              </a:ext>
            </a:extLst>
          </p:cNvPr>
          <p:cNvSpPr>
            <a:spLocks noGrp="1"/>
          </p:cNvSpPr>
          <p:nvPr>
            <p:ph idx="1"/>
          </p:nvPr>
        </p:nvSpPr>
        <p:spPr>
          <a:xfrm>
            <a:off x="838200" y="1825625"/>
            <a:ext cx="10515600" cy="2106295"/>
          </a:xfrm>
        </p:spPr>
        <p:txBody>
          <a:bodyPr>
            <a:normAutofit fontScale="92500" lnSpcReduction="20000"/>
          </a:bodyPr>
          <a:lstStyle/>
          <a:p>
            <a:pPr marL="0" indent="0">
              <a:buNone/>
            </a:pPr>
            <a:r>
              <a:rPr lang="en-SE" dirty="0"/>
              <a:t>“Researchers are interested in knowing if </a:t>
            </a:r>
            <a:r>
              <a:rPr lang="en-SE" b="1" dirty="0">
                <a:solidFill>
                  <a:srgbClr val="D0180A"/>
                </a:solidFill>
              </a:rPr>
              <a:t>using ChatGPT </a:t>
            </a:r>
            <a:r>
              <a:rPr lang="en-SE" dirty="0"/>
              <a:t>affects the </a:t>
            </a:r>
            <a:r>
              <a:rPr lang="en-SE" b="1" dirty="0">
                <a:solidFill>
                  <a:srgbClr val="006D70"/>
                </a:solidFill>
              </a:rPr>
              <a:t>quality</a:t>
            </a:r>
            <a:r>
              <a:rPr lang="en-SE" dirty="0"/>
              <a:t> and </a:t>
            </a:r>
            <a:r>
              <a:rPr lang="en-SE" b="1" dirty="0">
                <a:solidFill>
                  <a:srgbClr val="006D70"/>
                </a:solidFill>
              </a:rPr>
              <a:t>length of code reviews </a:t>
            </a:r>
            <a:r>
              <a:rPr lang="en-SE" dirty="0"/>
              <a:t>at a company. Since they cannot interrupt the regular workflow, they cannot force anyone to use or not use ChatGPT. They do know, however, that </a:t>
            </a:r>
            <a:r>
              <a:rPr lang="en-SE" b="1" dirty="0"/>
              <a:t>younger developers </a:t>
            </a:r>
            <a:r>
              <a:rPr lang="en-SE" dirty="0"/>
              <a:t>use ChatGPT more often. On the other hand, they know that more skilled developers generally produce more concise (i.e., shorter) and better code reviews.”</a:t>
            </a:r>
          </a:p>
        </p:txBody>
      </p:sp>
      <p:sp>
        <p:nvSpPr>
          <p:cNvPr id="4" name="Date Placeholder 3">
            <a:extLst>
              <a:ext uri="{FF2B5EF4-FFF2-40B4-BE49-F238E27FC236}">
                <a16:creationId xmlns:a16="http://schemas.microsoft.com/office/drawing/2014/main" id="{5EBADD74-03AF-4D12-367D-88626577A8CA}"/>
              </a:ext>
            </a:extLst>
          </p:cNvPr>
          <p:cNvSpPr>
            <a:spLocks noGrp="1"/>
          </p:cNvSpPr>
          <p:nvPr>
            <p:ph type="dt" sz="half" idx="10"/>
          </p:nvPr>
        </p:nvSpPr>
        <p:spPr/>
        <p:txBody>
          <a:bodyPr/>
          <a:lstStyle/>
          <a:p>
            <a:r>
              <a:rPr lang="de-DE"/>
              <a:t>20.01.2026</a:t>
            </a:r>
            <a:endParaRPr lang="en-US"/>
          </a:p>
        </p:txBody>
      </p:sp>
      <p:sp>
        <p:nvSpPr>
          <p:cNvPr id="5" name="Footer Placeholder 4">
            <a:extLst>
              <a:ext uri="{FF2B5EF4-FFF2-40B4-BE49-F238E27FC236}">
                <a16:creationId xmlns:a16="http://schemas.microsoft.com/office/drawing/2014/main" id="{FC96F183-7284-41A5-0BA9-27A7B2DA5DB7}"/>
              </a:ext>
            </a:extLst>
          </p:cNvPr>
          <p:cNvSpPr>
            <a:spLocks noGrp="1"/>
          </p:cNvSpPr>
          <p:nvPr>
            <p:ph type="ftr" sz="quarter" idx="11"/>
          </p:nvPr>
        </p:nvSpPr>
        <p:spPr/>
        <p:txBody>
          <a:bodyPr/>
          <a:lstStyle/>
          <a:p>
            <a:r>
              <a:rPr lang="en-US"/>
              <a:t>Introduction to Statistical Causal Inference</a:t>
            </a:r>
          </a:p>
        </p:txBody>
      </p:sp>
      <p:sp>
        <p:nvSpPr>
          <p:cNvPr id="6" name="Slide Number Placeholder 5">
            <a:extLst>
              <a:ext uri="{FF2B5EF4-FFF2-40B4-BE49-F238E27FC236}">
                <a16:creationId xmlns:a16="http://schemas.microsoft.com/office/drawing/2014/main" id="{8B4B37FA-5D19-CB1A-B279-878BC1388FFB}"/>
              </a:ext>
            </a:extLst>
          </p:cNvPr>
          <p:cNvSpPr>
            <a:spLocks noGrp="1"/>
          </p:cNvSpPr>
          <p:nvPr>
            <p:ph type="sldNum" sz="quarter" idx="12"/>
          </p:nvPr>
        </p:nvSpPr>
        <p:spPr/>
        <p:txBody>
          <a:bodyPr/>
          <a:lstStyle/>
          <a:p>
            <a:fld id="{0FA2D919-C0DE-4971-A2E9-D4AC0031921B}" type="slidenum">
              <a:rPr lang="en-US" smtClean="0"/>
              <a:t>21</a:t>
            </a:fld>
            <a:endParaRPr lang="en-US"/>
          </a:p>
        </p:txBody>
      </p:sp>
      <p:sp>
        <p:nvSpPr>
          <p:cNvPr id="8" name="Oval 7">
            <a:extLst>
              <a:ext uri="{FF2B5EF4-FFF2-40B4-BE49-F238E27FC236}">
                <a16:creationId xmlns:a16="http://schemas.microsoft.com/office/drawing/2014/main" id="{26B8DEA0-EA65-E16C-D2A5-F14FF21CE063}"/>
              </a:ext>
            </a:extLst>
          </p:cNvPr>
          <p:cNvSpPr/>
          <p:nvPr/>
        </p:nvSpPr>
        <p:spPr>
          <a:xfrm>
            <a:off x="4607392" y="4467770"/>
            <a:ext cx="360000" cy="360000"/>
          </a:xfrm>
          <a:prstGeom prst="ellipse">
            <a:avLst/>
          </a:prstGeom>
          <a:solidFill>
            <a:srgbClr val="F8766D"/>
          </a:solidFill>
          <a:ln>
            <a:solidFill>
              <a:srgbClr val="D0180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9" name="Oval 8">
            <a:extLst>
              <a:ext uri="{FF2B5EF4-FFF2-40B4-BE49-F238E27FC236}">
                <a16:creationId xmlns:a16="http://schemas.microsoft.com/office/drawing/2014/main" id="{DDE8D316-788C-3E14-61DA-0FC24B66F004}"/>
              </a:ext>
            </a:extLst>
          </p:cNvPr>
          <p:cNvSpPr/>
          <p:nvPr/>
        </p:nvSpPr>
        <p:spPr>
          <a:xfrm>
            <a:off x="6953083" y="4086787"/>
            <a:ext cx="360000" cy="360000"/>
          </a:xfrm>
          <a:prstGeom prst="ellipse">
            <a:avLst/>
          </a:prstGeom>
          <a:solidFill>
            <a:srgbClr val="00BFC4"/>
          </a:solidFill>
          <a:ln>
            <a:solidFill>
              <a:srgbClr val="006D7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1" name="TextBox 10">
            <a:extLst>
              <a:ext uri="{FF2B5EF4-FFF2-40B4-BE49-F238E27FC236}">
                <a16:creationId xmlns:a16="http://schemas.microsoft.com/office/drawing/2014/main" id="{D3DF0A8B-2C28-6584-5B28-FC8CB687475C}"/>
              </a:ext>
            </a:extLst>
          </p:cNvPr>
          <p:cNvSpPr txBox="1"/>
          <p:nvPr/>
        </p:nvSpPr>
        <p:spPr>
          <a:xfrm>
            <a:off x="3405801" y="4456119"/>
            <a:ext cx="1071640" cy="369332"/>
          </a:xfrm>
          <a:prstGeom prst="rect">
            <a:avLst/>
          </a:prstGeom>
          <a:noFill/>
        </p:spPr>
        <p:txBody>
          <a:bodyPr wrap="none" rtlCol="0">
            <a:spAutoFit/>
          </a:bodyPr>
          <a:lstStyle/>
          <a:p>
            <a:pPr algn="r"/>
            <a:r>
              <a:rPr lang="en-SE" noProof="0" dirty="0">
                <a:solidFill>
                  <a:srgbClr val="D0180A"/>
                </a:solidFill>
              </a:rPr>
              <a:t>ChatGPT</a:t>
            </a:r>
            <a:endParaRPr lang="en-US" noProof="0" dirty="0">
              <a:solidFill>
                <a:srgbClr val="D0180A"/>
              </a:solidFill>
            </a:endParaRPr>
          </a:p>
        </p:txBody>
      </p:sp>
      <p:sp>
        <p:nvSpPr>
          <p:cNvPr id="12" name="TextBox 11">
            <a:extLst>
              <a:ext uri="{FF2B5EF4-FFF2-40B4-BE49-F238E27FC236}">
                <a16:creationId xmlns:a16="http://schemas.microsoft.com/office/drawing/2014/main" id="{D7AF8B61-FFB9-B6E9-4F0C-5E3DA5D5C390}"/>
              </a:ext>
            </a:extLst>
          </p:cNvPr>
          <p:cNvSpPr txBox="1"/>
          <p:nvPr/>
        </p:nvSpPr>
        <p:spPr>
          <a:xfrm>
            <a:off x="7404821" y="4086787"/>
            <a:ext cx="1205779" cy="369332"/>
          </a:xfrm>
          <a:prstGeom prst="rect">
            <a:avLst/>
          </a:prstGeom>
          <a:noFill/>
        </p:spPr>
        <p:txBody>
          <a:bodyPr wrap="none" rtlCol="0">
            <a:spAutoFit/>
          </a:bodyPr>
          <a:lstStyle/>
          <a:p>
            <a:r>
              <a:rPr lang="en-SE" noProof="0" dirty="0">
                <a:solidFill>
                  <a:srgbClr val="006D70"/>
                </a:solidFill>
              </a:rPr>
              <a:t>CR quality</a:t>
            </a:r>
            <a:endParaRPr lang="en-US" noProof="0" dirty="0">
              <a:solidFill>
                <a:srgbClr val="006D70"/>
              </a:solidFill>
            </a:endParaRPr>
          </a:p>
        </p:txBody>
      </p:sp>
      <p:sp>
        <p:nvSpPr>
          <p:cNvPr id="13" name="Oval 12">
            <a:extLst>
              <a:ext uri="{FF2B5EF4-FFF2-40B4-BE49-F238E27FC236}">
                <a16:creationId xmlns:a16="http://schemas.microsoft.com/office/drawing/2014/main" id="{A369C4C4-FB1F-A6C0-4FB1-E50083325A69}"/>
              </a:ext>
            </a:extLst>
          </p:cNvPr>
          <p:cNvSpPr/>
          <p:nvPr/>
        </p:nvSpPr>
        <p:spPr>
          <a:xfrm>
            <a:off x="6953083" y="4827770"/>
            <a:ext cx="360000" cy="360000"/>
          </a:xfrm>
          <a:prstGeom prst="ellipse">
            <a:avLst/>
          </a:prstGeom>
          <a:solidFill>
            <a:srgbClr val="00BFC4"/>
          </a:solidFill>
          <a:ln>
            <a:solidFill>
              <a:srgbClr val="006D7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4" name="TextBox 13">
            <a:extLst>
              <a:ext uri="{FF2B5EF4-FFF2-40B4-BE49-F238E27FC236}">
                <a16:creationId xmlns:a16="http://schemas.microsoft.com/office/drawing/2014/main" id="{E6267037-8EE4-F739-A21B-C220C2C7FC52}"/>
              </a:ext>
            </a:extLst>
          </p:cNvPr>
          <p:cNvSpPr txBox="1"/>
          <p:nvPr/>
        </p:nvSpPr>
        <p:spPr>
          <a:xfrm>
            <a:off x="7404821" y="4827770"/>
            <a:ext cx="1152880" cy="369332"/>
          </a:xfrm>
          <a:prstGeom prst="rect">
            <a:avLst/>
          </a:prstGeom>
          <a:noFill/>
        </p:spPr>
        <p:txBody>
          <a:bodyPr wrap="none" rtlCol="0">
            <a:spAutoFit/>
          </a:bodyPr>
          <a:lstStyle/>
          <a:p>
            <a:r>
              <a:rPr lang="en-SE" noProof="0" dirty="0">
                <a:solidFill>
                  <a:srgbClr val="006D70"/>
                </a:solidFill>
              </a:rPr>
              <a:t>CR length</a:t>
            </a:r>
            <a:endParaRPr lang="en-US" noProof="0" dirty="0">
              <a:solidFill>
                <a:srgbClr val="006D70"/>
              </a:solidFill>
            </a:endParaRPr>
          </a:p>
        </p:txBody>
      </p:sp>
      <p:cxnSp>
        <p:nvCxnSpPr>
          <p:cNvPr id="16" name="Straight Arrow Connector 15">
            <a:extLst>
              <a:ext uri="{FF2B5EF4-FFF2-40B4-BE49-F238E27FC236}">
                <a16:creationId xmlns:a16="http://schemas.microsoft.com/office/drawing/2014/main" id="{73B44695-22F1-F969-BE45-88177636E988}"/>
              </a:ext>
            </a:extLst>
          </p:cNvPr>
          <p:cNvCxnSpPr>
            <a:stCxn id="8" idx="6"/>
            <a:endCxn id="9" idx="2"/>
          </p:cNvCxnSpPr>
          <p:nvPr/>
        </p:nvCxnSpPr>
        <p:spPr>
          <a:xfrm flipV="1">
            <a:off x="4967392" y="4266787"/>
            <a:ext cx="1985691" cy="380983"/>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17" name="Straight Arrow Connector 16">
            <a:extLst>
              <a:ext uri="{FF2B5EF4-FFF2-40B4-BE49-F238E27FC236}">
                <a16:creationId xmlns:a16="http://schemas.microsoft.com/office/drawing/2014/main" id="{37FE34C5-0657-2C78-59B9-AEB3FDBFC7FA}"/>
              </a:ext>
            </a:extLst>
          </p:cNvPr>
          <p:cNvCxnSpPr>
            <a:cxnSpLocks/>
            <a:stCxn id="8" idx="6"/>
            <a:endCxn id="13" idx="2"/>
          </p:cNvCxnSpPr>
          <p:nvPr/>
        </p:nvCxnSpPr>
        <p:spPr>
          <a:xfrm>
            <a:off x="4967392" y="4647770"/>
            <a:ext cx="1985691" cy="36000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7" name="Oval 6">
            <a:extLst>
              <a:ext uri="{FF2B5EF4-FFF2-40B4-BE49-F238E27FC236}">
                <a16:creationId xmlns:a16="http://schemas.microsoft.com/office/drawing/2014/main" id="{E828F2C6-0075-EC0D-5325-F3605D071CFB}"/>
              </a:ext>
            </a:extLst>
          </p:cNvPr>
          <p:cNvSpPr/>
          <p:nvPr/>
        </p:nvSpPr>
        <p:spPr>
          <a:xfrm>
            <a:off x="4607392" y="5652151"/>
            <a:ext cx="360000" cy="360000"/>
          </a:xfrm>
          <a:prstGeom prst="ellipse">
            <a:avLst/>
          </a:prstGeom>
          <a:solidFill>
            <a:schemeClr val="bg1">
              <a:lumMod val="75000"/>
            </a:schemeClr>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TextBox 9">
            <a:extLst>
              <a:ext uri="{FF2B5EF4-FFF2-40B4-BE49-F238E27FC236}">
                <a16:creationId xmlns:a16="http://schemas.microsoft.com/office/drawing/2014/main" id="{A4F4793F-E500-530B-A97B-EC5B5EA272FB}"/>
              </a:ext>
            </a:extLst>
          </p:cNvPr>
          <p:cNvSpPr txBox="1"/>
          <p:nvPr/>
        </p:nvSpPr>
        <p:spPr>
          <a:xfrm>
            <a:off x="3936972" y="5656817"/>
            <a:ext cx="540469" cy="369332"/>
          </a:xfrm>
          <a:prstGeom prst="rect">
            <a:avLst/>
          </a:prstGeom>
          <a:noFill/>
        </p:spPr>
        <p:txBody>
          <a:bodyPr wrap="none" rtlCol="0">
            <a:spAutoFit/>
          </a:bodyPr>
          <a:lstStyle/>
          <a:p>
            <a:pPr algn="r"/>
            <a:r>
              <a:rPr lang="de-DE" noProof="0" dirty="0">
                <a:solidFill>
                  <a:schemeClr val="tx1">
                    <a:lumMod val="65000"/>
                    <a:lumOff val="35000"/>
                  </a:schemeClr>
                </a:solidFill>
              </a:rPr>
              <a:t>a</a:t>
            </a:r>
            <a:r>
              <a:rPr lang="en-SE" noProof="0" dirty="0" err="1">
                <a:solidFill>
                  <a:schemeClr val="tx1">
                    <a:lumMod val="65000"/>
                    <a:lumOff val="35000"/>
                  </a:schemeClr>
                </a:solidFill>
              </a:rPr>
              <a:t>ge</a:t>
            </a:r>
            <a:endParaRPr lang="en-US" noProof="0" dirty="0">
              <a:solidFill>
                <a:schemeClr val="tx1">
                  <a:lumMod val="65000"/>
                  <a:lumOff val="35000"/>
                </a:schemeClr>
              </a:solidFill>
            </a:endParaRPr>
          </a:p>
        </p:txBody>
      </p:sp>
      <p:cxnSp>
        <p:nvCxnSpPr>
          <p:cNvPr id="15" name="Straight Arrow Connector 14">
            <a:extLst>
              <a:ext uri="{FF2B5EF4-FFF2-40B4-BE49-F238E27FC236}">
                <a16:creationId xmlns:a16="http://schemas.microsoft.com/office/drawing/2014/main" id="{A99FDF26-7044-4DD5-2CB1-5C8E6A46DC50}"/>
              </a:ext>
            </a:extLst>
          </p:cNvPr>
          <p:cNvCxnSpPr>
            <a:cxnSpLocks/>
            <a:stCxn id="7" idx="0"/>
            <a:endCxn id="8" idx="4"/>
          </p:cNvCxnSpPr>
          <p:nvPr/>
        </p:nvCxnSpPr>
        <p:spPr>
          <a:xfrm flipV="1">
            <a:off x="4787392" y="4827770"/>
            <a:ext cx="0" cy="824381"/>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Tree>
    <p:extLst>
      <p:ext uri="{BB962C8B-B14F-4D97-AF65-F5344CB8AC3E}">
        <p14:creationId xmlns:p14="http://schemas.microsoft.com/office/powerpoint/2010/main" val="367743142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med" p14:dur="700">
        <p159:morph option="byObject"/>
      </p:transition>
    </mc:Choice>
    <mc:Fallback xmlns="">
      <p:transition spd="med">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2DBB2C-A452-E7D9-9B3C-51178077EA0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5D2F985-06B4-4887-FAB3-1358F3E2FD30}"/>
              </a:ext>
            </a:extLst>
          </p:cNvPr>
          <p:cNvSpPr>
            <a:spLocks noGrp="1"/>
          </p:cNvSpPr>
          <p:nvPr>
            <p:ph type="title"/>
          </p:nvPr>
        </p:nvSpPr>
        <p:spPr/>
        <p:txBody>
          <a:bodyPr/>
          <a:lstStyle/>
          <a:p>
            <a:r>
              <a:rPr lang="en-SE" dirty="0"/>
              <a:t>Solution: Formulating a DAG</a:t>
            </a:r>
          </a:p>
        </p:txBody>
      </p:sp>
      <p:sp>
        <p:nvSpPr>
          <p:cNvPr id="3" name="Content Placeholder 2">
            <a:extLst>
              <a:ext uri="{FF2B5EF4-FFF2-40B4-BE49-F238E27FC236}">
                <a16:creationId xmlns:a16="http://schemas.microsoft.com/office/drawing/2014/main" id="{F65F50E0-0D03-13BC-5343-A95615B0F5B7}"/>
              </a:ext>
            </a:extLst>
          </p:cNvPr>
          <p:cNvSpPr>
            <a:spLocks noGrp="1"/>
          </p:cNvSpPr>
          <p:nvPr>
            <p:ph idx="1"/>
          </p:nvPr>
        </p:nvSpPr>
        <p:spPr>
          <a:xfrm>
            <a:off x="838200" y="1825625"/>
            <a:ext cx="10515600" cy="2106295"/>
          </a:xfrm>
        </p:spPr>
        <p:txBody>
          <a:bodyPr>
            <a:normAutofit fontScale="92500" lnSpcReduction="20000"/>
          </a:bodyPr>
          <a:lstStyle/>
          <a:p>
            <a:pPr marL="0" indent="0">
              <a:buNone/>
            </a:pPr>
            <a:r>
              <a:rPr lang="en-SE" dirty="0"/>
              <a:t>“Researchers are interested in knowing if </a:t>
            </a:r>
            <a:r>
              <a:rPr lang="en-SE" b="1" dirty="0">
                <a:solidFill>
                  <a:srgbClr val="D0180A"/>
                </a:solidFill>
              </a:rPr>
              <a:t>using ChatGPT </a:t>
            </a:r>
            <a:r>
              <a:rPr lang="en-SE" dirty="0"/>
              <a:t>affects the </a:t>
            </a:r>
            <a:r>
              <a:rPr lang="en-SE" b="1" dirty="0">
                <a:solidFill>
                  <a:srgbClr val="006D70"/>
                </a:solidFill>
              </a:rPr>
              <a:t>quality</a:t>
            </a:r>
            <a:r>
              <a:rPr lang="en-SE" dirty="0"/>
              <a:t> and </a:t>
            </a:r>
            <a:r>
              <a:rPr lang="en-SE" b="1" dirty="0">
                <a:solidFill>
                  <a:srgbClr val="006D70"/>
                </a:solidFill>
              </a:rPr>
              <a:t>length of code reviews </a:t>
            </a:r>
            <a:r>
              <a:rPr lang="en-SE" dirty="0"/>
              <a:t>at a company. Since they cannot interrupt the regular workflow, they cannot force anyone to use or not use ChatGPT. They do know, however, that </a:t>
            </a:r>
            <a:r>
              <a:rPr lang="en-SE" b="1" dirty="0"/>
              <a:t>younger developers </a:t>
            </a:r>
            <a:r>
              <a:rPr lang="en-SE" dirty="0"/>
              <a:t>use ChatGPT more often. On the other hand, they know that </a:t>
            </a:r>
            <a:r>
              <a:rPr lang="en-SE" b="1" dirty="0"/>
              <a:t>more skilled developers </a:t>
            </a:r>
            <a:r>
              <a:rPr lang="en-SE" dirty="0"/>
              <a:t>generally produce more concise (i.e., shorter) and better code reviews.”</a:t>
            </a:r>
          </a:p>
        </p:txBody>
      </p:sp>
      <p:sp>
        <p:nvSpPr>
          <p:cNvPr id="4" name="Date Placeholder 3">
            <a:extLst>
              <a:ext uri="{FF2B5EF4-FFF2-40B4-BE49-F238E27FC236}">
                <a16:creationId xmlns:a16="http://schemas.microsoft.com/office/drawing/2014/main" id="{F41EDFA7-76B0-4778-3326-0AAE183370C0}"/>
              </a:ext>
            </a:extLst>
          </p:cNvPr>
          <p:cNvSpPr>
            <a:spLocks noGrp="1"/>
          </p:cNvSpPr>
          <p:nvPr>
            <p:ph type="dt" sz="half" idx="10"/>
          </p:nvPr>
        </p:nvSpPr>
        <p:spPr/>
        <p:txBody>
          <a:bodyPr/>
          <a:lstStyle/>
          <a:p>
            <a:r>
              <a:rPr lang="de-DE"/>
              <a:t>20.01.2026</a:t>
            </a:r>
            <a:endParaRPr lang="en-US"/>
          </a:p>
        </p:txBody>
      </p:sp>
      <p:sp>
        <p:nvSpPr>
          <p:cNvPr id="5" name="Footer Placeholder 4">
            <a:extLst>
              <a:ext uri="{FF2B5EF4-FFF2-40B4-BE49-F238E27FC236}">
                <a16:creationId xmlns:a16="http://schemas.microsoft.com/office/drawing/2014/main" id="{E6983AFC-8BBB-0561-FF03-1850B25D5B8C}"/>
              </a:ext>
            </a:extLst>
          </p:cNvPr>
          <p:cNvSpPr>
            <a:spLocks noGrp="1"/>
          </p:cNvSpPr>
          <p:nvPr>
            <p:ph type="ftr" sz="quarter" idx="11"/>
          </p:nvPr>
        </p:nvSpPr>
        <p:spPr/>
        <p:txBody>
          <a:bodyPr/>
          <a:lstStyle/>
          <a:p>
            <a:r>
              <a:rPr lang="en-US"/>
              <a:t>Introduction to Statistical Causal Inference</a:t>
            </a:r>
          </a:p>
        </p:txBody>
      </p:sp>
      <p:sp>
        <p:nvSpPr>
          <p:cNvPr id="6" name="Slide Number Placeholder 5">
            <a:extLst>
              <a:ext uri="{FF2B5EF4-FFF2-40B4-BE49-F238E27FC236}">
                <a16:creationId xmlns:a16="http://schemas.microsoft.com/office/drawing/2014/main" id="{AE9A8FC9-725A-279C-DA2D-88F2A2A563EF}"/>
              </a:ext>
            </a:extLst>
          </p:cNvPr>
          <p:cNvSpPr>
            <a:spLocks noGrp="1"/>
          </p:cNvSpPr>
          <p:nvPr>
            <p:ph type="sldNum" sz="quarter" idx="12"/>
          </p:nvPr>
        </p:nvSpPr>
        <p:spPr/>
        <p:txBody>
          <a:bodyPr/>
          <a:lstStyle/>
          <a:p>
            <a:fld id="{0FA2D919-C0DE-4971-A2E9-D4AC0031921B}" type="slidenum">
              <a:rPr lang="en-US" smtClean="0"/>
              <a:t>22</a:t>
            </a:fld>
            <a:endParaRPr lang="en-US"/>
          </a:p>
        </p:txBody>
      </p:sp>
      <p:sp>
        <p:nvSpPr>
          <p:cNvPr id="8" name="Oval 7">
            <a:extLst>
              <a:ext uri="{FF2B5EF4-FFF2-40B4-BE49-F238E27FC236}">
                <a16:creationId xmlns:a16="http://schemas.microsoft.com/office/drawing/2014/main" id="{24F1A287-AFB1-42FC-BC5D-55AED8845BEF}"/>
              </a:ext>
            </a:extLst>
          </p:cNvPr>
          <p:cNvSpPr/>
          <p:nvPr/>
        </p:nvSpPr>
        <p:spPr>
          <a:xfrm>
            <a:off x="4607392" y="4467770"/>
            <a:ext cx="360000" cy="360000"/>
          </a:xfrm>
          <a:prstGeom prst="ellipse">
            <a:avLst/>
          </a:prstGeom>
          <a:solidFill>
            <a:srgbClr val="F8766D"/>
          </a:solidFill>
          <a:ln>
            <a:solidFill>
              <a:srgbClr val="D0180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9" name="Oval 8">
            <a:extLst>
              <a:ext uri="{FF2B5EF4-FFF2-40B4-BE49-F238E27FC236}">
                <a16:creationId xmlns:a16="http://schemas.microsoft.com/office/drawing/2014/main" id="{367D5160-CB7A-E0B1-DCBA-85D6881C12FD}"/>
              </a:ext>
            </a:extLst>
          </p:cNvPr>
          <p:cNvSpPr/>
          <p:nvPr/>
        </p:nvSpPr>
        <p:spPr>
          <a:xfrm>
            <a:off x="6953083" y="4086787"/>
            <a:ext cx="360000" cy="360000"/>
          </a:xfrm>
          <a:prstGeom prst="ellipse">
            <a:avLst/>
          </a:prstGeom>
          <a:solidFill>
            <a:srgbClr val="00BFC4"/>
          </a:solidFill>
          <a:ln>
            <a:solidFill>
              <a:srgbClr val="006D7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1" name="TextBox 10">
            <a:extLst>
              <a:ext uri="{FF2B5EF4-FFF2-40B4-BE49-F238E27FC236}">
                <a16:creationId xmlns:a16="http://schemas.microsoft.com/office/drawing/2014/main" id="{3EDAF45D-CA56-CB00-C4C4-90773BC55468}"/>
              </a:ext>
            </a:extLst>
          </p:cNvPr>
          <p:cNvSpPr txBox="1"/>
          <p:nvPr/>
        </p:nvSpPr>
        <p:spPr>
          <a:xfrm>
            <a:off x="3405801" y="4456119"/>
            <a:ext cx="1071640" cy="369332"/>
          </a:xfrm>
          <a:prstGeom prst="rect">
            <a:avLst/>
          </a:prstGeom>
          <a:noFill/>
        </p:spPr>
        <p:txBody>
          <a:bodyPr wrap="none" rtlCol="0">
            <a:spAutoFit/>
          </a:bodyPr>
          <a:lstStyle/>
          <a:p>
            <a:pPr algn="r"/>
            <a:r>
              <a:rPr lang="en-SE" noProof="0" dirty="0">
                <a:solidFill>
                  <a:srgbClr val="D0180A"/>
                </a:solidFill>
              </a:rPr>
              <a:t>ChatGPT</a:t>
            </a:r>
            <a:endParaRPr lang="en-US" noProof="0" dirty="0">
              <a:solidFill>
                <a:srgbClr val="D0180A"/>
              </a:solidFill>
            </a:endParaRPr>
          </a:p>
        </p:txBody>
      </p:sp>
      <p:sp>
        <p:nvSpPr>
          <p:cNvPr id="12" name="TextBox 11">
            <a:extLst>
              <a:ext uri="{FF2B5EF4-FFF2-40B4-BE49-F238E27FC236}">
                <a16:creationId xmlns:a16="http://schemas.microsoft.com/office/drawing/2014/main" id="{C3BB0BDD-87D9-181F-1145-F08805504A9B}"/>
              </a:ext>
            </a:extLst>
          </p:cNvPr>
          <p:cNvSpPr txBox="1"/>
          <p:nvPr/>
        </p:nvSpPr>
        <p:spPr>
          <a:xfrm>
            <a:off x="7404821" y="4086787"/>
            <a:ext cx="1205779" cy="369332"/>
          </a:xfrm>
          <a:prstGeom prst="rect">
            <a:avLst/>
          </a:prstGeom>
          <a:noFill/>
        </p:spPr>
        <p:txBody>
          <a:bodyPr wrap="none" rtlCol="0">
            <a:spAutoFit/>
          </a:bodyPr>
          <a:lstStyle/>
          <a:p>
            <a:r>
              <a:rPr lang="en-SE" noProof="0" dirty="0">
                <a:solidFill>
                  <a:srgbClr val="006D70"/>
                </a:solidFill>
              </a:rPr>
              <a:t>CR quality</a:t>
            </a:r>
            <a:endParaRPr lang="en-US" noProof="0" dirty="0">
              <a:solidFill>
                <a:srgbClr val="006D70"/>
              </a:solidFill>
            </a:endParaRPr>
          </a:p>
        </p:txBody>
      </p:sp>
      <p:sp>
        <p:nvSpPr>
          <p:cNvPr id="13" name="Oval 12">
            <a:extLst>
              <a:ext uri="{FF2B5EF4-FFF2-40B4-BE49-F238E27FC236}">
                <a16:creationId xmlns:a16="http://schemas.microsoft.com/office/drawing/2014/main" id="{13E50191-DE93-64CF-1A7D-742F5A9B8545}"/>
              </a:ext>
            </a:extLst>
          </p:cNvPr>
          <p:cNvSpPr/>
          <p:nvPr/>
        </p:nvSpPr>
        <p:spPr>
          <a:xfrm>
            <a:off x="6953083" y="4827770"/>
            <a:ext cx="360000" cy="360000"/>
          </a:xfrm>
          <a:prstGeom prst="ellipse">
            <a:avLst/>
          </a:prstGeom>
          <a:solidFill>
            <a:srgbClr val="00BFC4"/>
          </a:solidFill>
          <a:ln>
            <a:solidFill>
              <a:srgbClr val="006D7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4" name="TextBox 13">
            <a:extLst>
              <a:ext uri="{FF2B5EF4-FFF2-40B4-BE49-F238E27FC236}">
                <a16:creationId xmlns:a16="http://schemas.microsoft.com/office/drawing/2014/main" id="{D6F6E08F-EFF2-D971-9D29-272B409C6929}"/>
              </a:ext>
            </a:extLst>
          </p:cNvPr>
          <p:cNvSpPr txBox="1"/>
          <p:nvPr/>
        </p:nvSpPr>
        <p:spPr>
          <a:xfrm>
            <a:off x="7404821" y="4827770"/>
            <a:ext cx="1152880" cy="369332"/>
          </a:xfrm>
          <a:prstGeom prst="rect">
            <a:avLst/>
          </a:prstGeom>
          <a:noFill/>
        </p:spPr>
        <p:txBody>
          <a:bodyPr wrap="none" rtlCol="0">
            <a:spAutoFit/>
          </a:bodyPr>
          <a:lstStyle/>
          <a:p>
            <a:r>
              <a:rPr lang="en-SE" noProof="0" dirty="0">
                <a:solidFill>
                  <a:srgbClr val="006D70"/>
                </a:solidFill>
              </a:rPr>
              <a:t>CR length</a:t>
            </a:r>
            <a:endParaRPr lang="en-US" noProof="0" dirty="0">
              <a:solidFill>
                <a:srgbClr val="006D70"/>
              </a:solidFill>
            </a:endParaRPr>
          </a:p>
        </p:txBody>
      </p:sp>
      <p:cxnSp>
        <p:nvCxnSpPr>
          <p:cNvPr id="16" name="Straight Arrow Connector 15">
            <a:extLst>
              <a:ext uri="{FF2B5EF4-FFF2-40B4-BE49-F238E27FC236}">
                <a16:creationId xmlns:a16="http://schemas.microsoft.com/office/drawing/2014/main" id="{920AE35A-901B-0EAC-339E-7F243FEDFA64}"/>
              </a:ext>
            </a:extLst>
          </p:cNvPr>
          <p:cNvCxnSpPr>
            <a:stCxn id="8" idx="6"/>
            <a:endCxn id="9" idx="2"/>
          </p:cNvCxnSpPr>
          <p:nvPr/>
        </p:nvCxnSpPr>
        <p:spPr>
          <a:xfrm flipV="1">
            <a:off x="4967392" y="4266787"/>
            <a:ext cx="1985691" cy="380983"/>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17" name="Straight Arrow Connector 16">
            <a:extLst>
              <a:ext uri="{FF2B5EF4-FFF2-40B4-BE49-F238E27FC236}">
                <a16:creationId xmlns:a16="http://schemas.microsoft.com/office/drawing/2014/main" id="{5118A04E-65F7-E100-208F-D979D602A407}"/>
              </a:ext>
            </a:extLst>
          </p:cNvPr>
          <p:cNvCxnSpPr>
            <a:cxnSpLocks/>
            <a:stCxn id="8" idx="6"/>
            <a:endCxn id="13" idx="2"/>
          </p:cNvCxnSpPr>
          <p:nvPr/>
        </p:nvCxnSpPr>
        <p:spPr>
          <a:xfrm>
            <a:off x="4967392" y="4647770"/>
            <a:ext cx="1985691" cy="36000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7" name="Oval 6">
            <a:extLst>
              <a:ext uri="{FF2B5EF4-FFF2-40B4-BE49-F238E27FC236}">
                <a16:creationId xmlns:a16="http://schemas.microsoft.com/office/drawing/2014/main" id="{785A9354-B27F-A4A8-BD7E-F53AE2E7F922}"/>
              </a:ext>
            </a:extLst>
          </p:cNvPr>
          <p:cNvSpPr/>
          <p:nvPr/>
        </p:nvSpPr>
        <p:spPr>
          <a:xfrm>
            <a:off x="4607392" y="5652151"/>
            <a:ext cx="360000" cy="360000"/>
          </a:xfrm>
          <a:prstGeom prst="ellipse">
            <a:avLst/>
          </a:prstGeom>
          <a:solidFill>
            <a:schemeClr val="bg1">
              <a:lumMod val="75000"/>
            </a:schemeClr>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TextBox 9">
            <a:extLst>
              <a:ext uri="{FF2B5EF4-FFF2-40B4-BE49-F238E27FC236}">
                <a16:creationId xmlns:a16="http://schemas.microsoft.com/office/drawing/2014/main" id="{FCF8B61F-22D9-A742-961D-7F52685F8CBA}"/>
              </a:ext>
            </a:extLst>
          </p:cNvPr>
          <p:cNvSpPr txBox="1"/>
          <p:nvPr/>
        </p:nvSpPr>
        <p:spPr>
          <a:xfrm>
            <a:off x="3936972" y="5656817"/>
            <a:ext cx="540469" cy="369332"/>
          </a:xfrm>
          <a:prstGeom prst="rect">
            <a:avLst/>
          </a:prstGeom>
          <a:noFill/>
        </p:spPr>
        <p:txBody>
          <a:bodyPr wrap="none" rtlCol="0">
            <a:spAutoFit/>
          </a:bodyPr>
          <a:lstStyle/>
          <a:p>
            <a:pPr algn="r"/>
            <a:r>
              <a:rPr lang="de-DE" noProof="0" dirty="0">
                <a:solidFill>
                  <a:schemeClr val="tx1">
                    <a:lumMod val="65000"/>
                    <a:lumOff val="35000"/>
                  </a:schemeClr>
                </a:solidFill>
              </a:rPr>
              <a:t>a</a:t>
            </a:r>
            <a:r>
              <a:rPr lang="en-SE" noProof="0" dirty="0" err="1">
                <a:solidFill>
                  <a:schemeClr val="tx1">
                    <a:lumMod val="65000"/>
                    <a:lumOff val="35000"/>
                  </a:schemeClr>
                </a:solidFill>
              </a:rPr>
              <a:t>ge</a:t>
            </a:r>
            <a:endParaRPr lang="en-US" noProof="0" dirty="0">
              <a:solidFill>
                <a:schemeClr val="tx1">
                  <a:lumMod val="65000"/>
                  <a:lumOff val="35000"/>
                </a:schemeClr>
              </a:solidFill>
            </a:endParaRPr>
          </a:p>
        </p:txBody>
      </p:sp>
      <p:cxnSp>
        <p:nvCxnSpPr>
          <p:cNvPr id="15" name="Straight Arrow Connector 14">
            <a:extLst>
              <a:ext uri="{FF2B5EF4-FFF2-40B4-BE49-F238E27FC236}">
                <a16:creationId xmlns:a16="http://schemas.microsoft.com/office/drawing/2014/main" id="{E03F05D1-FA23-5888-D34F-3F0045232519}"/>
              </a:ext>
            </a:extLst>
          </p:cNvPr>
          <p:cNvCxnSpPr>
            <a:cxnSpLocks/>
            <a:stCxn id="7" idx="0"/>
            <a:endCxn id="8" idx="4"/>
          </p:cNvCxnSpPr>
          <p:nvPr/>
        </p:nvCxnSpPr>
        <p:spPr>
          <a:xfrm flipV="1">
            <a:off x="4787392" y="4827770"/>
            <a:ext cx="0" cy="824381"/>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18" name="Oval 17">
            <a:extLst>
              <a:ext uri="{FF2B5EF4-FFF2-40B4-BE49-F238E27FC236}">
                <a16:creationId xmlns:a16="http://schemas.microsoft.com/office/drawing/2014/main" id="{A3C08348-25F4-0E35-3207-525EDA0AA0BC}"/>
              </a:ext>
            </a:extLst>
          </p:cNvPr>
          <p:cNvSpPr/>
          <p:nvPr/>
        </p:nvSpPr>
        <p:spPr>
          <a:xfrm>
            <a:off x="5910037" y="5652151"/>
            <a:ext cx="360000" cy="360000"/>
          </a:xfrm>
          <a:prstGeom prst="ellipse">
            <a:avLst/>
          </a:prstGeom>
          <a:solidFill>
            <a:schemeClr val="bg1">
              <a:lumMod val="75000"/>
            </a:schemeClr>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9" name="TextBox 18">
            <a:extLst>
              <a:ext uri="{FF2B5EF4-FFF2-40B4-BE49-F238E27FC236}">
                <a16:creationId xmlns:a16="http://schemas.microsoft.com/office/drawing/2014/main" id="{0B3D504A-1D64-B936-D21C-591AC4A50C36}"/>
              </a:ext>
            </a:extLst>
          </p:cNvPr>
          <p:cNvSpPr txBox="1"/>
          <p:nvPr/>
        </p:nvSpPr>
        <p:spPr>
          <a:xfrm>
            <a:off x="6270037" y="5642893"/>
            <a:ext cx="582211" cy="369332"/>
          </a:xfrm>
          <a:prstGeom prst="rect">
            <a:avLst/>
          </a:prstGeom>
          <a:noFill/>
        </p:spPr>
        <p:txBody>
          <a:bodyPr wrap="none" rtlCol="0">
            <a:spAutoFit/>
          </a:bodyPr>
          <a:lstStyle/>
          <a:p>
            <a:r>
              <a:rPr lang="de-DE" noProof="0" dirty="0">
                <a:solidFill>
                  <a:schemeClr val="tx1">
                    <a:lumMod val="65000"/>
                    <a:lumOff val="35000"/>
                  </a:schemeClr>
                </a:solidFill>
              </a:rPr>
              <a:t>s</a:t>
            </a:r>
            <a:r>
              <a:rPr lang="en-SE" noProof="0" dirty="0">
                <a:solidFill>
                  <a:schemeClr val="tx1">
                    <a:lumMod val="65000"/>
                    <a:lumOff val="35000"/>
                  </a:schemeClr>
                </a:solidFill>
              </a:rPr>
              <a:t>kill</a:t>
            </a:r>
            <a:endParaRPr lang="en-US" noProof="0" dirty="0">
              <a:solidFill>
                <a:schemeClr val="tx1">
                  <a:lumMod val="65000"/>
                  <a:lumOff val="35000"/>
                </a:schemeClr>
              </a:solidFill>
            </a:endParaRPr>
          </a:p>
        </p:txBody>
      </p:sp>
      <p:cxnSp>
        <p:nvCxnSpPr>
          <p:cNvPr id="20" name="Straight Arrow Connector 19">
            <a:extLst>
              <a:ext uri="{FF2B5EF4-FFF2-40B4-BE49-F238E27FC236}">
                <a16:creationId xmlns:a16="http://schemas.microsoft.com/office/drawing/2014/main" id="{993D8069-2E80-92BF-2643-F85B784EF0A1}"/>
              </a:ext>
            </a:extLst>
          </p:cNvPr>
          <p:cNvCxnSpPr>
            <a:cxnSpLocks/>
            <a:stCxn id="18" idx="0"/>
            <a:endCxn id="9" idx="3"/>
          </p:cNvCxnSpPr>
          <p:nvPr/>
        </p:nvCxnSpPr>
        <p:spPr>
          <a:xfrm flipV="1">
            <a:off x="6090037" y="4394066"/>
            <a:ext cx="915767" cy="1258085"/>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23" name="Straight Arrow Connector 22">
            <a:extLst>
              <a:ext uri="{FF2B5EF4-FFF2-40B4-BE49-F238E27FC236}">
                <a16:creationId xmlns:a16="http://schemas.microsoft.com/office/drawing/2014/main" id="{F5AD61E4-47BE-B97B-EBE7-966FBE9DA0E9}"/>
              </a:ext>
            </a:extLst>
          </p:cNvPr>
          <p:cNvCxnSpPr>
            <a:cxnSpLocks/>
            <a:stCxn id="18" idx="7"/>
            <a:endCxn id="13" idx="3"/>
          </p:cNvCxnSpPr>
          <p:nvPr/>
        </p:nvCxnSpPr>
        <p:spPr>
          <a:xfrm flipV="1">
            <a:off x="6217316" y="5135049"/>
            <a:ext cx="788488" cy="569823"/>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Tree>
    <p:extLst>
      <p:ext uri="{BB962C8B-B14F-4D97-AF65-F5344CB8AC3E}">
        <p14:creationId xmlns:p14="http://schemas.microsoft.com/office/powerpoint/2010/main" val="428838963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med" p14:dur="700">
        <p159:morph option="byObject"/>
      </p:transition>
    </mc:Choice>
    <mc:Fallback xmlns="">
      <p:transition spd="med">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1DC2E5-6942-8D1F-89FB-3602D8967CE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0191076-CF1D-A1AC-8C10-7341EA0685DF}"/>
              </a:ext>
            </a:extLst>
          </p:cNvPr>
          <p:cNvSpPr>
            <a:spLocks noGrp="1"/>
          </p:cNvSpPr>
          <p:nvPr>
            <p:ph type="title"/>
          </p:nvPr>
        </p:nvSpPr>
        <p:spPr/>
        <p:txBody>
          <a:bodyPr/>
          <a:lstStyle/>
          <a:p>
            <a:r>
              <a:rPr lang="en-SE" dirty="0"/>
              <a:t>Solution: Formulating a DAG</a:t>
            </a:r>
          </a:p>
        </p:txBody>
      </p:sp>
      <p:sp>
        <p:nvSpPr>
          <p:cNvPr id="3" name="Content Placeholder 2">
            <a:extLst>
              <a:ext uri="{FF2B5EF4-FFF2-40B4-BE49-F238E27FC236}">
                <a16:creationId xmlns:a16="http://schemas.microsoft.com/office/drawing/2014/main" id="{9A5F1933-5CF0-2341-7C01-2A87FA99EDCA}"/>
              </a:ext>
            </a:extLst>
          </p:cNvPr>
          <p:cNvSpPr>
            <a:spLocks noGrp="1"/>
          </p:cNvSpPr>
          <p:nvPr>
            <p:ph idx="1"/>
          </p:nvPr>
        </p:nvSpPr>
        <p:spPr>
          <a:xfrm>
            <a:off x="838200" y="1825625"/>
            <a:ext cx="10515600" cy="2106295"/>
          </a:xfrm>
        </p:spPr>
        <p:txBody>
          <a:bodyPr>
            <a:normAutofit fontScale="92500" lnSpcReduction="20000"/>
          </a:bodyPr>
          <a:lstStyle/>
          <a:p>
            <a:pPr marL="0" indent="0">
              <a:buNone/>
            </a:pPr>
            <a:r>
              <a:rPr lang="en-SE" dirty="0"/>
              <a:t>“Researchers are interested in knowing if </a:t>
            </a:r>
            <a:r>
              <a:rPr lang="en-SE" b="1" dirty="0">
                <a:solidFill>
                  <a:srgbClr val="D0180A"/>
                </a:solidFill>
              </a:rPr>
              <a:t>using ChatGPT </a:t>
            </a:r>
            <a:r>
              <a:rPr lang="en-SE" dirty="0"/>
              <a:t>affects the </a:t>
            </a:r>
            <a:r>
              <a:rPr lang="en-SE" b="1" dirty="0">
                <a:solidFill>
                  <a:srgbClr val="006D70"/>
                </a:solidFill>
              </a:rPr>
              <a:t>quality</a:t>
            </a:r>
            <a:r>
              <a:rPr lang="en-SE" dirty="0"/>
              <a:t> and </a:t>
            </a:r>
            <a:r>
              <a:rPr lang="en-SE" b="1" dirty="0">
                <a:solidFill>
                  <a:srgbClr val="006D70"/>
                </a:solidFill>
              </a:rPr>
              <a:t>length of code reviews </a:t>
            </a:r>
            <a:r>
              <a:rPr lang="en-SE" dirty="0"/>
              <a:t>at a company. Since they cannot interrupt the regular workflow, they cannot force anyone to use or not use ChatGPT. They do know, however, that </a:t>
            </a:r>
            <a:r>
              <a:rPr lang="en-SE" b="1" dirty="0"/>
              <a:t>younger developers </a:t>
            </a:r>
            <a:r>
              <a:rPr lang="en-SE" dirty="0"/>
              <a:t>use ChatGPT more often. On the other hand, they know that </a:t>
            </a:r>
            <a:r>
              <a:rPr lang="en-SE" b="1" dirty="0"/>
              <a:t>more skilled developers</a:t>
            </a:r>
            <a:r>
              <a:rPr lang="en-SE" dirty="0"/>
              <a:t> generally produce more concise (i.e., shorter) and better code reviews.”</a:t>
            </a:r>
          </a:p>
        </p:txBody>
      </p:sp>
      <p:sp>
        <p:nvSpPr>
          <p:cNvPr id="4" name="Date Placeholder 3">
            <a:extLst>
              <a:ext uri="{FF2B5EF4-FFF2-40B4-BE49-F238E27FC236}">
                <a16:creationId xmlns:a16="http://schemas.microsoft.com/office/drawing/2014/main" id="{838EC19A-9E5A-EC9F-8FA7-5D91A9B16C22}"/>
              </a:ext>
            </a:extLst>
          </p:cNvPr>
          <p:cNvSpPr>
            <a:spLocks noGrp="1"/>
          </p:cNvSpPr>
          <p:nvPr>
            <p:ph type="dt" sz="half" idx="10"/>
          </p:nvPr>
        </p:nvSpPr>
        <p:spPr/>
        <p:txBody>
          <a:bodyPr/>
          <a:lstStyle/>
          <a:p>
            <a:r>
              <a:rPr lang="de-DE"/>
              <a:t>20.01.2026</a:t>
            </a:r>
            <a:endParaRPr lang="en-US"/>
          </a:p>
        </p:txBody>
      </p:sp>
      <p:sp>
        <p:nvSpPr>
          <p:cNvPr id="5" name="Footer Placeholder 4">
            <a:extLst>
              <a:ext uri="{FF2B5EF4-FFF2-40B4-BE49-F238E27FC236}">
                <a16:creationId xmlns:a16="http://schemas.microsoft.com/office/drawing/2014/main" id="{9791BBEB-F103-42E3-D274-FC18677A6E12}"/>
              </a:ext>
            </a:extLst>
          </p:cNvPr>
          <p:cNvSpPr>
            <a:spLocks noGrp="1"/>
          </p:cNvSpPr>
          <p:nvPr>
            <p:ph type="ftr" sz="quarter" idx="11"/>
          </p:nvPr>
        </p:nvSpPr>
        <p:spPr/>
        <p:txBody>
          <a:bodyPr/>
          <a:lstStyle/>
          <a:p>
            <a:r>
              <a:rPr lang="en-US"/>
              <a:t>Introduction to Statistical Causal Inference</a:t>
            </a:r>
          </a:p>
        </p:txBody>
      </p:sp>
      <p:sp>
        <p:nvSpPr>
          <p:cNvPr id="6" name="Slide Number Placeholder 5">
            <a:extLst>
              <a:ext uri="{FF2B5EF4-FFF2-40B4-BE49-F238E27FC236}">
                <a16:creationId xmlns:a16="http://schemas.microsoft.com/office/drawing/2014/main" id="{12DB5A95-7FA0-1830-0BCE-2DC4B7E1243A}"/>
              </a:ext>
            </a:extLst>
          </p:cNvPr>
          <p:cNvSpPr>
            <a:spLocks noGrp="1"/>
          </p:cNvSpPr>
          <p:nvPr>
            <p:ph type="sldNum" sz="quarter" idx="12"/>
          </p:nvPr>
        </p:nvSpPr>
        <p:spPr/>
        <p:txBody>
          <a:bodyPr/>
          <a:lstStyle/>
          <a:p>
            <a:fld id="{0FA2D919-C0DE-4971-A2E9-D4AC0031921B}" type="slidenum">
              <a:rPr lang="en-US" smtClean="0"/>
              <a:t>23</a:t>
            </a:fld>
            <a:endParaRPr lang="en-US"/>
          </a:p>
        </p:txBody>
      </p:sp>
      <p:sp>
        <p:nvSpPr>
          <p:cNvPr id="8" name="Oval 7">
            <a:extLst>
              <a:ext uri="{FF2B5EF4-FFF2-40B4-BE49-F238E27FC236}">
                <a16:creationId xmlns:a16="http://schemas.microsoft.com/office/drawing/2014/main" id="{72F6360D-FA50-E8B0-BE18-A46397906A5B}"/>
              </a:ext>
            </a:extLst>
          </p:cNvPr>
          <p:cNvSpPr/>
          <p:nvPr/>
        </p:nvSpPr>
        <p:spPr>
          <a:xfrm>
            <a:off x="4607392" y="4467770"/>
            <a:ext cx="360000" cy="360000"/>
          </a:xfrm>
          <a:prstGeom prst="ellipse">
            <a:avLst/>
          </a:prstGeom>
          <a:solidFill>
            <a:srgbClr val="F8766D"/>
          </a:solidFill>
          <a:ln>
            <a:solidFill>
              <a:srgbClr val="D0180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9" name="Oval 8">
            <a:extLst>
              <a:ext uri="{FF2B5EF4-FFF2-40B4-BE49-F238E27FC236}">
                <a16:creationId xmlns:a16="http://schemas.microsoft.com/office/drawing/2014/main" id="{A10B4A13-99F2-0B83-FCE8-34D2EF3E8FE5}"/>
              </a:ext>
            </a:extLst>
          </p:cNvPr>
          <p:cNvSpPr/>
          <p:nvPr/>
        </p:nvSpPr>
        <p:spPr>
          <a:xfrm>
            <a:off x="6953083" y="4086787"/>
            <a:ext cx="360000" cy="360000"/>
          </a:xfrm>
          <a:prstGeom prst="ellipse">
            <a:avLst/>
          </a:prstGeom>
          <a:solidFill>
            <a:srgbClr val="00BFC4"/>
          </a:solidFill>
          <a:ln>
            <a:solidFill>
              <a:srgbClr val="006D7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1" name="TextBox 10">
            <a:extLst>
              <a:ext uri="{FF2B5EF4-FFF2-40B4-BE49-F238E27FC236}">
                <a16:creationId xmlns:a16="http://schemas.microsoft.com/office/drawing/2014/main" id="{45C8134B-E38D-204B-C04B-F774397EE8D5}"/>
              </a:ext>
            </a:extLst>
          </p:cNvPr>
          <p:cNvSpPr txBox="1"/>
          <p:nvPr/>
        </p:nvSpPr>
        <p:spPr>
          <a:xfrm>
            <a:off x="3405801" y="4456119"/>
            <a:ext cx="1071640" cy="369332"/>
          </a:xfrm>
          <a:prstGeom prst="rect">
            <a:avLst/>
          </a:prstGeom>
          <a:noFill/>
        </p:spPr>
        <p:txBody>
          <a:bodyPr wrap="none" rtlCol="0">
            <a:spAutoFit/>
          </a:bodyPr>
          <a:lstStyle/>
          <a:p>
            <a:pPr algn="r"/>
            <a:r>
              <a:rPr lang="en-SE" noProof="0" dirty="0">
                <a:solidFill>
                  <a:srgbClr val="D0180A"/>
                </a:solidFill>
              </a:rPr>
              <a:t>ChatGPT</a:t>
            </a:r>
            <a:endParaRPr lang="en-US" noProof="0" dirty="0">
              <a:solidFill>
                <a:srgbClr val="D0180A"/>
              </a:solidFill>
            </a:endParaRPr>
          </a:p>
        </p:txBody>
      </p:sp>
      <p:sp>
        <p:nvSpPr>
          <p:cNvPr id="12" name="TextBox 11">
            <a:extLst>
              <a:ext uri="{FF2B5EF4-FFF2-40B4-BE49-F238E27FC236}">
                <a16:creationId xmlns:a16="http://schemas.microsoft.com/office/drawing/2014/main" id="{759AB872-C278-AE65-D480-32D6EABE214C}"/>
              </a:ext>
            </a:extLst>
          </p:cNvPr>
          <p:cNvSpPr txBox="1"/>
          <p:nvPr/>
        </p:nvSpPr>
        <p:spPr>
          <a:xfrm>
            <a:off x="7404821" y="4086787"/>
            <a:ext cx="1205779" cy="369332"/>
          </a:xfrm>
          <a:prstGeom prst="rect">
            <a:avLst/>
          </a:prstGeom>
          <a:noFill/>
        </p:spPr>
        <p:txBody>
          <a:bodyPr wrap="none" rtlCol="0">
            <a:spAutoFit/>
          </a:bodyPr>
          <a:lstStyle/>
          <a:p>
            <a:r>
              <a:rPr lang="en-SE" noProof="0" dirty="0">
                <a:solidFill>
                  <a:srgbClr val="006D70"/>
                </a:solidFill>
              </a:rPr>
              <a:t>CR quality</a:t>
            </a:r>
            <a:endParaRPr lang="en-US" noProof="0" dirty="0">
              <a:solidFill>
                <a:srgbClr val="006D70"/>
              </a:solidFill>
            </a:endParaRPr>
          </a:p>
        </p:txBody>
      </p:sp>
      <p:sp>
        <p:nvSpPr>
          <p:cNvPr id="13" name="Oval 12">
            <a:extLst>
              <a:ext uri="{FF2B5EF4-FFF2-40B4-BE49-F238E27FC236}">
                <a16:creationId xmlns:a16="http://schemas.microsoft.com/office/drawing/2014/main" id="{56C444D9-4617-6916-3D59-FF5F27C3FBFE}"/>
              </a:ext>
            </a:extLst>
          </p:cNvPr>
          <p:cNvSpPr/>
          <p:nvPr/>
        </p:nvSpPr>
        <p:spPr>
          <a:xfrm>
            <a:off x="6953083" y="4827770"/>
            <a:ext cx="360000" cy="360000"/>
          </a:xfrm>
          <a:prstGeom prst="ellipse">
            <a:avLst/>
          </a:prstGeom>
          <a:solidFill>
            <a:srgbClr val="00BFC4"/>
          </a:solidFill>
          <a:ln>
            <a:solidFill>
              <a:srgbClr val="006D7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4" name="TextBox 13">
            <a:extLst>
              <a:ext uri="{FF2B5EF4-FFF2-40B4-BE49-F238E27FC236}">
                <a16:creationId xmlns:a16="http://schemas.microsoft.com/office/drawing/2014/main" id="{68D8EC2F-500C-26E6-D22E-CFC01625009A}"/>
              </a:ext>
            </a:extLst>
          </p:cNvPr>
          <p:cNvSpPr txBox="1"/>
          <p:nvPr/>
        </p:nvSpPr>
        <p:spPr>
          <a:xfrm>
            <a:off x="7404821" y="4827770"/>
            <a:ext cx="1152880" cy="369332"/>
          </a:xfrm>
          <a:prstGeom prst="rect">
            <a:avLst/>
          </a:prstGeom>
          <a:noFill/>
        </p:spPr>
        <p:txBody>
          <a:bodyPr wrap="none" rtlCol="0">
            <a:spAutoFit/>
          </a:bodyPr>
          <a:lstStyle/>
          <a:p>
            <a:r>
              <a:rPr lang="en-SE" noProof="0" dirty="0">
                <a:solidFill>
                  <a:srgbClr val="006D70"/>
                </a:solidFill>
              </a:rPr>
              <a:t>CR length</a:t>
            </a:r>
            <a:endParaRPr lang="en-US" noProof="0" dirty="0">
              <a:solidFill>
                <a:srgbClr val="006D70"/>
              </a:solidFill>
            </a:endParaRPr>
          </a:p>
        </p:txBody>
      </p:sp>
      <p:cxnSp>
        <p:nvCxnSpPr>
          <p:cNvPr id="16" name="Straight Arrow Connector 15">
            <a:extLst>
              <a:ext uri="{FF2B5EF4-FFF2-40B4-BE49-F238E27FC236}">
                <a16:creationId xmlns:a16="http://schemas.microsoft.com/office/drawing/2014/main" id="{5993D038-AAC2-B447-9C48-0C6141A1F268}"/>
              </a:ext>
            </a:extLst>
          </p:cNvPr>
          <p:cNvCxnSpPr>
            <a:stCxn id="8" idx="6"/>
            <a:endCxn id="9" idx="2"/>
          </p:cNvCxnSpPr>
          <p:nvPr/>
        </p:nvCxnSpPr>
        <p:spPr>
          <a:xfrm flipV="1">
            <a:off x="4967392" y="4266787"/>
            <a:ext cx="1985691" cy="380983"/>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17" name="Straight Arrow Connector 16">
            <a:extLst>
              <a:ext uri="{FF2B5EF4-FFF2-40B4-BE49-F238E27FC236}">
                <a16:creationId xmlns:a16="http://schemas.microsoft.com/office/drawing/2014/main" id="{64E4B5F8-E0AC-A7CD-DE18-48AA73D01B10}"/>
              </a:ext>
            </a:extLst>
          </p:cNvPr>
          <p:cNvCxnSpPr>
            <a:cxnSpLocks/>
            <a:stCxn id="8" idx="6"/>
            <a:endCxn id="13" idx="2"/>
          </p:cNvCxnSpPr>
          <p:nvPr/>
        </p:nvCxnSpPr>
        <p:spPr>
          <a:xfrm>
            <a:off x="4967392" y="4647770"/>
            <a:ext cx="1985691" cy="36000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7" name="Oval 6">
            <a:extLst>
              <a:ext uri="{FF2B5EF4-FFF2-40B4-BE49-F238E27FC236}">
                <a16:creationId xmlns:a16="http://schemas.microsoft.com/office/drawing/2014/main" id="{ED90D075-7E54-F2BA-2183-C14592F2AA21}"/>
              </a:ext>
            </a:extLst>
          </p:cNvPr>
          <p:cNvSpPr/>
          <p:nvPr/>
        </p:nvSpPr>
        <p:spPr>
          <a:xfrm>
            <a:off x="4607392" y="5652151"/>
            <a:ext cx="360000" cy="360000"/>
          </a:xfrm>
          <a:prstGeom prst="ellipse">
            <a:avLst/>
          </a:prstGeom>
          <a:solidFill>
            <a:schemeClr val="bg1">
              <a:lumMod val="75000"/>
            </a:schemeClr>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TextBox 9">
            <a:extLst>
              <a:ext uri="{FF2B5EF4-FFF2-40B4-BE49-F238E27FC236}">
                <a16:creationId xmlns:a16="http://schemas.microsoft.com/office/drawing/2014/main" id="{CA431B0F-2F5C-6B89-CD12-4009D47FC00F}"/>
              </a:ext>
            </a:extLst>
          </p:cNvPr>
          <p:cNvSpPr txBox="1"/>
          <p:nvPr/>
        </p:nvSpPr>
        <p:spPr>
          <a:xfrm>
            <a:off x="3936972" y="5656817"/>
            <a:ext cx="540469" cy="369332"/>
          </a:xfrm>
          <a:prstGeom prst="rect">
            <a:avLst/>
          </a:prstGeom>
          <a:noFill/>
        </p:spPr>
        <p:txBody>
          <a:bodyPr wrap="none" rtlCol="0">
            <a:spAutoFit/>
          </a:bodyPr>
          <a:lstStyle/>
          <a:p>
            <a:pPr algn="r"/>
            <a:r>
              <a:rPr lang="de-DE" noProof="0" dirty="0">
                <a:solidFill>
                  <a:schemeClr val="tx1">
                    <a:lumMod val="65000"/>
                    <a:lumOff val="35000"/>
                  </a:schemeClr>
                </a:solidFill>
              </a:rPr>
              <a:t>a</a:t>
            </a:r>
            <a:r>
              <a:rPr lang="en-SE" noProof="0" dirty="0" err="1">
                <a:solidFill>
                  <a:schemeClr val="tx1">
                    <a:lumMod val="65000"/>
                    <a:lumOff val="35000"/>
                  </a:schemeClr>
                </a:solidFill>
              </a:rPr>
              <a:t>ge</a:t>
            </a:r>
            <a:endParaRPr lang="en-US" noProof="0" dirty="0">
              <a:solidFill>
                <a:schemeClr val="tx1">
                  <a:lumMod val="65000"/>
                  <a:lumOff val="35000"/>
                </a:schemeClr>
              </a:solidFill>
            </a:endParaRPr>
          </a:p>
        </p:txBody>
      </p:sp>
      <p:cxnSp>
        <p:nvCxnSpPr>
          <p:cNvPr id="15" name="Straight Arrow Connector 14">
            <a:extLst>
              <a:ext uri="{FF2B5EF4-FFF2-40B4-BE49-F238E27FC236}">
                <a16:creationId xmlns:a16="http://schemas.microsoft.com/office/drawing/2014/main" id="{41F0B2BF-9AB2-DCC3-1131-B2684166752F}"/>
              </a:ext>
            </a:extLst>
          </p:cNvPr>
          <p:cNvCxnSpPr>
            <a:cxnSpLocks/>
            <a:stCxn id="7" idx="0"/>
            <a:endCxn id="8" idx="4"/>
          </p:cNvCxnSpPr>
          <p:nvPr/>
        </p:nvCxnSpPr>
        <p:spPr>
          <a:xfrm flipV="1">
            <a:off x="4787392" y="4827770"/>
            <a:ext cx="0" cy="824381"/>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18" name="Oval 17">
            <a:extLst>
              <a:ext uri="{FF2B5EF4-FFF2-40B4-BE49-F238E27FC236}">
                <a16:creationId xmlns:a16="http://schemas.microsoft.com/office/drawing/2014/main" id="{56D6D81C-7FD1-B735-9245-D7D9E64010D1}"/>
              </a:ext>
            </a:extLst>
          </p:cNvPr>
          <p:cNvSpPr/>
          <p:nvPr/>
        </p:nvSpPr>
        <p:spPr>
          <a:xfrm>
            <a:off x="5910037" y="5652151"/>
            <a:ext cx="360000" cy="360000"/>
          </a:xfrm>
          <a:prstGeom prst="ellipse">
            <a:avLst/>
          </a:prstGeom>
          <a:solidFill>
            <a:schemeClr val="bg1">
              <a:lumMod val="75000"/>
            </a:schemeClr>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9" name="TextBox 18">
            <a:extLst>
              <a:ext uri="{FF2B5EF4-FFF2-40B4-BE49-F238E27FC236}">
                <a16:creationId xmlns:a16="http://schemas.microsoft.com/office/drawing/2014/main" id="{83F0CAC2-64C3-8F1C-5686-A45B8AE76E4C}"/>
              </a:ext>
            </a:extLst>
          </p:cNvPr>
          <p:cNvSpPr txBox="1"/>
          <p:nvPr/>
        </p:nvSpPr>
        <p:spPr>
          <a:xfrm>
            <a:off x="6270037" y="5642893"/>
            <a:ext cx="582211" cy="369332"/>
          </a:xfrm>
          <a:prstGeom prst="rect">
            <a:avLst/>
          </a:prstGeom>
          <a:noFill/>
        </p:spPr>
        <p:txBody>
          <a:bodyPr wrap="none" rtlCol="0">
            <a:spAutoFit/>
          </a:bodyPr>
          <a:lstStyle/>
          <a:p>
            <a:r>
              <a:rPr lang="de-DE" noProof="0" dirty="0">
                <a:solidFill>
                  <a:schemeClr val="tx1">
                    <a:lumMod val="65000"/>
                    <a:lumOff val="35000"/>
                  </a:schemeClr>
                </a:solidFill>
              </a:rPr>
              <a:t>s</a:t>
            </a:r>
            <a:r>
              <a:rPr lang="en-SE" noProof="0" dirty="0">
                <a:solidFill>
                  <a:schemeClr val="tx1">
                    <a:lumMod val="65000"/>
                    <a:lumOff val="35000"/>
                  </a:schemeClr>
                </a:solidFill>
              </a:rPr>
              <a:t>kill</a:t>
            </a:r>
            <a:endParaRPr lang="en-US" noProof="0" dirty="0">
              <a:solidFill>
                <a:schemeClr val="tx1">
                  <a:lumMod val="65000"/>
                  <a:lumOff val="35000"/>
                </a:schemeClr>
              </a:solidFill>
            </a:endParaRPr>
          </a:p>
        </p:txBody>
      </p:sp>
      <p:cxnSp>
        <p:nvCxnSpPr>
          <p:cNvPr id="20" name="Straight Arrow Connector 19">
            <a:extLst>
              <a:ext uri="{FF2B5EF4-FFF2-40B4-BE49-F238E27FC236}">
                <a16:creationId xmlns:a16="http://schemas.microsoft.com/office/drawing/2014/main" id="{0E330AF0-0776-6BAF-41E5-60F86176E0C1}"/>
              </a:ext>
            </a:extLst>
          </p:cNvPr>
          <p:cNvCxnSpPr>
            <a:cxnSpLocks/>
            <a:stCxn id="18" idx="0"/>
            <a:endCxn id="9" idx="3"/>
          </p:cNvCxnSpPr>
          <p:nvPr/>
        </p:nvCxnSpPr>
        <p:spPr>
          <a:xfrm flipV="1">
            <a:off x="6090037" y="4394066"/>
            <a:ext cx="915767" cy="1258085"/>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23" name="Straight Arrow Connector 22">
            <a:extLst>
              <a:ext uri="{FF2B5EF4-FFF2-40B4-BE49-F238E27FC236}">
                <a16:creationId xmlns:a16="http://schemas.microsoft.com/office/drawing/2014/main" id="{5806F6E5-EFA9-F7CB-72D0-EAC4F365473D}"/>
              </a:ext>
            </a:extLst>
          </p:cNvPr>
          <p:cNvCxnSpPr>
            <a:cxnSpLocks/>
            <a:stCxn id="18" idx="7"/>
            <a:endCxn id="13" idx="3"/>
          </p:cNvCxnSpPr>
          <p:nvPr/>
        </p:nvCxnSpPr>
        <p:spPr>
          <a:xfrm flipV="1">
            <a:off x="6217316" y="5135049"/>
            <a:ext cx="788488" cy="569823"/>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21" name="Straight Arrow Connector 20">
            <a:extLst>
              <a:ext uri="{FF2B5EF4-FFF2-40B4-BE49-F238E27FC236}">
                <a16:creationId xmlns:a16="http://schemas.microsoft.com/office/drawing/2014/main" id="{98F964D5-95C4-966A-B124-1D9BDCCAE559}"/>
              </a:ext>
            </a:extLst>
          </p:cNvPr>
          <p:cNvCxnSpPr>
            <a:cxnSpLocks/>
            <a:stCxn id="7" idx="6"/>
            <a:endCxn id="18" idx="2"/>
          </p:cNvCxnSpPr>
          <p:nvPr/>
        </p:nvCxnSpPr>
        <p:spPr>
          <a:xfrm>
            <a:off x="4967392" y="5832151"/>
            <a:ext cx="942645"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Tree>
    <p:extLst>
      <p:ext uri="{BB962C8B-B14F-4D97-AF65-F5344CB8AC3E}">
        <p14:creationId xmlns:p14="http://schemas.microsoft.com/office/powerpoint/2010/main" val="363055889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med" p14:dur="700">
        <p159:morph option="byObject"/>
      </p:transition>
    </mc:Choice>
    <mc:Fallback xmlns="">
      <p:transition spd="med">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42577528-D62A-74DF-7D57-3726B1BBE424}"/>
              </a:ext>
            </a:extLst>
          </p:cNvPr>
          <p:cNvSpPr>
            <a:spLocks noGrp="1"/>
          </p:cNvSpPr>
          <p:nvPr>
            <p:ph type="title"/>
          </p:nvPr>
        </p:nvSpPr>
        <p:spPr/>
        <p:txBody>
          <a:bodyPr/>
          <a:lstStyle/>
          <a:p>
            <a:r>
              <a:rPr lang="en-US" noProof="0" dirty="0"/>
              <a:t>Material</a:t>
            </a:r>
          </a:p>
        </p:txBody>
      </p:sp>
      <p:sp>
        <p:nvSpPr>
          <p:cNvPr id="15" name="Content Placeholder 14">
            <a:extLst>
              <a:ext uri="{FF2B5EF4-FFF2-40B4-BE49-F238E27FC236}">
                <a16:creationId xmlns:a16="http://schemas.microsoft.com/office/drawing/2014/main" id="{4522CE99-32AE-5F3B-70EF-2392B11C254F}"/>
              </a:ext>
            </a:extLst>
          </p:cNvPr>
          <p:cNvSpPr>
            <a:spLocks noGrp="1"/>
          </p:cNvSpPr>
          <p:nvPr>
            <p:ph idx="1"/>
          </p:nvPr>
        </p:nvSpPr>
        <p:spPr>
          <a:xfrm>
            <a:off x="838200" y="1690688"/>
            <a:ext cx="3200400" cy="4486275"/>
          </a:xfrm>
        </p:spPr>
        <p:txBody>
          <a:bodyPr>
            <a:normAutofit/>
          </a:bodyPr>
          <a:lstStyle/>
          <a:p>
            <a:pPr marL="0" indent="0">
              <a:buNone/>
            </a:pPr>
            <a:r>
              <a:rPr lang="en-US" sz="2000" noProof="0" dirty="0"/>
              <a:t>All material is public and open-source on GitHub. Feel free to clone, fork, and share the study material.</a:t>
            </a:r>
          </a:p>
          <a:p>
            <a:pPr marL="0" indent="0">
              <a:buNone/>
            </a:pPr>
            <a:r>
              <a:rPr lang="en-US" sz="2000" noProof="0" dirty="0"/>
              <a:t>Comments, requests, and additions are welcome.</a:t>
            </a:r>
          </a:p>
        </p:txBody>
      </p:sp>
      <p:sp>
        <p:nvSpPr>
          <p:cNvPr id="4" name="Date Placeholder 3">
            <a:extLst>
              <a:ext uri="{FF2B5EF4-FFF2-40B4-BE49-F238E27FC236}">
                <a16:creationId xmlns:a16="http://schemas.microsoft.com/office/drawing/2014/main" id="{FD694583-67E3-567A-CE99-BF15A055B5B1}"/>
              </a:ext>
            </a:extLst>
          </p:cNvPr>
          <p:cNvSpPr>
            <a:spLocks noGrp="1"/>
          </p:cNvSpPr>
          <p:nvPr>
            <p:ph type="dt" sz="half" idx="10"/>
          </p:nvPr>
        </p:nvSpPr>
        <p:spPr/>
        <p:txBody>
          <a:bodyPr/>
          <a:lstStyle/>
          <a:p>
            <a:fld id="{B1F82A23-AB26-4EA9-9EE4-DB6F9A4796C6}" type="datetime1">
              <a:rPr lang="en-US" noProof="0" smtClean="0"/>
              <a:t>3/17/2026</a:t>
            </a:fld>
            <a:endParaRPr lang="en-US" noProof="0" dirty="0"/>
          </a:p>
        </p:txBody>
      </p:sp>
      <p:sp>
        <p:nvSpPr>
          <p:cNvPr id="5" name="Footer Placeholder 4">
            <a:extLst>
              <a:ext uri="{FF2B5EF4-FFF2-40B4-BE49-F238E27FC236}">
                <a16:creationId xmlns:a16="http://schemas.microsoft.com/office/drawing/2014/main" id="{4B16ED83-2453-0BBC-0605-02E22ADEB2DA}"/>
              </a:ext>
            </a:extLst>
          </p:cNvPr>
          <p:cNvSpPr>
            <a:spLocks noGrp="1"/>
          </p:cNvSpPr>
          <p:nvPr>
            <p:ph type="ftr" sz="quarter" idx="11"/>
          </p:nvPr>
        </p:nvSpPr>
        <p:spPr/>
        <p:txBody>
          <a:bodyPr/>
          <a:lstStyle/>
          <a:p>
            <a:r>
              <a:rPr lang="en-US" noProof="0" dirty="0"/>
              <a:t>Introduction to Statistical Causal Inference</a:t>
            </a:r>
          </a:p>
        </p:txBody>
      </p:sp>
      <p:sp>
        <p:nvSpPr>
          <p:cNvPr id="6" name="Slide Number Placeholder 5">
            <a:extLst>
              <a:ext uri="{FF2B5EF4-FFF2-40B4-BE49-F238E27FC236}">
                <a16:creationId xmlns:a16="http://schemas.microsoft.com/office/drawing/2014/main" id="{B60453BF-A770-D155-739E-B37782C6D32E}"/>
              </a:ext>
            </a:extLst>
          </p:cNvPr>
          <p:cNvSpPr>
            <a:spLocks noGrp="1"/>
          </p:cNvSpPr>
          <p:nvPr>
            <p:ph type="sldNum" sz="quarter" idx="12"/>
          </p:nvPr>
        </p:nvSpPr>
        <p:spPr/>
        <p:txBody>
          <a:bodyPr/>
          <a:lstStyle/>
          <a:p>
            <a:fld id="{0FA2D919-C0DE-4971-A2E9-D4AC0031921B}" type="slidenum">
              <a:rPr lang="en-US" noProof="0" smtClean="0"/>
              <a:t>24</a:t>
            </a:fld>
            <a:endParaRPr lang="en-US" noProof="0" dirty="0"/>
          </a:p>
        </p:txBody>
      </p:sp>
      <p:pic>
        <p:nvPicPr>
          <p:cNvPr id="3" name="Picture 2">
            <a:extLst>
              <a:ext uri="{FF2B5EF4-FFF2-40B4-BE49-F238E27FC236}">
                <a16:creationId xmlns:a16="http://schemas.microsoft.com/office/drawing/2014/main" id="{7451425A-B0C9-56D1-7977-43B281D7878B}"/>
              </a:ext>
            </a:extLst>
          </p:cNvPr>
          <p:cNvPicPr>
            <a:picLocks noChangeAspect="1"/>
          </p:cNvPicPr>
          <p:nvPr/>
        </p:nvPicPr>
        <p:blipFill>
          <a:blip r:embed="rId2"/>
          <a:stretch>
            <a:fillRect/>
          </a:stretch>
        </p:blipFill>
        <p:spPr>
          <a:xfrm>
            <a:off x="4109272" y="1449386"/>
            <a:ext cx="7589979" cy="5512786"/>
          </a:xfrm>
          <a:prstGeom prst="rect">
            <a:avLst/>
          </a:prstGeom>
        </p:spPr>
      </p:pic>
      <p:grpSp>
        <p:nvGrpSpPr>
          <p:cNvPr id="9" name="Group 8">
            <a:extLst>
              <a:ext uri="{FF2B5EF4-FFF2-40B4-BE49-F238E27FC236}">
                <a16:creationId xmlns:a16="http://schemas.microsoft.com/office/drawing/2014/main" id="{84672EC6-4633-C444-1A14-50638EB6FE96}"/>
              </a:ext>
            </a:extLst>
          </p:cNvPr>
          <p:cNvGrpSpPr/>
          <p:nvPr/>
        </p:nvGrpSpPr>
        <p:grpSpPr>
          <a:xfrm>
            <a:off x="4109272" y="805773"/>
            <a:ext cx="3533766" cy="444265"/>
            <a:chOff x="7967672" y="5336710"/>
            <a:chExt cx="3533766" cy="444265"/>
          </a:xfrm>
        </p:grpSpPr>
        <p:grpSp>
          <p:nvGrpSpPr>
            <p:cNvPr id="10" name="Group 9">
              <a:extLst>
                <a:ext uri="{FF2B5EF4-FFF2-40B4-BE49-F238E27FC236}">
                  <a16:creationId xmlns:a16="http://schemas.microsoft.com/office/drawing/2014/main" id="{B4AF4A47-136E-BDD9-71CB-159BFC621559}"/>
                </a:ext>
              </a:extLst>
            </p:cNvPr>
            <p:cNvGrpSpPr/>
            <p:nvPr/>
          </p:nvGrpSpPr>
          <p:grpSpPr>
            <a:xfrm>
              <a:off x="7967672" y="5370114"/>
              <a:ext cx="3508652" cy="369332"/>
              <a:chOff x="7896235" y="5406529"/>
              <a:chExt cx="3508652" cy="369332"/>
            </a:xfrm>
          </p:grpSpPr>
          <p:pic>
            <p:nvPicPr>
              <p:cNvPr id="12" name="Picture 11" descr="A black background with a black square&#10;&#10;Description automatically generated with medium confidence">
                <a:extLst>
                  <a:ext uri="{FF2B5EF4-FFF2-40B4-BE49-F238E27FC236}">
                    <a16:creationId xmlns:a16="http://schemas.microsoft.com/office/drawing/2014/main" id="{2C95E0FF-5A30-C392-C8C8-B358288E1D40}"/>
                  </a:ext>
                </a:extLst>
              </p:cNvPr>
              <p:cNvPicPr>
                <a:picLocks noChangeAspect="1"/>
              </p:cNvPicPr>
              <p:nvPr/>
            </p:nvPicPr>
            <p:blipFill>
              <a:blip r:embed="rId3"/>
              <a:stretch>
                <a:fillRect/>
              </a:stretch>
            </p:blipFill>
            <p:spPr>
              <a:xfrm>
                <a:off x="7896235" y="5422888"/>
                <a:ext cx="344101" cy="344101"/>
              </a:xfrm>
              <a:prstGeom prst="rect">
                <a:avLst/>
              </a:prstGeom>
            </p:spPr>
          </p:pic>
          <p:sp>
            <p:nvSpPr>
              <p:cNvPr id="13" name="TextBox 12">
                <a:extLst>
                  <a:ext uri="{FF2B5EF4-FFF2-40B4-BE49-F238E27FC236}">
                    <a16:creationId xmlns:a16="http://schemas.microsoft.com/office/drawing/2014/main" id="{BAFDA95D-BE2D-670E-8C1C-CF6478220BBE}"/>
                  </a:ext>
                </a:extLst>
              </p:cNvPr>
              <p:cNvSpPr txBox="1"/>
              <p:nvPr/>
            </p:nvSpPr>
            <p:spPr>
              <a:xfrm>
                <a:off x="8240336" y="5406529"/>
                <a:ext cx="2356992" cy="369332"/>
              </a:xfrm>
              <a:prstGeom prst="rect">
                <a:avLst/>
              </a:prstGeom>
              <a:noFill/>
            </p:spPr>
            <p:txBody>
              <a:bodyPr wrap="none" rtlCol="0">
                <a:spAutoFit/>
              </a:bodyPr>
              <a:lstStyle/>
              <a:p>
                <a:r>
                  <a:rPr lang="en-US" noProof="0" dirty="0" err="1"/>
                  <a:t>JulianFrattini</a:t>
                </a:r>
                <a:r>
                  <a:rPr lang="en-US" noProof="0" dirty="0"/>
                  <a:t>/</a:t>
                </a:r>
                <a:r>
                  <a:rPr lang="en-US" b="1" noProof="0" dirty="0"/>
                  <a:t>bda4sci</a:t>
                </a:r>
              </a:p>
            </p:txBody>
          </p:sp>
          <p:sp>
            <p:nvSpPr>
              <p:cNvPr id="14" name="Rectangle: Rounded Corners 13">
                <a:extLst>
                  <a:ext uri="{FF2B5EF4-FFF2-40B4-BE49-F238E27FC236}">
                    <a16:creationId xmlns:a16="http://schemas.microsoft.com/office/drawing/2014/main" id="{60084D76-615F-26F4-6432-95BC0FFC9596}"/>
                  </a:ext>
                </a:extLst>
              </p:cNvPr>
              <p:cNvSpPr/>
              <p:nvPr/>
            </p:nvSpPr>
            <p:spPr>
              <a:xfrm>
                <a:off x="10668000" y="5456392"/>
                <a:ext cx="736887" cy="279245"/>
              </a:xfrm>
              <a:prstGeom prst="roundRect">
                <a:avLst>
                  <a:gd name="adj" fmla="val 50000"/>
                </a:avLst>
              </a:prstGeom>
              <a:noFill/>
              <a:ln w="19050">
                <a:solidFill>
                  <a:schemeClr val="tx1">
                    <a:lumMod val="65000"/>
                    <a:lumOff val="3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noProof="0" dirty="0">
                    <a:solidFill>
                      <a:schemeClr val="tx1">
                        <a:lumMod val="65000"/>
                        <a:lumOff val="35000"/>
                      </a:schemeClr>
                    </a:solidFill>
                  </a:rPr>
                  <a:t>Public</a:t>
                </a:r>
              </a:p>
            </p:txBody>
          </p:sp>
        </p:grpSp>
        <p:sp>
          <p:nvSpPr>
            <p:cNvPr id="11" name="Rectangle 10">
              <a:hlinkClick r:id="rId4"/>
              <a:extLst>
                <a:ext uri="{FF2B5EF4-FFF2-40B4-BE49-F238E27FC236}">
                  <a16:creationId xmlns:a16="http://schemas.microsoft.com/office/drawing/2014/main" id="{D9DFC362-D44D-E0E5-9415-DDE38D90B68B}"/>
                </a:ext>
              </a:extLst>
            </p:cNvPr>
            <p:cNvSpPr/>
            <p:nvPr/>
          </p:nvSpPr>
          <p:spPr>
            <a:xfrm>
              <a:off x="7967672" y="5336710"/>
              <a:ext cx="3533766" cy="44426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Tree>
    <p:extLst>
      <p:ext uri="{BB962C8B-B14F-4D97-AF65-F5344CB8AC3E}">
        <p14:creationId xmlns:p14="http://schemas.microsoft.com/office/powerpoint/2010/main" val="154031015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med" p14:dur="700">
        <p159:morph option="byObject"/>
      </p:transition>
    </mc:Choice>
    <mc:Fallback xmlns="">
      <p:transition spd="med">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4D588B-2148-4246-BCAC-61BD81033C0C}"/>
              </a:ext>
            </a:extLst>
          </p:cNvPr>
          <p:cNvSpPr>
            <a:spLocks noGrp="1"/>
          </p:cNvSpPr>
          <p:nvPr>
            <p:ph type="title"/>
          </p:nvPr>
        </p:nvSpPr>
        <p:spPr/>
        <p:txBody>
          <a:bodyPr/>
          <a:lstStyle/>
          <a:p>
            <a:r>
              <a:rPr lang="en-SE" dirty="0"/>
              <a:t>References</a:t>
            </a:r>
          </a:p>
        </p:txBody>
      </p:sp>
      <p:sp>
        <p:nvSpPr>
          <p:cNvPr id="3" name="Content Placeholder 2">
            <a:extLst>
              <a:ext uri="{FF2B5EF4-FFF2-40B4-BE49-F238E27FC236}">
                <a16:creationId xmlns:a16="http://schemas.microsoft.com/office/drawing/2014/main" id="{00CC16AC-80CC-4CB4-E750-B5F8AAC894AE}"/>
              </a:ext>
            </a:extLst>
          </p:cNvPr>
          <p:cNvSpPr>
            <a:spLocks noGrp="1"/>
          </p:cNvSpPr>
          <p:nvPr>
            <p:ph idx="1"/>
          </p:nvPr>
        </p:nvSpPr>
        <p:spPr/>
        <p:txBody>
          <a:bodyPr/>
          <a:lstStyle/>
          <a:p>
            <a:pPr marL="0" indent="0">
              <a:buNone/>
            </a:pPr>
            <a:r>
              <a:rPr lang="en-SE" dirty="0"/>
              <a:t>[1] </a:t>
            </a:r>
            <a:r>
              <a:rPr lang="en-US" dirty="0"/>
              <a:t>Pearl, J. (2009). </a:t>
            </a:r>
            <a:r>
              <a:rPr lang="en-US" i="1" dirty="0"/>
              <a:t>Causality</a:t>
            </a:r>
            <a:r>
              <a:rPr lang="en-US" dirty="0"/>
              <a:t>. Cambridge university press.</a:t>
            </a:r>
            <a:endParaRPr lang="en-SE" dirty="0"/>
          </a:p>
          <a:p>
            <a:pPr marL="0" indent="0">
              <a:buNone/>
            </a:pPr>
            <a:r>
              <a:rPr lang="en-SE" dirty="0"/>
              <a:t>[2] </a:t>
            </a:r>
            <a:r>
              <a:rPr lang="en-US" dirty="0"/>
              <a:t>Cinelli, C., Forney, A., &amp; Pearl, J. (2024). A crash course in good and bad controls. </a:t>
            </a:r>
            <a:r>
              <a:rPr lang="en-US" i="1" dirty="0"/>
              <a:t>Sociological Methods &amp; Research</a:t>
            </a:r>
            <a:r>
              <a:rPr lang="en-US" dirty="0"/>
              <a:t>, </a:t>
            </a:r>
            <a:r>
              <a:rPr lang="en-US" i="1" dirty="0"/>
              <a:t>53</a:t>
            </a:r>
            <a:r>
              <a:rPr lang="en-US" dirty="0"/>
              <a:t>(3), 1071-1104.</a:t>
            </a:r>
            <a:endParaRPr lang="en-SE" dirty="0"/>
          </a:p>
        </p:txBody>
      </p:sp>
      <p:sp>
        <p:nvSpPr>
          <p:cNvPr id="4" name="Date Placeholder 3">
            <a:extLst>
              <a:ext uri="{FF2B5EF4-FFF2-40B4-BE49-F238E27FC236}">
                <a16:creationId xmlns:a16="http://schemas.microsoft.com/office/drawing/2014/main" id="{089B80E9-B14B-90B3-84DB-66E4FE863390}"/>
              </a:ext>
            </a:extLst>
          </p:cNvPr>
          <p:cNvSpPr>
            <a:spLocks noGrp="1"/>
          </p:cNvSpPr>
          <p:nvPr>
            <p:ph type="dt" sz="half" idx="10"/>
          </p:nvPr>
        </p:nvSpPr>
        <p:spPr/>
        <p:txBody>
          <a:bodyPr/>
          <a:lstStyle/>
          <a:p>
            <a:fld id="{A1C06950-82F8-45F4-A28D-9FBF8CAE29F7}" type="datetime1">
              <a:rPr lang="de-DE" smtClean="0"/>
              <a:t>17.03.2026</a:t>
            </a:fld>
            <a:endParaRPr lang="en-SE"/>
          </a:p>
        </p:txBody>
      </p:sp>
      <p:sp>
        <p:nvSpPr>
          <p:cNvPr id="5" name="Slide Number Placeholder 4">
            <a:extLst>
              <a:ext uri="{FF2B5EF4-FFF2-40B4-BE49-F238E27FC236}">
                <a16:creationId xmlns:a16="http://schemas.microsoft.com/office/drawing/2014/main" id="{C52A79C5-7721-C427-D146-9573C43578BC}"/>
              </a:ext>
            </a:extLst>
          </p:cNvPr>
          <p:cNvSpPr>
            <a:spLocks noGrp="1"/>
          </p:cNvSpPr>
          <p:nvPr>
            <p:ph type="sldNum" sz="quarter" idx="12"/>
          </p:nvPr>
        </p:nvSpPr>
        <p:spPr/>
        <p:txBody>
          <a:bodyPr/>
          <a:lstStyle/>
          <a:p>
            <a:fld id="{271ECC92-9CDE-4EB3-B1C5-F46B9E1FA3C1}" type="slidenum">
              <a:rPr lang="en-SE" smtClean="0"/>
              <a:t>25</a:t>
            </a:fld>
            <a:endParaRPr lang="en-SE"/>
          </a:p>
        </p:txBody>
      </p:sp>
    </p:spTree>
    <p:extLst>
      <p:ext uri="{BB962C8B-B14F-4D97-AF65-F5344CB8AC3E}">
        <p14:creationId xmlns:p14="http://schemas.microsoft.com/office/powerpoint/2010/main" val="63943151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med" p14:dur="700">
        <p159:morph option="byObject"/>
      </p:transition>
    </mc:Choice>
    <mc:Fallback xmlns="">
      <p:transition spd="med">
        <p:fade/>
      </p:transition>
    </mc:Fallback>
  </mc:AlternateContent>
</p:sld>
</file>

<file path=ppt/theme/theme1.xml><?xml version="1.0" encoding="utf-8"?>
<a:theme xmlns:a="http://schemas.openxmlformats.org/drawingml/2006/main" name="Office Theme">
  <a:themeElements>
    <a:clrScheme name="Chalmers">
      <a:dk1>
        <a:sysClr val="windowText" lastClr="000000"/>
      </a:dk1>
      <a:lt1>
        <a:srgbClr val="FFFFFF"/>
      </a:lt1>
      <a:dk2>
        <a:srgbClr val="003050"/>
      </a:dk2>
      <a:lt2>
        <a:srgbClr val="FFCB05"/>
      </a:lt2>
      <a:accent1>
        <a:srgbClr val="F15A22"/>
      </a:accent1>
      <a:accent2>
        <a:srgbClr val="7FB539"/>
      </a:accent2>
      <a:accent3>
        <a:srgbClr val="006C5C"/>
      </a:accent3>
      <a:accent4>
        <a:srgbClr val="5D6F7A"/>
      </a:accent4>
      <a:accent5>
        <a:srgbClr val="58B0E3"/>
      </a:accent5>
      <a:accent6>
        <a:srgbClr val="270089"/>
      </a:accent6>
      <a:hlink>
        <a:srgbClr val="00A99D"/>
      </a:hlink>
      <a:folHlink>
        <a:srgbClr val="483729"/>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322</TotalTime>
  <Words>1539</Words>
  <Application>Microsoft Office PowerPoint</Application>
  <PresentationFormat>Widescreen</PresentationFormat>
  <Paragraphs>335</Paragraphs>
  <Slides>25</Slides>
  <Notes>2</Notes>
  <HiddenSlides>1</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25</vt:i4>
      </vt:variant>
    </vt:vector>
  </HeadingPairs>
  <TitlesOfParts>
    <vt:vector size="30" baseType="lpstr">
      <vt:lpstr>Aptos</vt:lpstr>
      <vt:lpstr>Aptos Display</vt:lpstr>
      <vt:lpstr>Arial</vt:lpstr>
      <vt:lpstr>Cambria Math</vt:lpstr>
      <vt:lpstr>Office Theme</vt:lpstr>
      <vt:lpstr>Structural Causal Models</vt:lpstr>
      <vt:lpstr>Directed Acyclic Graphs</vt:lpstr>
      <vt:lpstr>Causal Modelling</vt:lpstr>
      <vt:lpstr>Structure of this Seminar</vt:lpstr>
      <vt:lpstr>Directed Acyclic Graphs</vt:lpstr>
      <vt:lpstr>Formulating Casual Hypotheses</vt:lpstr>
      <vt:lpstr>Directed Acyclic Graphs</vt:lpstr>
      <vt:lpstr>Formulating Complex Hypotheses</vt:lpstr>
      <vt:lpstr>Disputing Causal Hypotheses</vt:lpstr>
      <vt:lpstr>Distinguishing Study Types</vt:lpstr>
      <vt:lpstr>Types of Relationships</vt:lpstr>
      <vt:lpstr>Dealing with Variables</vt:lpstr>
      <vt:lpstr>Encoding Observability</vt:lpstr>
      <vt:lpstr>Determining Study-ability</vt:lpstr>
      <vt:lpstr>Visualizing Moderation</vt:lpstr>
      <vt:lpstr>Determining Moderation</vt:lpstr>
      <vt:lpstr>Probabilistic vs. Deterministic Relationships</vt:lpstr>
      <vt:lpstr>Exercises</vt:lpstr>
      <vt:lpstr>Exercise: Formulating a DAG</vt:lpstr>
      <vt:lpstr>Solution: Formulating a DAG</vt:lpstr>
      <vt:lpstr>Solution: Formulating a DAG</vt:lpstr>
      <vt:lpstr>Solution: Formulating a DAG</vt:lpstr>
      <vt:lpstr>Solution: Formulating a DAG</vt:lpstr>
      <vt:lpstr>Material</vt:lpstr>
      <vt:lpstr>References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Julian Frattini</dc:creator>
  <cp:lastModifiedBy>Julian Frattini</cp:lastModifiedBy>
  <cp:revision>26</cp:revision>
  <dcterms:created xsi:type="dcterms:W3CDTF">2025-05-23T14:20:09Z</dcterms:created>
  <dcterms:modified xsi:type="dcterms:W3CDTF">2026-03-17T08:38:23Z</dcterms:modified>
</cp:coreProperties>
</file>