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385" r:id="rId3"/>
    <p:sldId id="386" r:id="rId4"/>
    <p:sldId id="371" r:id="rId5"/>
    <p:sldId id="275" r:id="rId6"/>
    <p:sldId id="276" r:id="rId7"/>
    <p:sldId id="277" r:id="rId8"/>
    <p:sldId id="375" r:id="rId9"/>
    <p:sldId id="280" r:id="rId10"/>
    <p:sldId id="388" r:id="rId11"/>
    <p:sldId id="389" r:id="rId12"/>
    <p:sldId id="380" r:id="rId13"/>
    <p:sldId id="381" r:id="rId14"/>
    <p:sldId id="382" r:id="rId15"/>
    <p:sldId id="391" r:id="rId16"/>
    <p:sldId id="374" r:id="rId17"/>
    <p:sldId id="326" r:id="rId18"/>
    <p:sldId id="327" r:id="rId19"/>
    <p:sldId id="333" r:id="rId20"/>
    <p:sldId id="331" r:id="rId21"/>
    <p:sldId id="334" r:id="rId22"/>
    <p:sldId id="335" r:id="rId23"/>
    <p:sldId id="332" r:id="rId24"/>
    <p:sldId id="330" r:id="rId25"/>
    <p:sldId id="296" r:id="rId26"/>
    <p:sldId id="390" r:id="rId27"/>
    <p:sldId id="364" r:id="rId28"/>
    <p:sldId id="363" r:id="rId29"/>
    <p:sldId id="336" r:id="rId30"/>
    <p:sldId id="294" r:id="rId31"/>
    <p:sldId id="338" r:id="rId32"/>
    <p:sldId id="337" r:id="rId33"/>
    <p:sldId id="339" r:id="rId34"/>
    <p:sldId id="297" r:id="rId35"/>
    <p:sldId id="343" r:id="rId36"/>
    <p:sldId id="344" r:id="rId37"/>
    <p:sldId id="345" r:id="rId38"/>
    <p:sldId id="346" r:id="rId39"/>
    <p:sldId id="348" r:id="rId40"/>
    <p:sldId id="347" r:id="rId41"/>
    <p:sldId id="365" r:id="rId42"/>
    <p:sldId id="366" r:id="rId43"/>
    <p:sldId id="367" r:id="rId44"/>
    <p:sldId id="368" r:id="rId45"/>
    <p:sldId id="392" r:id="rId46"/>
    <p:sldId id="378" r:id="rId47"/>
    <p:sldId id="383" r:id="rId48"/>
    <p:sldId id="299" r:id="rId49"/>
    <p:sldId id="311" r:id="rId50"/>
    <p:sldId id="384" r:id="rId51"/>
    <p:sldId id="312" r:id="rId52"/>
    <p:sldId id="313" r:id="rId53"/>
    <p:sldId id="394" r:id="rId54"/>
    <p:sldId id="393" r:id="rId55"/>
    <p:sldId id="308" r:id="rId56"/>
    <p:sldId id="266" r:id="rId57"/>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C29449-0C4D-440C-A898-37D5FC755553}">
          <p14:sldIdLst>
            <p14:sldId id="256"/>
            <p14:sldId id="385"/>
            <p14:sldId id="386"/>
          </p14:sldIdLst>
        </p14:section>
        <p14:section name="Motivation" id="{FC462F5D-5EDD-4043-A441-7CC17BFF00DA}">
          <p14:sldIdLst>
            <p14:sldId id="371"/>
            <p14:sldId id="275"/>
            <p14:sldId id="276"/>
            <p14:sldId id="277"/>
          </p14:sldIdLst>
        </p14:section>
        <p14:section name="Causal Modelling" id="{684B92E7-640D-4E6E-9713-A4DF01AF1EA9}">
          <p14:sldIdLst>
            <p14:sldId id="375"/>
            <p14:sldId id="280"/>
            <p14:sldId id="388"/>
            <p14:sldId id="389"/>
            <p14:sldId id="380"/>
            <p14:sldId id="381"/>
            <p14:sldId id="382"/>
          </p14:sldIdLst>
        </p14:section>
        <p14:section name="Associations" id="{D9AF1732-E8D3-4D20-8C99-924C27B281BB}">
          <p14:sldIdLst>
            <p14:sldId id="391"/>
            <p14:sldId id="374"/>
            <p14:sldId id="326"/>
            <p14:sldId id="327"/>
            <p14:sldId id="333"/>
            <p14:sldId id="331"/>
            <p14:sldId id="334"/>
            <p14:sldId id="335"/>
            <p14:sldId id="332"/>
            <p14:sldId id="330"/>
            <p14:sldId id="296"/>
          </p14:sldIdLst>
        </p14:section>
        <p14:section name="Identification" id="{8A01EF15-8318-4B37-A8FC-1BAB7A622ADB}">
          <p14:sldIdLst>
            <p14:sldId id="390"/>
            <p14:sldId id="364"/>
            <p14:sldId id="363"/>
            <p14:sldId id="336"/>
            <p14:sldId id="294"/>
            <p14:sldId id="338"/>
            <p14:sldId id="337"/>
            <p14:sldId id="339"/>
            <p14:sldId id="297"/>
            <p14:sldId id="343"/>
            <p14:sldId id="344"/>
            <p14:sldId id="345"/>
            <p14:sldId id="346"/>
            <p14:sldId id="348"/>
            <p14:sldId id="347"/>
            <p14:sldId id="365"/>
            <p14:sldId id="366"/>
            <p14:sldId id="367"/>
            <p14:sldId id="368"/>
          </p14:sldIdLst>
        </p14:section>
        <p14:section name="Conclusion" id="{BDEE8FDA-B089-4E70-9FD7-368841FFDF1B}">
          <p14:sldIdLst>
            <p14:sldId id="392"/>
            <p14:sldId id="378"/>
            <p14:sldId id="383"/>
            <p14:sldId id="299"/>
            <p14:sldId id="311"/>
            <p14:sldId id="384"/>
            <p14:sldId id="312"/>
            <p14:sldId id="313"/>
            <p14:sldId id="394"/>
            <p14:sldId id="393"/>
            <p14:sldId id="308"/>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D70"/>
    <a:srgbClr val="D018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3" autoAdjust="0"/>
    <p:restoredTop sz="87437" autoAdjust="0"/>
  </p:normalViewPr>
  <p:slideViewPr>
    <p:cSldViewPr snapToGrid="0">
      <p:cViewPr varScale="1">
        <p:scale>
          <a:sx n="72" d="100"/>
          <a:sy n="72" d="100"/>
        </p:scale>
        <p:origin x="54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28809-A3C0-435B-AC12-B9138744A337}" type="datetimeFigureOut">
              <a:rPr lang="en-SE" smtClean="0"/>
              <a:t>2026-01-20</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E9047-6757-432F-B3C4-B9B79F30218C}" type="slidenum">
              <a:rPr lang="en-SE" smtClean="0"/>
              <a:t>‹#›</a:t>
            </a:fld>
            <a:endParaRPr lang="en-SE"/>
          </a:p>
        </p:txBody>
      </p:sp>
    </p:spTree>
    <p:extLst>
      <p:ext uri="{BB962C8B-B14F-4D97-AF65-F5344CB8AC3E}">
        <p14:creationId xmlns:p14="http://schemas.microsoft.com/office/powerpoint/2010/main" val="316561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1</a:t>
            </a:fld>
            <a:endParaRPr lang="en-SE"/>
          </a:p>
        </p:txBody>
      </p:sp>
    </p:spTree>
    <p:extLst>
      <p:ext uri="{BB962C8B-B14F-4D97-AF65-F5344CB8AC3E}">
        <p14:creationId xmlns:p14="http://schemas.microsoft.com/office/powerpoint/2010/main" val="308978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4</a:t>
            </a:fld>
            <a:endParaRPr lang="en-SE"/>
          </a:p>
        </p:txBody>
      </p:sp>
    </p:spTree>
    <p:extLst>
      <p:ext uri="{BB962C8B-B14F-4D97-AF65-F5344CB8AC3E}">
        <p14:creationId xmlns:p14="http://schemas.microsoft.com/office/powerpoint/2010/main" val="1032408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There seems to be an implicit, collective agreement in our community that </a:t>
            </a:r>
          </a:p>
          <a:p>
            <a:pPr marL="228600" indent="-228600">
              <a:buFont typeface="+mj-lt"/>
              <a:buAutoNum type="arabicPeriod"/>
            </a:pPr>
            <a:r>
              <a:rPr lang="en-US" noProof="0" dirty="0"/>
              <a:t>Studying causal relationships is hard, and therefore</a:t>
            </a:r>
          </a:p>
          <a:p>
            <a:pPr marL="228600" indent="-228600">
              <a:buFont typeface="+mj-lt"/>
              <a:buAutoNum type="arabicPeriod"/>
            </a:pPr>
            <a:r>
              <a:rPr lang="en-US" noProof="0" dirty="0"/>
              <a:t>Detecting correlations is good-enough.</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noProof="0" dirty="0"/>
              <a:t>So: Why care about causality?</a:t>
            </a:r>
          </a:p>
        </p:txBody>
      </p:sp>
      <p:sp>
        <p:nvSpPr>
          <p:cNvPr id="4" name="Slide Number Placeholder 3"/>
          <p:cNvSpPr>
            <a:spLocks noGrp="1"/>
          </p:cNvSpPr>
          <p:nvPr>
            <p:ph type="sldNum" sz="quarter" idx="5"/>
          </p:nvPr>
        </p:nvSpPr>
        <p:spPr/>
        <p:txBody>
          <a:bodyPr/>
          <a:lstStyle/>
          <a:p>
            <a:fld id="{ACC9BBD8-1C1E-4CFA-8C12-0AE7F3A91C3D}" type="slidenum">
              <a:rPr lang="en-US" smtClean="0"/>
              <a:t>5</a:t>
            </a:fld>
            <a:endParaRPr lang="en-US"/>
          </a:p>
        </p:txBody>
      </p:sp>
    </p:spTree>
    <p:extLst>
      <p:ext uri="{BB962C8B-B14F-4D97-AF65-F5344CB8AC3E}">
        <p14:creationId xmlns:p14="http://schemas.microsoft.com/office/powerpoint/2010/main" val="682682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all know “Correlation does not imply causality” – but what exactly differentiates the two concepts?</a:t>
            </a:r>
          </a:p>
          <a:p>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Only causal relationships give us reliable recommendation on how to act, and therefore, how to make a positive impact on the target audience of our research (i.e., RE/SE practitioners).</a:t>
            </a:r>
          </a:p>
          <a:p>
            <a:endParaRPr lang="en-US" noProof="0" dirty="0"/>
          </a:p>
          <a:p>
            <a:endParaRPr lang="en-US" noProof="0" dirty="0"/>
          </a:p>
          <a:p>
            <a:r>
              <a:rPr lang="en-US" noProof="0" dirty="0"/>
              <a:t>Disclaimer: </a:t>
            </a:r>
          </a:p>
          <a:p>
            <a:pPr marL="171450" indent="-171450">
              <a:buFont typeface="Arial" panose="020B0604020202020204" pitchFamily="34" charset="0"/>
              <a:buChar char="•"/>
            </a:pPr>
            <a:r>
              <a:rPr lang="en-US" i="0" noProof="0" dirty="0"/>
              <a:t>I do not want to discredit correlational studies.</a:t>
            </a:r>
          </a:p>
          <a:p>
            <a:pPr marL="171450" indent="-171450">
              <a:buFont typeface="Arial" panose="020B0604020202020204" pitchFamily="34" charset="0"/>
              <a:buChar char="•"/>
            </a:pPr>
            <a:r>
              <a:rPr lang="en-US" i="0" noProof="0" dirty="0"/>
              <a:t>They are valuables to detect patterns and trends.</a:t>
            </a:r>
          </a:p>
          <a:p>
            <a:pPr marL="171450" indent="-171450">
              <a:buFont typeface="Arial" panose="020B0604020202020204" pitchFamily="34" charset="0"/>
              <a:buChar char="•"/>
            </a:pPr>
            <a:r>
              <a:rPr lang="en-US" i="0" noProof="0" dirty="0"/>
              <a:t>However, they do not get us any further and are unfit to recommend changes in an organization.</a:t>
            </a:r>
          </a:p>
          <a:p>
            <a:pPr marL="0" indent="0">
              <a:buFont typeface="Arial" panose="020B0604020202020204" pitchFamily="34" charset="0"/>
              <a:buNone/>
            </a:pPr>
            <a:r>
              <a:rPr lang="en-US" i="0" noProof="0" dirty="0"/>
              <a:t>This is the fundamental difference between </a:t>
            </a:r>
            <a:r>
              <a:rPr lang="en-US" b="1" i="0" noProof="0" dirty="0"/>
              <a:t>observing </a:t>
            </a:r>
            <a:r>
              <a:rPr lang="en-US" b="0" i="0" noProof="0" dirty="0"/>
              <a:t>(correlations) and </a:t>
            </a:r>
            <a:r>
              <a:rPr lang="en-US" b="1" i="0" noProof="0" dirty="0"/>
              <a:t>doing </a:t>
            </a:r>
            <a:r>
              <a:rPr lang="en-US" b="0" i="0" noProof="0" dirty="0"/>
              <a:t>(interventions with causal effects).</a:t>
            </a:r>
            <a:endParaRPr lang="en-US" noProof="0" dirty="0"/>
          </a:p>
        </p:txBody>
      </p:sp>
      <p:sp>
        <p:nvSpPr>
          <p:cNvPr id="4" name="Slide Number Placeholder 3"/>
          <p:cNvSpPr>
            <a:spLocks noGrp="1"/>
          </p:cNvSpPr>
          <p:nvPr>
            <p:ph type="sldNum" sz="quarter" idx="5"/>
          </p:nvPr>
        </p:nvSpPr>
        <p:spPr/>
        <p:txBody>
          <a:bodyPr/>
          <a:lstStyle/>
          <a:p>
            <a:fld id="{ACC9BBD8-1C1E-4CFA-8C12-0AE7F3A91C3D}" type="slidenum">
              <a:rPr lang="en-US" smtClean="0"/>
              <a:t>6</a:t>
            </a:fld>
            <a:endParaRPr lang="en-US"/>
          </a:p>
        </p:txBody>
      </p:sp>
    </p:spTree>
    <p:extLst>
      <p:ext uri="{BB962C8B-B14F-4D97-AF65-F5344CB8AC3E}">
        <p14:creationId xmlns:p14="http://schemas.microsoft.com/office/powerpoint/2010/main" val="152041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dirty="0" err="1"/>
              <a:t>But</a:t>
            </a:r>
            <a:r>
              <a:rPr lang="sv-SE" dirty="0"/>
              <a:t>: experiments </a:t>
            </a:r>
            <a:r>
              <a:rPr lang="sv-SE" dirty="0" err="1"/>
              <a:t>are</a:t>
            </a:r>
            <a:r>
              <a:rPr lang="sv-SE" dirty="0"/>
              <a:t> </a:t>
            </a:r>
            <a:r>
              <a:rPr lang="sv-SE" dirty="0" err="1"/>
              <a:t>expensive</a:t>
            </a:r>
            <a:r>
              <a:rPr lang="sv-SE" dirty="0"/>
              <a:t> and </a:t>
            </a:r>
            <a:r>
              <a:rPr lang="sv-SE" dirty="0" err="1"/>
              <a:t>perturb</a:t>
            </a:r>
            <a:r>
              <a:rPr lang="sv-SE" dirty="0"/>
              <a:t> the </a:t>
            </a:r>
            <a:r>
              <a:rPr lang="sv-SE" dirty="0" err="1"/>
              <a:t>natural</a:t>
            </a:r>
            <a:r>
              <a:rPr lang="sv-SE" dirty="0"/>
              <a:t> </a:t>
            </a:r>
            <a:r>
              <a:rPr lang="sv-SE" dirty="0" err="1"/>
              <a:t>context</a:t>
            </a:r>
            <a:r>
              <a:rPr lang="sv-SE" dirty="0"/>
              <a:t> </a:t>
            </a:r>
            <a:r>
              <a:rPr lang="sv-SE" dirty="0" err="1"/>
              <a:t>of</a:t>
            </a:r>
            <a:r>
              <a:rPr lang="sv-SE" dirty="0"/>
              <a:t> a </a:t>
            </a:r>
            <a:r>
              <a:rPr lang="sv-SE" dirty="0" err="1"/>
              <a:t>phenomenon</a:t>
            </a:r>
            <a:r>
              <a:rPr lang="sv-SE" dirty="0"/>
              <a:t>. </a:t>
            </a:r>
            <a:r>
              <a:rPr lang="sv-SE" dirty="0" err="1"/>
              <a:t>Some</a:t>
            </a:r>
            <a:r>
              <a:rPr lang="sv-SE" dirty="0"/>
              <a:t> </a:t>
            </a:r>
            <a:r>
              <a:rPr lang="sv-SE" dirty="0" err="1"/>
              <a:t>phenomena</a:t>
            </a:r>
            <a:r>
              <a:rPr lang="sv-SE" dirty="0"/>
              <a:t> </a:t>
            </a:r>
            <a:r>
              <a:rPr lang="sv-SE" dirty="0" err="1"/>
              <a:t>cannot</a:t>
            </a:r>
            <a:r>
              <a:rPr lang="sv-SE" dirty="0"/>
              <a:t> be </a:t>
            </a:r>
            <a:r>
              <a:rPr lang="sv-SE" dirty="0" err="1"/>
              <a:t>studied</a:t>
            </a:r>
            <a:r>
              <a:rPr lang="sv-SE" dirty="0"/>
              <a:t> in </a:t>
            </a:r>
            <a:r>
              <a:rPr lang="sv-SE" dirty="0" err="1"/>
              <a:t>controlled</a:t>
            </a:r>
            <a:r>
              <a:rPr lang="sv-SE" dirty="0"/>
              <a:t> experiments at all (</a:t>
            </a:r>
            <a:r>
              <a:rPr lang="sv-SE" dirty="0" err="1"/>
              <a:t>e.g</a:t>
            </a:r>
            <a:r>
              <a:rPr lang="sv-SE" dirty="0"/>
              <a:t>., </a:t>
            </a:r>
            <a:r>
              <a:rPr lang="sv-SE" dirty="0" err="1"/>
              <a:t>impact</a:t>
            </a:r>
            <a:r>
              <a:rPr lang="sv-SE" dirty="0"/>
              <a:t> </a:t>
            </a:r>
            <a:r>
              <a:rPr lang="sv-SE" dirty="0" err="1"/>
              <a:t>of</a:t>
            </a:r>
            <a:r>
              <a:rPr lang="sv-SE" dirty="0"/>
              <a:t> human </a:t>
            </a:r>
            <a:r>
              <a:rPr lang="sv-SE" dirty="0" err="1"/>
              <a:t>factors</a:t>
            </a:r>
            <a:r>
              <a:rPr lang="sv-SE" dirty="0"/>
              <a:t>) </a:t>
            </a:r>
            <a:r>
              <a:rPr lang="sv-SE" dirty="0" err="1"/>
              <a:t>since</a:t>
            </a:r>
            <a:r>
              <a:rPr lang="sv-SE" dirty="0"/>
              <a:t> the </a:t>
            </a:r>
            <a:r>
              <a:rPr lang="sv-SE" dirty="0" err="1"/>
              <a:t>values</a:t>
            </a:r>
            <a:r>
              <a:rPr lang="sv-SE" dirty="0"/>
              <a:t> </a:t>
            </a:r>
            <a:r>
              <a:rPr lang="sv-SE" dirty="0" err="1"/>
              <a:t>of</a:t>
            </a:r>
            <a:r>
              <a:rPr lang="sv-SE" dirty="0"/>
              <a:t> </a:t>
            </a:r>
            <a:r>
              <a:rPr lang="sv-SE" dirty="0" err="1"/>
              <a:t>that</a:t>
            </a:r>
            <a:r>
              <a:rPr lang="sv-SE" dirty="0"/>
              <a:t> </a:t>
            </a:r>
            <a:r>
              <a:rPr lang="sv-SE" dirty="0" err="1"/>
              <a:t>variable</a:t>
            </a:r>
            <a:r>
              <a:rPr lang="sv-SE" dirty="0"/>
              <a:t> </a:t>
            </a:r>
            <a:r>
              <a:rPr lang="sv-SE" dirty="0" err="1"/>
              <a:t>cannot</a:t>
            </a:r>
            <a:r>
              <a:rPr lang="sv-SE" dirty="0"/>
              <a:t> be </a:t>
            </a:r>
            <a:r>
              <a:rPr lang="sv-SE" dirty="0" err="1"/>
              <a:t>assigned</a:t>
            </a:r>
            <a:r>
              <a:rPr lang="sv-SE" dirty="0"/>
              <a:t> </a:t>
            </a:r>
            <a:r>
              <a:rPr lang="sv-SE" dirty="0" err="1"/>
              <a:t>randomly</a:t>
            </a:r>
            <a:r>
              <a:rPr lang="sv-SE" dirty="0"/>
              <a:t>.</a:t>
            </a:r>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7</a:t>
            </a:fld>
            <a:endParaRPr lang="en-US"/>
          </a:p>
        </p:txBody>
      </p:sp>
    </p:spTree>
    <p:extLst>
      <p:ext uri="{BB962C8B-B14F-4D97-AF65-F5344CB8AC3E}">
        <p14:creationId xmlns:p14="http://schemas.microsoft.com/office/powerpoint/2010/main" val="1951823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More</a:t>
            </a:r>
            <a:r>
              <a:rPr lang="sv-SE" dirty="0"/>
              <a:t> </a:t>
            </a:r>
            <a:r>
              <a:rPr lang="sv-SE" dirty="0" err="1"/>
              <a:t>importantly</a:t>
            </a:r>
            <a:r>
              <a:rPr lang="sv-SE" dirty="0"/>
              <a:t>, the </a:t>
            </a:r>
            <a:r>
              <a:rPr lang="sv-SE" dirty="0" err="1"/>
              <a:t>absence</a:t>
            </a:r>
            <a:r>
              <a:rPr lang="sv-SE" dirty="0"/>
              <a:t> </a:t>
            </a:r>
            <a:r>
              <a:rPr lang="sv-SE" dirty="0" err="1"/>
              <a:t>of</a:t>
            </a:r>
            <a:r>
              <a:rPr lang="sv-SE" dirty="0"/>
              <a:t> an </a:t>
            </a:r>
            <a:r>
              <a:rPr lang="sv-SE" dirty="0" err="1"/>
              <a:t>edge</a:t>
            </a:r>
            <a:r>
              <a:rPr lang="sv-SE" dirty="0"/>
              <a:t> </a:t>
            </a:r>
            <a:r>
              <a:rPr lang="sv-SE" dirty="0" err="1"/>
              <a:t>encodes</a:t>
            </a:r>
            <a:r>
              <a:rPr lang="sv-SE" dirty="0"/>
              <a:t> the </a:t>
            </a:r>
            <a:r>
              <a:rPr lang="sv-SE" i="1" dirty="0" err="1"/>
              <a:t>certainty</a:t>
            </a:r>
            <a:r>
              <a:rPr lang="sv-SE" dirty="0"/>
              <a:t> </a:t>
            </a:r>
            <a:r>
              <a:rPr lang="sv-SE" dirty="0" err="1"/>
              <a:t>that</a:t>
            </a:r>
            <a:r>
              <a:rPr lang="sv-SE" dirty="0"/>
              <a:t> </a:t>
            </a:r>
            <a:r>
              <a:rPr lang="sv-SE" dirty="0" err="1"/>
              <a:t>two</a:t>
            </a:r>
            <a:r>
              <a:rPr lang="sv-SE" dirty="0"/>
              <a:t> </a:t>
            </a:r>
            <a:r>
              <a:rPr lang="sv-SE" dirty="0" err="1"/>
              <a:t>variables</a:t>
            </a:r>
            <a:r>
              <a:rPr lang="sv-SE" dirty="0"/>
              <a:t> </a:t>
            </a:r>
            <a:r>
              <a:rPr lang="sv-SE" dirty="0" err="1"/>
              <a:t>are</a:t>
            </a:r>
            <a:r>
              <a:rPr lang="sv-SE" dirty="0"/>
              <a:t> not </a:t>
            </a:r>
            <a:r>
              <a:rPr lang="sv-SE" dirty="0" err="1"/>
              <a:t>directly</a:t>
            </a:r>
            <a:r>
              <a:rPr lang="sv-SE" dirty="0"/>
              <a:t> </a:t>
            </a:r>
            <a:r>
              <a:rPr lang="sv-SE" dirty="0" err="1"/>
              <a:t>related</a:t>
            </a:r>
            <a:r>
              <a:rPr lang="sv-SE" dirty="0"/>
              <a:t>.</a:t>
            </a:r>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9</a:t>
            </a:fld>
            <a:endParaRPr lang="en-US"/>
          </a:p>
        </p:txBody>
      </p:sp>
    </p:spTree>
    <p:extLst>
      <p:ext uri="{BB962C8B-B14F-4D97-AF65-F5344CB8AC3E}">
        <p14:creationId xmlns:p14="http://schemas.microsoft.com/office/powerpoint/2010/main" val="4233207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sometimes need “domain knowledge” to complete a DAG</a:t>
            </a:r>
          </a:p>
        </p:txBody>
      </p:sp>
      <p:sp>
        <p:nvSpPr>
          <p:cNvPr id="4" name="Slide Number Placeholder 3"/>
          <p:cNvSpPr>
            <a:spLocks noGrp="1"/>
          </p:cNvSpPr>
          <p:nvPr>
            <p:ph type="sldNum" sz="quarter" idx="5"/>
          </p:nvPr>
        </p:nvSpPr>
        <p:spPr/>
        <p:txBody>
          <a:bodyPr/>
          <a:lstStyle/>
          <a:p>
            <a:fld id="{ACC9BBD8-1C1E-4CFA-8C12-0AE7F3A91C3D}" type="slidenum">
              <a:rPr lang="en-US" smtClean="0"/>
              <a:t>14</a:t>
            </a:fld>
            <a:endParaRPr lang="en-US"/>
          </a:p>
        </p:txBody>
      </p:sp>
    </p:spTree>
    <p:extLst>
      <p:ext uri="{BB962C8B-B14F-4D97-AF65-F5344CB8AC3E}">
        <p14:creationId xmlns:p14="http://schemas.microsoft.com/office/powerpoint/2010/main" val="2000704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There are (main) three ways in which a third variable can interact with a phenomenon of interest</a:t>
            </a:r>
          </a:p>
        </p:txBody>
      </p:sp>
      <p:sp>
        <p:nvSpPr>
          <p:cNvPr id="4" name="Slide Number Placeholder 3"/>
          <p:cNvSpPr>
            <a:spLocks noGrp="1"/>
          </p:cNvSpPr>
          <p:nvPr>
            <p:ph type="sldNum" sz="quarter" idx="5"/>
          </p:nvPr>
        </p:nvSpPr>
        <p:spPr/>
        <p:txBody>
          <a:bodyPr/>
          <a:lstStyle/>
          <a:p>
            <a:fld id="{FBEE9047-6757-432F-B3C4-B9B79F30218C}" type="slidenum">
              <a:rPr lang="en-SE" smtClean="0"/>
              <a:t>16</a:t>
            </a:fld>
            <a:endParaRPr lang="en-SE"/>
          </a:p>
        </p:txBody>
      </p:sp>
    </p:spTree>
    <p:extLst>
      <p:ext uri="{BB962C8B-B14F-4D97-AF65-F5344CB8AC3E}">
        <p14:creationId xmlns:p14="http://schemas.microsoft.com/office/powerpoint/2010/main" val="1512114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can rightfully ask: why include “success” in the statistical model anyways?</a:t>
            </a:r>
          </a:p>
          <a:p>
            <a:pPr marL="171450" indent="-171450">
              <a:buFont typeface="Arial" panose="020B0604020202020204" pitchFamily="34" charset="0"/>
              <a:buChar char="•"/>
            </a:pPr>
            <a:r>
              <a:rPr lang="en-SE" dirty="0"/>
              <a:t>We do see that “feature success” contains information about “specification quality”</a:t>
            </a:r>
          </a:p>
          <a:p>
            <a:pPr marL="171450" indent="-171450">
              <a:buFont typeface="Arial" panose="020B0604020202020204" pitchFamily="34" charset="0"/>
              <a:buChar char="•"/>
            </a:pPr>
            <a:r>
              <a:rPr lang="en-SE" dirty="0"/>
              <a:t>Hence, it might be valuable for the estimation</a:t>
            </a:r>
          </a:p>
        </p:txBody>
      </p:sp>
      <p:sp>
        <p:nvSpPr>
          <p:cNvPr id="4" name="Slide Number Placeholder 3"/>
          <p:cNvSpPr>
            <a:spLocks noGrp="1"/>
          </p:cNvSpPr>
          <p:nvPr>
            <p:ph type="sldNum" sz="quarter" idx="5"/>
          </p:nvPr>
        </p:nvSpPr>
        <p:spPr/>
        <p:txBody>
          <a:bodyPr/>
          <a:lstStyle/>
          <a:p>
            <a:fld id="{ACC9BBD8-1C1E-4CFA-8C12-0AE7F3A91C3D}" type="slidenum">
              <a:rPr lang="en-US" smtClean="0"/>
              <a:t>18</a:t>
            </a:fld>
            <a:endParaRPr lang="en-US"/>
          </a:p>
        </p:txBody>
      </p:sp>
    </p:spTree>
    <p:extLst>
      <p:ext uri="{BB962C8B-B14F-4D97-AF65-F5344CB8AC3E}">
        <p14:creationId xmlns:p14="http://schemas.microsoft.com/office/powerpoint/2010/main" val="3491078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estimation suggests that specification size has an effect far beyond what we simulated</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19</a:t>
            </a:fld>
            <a:endParaRPr lang="en-US"/>
          </a:p>
        </p:txBody>
      </p:sp>
    </p:spTree>
    <p:extLst>
      <p:ext uri="{BB962C8B-B14F-4D97-AF65-F5344CB8AC3E}">
        <p14:creationId xmlns:p14="http://schemas.microsoft.com/office/powerpoint/2010/main" val="100557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visualization of the raw data shows that there is indeed no effect</a:t>
            </a:r>
          </a:p>
          <a:p>
            <a:pPr marL="171450" indent="-171450">
              <a:buFont typeface="Arial" panose="020B0604020202020204" pitchFamily="34" charset="0"/>
              <a:buChar char="•"/>
            </a:pPr>
            <a:r>
              <a:rPr lang="en-SE" dirty="0"/>
              <a:t>The trendline is nearly horizontal</a:t>
            </a:r>
          </a:p>
          <a:p>
            <a:pPr marL="171450" indent="-171450">
              <a:buFont typeface="Arial" panose="020B0604020202020204" pitchFamily="34" charset="0"/>
              <a:buChar char="•"/>
            </a:pPr>
            <a:r>
              <a:rPr lang="en-SE" dirty="0"/>
              <a:t>That means: there is no effect of one variable on the other</a:t>
            </a:r>
          </a:p>
          <a:p>
            <a:pPr marL="171450" indent="-171450">
              <a:buFont typeface="Arial" panose="020B0604020202020204" pitchFamily="34" charset="0"/>
              <a:buChar char="•"/>
            </a:pPr>
            <a:endParaRPr lang="en-SE" dirty="0"/>
          </a:p>
          <a:p>
            <a:pPr marL="0" indent="0">
              <a:buFont typeface="Arial" panose="020B0604020202020204" pitchFamily="34" charset="0"/>
              <a:buNone/>
            </a:pPr>
            <a:r>
              <a:rPr lang="en-SE" dirty="0"/>
              <a:t>But stratifying by the third variable (feature success) paints a different picture:</a:t>
            </a:r>
          </a:p>
          <a:p>
            <a:pPr marL="171450" indent="-171450">
              <a:buFont typeface="Arial" panose="020B0604020202020204" pitchFamily="34" charset="0"/>
              <a:buChar char="•"/>
            </a:pPr>
            <a:r>
              <a:rPr lang="en-SE" dirty="0"/>
              <a:t>Stratification by </a:t>
            </a:r>
            <a:r>
              <a:rPr lang="en-SE" dirty="0" err="1"/>
              <a:t>color</a:t>
            </a:r>
            <a:r>
              <a:rPr lang="en-SE" dirty="0"/>
              <a:t> (and the grey cut-off line intersects the y-axis at exactly 0.7)</a:t>
            </a:r>
          </a:p>
          <a:p>
            <a:pPr marL="171450" indent="-171450">
              <a:buFont typeface="Arial" panose="020B0604020202020204" pitchFamily="34" charset="0"/>
              <a:buChar char="•"/>
            </a:pPr>
            <a:r>
              <a:rPr lang="en-SE" dirty="0"/>
              <a:t>Looking into each of the two strata individually, there is a negative association between the variables</a:t>
            </a:r>
          </a:p>
        </p:txBody>
      </p:sp>
      <p:sp>
        <p:nvSpPr>
          <p:cNvPr id="4" name="Slide Number Placeholder 3"/>
          <p:cNvSpPr>
            <a:spLocks noGrp="1"/>
          </p:cNvSpPr>
          <p:nvPr>
            <p:ph type="sldNum" sz="quarter" idx="5"/>
          </p:nvPr>
        </p:nvSpPr>
        <p:spPr/>
        <p:txBody>
          <a:bodyPr/>
          <a:lstStyle/>
          <a:p>
            <a:fld id="{ACC9BBD8-1C1E-4CFA-8C12-0AE7F3A91C3D}" type="slidenum">
              <a:rPr lang="en-US" smtClean="0"/>
              <a:t>20</a:t>
            </a:fld>
            <a:endParaRPr lang="en-US"/>
          </a:p>
        </p:txBody>
      </p:sp>
    </p:spTree>
    <p:extLst>
      <p:ext uri="{BB962C8B-B14F-4D97-AF65-F5344CB8AC3E}">
        <p14:creationId xmlns:p14="http://schemas.microsoft.com/office/powerpoint/2010/main" val="4095905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Formalizing causal assumptions is already valuable, but causal </a:t>
            </a:r>
            <a:r>
              <a:rPr lang="en-SE" dirty="0" err="1"/>
              <a:t>DAGs</a:t>
            </a:r>
            <a:r>
              <a:rPr lang="en-SE" dirty="0"/>
              <a:t> can help even more</a:t>
            </a:r>
          </a:p>
        </p:txBody>
      </p:sp>
      <p:sp>
        <p:nvSpPr>
          <p:cNvPr id="4" name="Slide Number Placeholder 3"/>
          <p:cNvSpPr>
            <a:spLocks noGrp="1"/>
          </p:cNvSpPr>
          <p:nvPr>
            <p:ph type="sldNum" sz="quarter" idx="5"/>
          </p:nvPr>
        </p:nvSpPr>
        <p:spPr/>
        <p:txBody>
          <a:bodyPr/>
          <a:lstStyle/>
          <a:p>
            <a:fld id="{FBEE9047-6757-432F-B3C4-B9B79F30218C}" type="slidenum">
              <a:rPr lang="en-SE" smtClean="0"/>
              <a:t>26</a:t>
            </a:fld>
            <a:endParaRPr lang="en-SE"/>
          </a:p>
        </p:txBody>
      </p:sp>
    </p:spTree>
    <p:extLst>
      <p:ext uri="{BB962C8B-B14F-4D97-AF65-F5344CB8AC3E}">
        <p14:creationId xmlns:p14="http://schemas.microsoft.com/office/powerpoint/2010/main" val="2578041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A7715-A954-32B2-D319-F556BD146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62AB6-06FE-8720-4996-8A3C3AC9F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2C9E6-9483-DC6A-4CE0-A2D5E16F86A9}"/>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778F4CE0-CA10-BD27-3ECC-172B97A51AFD}"/>
              </a:ext>
            </a:extLst>
          </p:cNvPr>
          <p:cNvSpPr>
            <a:spLocks noGrp="1"/>
          </p:cNvSpPr>
          <p:nvPr>
            <p:ph type="sldNum" sz="quarter" idx="5"/>
          </p:nvPr>
        </p:nvSpPr>
        <p:spPr/>
        <p:txBody>
          <a:bodyPr/>
          <a:lstStyle/>
          <a:p>
            <a:fld id="{ACC9BBD8-1C1E-4CFA-8C12-0AE7F3A91C3D}" type="slidenum">
              <a:rPr lang="en-US" smtClean="0"/>
              <a:t>27</a:t>
            </a:fld>
            <a:endParaRPr lang="en-US"/>
          </a:p>
        </p:txBody>
      </p:sp>
    </p:spTree>
    <p:extLst>
      <p:ext uri="{BB962C8B-B14F-4D97-AF65-F5344CB8AC3E}">
        <p14:creationId xmlns:p14="http://schemas.microsoft.com/office/powerpoint/2010/main" val="3921110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25C5F-5F4A-B846-5518-88DB39A2D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8941E-7DE4-5055-2C21-6853BA46C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B2DEA-1BD4-0EAA-78F6-10A8F75BB9CB}"/>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E540F39-C2DA-6123-719E-9E0E951C8F21}"/>
              </a:ext>
            </a:extLst>
          </p:cNvPr>
          <p:cNvSpPr>
            <a:spLocks noGrp="1"/>
          </p:cNvSpPr>
          <p:nvPr>
            <p:ph type="sldNum" sz="quarter" idx="5"/>
          </p:nvPr>
        </p:nvSpPr>
        <p:spPr/>
        <p:txBody>
          <a:bodyPr/>
          <a:lstStyle/>
          <a:p>
            <a:fld id="{ACC9BBD8-1C1E-4CFA-8C12-0AE7F3A91C3D}" type="slidenum">
              <a:rPr lang="en-US" smtClean="0"/>
              <a:t>28</a:t>
            </a:fld>
            <a:endParaRPr lang="en-US"/>
          </a:p>
        </p:txBody>
      </p:sp>
    </p:spTree>
    <p:extLst>
      <p:ext uri="{BB962C8B-B14F-4D97-AF65-F5344CB8AC3E}">
        <p14:creationId xmlns:p14="http://schemas.microsoft.com/office/powerpoint/2010/main" val="2104314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29</a:t>
            </a:fld>
            <a:endParaRPr lang="en-US"/>
          </a:p>
        </p:txBody>
      </p:sp>
    </p:spTree>
    <p:extLst>
      <p:ext uri="{BB962C8B-B14F-4D97-AF65-F5344CB8AC3E}">
        <p14:creationId xmlns:p14="http://schemas.microsoft.com/office/powerpoint/2010/main" val="903912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Causal </a:t>
            </a:r>
            <a:r>
              <a:rPr lang="en-SE" dirty="0" err="1"/>
              <a:t>DAGs</a:t>
            </a:r>
            <a:r>
              <a:rPr lang="en-SE" dirty="0"/>
              <a:t> facilitate an easy discussion of internal vs. external threats to validity.</a:t>
            </a:r>
          </a:p>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46</a:t>
            </a:fld>
            <a:endParaRPr lang="en-SE"/>
          </a:p>
        </p:txBody>
      </p:sp>
    </p:spTree>
    <p:extLst>
      <p:ext uri="{BB962C8B-B14F-4D97-AF65-F5344CB8AC3E}">
        <p14:creationId xmlns:p14="http://schemas.microsoft.com/office/powerpoint/2010/main" val="2272286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7842-4A48-C9D3-2CD9-EBB689104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3F402-C43B-20FD-D3D4-D86B5011F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89CBF-1E47-AEB0-397C-CA194C896BB7}"/>
              </a:ext>
            </a:extLst>
          </p:cNvPr>
          <p:cNvSpPr>
            <a:spLocks noGrp="1"/>
          </p:cNvSpPr>
          <p:nvPr>
            <p:ph type="body" idx="1"/>
          </p:nvPr>
        </p:nvSpPr>
        <p:spPr/>
        <p:txBody>
          <a:bodyPr/>
          <a:lstStyle/>
          <a:p>
            <a:pPr marL="514350" indent="-514350">
              <a:buAutoNum type="arabicPeriod"/>
            </a:pPr>
            <a:endParaRPr lang="en-GB" dirty="0"/>
          </a:p>
          <a:p>
            <a:endParaRPr lang="en-SE" dirty="0"/>
          </a:p>
        </p:txBody>
      </p:sp>
      <p:sp>
        <p:nvSpPr>
          <p:cNvPr id="4" name="Slide Number Placeholder 3">
            <a:extLst>
              <a:ext uri="{FF2B5EF4-FFF2-40B4-BE49-F238E27FC236}">
                <a16:creationId xmlns:a16="http://schemas.microsoft.com/office/drawing/2014/main" id="{36FAEA5C-26D5-EEB4-143D-3607D9A629A6}"/>
              </a:ext>
            </a:extLst>
          </p:cNvPr>
          <p:cNvSpPr>
            <a:spLocks noGrp="1"/>
          </p:cNvSpPr>
          <p:nvPr>
            <p:ph type="sldNum" sz="quarter" idx="5"/>
          </p:nvPr>
        </p:nvSpPr>
        <p:spPr/>
        <p:txBody>
          <a:bodyPr/>
          <a:lstStyle/>
          <a:p>
            <a:fld id="{ACC9BBD8-1C1E-4CFA-8C12-0AE7F3A91C3D}" type="slidenum">
              <a:rPr lang="en-US" smtClean="0"/>
              <a:t>47</a:t>
            </a:fld>
            <a:endParaRPr lang="en-US"/>
          </a:p>
        </p:txBody>
      </p:sp>
    </p:spTree>
    <p:extLst>
      <p:ext uri="{BB962C8B-B14F-4D97-AF65-F5344CB8AC3E}">
        <p14:creationId xmlns:p14="http://schemas.microsoft.com/office/powerpoint/2010/main" val="3985190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AutoNum type="arabicPeriod"/>
            </a:pPr>
            <a:endParaRPr lang="en-GB" dirty="0"/>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48</a:t>
            </a:fld>
            <a:endParaRPr lang="en-US"/>
          </a:p>
        </p:txBody>
      </p:sp>
    </p:spTree>
    <p:extLst>
      <p:ext uri="{BB962C8B-B14F-4D97-AF65-F5344CB8AC3E}">
        <p14:creationId xmlns:p14="http://schemas.microsoft.com/office/powerpoint/2010/main" val="3626298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46B70-8AF3-7178-F158-5D9607959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E6E8B-ADBF-C150-EBD4-69866C276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3D497B-84ED-6D95-7C98-5B97D3699722}"/>
              </a:ext>
            </a:extLst>
          </p:cNvPr>
          <p:cNvSpPr>
            <a:spLocks noGrp="1"/>
          </p:cNvSpPr>
          <p:nvPr>
            <p:ph type="body" idx="1"/>
          </p:nvPr>
        </p:nvSpPr>
        <p:spPr/>
        <p:txBody>
          <a:bodyPr/>
          <a:lstStyle/>
          <a:p>
            <a:r>
              <a:rPr lang="en-SE" dirty="0"/>
              <a:t>How do these conceptual steps intertwine with the operational steps necessary for quantitative studies?</a:t>
            </a:r>
          </a:p>
        </p:txBody>
      </p:sp>
      <p:sp>
        <p:nvSpPr>
          <p:cNvPr id="4" name="Slide Number Placeholder 3">
            <a:extLst>
              <a:ext uri="{FF2B5EF4-FFF2-40B4-BE49-F238E27FC236}">
                <a16:creationId xmlns:a16="http://schemas.microsoft.com/office/drawing/2014/main" id="{A464E05F-121F-DB64-95CC-DFCCF60B3CD1}"/>
              </a:ext>
            </a:extLst>
          </p:cNvPr>
          <p:cNvSpPr>
            <a:spLocks noGrp="1"/>
          </p:cNvSpPr>
          <p:nvPr>
            <p:ph type="sldNum" sz="quarter" idx="5"/>
          </p:nvPr>
        </p:nvSpPr>
        <p:spPr/>
        <p:txBody>
          <a:bodyPr/>
          <a:lstStyle/>
          <a:p>
            <a:fld id="{ACC9BBD8-1C1E-4CFA-8C12-0AE7F3A91C3D}" type="slidenum">
              <a:rPr lang="en-US" smtClean="0"/>
              <a:t>49</a:t>
            </a:fld>
            <a:endParaRPr lang="en-US"/>
          </a:p>
        </p:txBody>
      </p:sp>
    </p:spTree>
    <p:extLst>
      <p:ext uri="{BB962C8B-B14F-4D97-AF65-F5344CB8AC3E}">
        <p14:creationId xmlns:p14="http://schemas.microsoft.com/office/powerpoint/2010/main" val="4279043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BCE3-E678-2DE8-5B99-6F6DC1306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B6963-0CA6-3D71-8CF6-895586E24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E1510-A6F3-7CE0-02C9-B45E1C162B71}"/>
              </a:ext>
            </a:extLst>
          </p:cNvPr>
          <p:cNvSpPr>
            <a:spLocks noGrp="1"/>
          </p:cNvSpPr>
          <p:nvPr>
            <p:ph type="body" idx="1"/>
          </p:nvPr>
        </p:nvSpPr>
        <p:spPr/>
        <p:txBody>
          <a:bodyPr/>
          <a:lstStyle/>
          <a:p>
            <a:r>
              <a:rPr lang="en-SE" dirty="0"/>
              <a:t>How do these conceptual steps intertwine with the operational steps necessary for quantitative studies?</a:t>
            </a:r>
          </a:p>
        </p:txBody>
      </p:sp>
      <p:sp>
        <p:nvSpPr>
          <p:cNvPr id="4" name="Slide Number Placeholder 3">
            <a:extLst>
              <a:ext uri="{FF2B5EF4-FFF2-40B4-BE49-F238E27FC236}">
                <a16:creationId xmlns:a16="http://schemas.microsoft.com/office/drawing/2014/main" id="{64816326-6038-94C4-F88E-E95F4B86D270}"/>
              </a:ext>
            </a:extLst>
          </p:cNvPr>
          <p:cNvSpPr>
            <a:spLocks noGrp="1"/>
          </p:cNvSpPr>
          <p:nvPr>
            <p:ph type="sldNum" sz="quarter" idx="5"/>
          </p:nvPr>
        </p:nvSpPr>
        <p:spPr/>
        <p:txBody>
          <a:bodyPr/>
          <a:lstStyle/>
          <a:p>
            <a:fld id="{ACC9BBD8-1C1E-4CFA-8C12-0AE7F3A91C3D}" type="slidenum">
              <a:rPr lang="en-US" smtClean="0"/>
              <a:t>50</a:t>
            </a:fld>
            <a:endParaRPr lang="en-US"/>
          </a:p>
        </p:txBody>
      </p:sp>
    </p:spTree>
    <p:extLst>
      <p:ext uri="{BB962C8B-B14F-4D97-AF65-F5344CB8AC3E}">
        <p14:creationId xmlns:p14="http://schemas.microsoft.com/office/powerpoint/2010/main" val="1124977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FA89-3191-ACED-63BC-50E31DEAC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9CCB1-456C-67F6-37A4-FF394E225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A615A-4C78-51AD-9092-79812EE0F9E4}"/>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8653F5F-52BF-8474-93D7-16640A1663A6}"/>
              </a:ext>
            </a:extLst>
          </p:cNvPr>
          <p:cNvSpPr>
            <a:spLocks noGrp="1"/>
          </p:cNvSpPr>
          <p:nvPr>
            <p:ph type="sldNum" sz="quarter" idx="5"/>
          </p:nvPr>
        </p:nvSpPr>
        <p:spPr/>
        <p:txBody>
          <a:bodyPr/>
          <a:lstStyle/>
          <a:p>
            <a:fld id="{ACC9BBD8-1C1E-4CFA-8C12-0AE7F3A91C3D}" type="slidenum">
              <a:rPr lang="en-US" smtClean="0"/>
              <a:t>51</a:t>
            </a:fld>
            <a:endParaRPr lang="en-US"/>
          </a:p>
        </p:txBody>
      </p:sp>
    </p:spTree>
    <p:extLst>
      <p:ext uri="{BB962C8B-B14F-4D97-AF65-F5344CB8AC3E}">
        <p14:creationId xmlns:p14="http://schemas.microsoft.com/office/powerpoint/2010/main" val="4143458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48E-F236-38B9-B35C-032617755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B34D9-C7E4-52DC-3732-052F81758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92947-C79E-66DB-D827-9B5CF71ADDE7}"/>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FE075AF2-8544-EBCC-993D-B5E26369982E}"/>
              </a:ext>
            </a:extLst>
          </p:cNvPr>
          <p:cNvSpPr>
            <a:spLocks noGrp="1"/>
          </p:cNvSpPr>
          <p:nvPr>
            <p:ph type="sldNum" sz="quarter" idx="5"/>
          </p:nvPr>
        </p:nvSpPr>
        <p:spPr/>
        <p:txBody>
          <a:bodyPr/>
          <a:lstStyle/>
          <a:p>
            <a:fld id="{ACC9BBD8-1C1E-4CFA-8C12-0AE7F3A91C3D}" type="slidenum">
              <a:rPr lang="en-US" smtClean="0"/>
              <a:t>52</a:t>
            </a:fld>
            <a:endParaRPr lang="en-US"/>
          </a:p>
        </p:txBody>
      </p:sp>
    </p:spTree>
    <p:extLst>
      <p:ext uri="{BB962C8B-B14F-4D97-AF65-F5344CB8AC3E}">
        <p14:creationId xmlns:p14="http://schemas.microsoft.com/office/powerpoint/2010/main" val="3131189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SE" dirty="0"/>
              <a:t>In summary, when you aim to conduct a rigorous and relevant study, consider these three recommendations: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SE" dirty="0"/>
          </a:p>
          <a:p>
            <a:pPr marL="514350" indent="-514350">
              <a:buFont typeface="+mj-lt"/>
              <a:buAutoNum type="arabicPeriod"/>
            </a:pPr>
            <a:r>
              <a:rPr lang="en-SE" dirty="0"/>
              <a:t>Consider data collection as a part of data analysis, not as two separate, subsequent steps</a:t>
            </a:r>
          </a:p>
          <a:p>
            <a:pPr marL="514350" indent="-514350">
              <a:buFont typeface="+mj-lt"/>
              <a:buAutoNum type="arabicPeriod"/>
            </a:pPr>
            <a:r>
              <a:rPr lang="en-SE" dirty="0"/>
              <a:t>Start your data analysis with a DAG </a:t>
            </a:r>
          </a:p>
          <a:p>
            <a:pPr marL="514350" indent="-514350">
              <a:buFont typeface="+mj-lt"/>
              <a:buAutoNum type="arabicPeriod"/>
            </a:pPr>
            <a:r>
              <a:rPr lang="en-SE" dirty="0"/>
              <a:t>Apply d-separation to figure out (1) if you can actually conduct your study and – if so – (2) what data you need to collect</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54</a:t>
            </a:fld>
            <a:endParaRPr lang="en-US"/>
          </a:p>
        </p:txBody>
      </p:sp>
    </p:spTree>
    <p:extLst>
      <p:ext uri="{BB962C8B-B14F-4D97-AF65-F5344CB8AC3E}">
        <p14:creationId xmlns:p14="http://schemas.microsoft.com/office/powerpoint/2010/main" val="10068321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ECFB-CC92-FB7D-062B-5F840C7CDEF9}"/>
              </a:ext>
            </a:extLst>
          </p:cNvPr>
          <p:cNvSpPr>
            <a:spLocks noGrp="1"/>
          </p:cNvSpPr>
          <p:nvPr>
            <p:ph type="ctrTitle"/>
          </p:nvPr>
        </p:nvSpPr>
        <p:spPr>
          <a:xfrm>
            <a:off x="1524000" y="1600199"/>
            <a:ext cx="9144000" cy="1909763"/>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D17DB82B-6165-1C54-C51D-F5D58F23CB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B37955BD-5E43-FC47-D766-386274FE3FE6}"/>
              </a:ext>
            </a:extLst>
          </p:cNvPr>
          <p:cNvSpPr>
            <a:spLocks noGrp="1"/>
          </p:cNvSpPr>
          <p:nvPr>
            <p:ph type="dt" sz="half" idx="10"/>
          </p:nvPr>
        </p:nvSpPr>
        <p:spPr/>
        <p:txBody>
          <a:bodyPr/>
          <a:lstStyle/>
          <a:p>
            <a:fld id="{37DCE796-1B8A-41D3-B18D-B249256E7F45}" type="datetime1">
              <a:rPr lang="de-DE" smtClean="0"/>
              <a:t>20.01.2026</a:t>
            </a:fld>
            <a:endParaRPr lang="en-SE"/>
          </a:p>
        </p:txBody>
      </p:sp>
      <p:sp>
        <p:nvSpPr>
          <p:cNvPr id="5" name="Footer Placeholder 4">
            <a:extLst>
              <a:ext uri="{FF2B5EF4-FFF2-40B4-BE49-F238E27FC236}">
                <a16:creationId xmlns:a16="http://schemas.microsoft.com/office/drawing/2014/main" id="{DAC345E8-8305-94BE-CD1F-E34E302160C0}"/>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59FBD3E-ECCB-B12E-8504-AE90BAE0F46A}"/>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6FAC15DB-F6D1-F33F-FE40-C327DCFFA1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3143" y="388368"/>
            <a:ext cx="9485714" cy="1193651"/>
          </a:xfrm>
          <a:prstGeom prst="rect">
            <a:avLst/>
          </a:prstGeom>
        </p:spPr>
      </p:pic>
    </p:spTree>
    <p:extLst>
      <p:ext uri="{BB962C8B-B14F-4D97-AF65-F5344CB8AC3E}">
        <p14:creationId xmlns:p14="http://schemas.microsoft.com/office/powerpoint/2010/main" val="2410244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46C5-11CD-4C87-4B7F-F0A008414468}"/>
              </a:ext>
            </a:extLst>
          </p:cNvPr>
          <p:cNvSpPr>
            <a:spLocks noGrp="1"/>
          </p:cNvSpPr>
          <p:nvPr>
            <p:ph type="title"/>
          </p:nvPr>
        </p:nvSpPr>
        <p:spPr>
          <a:xfrm>
            <a:off x="838198" y="365125"/>
            <a:ext cx="9380975" cy="1325563"/>
          </a:xfrm>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72567B5C-1FB8-DA82-8443-4DACD45F0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96DB50CE-E3D9-6C15-6C1B-8A30001A38E3}"/>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Footer Placeholder 4">
            <a:extLst>
              <a:ext uri="{FF2B5EF4-FFF2-40B4-BE49-F238E27FC236}">
                <a16:creationId xmlns:a16="http://schemas.microsoft.com/office/drawing/2014/main" id="{82E106B3-8DD0-55B3-08A0-DD0591C9848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49C494B0-86B7-2B02-AF74-37DFCA78F384}"/>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219E70D1-BC5E-0623-4514-854441A4D3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50110" y="365125"/>
            <a:ext cx="1003690" cy="1325563"/>
          </a:xfrm>
          <a:prstGeom prst="rect">
            <a:avLst/>
          </a:prstGeom>
        </p:spPr>
      </p:pic>
    </p:spTree>
    <p:extLst>
      <p:ext uri="{BB962C8B-B14F-4D97-AF65-F5344CB8AC3E}">
        <p14:creationId xmlns:p14="http://schemas.microsoft.com/office/powerpoint/2010/main" val="2811871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3C64-99A3-C45B-FC04-CD6D7DF0E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83CEB3B-F9F7-57EA-A865-FA89E9BE90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EA0C2-17AA-E8FA-AF35-325A5B6C18D4}"/>
              </a:ext>
            </a:extLst>
          </p:cNvPr>
          <p:cNvSpPr>
            <a:spLocks noGrp="1"/>
          </p:cNvSpPr>
          <p:nvPr>
            <p:ph type="dt" sz="half" idx="10"/>
          </p:nvPr>
        </p:nvSpPr>
        <p:spPr/>
        <p:txBody>
          <a:bodyPr/>
          <a:lstStyle/>
          <a:p>
            <a:fld id="{5BC0AF29-9533-4D4E-A309-A5791971D2E2}" type="datetime1">
              <a:rPr lang="de-DE" smtClean="0"/>
              <a:t>20.01.2026</a:t>
            </a:fld>
            <a:endParaRPr lang="en-SE"/>
          </a:p>
        </p:txBody>
      </p:sp>
      <p:sp>
        <p:nvSpPr>
          <p:cNvPr id="5" name="Footer Placeholder 4">
            <a:extLst>
              <a:ext uri="{FF2B5EF4-FFF2-40B4-BE49-F238E27FC236}">
                <a16:creationId xmlns:a16="http://schemas.microsoft.com/office/drawing/2014/main" id="{EDC95503-4D40-A4E1-4A17-B8F47614918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CF6C0937-6335-D00A-B738-E03007DFA8B8}"/>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7" name="Picture 6" descr="A black background with a black square&#10;&#10;AI-generated content may be incorrect.">
            <a:extLst>
              <a:ext uri="{FF2B5EF4-FFF2-40B4-BE49-F238E27FC236}">
                <a16:creationId xmlns:a16="http://schemas.microsoft.com/office/drawing/2014/main" id="{8E93BCFD-7846-D276-1F73-CBB0C60EED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16063" y="267789"/>
            <a:ext cx="4947173" cy="622536"/>
          </a:xfrm>
          <a:prstGeom prst="rect">
            <a:avLst/>
          </a:prstGeom>
        </p:spPr>
      </p:pic>
    </p:spTree>
    <p:extLst>
      <p:ext uri="{BB962C8B-B14F-4D97-AF65-F5344CB8AC3E}">
        <p14:creationId xmlns:p14="http://schemas.microsoft.com/office/powerpoint/2010/main" val="155167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84F10-67C5-38A9-9573-9D83950EE145}"/>
              </a:ext>
            </a:extLst>
          </p:cNvPr>
          <p:cNvSpPr>
            <a:spLocks noGrp="1"/>
          </p:cNvSpPr>
          <p:nvPr>
            <p:ph type="title"/>
          </p:nvPr>
        </p:nvSpPr>
        <p:spPr>
          <a:xfrm>
            <a:off x="838199"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F94813B2-F0B2-78B0-2431-5AE1C5DC3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BCA28DA-366D-4CD9-E1EB-113EAA959D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67268F-5191-4EDD-9773-1EAA25AC2D33}" type="datetime1">
              <a:rPr lang="de-DE" smtClean="0"/>
              <a:t>20.01.2026</a:t>
            </a:fld>
            <a:endParaRPr lang="en-SE"/>
          </a:p>
        </p:txBody>
      </p:sp>
      <p:sp>
        <p:nvSpPr>
          <p:cNvPr id="5" name="Footer Placeholder 4">
            <a:extLst>
              <a:ext uri="{FF2B5EF4-FFF2-40B4-BE49-F238E27FC236}">
                <a16:creationId xmlns:a16="http://schemas.microsoft.com/office/drawing/2014/main" id="{9F6E68D1-9044-00B4-ABE4-8F49530AB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0F136186-4B45-9116-C243-AC06504DF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ECC92-9CDE-4EB3-B1C5-F46B9E1FA3C1}" type="slidenum">
              <a:rPr lang="en-SE" smtClean="0"/>
              <a:t>‹#›</a:t>
            </a:fld>
            <a:endParaRPr lang="en-SE"/>
          </a:p>
        </p:txBody>
      </p:sp>
    </p:spTree>
    <p:extLst>
      <p:ext uri="{BB962C8B-B14F-4D97-AF65-F5344CB8AC3E}">
        <p14:creationId xmlns:p14="http://schemas.microsoft.com/office/powerpoint/2010/main" val="3271141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JulianFrattini/bda4sci/blob/main/LICENSE" TargetMode="External"/><Relationship Id="rId7" Type="http://schemas.openxmlformats.org/officeDocument/2006/relationships/hyperlink" Target="https://github.com/JulianFrattini/bda4sc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hyperlink" Target="https://julianfrattini.github.io/"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File:Emojione_1F1F8-1F1EA.svg" TargetMode="External"/><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en.wikipedia.org/wiki/File:Flag_of_Germany.svg" TargetMode="External"/><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hyperlink" Target="https://doi.org/10.1007/s00766-022-00371-x" TargetMode="External"/><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dx.doi.org/10.1145/2568225.2568271" TargetMode="External"/><Relationship Id="rId11" Type="http://schemas.openxmlformats.org/officeDocument/2006/relationships/hyperlink" Target="https://doi.org/10.1109/APSEC.2005.38" TargetMode="External"/><Relationship Id="rId5" Type="http://schemas.openxmlformats.org/officeDocument/2006/relationships/image" Target="../media/image18.png"/><Relationship Id="rId10" Type="http://schemas.openxmlformats.org/officeDocument/2006/relationships/hyperlink" Target="https://doi.org/10.1007/s00766-012-0149-0" TargetMode="External"/><Relationship Id="rId4" Type="http://schemas.openxmlformats.org/officeDocument/2006/relationships/hyperlink" Target="https://doi.org/10.1109/CHASE52884.2021.00009" TargetMode="External"/><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08.png"/><Relationship Id="rId1" Type="http://schemas.openxmlformats.org/officeDocument/2006/relationships/slideLayout" Target="../slideLayouts/slideLayout2.xml"/><Relationship Id="rId11" Type="http://schemas.openxmlformats.org/officeDocument/2006/relationships/image" Target="../media/image111.png"/><Relationship Id="rId10" Type="http://schemas.openxmlformats.org/officeDocument/2006/relationships/image" Target="../media/image110.png"/><Relationship Id="rId9" Type="http://schemas.openxmlformats.org/officeDocument/2006/relationships/image" Target="../media/image109.png"/></Relationships>
</file>

<file path=ppt/slides/_rels/slide18.xml.rels><?xml version="1.0" encoding="UTF-8" standalone="yes"?>
<Relationships xmlns="http://schemas.openxmlformats.org/package/2006/relationships"><Relationship Id="rId13" Type="http://schemas.openxmlformats.org/officeDocument/2006/relationships/image" Target="../media/image39.png"/><Relationship Id="rId3" Type="http://schemas.openxmlformats.org/officeDocument/2006/relationships/image" Target="../media/image37.png"/><Relationship Id="rId12" Type="http://schemas.openxmlformats.org/officeDocument/2006/relationships/image" Target="../media/image113.png"/><Relationship Id="rId2" Type="http://schemas.openxmlformats.org/officeDocument/2006/relationships/notesSlide" Target="../notesSlides/notesSlide9.xml"/><Relationship Id="rId1" Type="http://schemas.openxmlformats.org/officeDocument/2006/relationships/slideLayout" Target="../slideLayouts/slideLayout2.xml"/><Relationship Id="rId11" Type="http://schemas.openxmlformats.org/officeDocument/2006/relationships/image" Target="../media/image112.png"/><Relationship Id="rId4" Type="http://schemas.openxmlformats.org/officeDocument/2006/relationships/image" Target="../media/image38.sv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10" Type="http://schemas.openxmlformats.org/officeDocument/2006/relationships/image" Target="../media/image116.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36.svg"/></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 Id="rId10" Type="http://schemas.openxmlformats.org/officeDocument/2006/relationships/image" Target="../media/image122.png"/><Relationship Id="rId9" Type="http://schemas.openxmlformats.org/officeDocument/2006/relationships/image" Target="../media/image121.png"/></Relationships>
</file>

<file path=ppt/slides/_rels/slide24.xml.rels><?xml version="1.0" encoding="UTF-8" standalone="yes"?>
<Relationships xmlns="http://schemas.openxmlformats.org/package/2006/relationships"><Relationship Id="rId13" Type="http://schemas.openxmlformats.org/officeDocument/2006/relationships/image" Target="../media/image36.svg"/><Relationship Id="rId3" Type="http://schemas.openxmlformats.org/officeDocument/2006/relationships/image" Target="../media/image38.svg"/><Relationship Id="rId12"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 Id="rId11" Type="http://schemas.openxmlformats.org/officeDocument/2006/relationships/image" Target="../media/image124.png"/><Relationship Id="rId10" Type="http://schemas.openxmlformats.org/officeDocument/2006/relationships/image" Target="../media/image123.png"/></Relationships>
</file>

<file path=ppt/slides/_rels/slide2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4.sv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38.sv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38.sv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38.sv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38.sv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38.sv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38.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8.svg"/></Relationships>
</file>

<file path=ppt/slides/_rels/slide48.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38.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0.svg"/><Relationship Id="rId11" Type="http://schemas.openxmlformats.org/officeDocument/2006/relationships/image" Target="../media/image37.png"/><Relationship Id="rId5" Type="http://schemas.openxmlformats.org/officeDocument/2006/relationships/image" Target="../media/image49.png"/><Relationship Id="rId10" Type="http://schemas.openxmlformats.org/officeDocument/2006/relationships/image" Target="../media/image53.png"/><Relationship Id="rId4" Type="http://schemas.openxmlformats.org/officeDocument/2006/relationships/image" Target="../media/image48.svg"/><Relationship Id="rId9" Type="http://schemas.openxmlformats.org/officeDocument/2006/relationships/image" Target="../media/image155.png"/></Relationships>
</file>

<file path=ppt/slides/_rels/slide49.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0.svg"/><Relationship Id="rId5" Type="http://schemas.openxmlformats.org/officeDocument/2006/relationships/image" Target="../media/image49.png"/><Relationship Id="rId10" Type="http://schemas.openxmlformats.org/officeDocument/2006/relationships/image" Target="../media/image55.svg"/><Relationship Id="rId4" Type="http://schemas.openxmlformats.org/officeDocument/2006/relationships/image" Target="../media/image48.svg"/><Relationship Id="rId9" Type="http://schemas.openxmlformats.org/officeDocument/2006/relationships/image" Target="../media/image54.png"/></Relationships>
</file>

<file path=ppt/slides/_rels/slide50.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36.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0.svg"/><Relationship Id="rId11" Type="http://schemas.openxmlformats.org/officeDocument/2006/relationships/image" Target="../media/image35.png"/><Relationship Id="rId5" Type="http://schemas.openxmlformats.org/officeDocument/2006/relationships/image" Target="../media/image49.png"/><Relationship Id="rId10" Type="http://schemas.openxmlformats.org/officeDocument/2006/relationships/image" Target="../media/image55.svg"/><Relationship Id="rId4" Type="http://schemas.openxmlformats.org/officeDocument/2006/relationships/image" Target="../media/image48.svg"/><Relationship Id="rId9" Type="http://schemas.openxmlformats.org/officeDocument/2006/relationships/image" Target="../media/image54.png"/></Relationships>
</file>

<file path=ppt/slides/_rels/slide51.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36.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0.svg"/><Relationship Id="rId11" Type="http://schemas.openxmlformats.org/officeDocument/2006/relationships/image" Target="../media/image35.png"/><Relationship Id="rId5" Type="http://schemas.openxmlformats.org/officeDocument/2006/relationships/image" Target="../media/image49.png"/><Relationship Id="rId10" Type="http://schemas.openxmlformats.org/officeDocument/2006/relationships/image" Target="../media/image55.svg"/><Relationship Id="rId4" Type="http://schemas.openxmlformats.org/officeDocument/2006/relationships/image" Target="../media/image48.svg"/><Relationship Id="rId9" Type="http://schemas.openxmlformats.org/officeDocument/2006/relationships/image" Target="../media/image54.png"/></Relationships>
</file>

<file path=ppt/slides/_rels/slide5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47.png"/><Relationship Id="rId7" Type="http://schemas.openxmlformats.org/officeDocument/2006/relationships/image" Target="../media/image54.png"/><Relationship Id="rId12" Type="http://schemas.openxmlformats.org/officeDocument/2006/relationships/image" Target="../media/image57.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0.svg"/><Relationship Id="rId11" Type="http://schemas.openxmlformats.org/officeDocument/2006/relationships/image" Target="../media/image56.png"/><Relationship Id="rId5" Type="http://schemas.openxmlformats.org/officeDocument/2006/relationships/image" Target="../media/image49.png"/><Relationship Id="rId10" Type="http://schemas.openxmlformats.org/officeDocument/2006/relationships/image" Target="../media/image52.svg"/><Relationship Id="rId4" Type="http://schemas.openxmlformats.org/officeDocument/2006/relationships/image" Target="../media/image48.svg"/><Relationship Id="rId9" Type="http://schemas.openxmlformats.org/officeDocument/2006/relationships/image" Target="../media/image51.png"/></Relationships>
</file>

<file path=ppt/slides/_rels/slide5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47.png"/><Relationship Id="rId7"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48.svg"/></Relationships>
</file>

<file path=ppt/slides/_rels/slide55.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hyperlink" Target="https://github.com/JulianFrattini/bda4sc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8D0B-776C-E8F7-4D2E-37BA60724F3A}"/>
              </a:ext>
            </a:extLst>
          </p:cNvPr>
          <p:cNvSpPr>
            <a:spLocks noGrp="1"/>
          </p:cNvSpPr>
          <p:nvPr>
            <p:ph type="ctrTitle"/>
          </p:nvPr>
        </p:nvSpPr>
        <p:spPr/>
        <p:txBody>
          <a:bodyPr/>
          <a:lstStyle/>
          <a:p>
            <a:r>
              <a:rPr lang="en-US" noProof="0" dirty="0"/>
              <a:t>Statistical Causal Inference</a:t>
            </a:r>
          </a:p>
        </p:txBody>
      </p:sp>
      <p:sp>
        <p:nvSpPr>
          <p:cNvPr id="3" name="Subtitle 2">
            <a:extLst>
              <a:ext uri="{FF2B5EF4-FFF2-40B4-BE49-F238E27FC236}">
                <a16:creationId xmlns:a16="http://schemas.microsoft.com/office/drawing/2014/main" id="{DAECA751-926C-8553-9E48-80B7DF1A9306}"/>
              </a:ext>
            </a:extLst>
          </p:cNvPr>
          <p:cNvSpPr>
            <a:spLocks noGrp="1"/>
          </p:cNvSpPr>
          <p:nvPr>
            <p:ph type="subTitle" idx="1"/>
          </p:nvPr>
        </p:nvSpPr>
        <p:spPr/>
        <p:txBody>
          <a:bodyPr/>
          <a:lstStyle/>
          <a:p>
            <a:r>
              <a:rPr lang="en-US" dirty="0"/>
              <a:t>Emerging Paradigms for Advanced Data Anal</a:t>
            </a:r>
            <a:r>
              <a:rPr lang="en-SE" dirty="0" err="1"/>
              <a:t>ysis</a:t>
            </a:r>
            <a:endParaRPr lang="en-US" noProof="0" dirty="0"/>
          </a:p>
        </p:txBody>
      </p:sp>
      <p:sp>
        <p:nvSpPr>
          <p:cNvPr id="4" name="TextBox 3">
            <a:extLst>
              <a:ext uri="{FF2B5EF4-FFF2-40B4-BE49-F238E27FC236}">
                <a16:creationId xmlns:a16="http://schemas.microsoft.com/office/drawing/2014/main" id="{AD75591A-FA02-7123-DF74-EDB9D33C0122}"/>
              </a:ext>
            </a:extLst>
          </p:cNvPr>
          <p:cNvSpPr txBox="1"/>
          <p:nvPr/>
        </p:nvSpPr>
        <p:spPr>
          <a:xfrm>
            <a:off x="7326064" y="5859885"/>
            <a:ext cx="4175374" cy="523220"/>
          </a:xfrm>
          <a:prstGeom prst="rect">
            <a:avLst/>
          </a:prstGeom>
          <a:noFill/>
        </p:spPr>
        <p:txBody>
          <a:bodyPr wrap="none" rtlCol="0">
            <a:spAutoFit/>
          </a:bodyPr>
          <a:lstStyle/>
          <a:p>
            <a:pPr algn="r"/>
            <a:r>
              <a:rPr lang="en-US" sz="1400" noProof="0" dirty="0"/>
              <a:t>Copyright © 2024 Julian Frattini. </a:t>
            </a:r>
          </a:p>
          <a:p>
            <a:pPr algn="r"/>
            <a:r>
              <a:rPr lang="en-US" sz="1400" noProof="0" dirty="0"/>
              <a:t>This work is licensed under the </a:t>
            </a:r>
            <a:r>
              <a:rPr lang="en-US" sz="1400" noProof="0" dirty="0">
                <a:hlinkClick r:id="rId3"/>
              </a:rPr>
              <a:t>Apache-2.0</a:t>
            </a:r>
            <a:r>
              <a:rPr lang="en-US" sz="1400" noProof="0" dirty="0"/>
              <a:t> License.</a:t>
            </a:r>
          </a:p>
        </p:txBody>
      </p:sp>
      <p:sp>
        <p:nvSpPr>
          <p:cNvPr id="11" name="TextBox 10">
            <a:extLst>
              <a:ext uri="{FF2B5EF4-FFF2-40B4-BE49-F238E27FC236}">
                <a16:creationId xmlns:a16="http://schemas.microsoft.com/office/drawing/2014/main" id="{6B4FEC08-B055-2789-C209-ABB868E097B3}"/>
              </a:ext>
            </a:extLst>
          </p:cNvPr>
          <p:cNvSpPr txBox="1"/>
          <p:nvPr/>
        </p:nvSpPr>
        <p:spPr>
          <a:xfrm>
            <a:off x="1866348" y="5398220"/>
            <a:ext cx="4488986" cy="923330"/>
          </a:xfrm>
          <a:prstGeom prst="rect">
            <a:avLst/>
          </a:prstGeom>
          <a:noFill/>
        </p:spPr>
        <p:txBody>
          <a:bodyPr wrap="none" rtlCol="0">
            <a:spAutoFit/>
          </a:bodyPr>
          <a:lstStyle/>
          <a:p>
            <a:r>
              <a:rPr lang="en-US" noProof="0" dirty="0"/>
              <a:t>Julian </a:t>
            </a:r>
            <a:r>
              <a:rPr lang="en-US" b="1" noProof="0" dirty="0"/>
              <a:t>Frattini</a:t>
            </a:r>
            <a:r>
              <a:rPr lang="en-US" noProof="0" dirty="0"/>
              <a:t>, Ph.D.</a:t>
            </a:r>
          </a:p>
          <a:p>
            <a:r>
              <a:rPr lang="en-US" noProof="0" dirty="0">
                <a:solidFill>
                  <a:schemeClr val="tx1">
                    <a:lumMod val="50000"/>
                    <a:lumOff val="50000"/>
                  </a:schemeClr>
                </a:solidFill>
              </a:rPr>
              <a:t>Chalmers University of Technology, Sweden</a:t>
            </a:r>
          </a:p>
          <a:p>
            <a:r>
              <a:rPr lang="en-US" noProof="0" dirty="0">
                <a:hlinkClick r:id="rId4"/>
              </a:rPr>
              <a:t>https://julianfrattini.github.io/</a:t>
            </a:r>
            <a:r>
              <a:rPr lang="en-US" noProof="0" dirty="0"/>
              <a:t> </a:t>
            </a:r>
          </a:p>
        </p:txBody>
      </p:sp>
      <p:sp>
        <p:nvSpPr>
          <p:cNvPr id="12" name="Oval 11">
            <a:extLst>
              <a:ext uri="{FF2B5EF4-FFF2-40B4-BE49-F238E27FC236}">
                <a16:creationId xmlns:a16="http://schemas.microsoft.com/office/drawing/2014/main" id="{492E9483-BEDA-C731-B7BE-ABF0A5518387}"/>
              </a:ext>
            </a:extLst>
          </p:cNvPr>
          <p:cNvSpPr/>
          <p:nvPr/>
        </p:nvSpPr>
        <p:spPr>
          <a:xfrm>
            <a:off x="715676" y="5303105"/>
            <a:ext cx="1080000" cy="10800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579BBCC2-696B-4EE1-4FE4-2E4411C0F251}"/>
              </a:ext>
            </a:extLst>
          </p:cNvPr>
          <p:cNvGrpSpPr/>
          <p:nvPr/>
        </p:nvGrpSpPr>
        <p:grpSpPr>
          <a:xfrm>
            <a:off x="7967672" y="5336710"/>
            <a:ext cx="3533766" cy="444265"/>
            <a:chOff x="7967672" y="5336710"/>
            <a:chExt cx="3533766" cy="444265"/>
          </a:xfrm>
        </p:grpSpPr>
        <p:grpSp>
          <p:nvGrpSpPr>
            <p:cNvPr id="6" name="Group 5">
              <a:extLst>
                <a:ext uri="{FF2B5EF4-FFF2-40B4-BE49-F238E27FC236}">
                  <a16:creationId xmlns:a16="http://schemas.microsoft.com/office/drawing/2014/main" id="{ACCE08EC-E9A8-C79D-4C75-8B6A9708A3FB}"/>
                </a:ext>
              </a:extLst>
            </p:cNvPr>
            <p:cNvGrpSpPr/>
            <p:nvPr/>
          </p:nvGrpSpPr>
          <p:grpSpPr>
            <a:xfrm>
              <a:off x="7967672" y="5370114"/>
              <a:ext cx="3508652" cy="369332"/>
              <a:chOff x="7896235" y="5406529"/>
              <a:chExt cx="3508652" cy="369332"/>
            </a:xfrm>
          </p:grpSpPr>
          <p:pic>
            <p:nvPicPr>
              <p:cNvPr id="8" name="Picture 7" descr="A black background with a black square&#10;&#10;Description automatically generated with medium confidence">
                <a:extLst>
                  <a:ext uri="{FF2B5EF4-FFF2-40B4-BE49-F238E27FC236}">
                    <a16:creationId xmlns:a16="http://schemas.microsoft.com/office/drawing/2014/main" id="{865BDC89-0957-2AB2-5308-DA5566DFCF2B}"/>
                  </a:ext>
                </a:extLst>
              </p:cNvPr>
              <p:cNvPicPr>
                <a:picLocks noChangeAspect="1"/>
              </p:cNvPicPr>
              <p:nvPr/>
            </p:nvPicPr>
            <p:blipFill>
              <a:blip r:embed="rId6"/>
              <a:stretch>
                <a:fillRect/>
              </a:stretch>
            </p:blipFill>
            <p:spPr>
              <a:xfrm>
                <a:off x="7896235" y="5422888"/>
                <a:ext cx="344101" cy="344101"/>
              </a:xfrm>
              <a:prstGeom prst="rect">
                <a:avLst/>
              </a:prstGeom>
            </p:spPr>
          </p:pic>
          <p:sp>
            <p:nvSpPr>
              <p:cNvPr id="9" name="TextBox 8">
                <a:extLst>
                  <a:ext uri="{FF2B5EF4-FFF2-40B4-BE49-F238E27FC236}">
                    <a16:creationId xmlns:a16="http://schemas.microsoft.com/office/drawing/2014/main" id="{045BE95E-49F9-842E-7B93-BDF91E09C7D3}"/>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0" name="Rectangle: Rounded Corners 9">
                <a:extLst>
                  <a:ext uri="{FF2B5EF4-FFF2-40B4-BE49-F238E27FC236}">
                    <a16:creationId xmlns:a16="http://schemas.microsoft.com/office/drawing/2014/main" id="{1E137170-F20B-D8DB-3856-32092459914B}"/>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7" name="Rectangle 6">
              <a:hlinkClick r:id="rId7"/>
              <a:extLst>
                <a:ext uri="{FF2B5EF4-FFF2-40B4-BE49-F238E27FC236}">
                  <a16:creationId xmlns:a16="http://schemas.microsoft.com/office/drawing/2014/main" id="{1523D628-A64F-768E-A385-ECA75D07160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219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4580F-ED55-3FF2-B66E-877B0F10212E}"/>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6887FF04-F839-4D8E-FD3B-3D1EAE1D8E8F}"/>
              </a:ext>
            </a:extLst>
          </p:cNvPr>
          <p:cNvGraphicFramePr>
            <a:graphicFrameLocks noGrp="1"/>
          </p:cNvGraphicFramePr>
          <p:nvPr/>
        </p:nvGraphicFramePr>
        <p:xfrm>
          <a:off x="838200" y="4688540"/>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434286969"/>
                    </a:ext>
                  </a:extLst>
                </a:gridCol>
                <a:gridCol w="4233488">
                  <a:extLst>
                    <a:ext uri="{9D8B030D-6E8A-4147-A177-3AD203B41FA5}">
                      <a16:colId xmlns:a16="http://schemas.microsoft.com/office/drawing/2014/main" val="2345229328"/>
                    </a:ext>
                  </a:extLst>
                </a:gridCol>
              </a:tblGrid>
              <a:tr h="370840">
                <a:tc>
                  <a:txBody>
                    <a:bodyPr/>
                    <a:lstStyle/>
                    <a:p>
                      <a:r>
                        <a:rPr lang="en-SE" dirty="0">
                          <a:solidFill>
                            <a:schemeClr val="tx1">
                              <a:lumMod val="75000"/>
                              <a:lumOff val="25000"/>
                            </a:schemeClr>
                          </a:solidFill>
                        </a:rPr>
                        <a:t>2025 - 2029</a:t>
                      </a:r>
                    </a:p>
                  </a:txBody>
                  <a:tcPr/>
                </a:tc>
                <a:tc>
                  <a:txBody>
                    <a:bodyPr/>
                    <a:lstStyle/>
                    <a:p>
                      <a:r>
                        <a:rPr lang="en-SE" b="1" dirty="0"/>
                        <a:t>Postdoctoral Researcher</a:t>
                      </a:r>
                    </a:p>
                  </a:txBody>
                  <a:tcPr/>
                </a:tc>
                <a:extLst>
                  <a:ext uri="{0D108BD9-81ED-4DB2-BD59-A6C34878D82A}">
                    <a16:rowId xmlns:a16="http://schemas.microsoft.com/office/drawing/2014/main" val="2723834046"/>
                  </a:ext>
                </a:extLst>
              </a:tr>
              <a:tr h="370840">
                <a:tc>
                  <a:txBody>
                    <a:bodyPr/>
                    <a:lstStyle/>
                    <a:p>
                      <a:endParaRPr lang="en-SE" dirty="0"/>
                    </a:p>
                  </a:txBody>
                  <a:tcPr/>
                </a:tc>
                <a:tc>
                  <a:txBody>
                    <a:bodyPr/>
                    <a:lstStyle/>
                    <a:p>
                      <a:r>
                        <a:rPr lang="en-SE" dirty="0"/>
                        <a:t>       Chalmers University of Technology, Gothenburg, Sweden</a:t>
                      </a:r>
                    </a:p>
                  </a:txBody>
                  <a:tcPr/>
                </a:tc>
                <a:extLst>
                  <a:ext uri="{0D108BD9-81ED-4DB2-BD59-A6C34878D82A}">
                    <a16:rowId xmlns:a16="http://schemas.microsoft.com/office/drawing/2014/main" val="4280634408"/>
                  </a:ext>
                </a:extLst>
              </a:tr>
            </a:tbl>
          </a:graphicData>
        </a:graphic>
      </p:graphicFrame>
      <p:graphicFrame>
        <p:nvGraphicFramePr>
          <p:cNvPr id="10" name="Table 9">
            <a:extLst>
              <a:ext uri="{FF2B5EF4-FFF2-40B4-BE49-F238E27FC236}">
                <a16:creationId xmlns:a16="http://schemas.microsoft.com/office/drawing/2014/main" id="{46366708-4D77-633E-1F07-8D1E2E36FCCE}"/>
              </a:ext>
            </a:extLst>
          </p:cNvPr>
          <p:cNvGraphicFramePr>
            <a:graphicFrameLocks noGrp="1"/>
          </p:cNvGraphicFramePr>
          <p:nvPr/>
        </p:nvGraphicFramePr>
        <p:xfrm>
          <a:off x="838200" y="3677620"/>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1134552804"/>
                    </a:ext>
                  </a:extLst>
                </a:gridCol>
                <a:gridCol w="4233488">
                  <a:extLst>
                    <a:ext uri="{9D8B030D-6E8A-4147-A177-3AD203B41FA5}">
                      <a16:colId xmlns:a16="http://schemas.microsoft.com/office/drawing/2014/main" val="3504993548"/>
                    </a:ext>
                  </a:extLst>
                </a:gridCol>
              </a:tblGrid>
              <a:tr h="370840">
                <a:tc>
                  <a:txBody>
                    <a:bodyPr/>
                    <a:lstStyle/>
                    <a:p>
                      <a:r>
                        <a:rPr lang="de-DE" dirty="0">
                          <a:solidFill>
                            <a:schemeClr val="tx1">
                              <a:lumMod val="75000"/>
                              <a:lumOff val="25000"/>
                            </a:schemeClr>
                          </a:solidFill>
                        </a:rPr>
                        <a:t>2020 – 2025</a:t>
                      </a:r>
                      <a:endParaRPr lang="en-SE" dirty="0">
                        <a:solidFill>
                          <a:schemeClr val="tx1">
                            <a:lumMod val="75000"/>
                            <a:lumOff val="25000"/>
                          </a:schemeClr>
                        </a:solidFill>
                      </a:endParaRPr>
                    </a:p>
                  </a:txBody>
                  <a:tcPr/>
                </a:tc>
                <a:tc>
                  <a:txBody>
                    <a:bodyPr/>
                    <a:lstStyle/>
                    <a:p>
                      <a:r>
                        <a:rPr lang="de-DE" b="1" dirty="0" err="1"/>
                        <a:t>Ph.D</a:t>
                      </a:r>
                      <a:r>
                        <a:rPr lang="de-DE" b="1" dirty="0"/>
                        <a:t>. </a:t>
                      </a:r>
                      <a:r>
                        <a:rPr lang="en-SE" b="1" dirty="0"/>
                        <a:t>Student</a:t>
                      </a:r>
                    </a:p>
                  </a:txBody>
                  <a:tcPr/>
                </a:tc>
                <a:extLst>
                  <a:ext uri="{0D108BD9-81ED-4DB2-BD59-A6C34878D82A}">
                    <a16:rowId xmlns:a16="http://schemas.microsoft.com/office/drawing/2014/main" val="1993555051"/>
                  </a:ext>
                </a:extLst>
              </a:tr>
              <a:tr h="370840">
                <a:tc>
                  <a:txBody>
                    <a:bodyPr/>
                    <a:lstStyle/>
                    <a:p>
                      <a:endParaRPr lang="en-SE" dirty="0"/>
                    </a:p>
                  </a:txBody>
                  <a:tcPr/>
                </a:tc>
                <a:tc>
                  <a:txBody>
                    <a:bodyPr/>
                    <a:lstStyle/>
                    <a:p>
                      <a:r>
                        <a:rPr lang="en-SE" dirty="0"/>
                        <a:t>       </a:t>
                      </a:r>
                      <a:r>
                        <a:rPr lang="de-DE" dirty="0"/>
                        <a:t>Blekinge Institute of Technolog</a:t>
                      </a:r>
                      <a:r>
                        <a:rPr lang="en-SE" dirty="0"/>
                        <a:t>y, Karlskrona, Sweden</a:t>
                      </a:r>
                    </a:p>
                  </a:txBody>
                  <a:tcPr/>
                </a:tc>
                <a:extLst>
                  <a:ext uri="{0D108BD9-81ED-4DB2-BD59-A6C34878D82A}">
                    <a16:rowId xmlns:a16="http://schemas.microsoft.com/office/drawing/2014/main" val="3597508422"/>
                  </a:ext>
                </a:extLst>
              </a:tr>
            </a:tbl>
          </a:graphicData>
        </a:graphic>
      </p:graphicFrame>
      <p:sp>
        <p:nvSpPr>
          <p:cNvPr id="2" name="Title 1">
            <a:extLst>
              <a:ext uri="{FF2B5EF4-FFF2-40B4-BE49-F238E27FC236}">
                <a16:creationId xmlns:a16="http://schemas.microsoft.com/office/drawing/2014/main" id="{1AC37F8E-97C2-0940-AAFB-2EC2FDFC9613}"/>
              </a:ext>
            </a:extLst>
          </p:cNvPr>
          <p:cNvSpPr>
            <a:spLocks noGrp="1"/>
          </p:cNvSpPr>
          <p:nvPr>
            <p:ph type="title"/>
          </p:nvPr>
        </p:nvSpPr>
        <p:spPr/>
        <p:txBody>
          <a:bodyPr/>
          <a:lstStyle/>
          <a:p>
            <a:r>
              <a:rPr lang="en-SE" b="1" dirty="0"/>
              <a:t>Julian Frattini </a:t>
            </a:r>
            <a:r>
              <a:rPr lang="en-SE" dirty="0">
                <a:solidFill>
                  <a:schemeClr val="tx1">
                    <a:lumMod val="65000"/>
                    <a:lumOff val="35000"/>
                  </a:schemeClr>
                </a:solidFill>
              </a:rPr>
              <a:t>// about me</a:t>
            </a:r>
          </a:p>
        </p:txBody>
      </p:sp>
      <p:sp>
        <p:nvSpPr>
          <p:cNvPr id="4" name="Date Placeholder 3">
            <a:extLst>
              <a:ext uri="{FF2B5EF4-FFF2-40B4-BE49-F238E27FC236}">
                <a16:creationId xmlns:a16="http://schemas.microsoft.com/office/drawing/2014/main" id="{4DE965F7-F09D-38ED-BE61-1CFF0E432C7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B39A5E70-06AE-AC6E-11C3-23CA2B179A9F}"/>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B2F2DD34-7021-927C-56E5-3B5BF05828C2}"/>
              </a:ext>
            </a:extLst>
          </p:cNvPr>
          <p:cNvSpPr>
            <a:spLocks noGrp="1"/>
          </p:cNvSpPr>
          <p:nvPr>
            <p:ph type="sldNum" sz="quarter" idx="12"/>
          </p:nvPr>
        </p:nvSpPr>
        <p:spPr/>
        <p:txBody>
          <a:bodyPr/>
          <a:lstStyle/>
          <a:p>
            <a:fld id="{0FA2D919-C0DE-4971-A2E9-D4AC0031921B}" type="slidenum">
              <a:rPr lang="en-US" smtClean="0"/>
              <a:t>2</a:t>
            </a:fld>
            <a:endParaRPr lang="en-US"/>
          </a:p>
        </p:txBody>
      </p:sp>
      <p:pic>
        <p:nvPicPr>
          <p:cNvPr id="1026" name="Picture 2">
            <a:extLst>
              <a:ext uri="{FF2B5EF4-FFF2-40B4-BE49-F238E27FC236}">
                <a16:creationId xmlns:a16="http://schemas.microsoft.com/office/drawing/2014/main" id="{68E563E7-04C6-C304-B5CD-EE0EB468D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690688"/>
            <a:ext cx="5943600" cy="454609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73F3E252-0C3D-965D-5D69-EABFC1CE6924}"/>
              </a:ext>
            </a:extLst>
          </p:cNvPr>
          <p:cNvGrpSpPr/>
          <p:nvPr/>
        </p:nvGrpSpPr>
        <p:grpSpPr>
          <a:xfrm>
            <a:off x="7997469" y="4290009"/>
            <a:ext cx="432000" cy="540000"/>
            <a:chOff x="7861738" y="4290009"/>
            <a:chExt cx="432000" cy="540000"/>
          </a:xfrm>
        </p:grpSpPr>
        <p:sp>
          <p:nvSpPr>
            <p:cNvPr id="11" name="Flowchart: Off-page Connector 10">
              <a:extLst>
                <a:ext uri="{FF2B5EF4-FFF2-40B4-BE49-F238E27FC236}">
                  <a16:creationId xmlns:a16="http://schemas.microsoft.com/office/drawing/2014/main" id="{3616D55A-30B0-6C25-1CF7-B5251E619118}"/>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032" name="Picture 8" descr="Technical University of Munich (TUM) · GitHub">
              <a:extLst>
                <a:ext uri="{FF2B5EF4-FFF2-40B4-BE49-F238E27FC236}">
                  <a16:creationId xmlns:a16="http://schemas.microsoft.com/office/drawing/2014/main" id="{77A0EC93-D59A-9CC7-246A-352C8D138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7738" y="4330490"/>
              <a:ext cx="360000" cy="36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2CEC1183-2048-1D7C-2FBF-C2DAC1DEA60E}"/>
              </a:ext>
            </a:extLst>
          </p:cNvPr>
          <p:cNvGrpSpPr/>
          <p:nvPr/>
        </p:nvGrpSpPr>
        <p:grpSpPr>
          <a:xfrm>
            <a:off x="8240357" y="3420226"/>
            <a:ext cx="432000" cy="540000"/>
            <a:chOff x="7861738" y="4290009"/>
            <a:chExt cx="432000" cy="540000"/>
          </a:xfrm>
        </p:grpSpPr>
        <p:sp>
          <p:nvSpPr>
            <p:cNvPr id="14" name="Flowchart: Off-page Connector 13">
              <a:extLst>
                <a:ext uri="{FF2B5EF4-FFF2-40B4-BE49-F238E27FC236}">
                  <a16:creationId xmlns:a16="http://schemas.microsoft.com/office/drawing/2014/main" id="{16691E3F-7E77-891E-6AB9-E67592F63DFE}"/>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Picture 8">
              <a:extLst>
                <a:ext uri="{FF2B5EF4-FFF2-40B4-BE49-F238E27FC236}">
                  <a16:creationId xmlns:a16="http://schemas.microsoft.com/office/drawing/2014/main" id="{53B07F32-5A28-86CB-2D82-0FB3379411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897738" y="4331990"/>
              <a:ext cx="360000" cy="357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4BFBC387-11D8-5C1A-76F0-20215A6AE410}"/>
              </a:ext>
            </a:extLst>
          </p:cNvPr>
          <p:cNvGrpSpPr/>
          <p:nvPr/>
        </p:nvGrpSpPr>
        <p:grpSpPr>
          <a:xfrm>
            <a:off x="8006557" y="3297320"/>
            <a:ext cx="432000" cy="540000"/>
            <a:chOff x="7861738" y="4290009"/>
            <a:chExt cx="432000" cy="540000"/>
          </a:xfrm>
        </p:grpSpPr>
        <p:sp>
          <p:nvSpPr>
            <p:cNvPr id="17" name="Flowchart: Off-page Connector 16">
              <a:extLst>
                <a:ext uri="{FF2B5EF4-FFF2-40B4-BE49-F238E27FC236}">
                  <a16:creationId xmlns:a16="http://schemas.microsoft.com/office/drawing/2014/main" id="{81545D64-F598-C2E1-481A-1B0538C08545}"/>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Picture 8">
              <a:extLst>
                <a:ext uri="{FF2B5EF4-FFF2-40B4-BE49-F238E27FC236}">
                  <a16:creationId xmlns:a16="http://schemas.microsoft.com/office/drawing/2014/main" id="{01C1D325-D280-4EB8-F0DB-0857E84553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7897738" y="4340465"/>
              <a:ext cx="360000" cy="34005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 name="Table 2">
            <a:extLst>
              <a:ext uri="{FF2B5EF4-FFF2-40B4-BE49-F238E27FC236}">
                <a16:creationId xmlns:a16="http://schemas.microsoft.com/office/drawing/2014/main" id="{18D7D87C-7A74-8471-AF45-41E6B530CD24}"/>
              </a:ext>
            </a:extLst>
          </p:cNvPr>
          <p:cNvGraphicFramePr>
            <a:graphicFrameLocks noGrp="1"/>
          </p:cNvGraphicFramePr>
          <p:nvPr/>
        </p:nvGraphicFramePr>
        <p:xfrm>
          <a:off x="838200" y="2676825"/>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739994605"/>
                    </a:ext>
                  </a:extLst>
                </a:gridCol>
                <a:gridCol w="4233488">
                  <a:extLst>
                    <a:ext uri="{9D8B030D-6E8A-4147-A177-3AD203B41FA5}">
                      <a16:colId xmlns:a16="http://schemas.microsoft.com/office/drawing/2014/main" val="1592377813"/>
                    </a:ext>
                  </a:extLst>
                </a:gridCol>
              </a:tblGrid>
              <a:tr h="370840">
                <a:tc>
                  <a:txBody>
                    <a:bodyPr/>
                    <a:lstStyle/>
                    <a:p>
                      <a:r>
                        <a:rPr lang="en-SE" dirty="0">
                          <a:solidFill>
                            <a:schemeClr val="tx1">
                              <a:lumMod val="75000"/>
                              <a:lumOff val="25000"/>
                            </a:schemeClr>
                          </a:solidFill>
                        </a:rPr>
                        <a:t>2013 - 2019</a:t>
                      </a:r>
                    </a:p>
                  </a:txBody>
                  <a:tcPr/>
                </a:tc>
                <a:tc>
                  <a:txBody>
                    <a:bodyPr/>
                    <a:lstStyle/>
                    <a:p>
                      <a:r>
                        <a:rPr lang="en-SE" b="1" dirty="0"/>
                        <a:t>Bachelor &amp; Master of Science</a:t>
                      </a:r>
                    </a:p>
                  </a:txBody>
                  <a:tcPr/>
                </a:tc>
                <a:extLst>
                  <a:ext uri="{0D108BD9-81ED-4DB2-BD59-A6C34878D82A}">
                    <a16:rowId xmlns:a16="http://schemas.microsoft.com/office/drawing/2014/main" val="2960308708"/>
                  </a:ext>
                </a:extLst>
              </a:tr>
              <a:tr h="370840">
                <a:tc>
                  <a:txBody>
                    <a:bodyPr/>
                    <a:lstStyle/>
                    <a:p>
                      <a:endParaRPr lang="en-SE" dirty="0"/>
                    </a:p>
                  </a:txBody>
                  <a:tcPr/>
                </a:tc>
                <a:tc>
                  <a:txBody>
                    <a:bodyPr/>
                    <a:lstStyle/>
                    <a:p>
                      <a:r>
                        <a:rPr lang="en-SE" dirty="0"/>
                        <a:t>       Technical University of Munich, </a:t>
                      </a:r>
                    </a:p>
                    <a:p>
                      <a:r>
                        <a:rPr lang="en-SE" dirty="0"/>
                        <a:t>Munich, Germany</a:t>
                      </a:r>
                    </a:p>
                  </a:txBody>
                  <a:tcPr/>
                </a:tc>
                <a:extLst>
                  <a:ext uri="{0D108BD9-81ED-4DB2-BD59-A6C34878D82A}">
                    <a16:rowId xmlns:a16="http://schemas.microsoft.com/office/drawing/2014/main" val="1621492810"/>
                  </a:ext>
                </a:extLst>
              </a:tr>
            </a:tbl>
          </a:graphicData>
        </a:graphic>
      </p:graphicFrame>
      <p:pic>
        <p:nvPicPr>
          <p:cNvPr id="7" name="Picture 2">
            <a:hlinkClick r:id="rId6"/>
            <a:extLst>
              <a:ext uri="{FF2B5EF4-FFF2-40B4-BE49-F238E27FC236}">
                <a16:creationId xmlns:a16="http://schemas.microsoft.com/office/drawing/2014/main" id="{DB2B0C08-2A84-11A3-6A4C-3C0A0A9100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4957" y="3154680"/>
            <a:ext cx="3048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hlinkClick r:id="rId8"/>
            <a:extLst>
              <a:ext uri="{FF2B5EF4-FFF2-40B4-BE49-F238E27FC236}">
                <a16:creationId xmlns:a16="http://schemas.microsoft.com/office/drawing/2014/main" id="{0B92AB39-7C43-0596-FD59-99A1D23719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4957" y="408377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hlinkClick r:id="rId8"/>
            <a:extLst>
              <a:ext uri="{FF2B5EF4-FFF2-40B4-BE49-F238E27FC236}">
                <a16:creationId xmlns:a16="http://schemas.microsoft.com/office/drawing/2014/main" id="{A1691886-7E95-45FD-7D98-C69CF0B2FE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6650" y="5089610"/>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539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47"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250"/>
                                        <p:tgtEl>
                                          <p:spTgt spid="12"/>
                                        </p:tgtEl>
                                      </p:cBhvr>
                                    </p:animEffect>
                                    <p:anim calcmode="lin" valueType="num">
                                      <p:cBhvr>
                                        <p:cTn id="12" dur="250" fill="hold"/>
                                        <p:tgtEl>
                                          <p:spTgt spid="12"/>
                                        </p:tgtEl>
                                        <p:attrNameLst>
                                          <p:attrName>ppt_x</p:attrName>
                                        </p:attrNameLst>
                                      </p:cBhvr>
                                      <p:tavLst>
                                        <p:tav tm="0">
                                          <p:val>
                                            <p:strVal val="#ppt_x"/>
                                          </p:val>
                                        </p:tav>
                                        <p:tav tm="100000">
                                          <p:val>
                                            <p:strVal val="#ppt_x"/>
                                          </p:val>
                                        </p:tav>
                                      </p:tavLst>
                                    </p:anim>
                                    <p:anim calcmode="lin" valueType="num">
                                      <p:cBhvr>
                                        <p:cTn id="13" dur="2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28"/>
                                        </p:tgtEl>
                                        <p:attrNameLst>
                                          <p:attrName>style.visibility</p:attrName>
                                        </p:attrNameLst>
                                      </p:cBhvr>
                                      <p:to>
                                        <p:strVal val="visible"/>
                                      </p:to>
                                    </p:set>
                                  </p:childTnLst>
                                </p:cTn>
                              </p:par>
                              <p:par>
                                <p:cTn id="20" presetID="47"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anim calcmode="lin" valueType="num">
                                      <p:cBhvr>
                                        <p:cTn id="23" dur="250" fill="hold"/>
                                        <p:tgtEl>
                                          <p:spTgt spid="13"/>
                                        </p:tgtEl>
                                        <p:attrNameLst>
                                          <p:attrName>ppt_x</p:attrName>
                                        </p:attrNameLst>
                                      </p:cBhvr>
                                      <p:tavLst>
                                        <p:tav tm="0">
                                          <p:val>
                                            <p:strVal val="#ppt_x"/>
                                          </p:val>
                                        </p:tav>
                                        <p:tav tm="100000">
                                          <p:val>
                                            <p:strVal val="#ppt_x"/>
                                          </p:val>
                                        </p:tav>
                                      </p:tavLst>
                                    </p:anim>
                                    <p:anim calcmode="lin" valueType="num">
                                      <p:cBhvr>
                                        <p:cTn id="24" dur="25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47"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50"/>
                                        <p:tgtEl>
                                          <p:spTgt spid="16"/>
                                        </p:tgtEl>
                                      </p:cBhvr>
                                    </p:animEffect>
                                    <p:anim calcmode="lin" valueType="num">
                                      <p:cBhvr>
                                        <p:cTn id="34" dur="250" fill="hold"/>
                                        <p:tgtEl>
                                          <p:spTgt spid="16"/>
                                        </p:tgtEl>
                                        <p:attrNameLst>
                                          <p:attrName>ppt_x</p:attrName>
                                        </p:attrNameLst>
                                      </p:cBhvr>
                                      <p:tavLst>
                                        <p:tav tm="0">
                                          <p:val>
                                            <p:strVal val="#ppt_x"/>
                                          </p:val>
                                        </p:tav>
                                        <p:tav tm="100000">
                                          <p:val>
                                            <p:strVal val="#ppt_x"/>
                                          </p:val>
                                        </p:tav>
                                      </p:tavLst>
                                    </p:anim>
                                    <p:anim calcmode="lin" valueType="num">
                                      <p:cBhvr>
                                        <p:cTn id="35" dur="2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5037-967D-2E5C-D288-71C4BF1EA7F7}"/>
              </a:ext>
            </a:extLst>
          </p:cNvPr>
          <p:cNvSpPr>
            <a:spLocks noGrp="1"/>
          </p:cNvSpPr>
          <p:nvPr>
            <p:ph type="title"/>
          </p:nvPr>
        </p:nvSpPr>
        <p:spPr/>
        <p:txBody>
          <a:bodyPr/>
          <a:lstStyle/>
          <a:p>
            <a:r>
              <a:rPr lang="en-SE" b="1" dirty="0"/>
              <a:t>Julian Frattini </a:t>
            </a:r>
            <a:r>
              <a:rPr lang="en-SE" dirty="0">
                <a:solidFill>
                  <a:schemeClr val="tx1">
                    <a:lumMod val="65000"/>
                    <a:lumOff val="35000"/>
                  </a:schemeClr>
                </a:solidFill>
              </a:rPr>
              <a:t>// about my research</a:t>
            </a:r>
            <a:endParaRPr lang="en-SE" dirty="0"/>
          </a:p>
        </p:txBody>
      </p:sp>
      <p:sp>
        <p:nvSpPr>
          <p:cNvPr id="4" name="Date Placeholder 3">
            <a:extLst>
              <a:ext uri="{FF2B5EF4-FFF2-40B4-BE49-F238E27FC236}">
                <a16:creationId xmlns:a16="http://schemas.microsoft.com/office/drawing/2014/main" id="{69E3E6FF-11D6-0515-FB73-130181AF9E1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79546E2E-0842-EB26-9D7D-CAA8067EB26E}"/>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6ED6595F-D83A-CFEA-CFC4-052D2057A5F7}"/>
              </a:ext>
            </a:extLst>
          </p:cNvPr>
          <p:cNvSpPr>
            <a:spLocks noGrp="1"/>
          </p:cNvSpPr>
          <p:nvPr>
            <p:ph type="sldNum" sz="quarter" idx="12"/>
          </p:nvPr>
        </p:nvSpPr>
        <p:spPr/>
        <p:txBody>
          <a:bodyPr/>
          <a:lstStyle/>
          <a:p>
            <a:fld id="{0FA2D919-C0DE-4971-A2E9-D4AC0031921B}" type="slidenum">
              <a:rPr lang="en-US" smtClean="0"/>
              <a:t>3</a:t>
            </a:fld>
            <a:endParaRPr lang="en-US"/>
          </a:p>
        </p:txBody>
      </p:sp>
      <p:grpSp>
        <p:nvGrpSpPr>
          <p:cNvPr id="15" name="Group 14">
            <a:extLst>
              <a:ext uri="{FF2B5EF4-FFF2-40B4-BE49-F238E27FC236}">
                <a16:creationId xmlns:a16="http://schemas.microsoft.com/office/drawing/2014/main" id="{CB1C7CDA-093D-E147-88FD-69F6F3C5BCCA}"/>
              </a:ext>
            </a:extLst>
          </p:cNvPr>
          <p:cNvGrpSpPr/>
          <p:nvPr/>
        </p:nvGrpSpPr>
        <p:grpSpPr>
          <a:xfrm>
            <a:off x="1276577" y="1986844"/>
            <a:ext cx="9638845" cy="1260000"/>
            <a:chOff x="408267" y="1986844"/>
            <a:chExt cx="9638845" cy="1260000"/>
          </a:xfrm>
          <a:effectLst>
            <a:outerShdw blurRad="50800" dist="38100" dir="2700000" algn="tl" rotWithShape="0">
              <a:prstClr val="black">
                <a:alpha val="40000"/>
              </a:prstClr>
            </a:outerShdw>
          </a:effectLst>
        </p:grpSpPr>
        <p:sp>
          <p:nvSpPr>
            <p:cNvPr id="7" name="Rectangle: Rounded Corners 6">
              <a:extLst>
                <a:ext uri="{FF2B5EF4-FFF2-40B4-BE49-F238E27FC236}">
                  <a16:creationId xmlns:a16="http://schemas.microsoft.com/office/drawing/2014/main" id="{C7818B4D-625B-89FD-E9AB-64A277DFE531}"/>
                </a:ext>
              </a:extLst>
            </p:cNvPr>
            <p:cNvSpPr/>
            <p:nvPr/>
          </p:nvSpPr>
          <p:spPr>
            <a:xfrm>
              <a:off x="948268" y="1986844"/>
              <a:ext cx="9098844" cy="1260000"/>
            </a:xfrm>
            <a:prstGeom prst="roundRect">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t>Good-enough Requirements Engineering</a:t>
              </a:r>
            </a:p>
            <a:p>
              <a:r>
                <a:rPr lang="en-SE" dirty="0"/>
                <a:t>Quantifying the effect of quality factors of requirements artifacts on downstream software development activities</a:t>
              </a:r>
            </a:p>
          </p:txBody>
        </p:sp>
        <p:grpSp>
          <p:nvGrpSpPr>
            <p:cNvPr id="14" name="Group 13">
              <a:extLst>
                <a:ext uri="{FF2B5EF4-FFF2-40B4-BE49-F238E27FC236}">
                  <a16:creationId xmlns:a16="http://schemas.microsoft.com/office/drawing/2014/main" id="{5190160C-E7B1-DDE8-DA9F-ADBFEB30256B}"/>
                </a:ext>
              </a:extLst>
            </p:cNvPr>
            <p:cNvGrpSpPr/>
            <p:nvPr/>
          </p:nvGrpSpPr>
          <p:grpSpPr>
            <a:xfrm>
              <a:off x="408267" y="2076844"/>
              <a:ext cx="1080000" cy="1080000"/>
              <a:chOff x="408267" y="2076844"/>
              <a:chExt cx="1080000" cy="1080000"/>
            </a:xfrm>
          </p:grpSpPr>
          <p:sp>
            <p:nvSpPr>
              <p:cNvPr id="10" name="Oval 9">
                <a:extLst>
                  <a:ext uri="{FF2B5EF4-FFF2-40B4-BE49-F238E27FC236}">
                    <a16:creationId xmlns:a16="http://schemas.microsoft.com/office/drawing/2014/main" id="{34A6AC9B-8FCD-E23C-EBFE-A5E24AB1E61B}"/>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Document with solid fill">
                <a:extLst>
                  <a:ext uri="{FF2B5EF4-FFF2-40B4-BE49-F238E27FC236}">
                    <a16:creationId xmlns:a16="http://schemas.microsoft.com/office/drawing/2014/main" id="{0904D603-1F42-91FB-75D8-B2158A29FD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1067" y="2159644"/>
                <a:ext cx="914400" cy="914400"/>
              </a:xfrm>
              <a:prstGeom prst="rect">
                <a:avLst/>
              </a:prstGeom>
            </p:spPr>
          </p:pic>
        </p:grpSp>
      </p:grpSp>
      <p:grpSp>
        <p:nvGrpSpPr>
          <p:cNvPr id="16" name="Group 15">
            <a:extLst>
              <a:ext uri="{FF2B5EF4-FFF2-40B4-BE49-F238E27FC236}">
                <a16:creationId xmlns:a16="http://schemas.microsoft.com/office/drawing/2014/main" id="{588F82A9-163D-D4B3-1EF5-C59B5CEBC245}"/>
              </a:ext>
            </a:extLst>
          </p:cNvPr>
          <p:cNvGrpSpPr/>
          <p:nvPr/>
        </p:nvGrpSpPr>
        <p:grpSpPr>
          <a:xfrm>
            <a:off x="1276577" y="3419563"/>
            <a:ext cx="9638845" cy="1260000"/>
            <a:chOff x="408267" y="1986844"/>
            <a:chExt cx="9638845" cy="1260000"/>
          </a:xfrm>
          <a:effectLst>
            <a:outerShdw blurRad="50800" dist="38100" dir="2700000" algn="tl" rotWithShape="0">
              <a:prstClr val="black">
                <a:alpha val="40000"/>
              </a:prstClr>
            </a:outerShdw>
          </a:effectLst>
        </p:grpSpPr>
        <p:sp>
          <p:nvSpPr>
            <p:cNvPr id="17" name="Rectangle: Rounded Corners 16">
              <a:extLst>
                <a:ext uri="{FF2B5EF4-FFF2-40B4-BE49-F238E27FC236}">
                  <a16:creationId xmlns:a16="http://schemas.microsoft.com/office/drawing/2014/main" id="{F6F454A6-8162-5633-812E-A06ABE7510E6}"/>
                </a:ext>
              </a:extLst>
            </p:cNvPr>
            <p:cNvSpPr/>
            <p:nvPr/>
          </p:nvSpPr>
          <p:spPr>
            <a:xfrm>
              <a:off x="948268" y="1986844"/>
              <a:ext cx="9098844" cy="1260000"/>
            </a:xfrm>
            <a:prstGeom prst="roundRect">
              <a:avLst/>
            </a:prstGeom>
            <a:solidFill>
              <a:schemeClr val="accent6">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t>Hybrid-AI Software Engineering</a:t>
              </a:r>
            </a:p>
            <a:p>
              <a:r>
                <a:rPr lang="en-SE" dirty="0"/>
                <a:t>Understanding the interface between traditional and data-driven software components in a hybrid software system.</a:t>
              </a:r>
            </a:p>
          </p:txBody>
        </p:sp>
        <p:grpSp>
          <p:nvGrpSpPr>
            <p:cNvPr id="18" name="Group 17">
              <a:extLst>
                <a:ext uri="{FF2B5EF4-FFF2-40B4-BE49-F238E27FC236}">
                  <a16:creationId xmlns:a16="http://schemas.microsoft.com/office/drawing/2014/main" id="{3DC7CC7A-4CBC-5FF8-E382-B410D1257C11}"/>
                </a:ext>
              </a:extLst>
            </p:cNvPr>
            <p:cNvGrpSpPr/>
            <p:nvPr/>
          </p:nvGrpSpPr>
          <p:grpSpPr>
            <a:xfrm>
              <a:off x="408267" y="2076844"/>
              <a:ext cx="1080000" cy="1080000"/>
              <a:chOff x="408267" y="2076844"/>
              <a:chExt cx="1080000" cy="1080000"/>
            </a:xfrm>
          </p:grpSpPr>
          <p:sp>
            <p:nvSpPr>
              <p:cNvPr id="19" name="Oval 18">
                <a:extLst>
                  <a:ext uri="{FF2B5EF4-FFF2-40B4-BE49-F238E27FC236}">
                    <a16:creationId xmlns:a16="http://schemas.microsoft.com/office/drawing/2014/main" id="{DCADBDAE-E0C8-01E9-C511-FC7F903182ED}"/>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0" name="Graphic 19" descr="Processor with solid fill">
                <a:extLst>
                  <a:ext uri="{FF2B5EF4-FFF2-40B4-BE49-F238E27FC236}">
                    <a16:creationId xmlns:a16="http://schemas.microsoft.com/office/drawing/2014/main" id="{8FD70865-05D0-AA12-7CAE-762EE8F8B57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91067" y="2159644"/>
                <a:ext cx="914400" cy="914400"/>
              </a:xfrm>
              <a:prstGeom prst="rect">
                <a:avLst/>
              </a:prstGeom>
            </p:spPr>
          </p:pic>
        </p:grpSp>
      </p:grpSp>
      <p:grpSp>
        <p:nvGrpSpPr>
          <p:cNvPr id="21" name="Group 20">
            <a:extLst>
              <a:ext uri="{FF2B5EF4-FFF2-40B4-BE49-F238E27FC236}">
                <a16:creationId xmlns:a16="http://schemas.microsoft.com/office/drawing/2014/main" id="{ACFE6CF8-D622-C925-2C40-1EBD1F2D0B5A}"/>
              </a:ext>
            </a:extLst>
          </p:cNvPr>
          <p:cNvGrpSpPr/>
          <p:nvPr/>
        </p:nvGrpSpPr>
        <p:grpSpPr>
          <a:xfrm>
            <a:off x="1276577" y="4852282"/>
            <a:ext cx="9638845" cy="1260000"/>
            <a:chOff x="408267" y="1986844"/>
            <a:chExt cx="9638845" cy="1260000"/>
          </a:xfrm>
          <a:effectLst>
            <a:outerShdw blurRad="50800" dist="38100" dir="2700000" algn="tl" rotWithShape="0">
              <a:prstClr val="black">
                <a:alpha val="40000"/>
              </a:prstClr>
            </a:outerShdw>
          </a:effectLst>
        </p:grpSpPr>
        <p:sp>
          <p:nvSpPr>
            <p:cNvPr id="22" name="Rectangle: Rounded Corners 21">
              <a:extLst>
                <a:ext uri="{FF2B5EF4-FFF2-40B4-BE49-F238E27FC236}">
                  <a16:creationId xmlns:a16="http://schemas.microsoft.com/office/drawing/2014/main" id="{0ED6F147-67CC-2A01-D039-3B34AFFF58B3}"/>
                </a:ext>
              </a:extLst>
            </p:cNvPr>
            <p:cNvSpPr/>
            <p:nvPr/>
          </p:nvSpPr>
          <p:spPr>
            <a:xfrm>
              <a:off x="948268" y="1986844"/>
              <a:ext cx="9098844" cy="1260000"/>
            </a:xfrm>
            <a:prstGeom prst="roundRect">
              <a:avLst/>
            </a:prstGeom>
            <a:solidFill>
              <a:schemeClr val="accent6">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solidFill>
                    <a:schemeClr val="tx1"/>
                  </a:solidFill>
                </a:rPr>
                <a:t>Software Engineering Research Methodology</a:t>
              </a:r>
            </a:p>
            <a:p>
              <a:r>
                <a:rPr lang="en-SE" dirty="0">
                  <a:solidFill>
                    <a:schemeClr val="tx1"/>
                  </a:solidFill>
                </a:rPr>
                <a:t>Improving the methods used in research to produce more rigorous and valid conclusions</a:t>
              </a:r>
            </a:p>
          </p:txBody>
        </p:sp>
        <p:grpSp>
          <p:nvGrpSpPr>
            <p:cNvPr id="23" name="Group 22">
              <a:extLst>
                <a:ext uri="{FF2B5EF4-FFF2-40B4-BE49-F238E27FC236}">
                  <a16:creationId xmlns:a16="http://schemas.microsoft.com/office/drawing/2014/main" id="{CB8453AF-CBAE-29C5-C288-CF92FD2B470C}"/>
                </a:ext>
              </a:extLst>
            </p:cNvPr>
            <p:cNvGrpSpPr/>
            <p:nvPr/>
          </p:nvGrpSpPr>
          <p:grpSpPr>
            <a:xfrm>
              <a:off x="408267" y="2076844"/>
              <a:ext cx="1080000" cy="1080000"/>
              <a:chOff x="408267" y="2076844"/>
              <a:chExt cx="1080000" cy="1080000"/>
            </a:xfrm>
          </p:grpSpPr>
          <p:sp>
            <p:nvSpPr>
              <p:cNvPr id="24" name="Oval 23">
                <a:extLst>
                  <a:ext uri="{FF2B5EF4-FFF2-40B4-BE49-F238E27FC236}">
                    <a16:creationId xmlns:a16="http://schemas.microsoft.com/office/drawing/2014/main" id="{B578FB96-B30D-D783-B246-5A27B977AEF3}"/>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5" name="Graphic 24" descr="Flask with solid fill">
                <a:extLst>
                  <a:ext uri="{FF2B5EF4-FFF2-40B4-BE49-F238E27FC236}">
                    <a16:creationId xmlns:a16="http://schemas.microsoft.com/office/drawing/2014/main" id="{619F5E63-99E6-C6A1-0B57-02684E17FCD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491067" y="2159644"/>
                <a:ext cx="914400" cy="914400"/>
              </a:xfrm>
              <a:prstGeom prst="rect">
                <a:avLst/>
              </a:prstGeom>
            </p:spPr>
          </p:pic>
        </p:grpSp>
      </p:grpSp>
    </p:spTree>
    <p:extLst>
      <p:ext uri="{BB962C8B-B14F-4D97-AF65-F5344CB8AC3E}">
        <p14:creationId xmlns:p14="http://schemas.microsoft.com/office/powerpoint/2010/main" val="2455401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anim calcmode="lin" valueType="num">
                                      <p:cBhvr>
                                        <p:cTn id="15" dur="500" fill="hold"/>
                                        <p:tgtEl>
                                          <p:spTgt spid="16"/>
                                        </p:tgtEl>
                                        <p:attrNameLst>
                                          <p:attrName>ppt_x</p:attrName>
                                        </p:attrNameLst>
                                      </p:cBhvr>
                                      <p:tavLst>
                                        <p:tav tm="0">
                                          <p:val>
                                            <p:strVal val="#ppt_x"/>
                                          </p:val>
                                        </p:tav>
                                        <p:tav tm="100000">
                                          <p:val>
                                            <p:strVal val="#ppt_x"/>
                                          </p:val>
                                        </p:tav>
                                      </p:tavLst>
                                    </p:anim>
                                    <p:anim calcmode="lin" valueType="num">
                                      <p:cBhvr>
                                        <p:cTn id="1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anim calcmode="lin" valueType="num">
                                      <p:cBhvr>
                                        <p:cTn id="22" dur="500" fill="hold"/>
                                        <p:tgtEl>
                                          <p:spTgt spid="21"/>
                                        </p:tgtEl>
                                        <p:attrNameLst>
                                          <p:attrName>ppt_x</p:attrName>
                                        </p:attrNameLst>
                                      </p:cBhvr>
                                      <p:tavLst>
                                        <p:tav tm="0">
                                          <p:val>
                                            <p:strVal val="#ppt_x"/>
                                          </p:val>
                                        </p:tav>
                                        <p:tav tm="100000">
                                          <p:val>
                                            <p:strVal val="#ppt_x"/>
                                          </p:val>
                                        </p:tav>
                                      </p:tavLst>
                                    </p:anim>
                                    <p:anim calcmode="lin" valueType="num">
                                      <p:cBhvr>
                                        <p:cTn id="23"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E5E9469-D3A8-63B3-E325-12A1E764501D}"/>
              </a:ext>
            </a:extLst>
          </p:cNvPr>
          <p:cNvSpPr>
            <a:spLocks noGrp="1"/>
          </p:cNvSpPr>
          <p:nvPr>
            <p:ph type="title"/>
          </p:nvPr>
        </p:nvSpPr>
        <p:spPr/>
        <p:txBody>
          <a:bodyPr/>
          <a:lstStyle/>
          <a:p>
            <a:r>
              <a:rPr lang="en-SE" dirty="0"/>
              <a:t>Motivation</a:t>
            </a:r>
          </a:p>
        </p:txBody>
      </p:sp>
      <p:sp>
        <p:nvSpPr>
          <p:cNvPr id="7" name="Text Placeholder 6">
            <a:extLst>
              <a:ext uri="{FF2B5EF4-FFF2-40B4-BE49-F238E27FC236}">
                <a16:creationId xmlns:a16="http://schemas.microsoft.com/office/drawing/2014/main" id="{6FACAA28-F1DF-7A93-B49A-A9351380C2F8}"/>
              </a:ext>
            </a:extLst>
          </p:cNvPr>
          <p:cNvSpPr>
            <a:spLocks noGrp="1"/>
          </p:cNvSpPr>
          <p:nvPr>
            <p:ph type="body" idx="1"/>
          </p:nvPr>
        </p:nvSpPr>
        <p:spPr/>
        <p:txBody>
          <a:bodyPr/>
          <a:lstStyle/>
          <a:p>
            <a:r>
              <a:rPr lang="en-SE" dirty="0"/>
              <a:t>T</a:t>
            </a:r>
            <a:r>
              <a:rPr lang="de-DE" dirty="0"/>
              <a:t>h</a:t>
            </a:r>
            <a:r>
              <a:rPr lang="en-SE" dirty="0"/>
              <a:t>e Point of Science</a:t>
            </a:r>
          </a:p>
        </p:txBody>
      </p:sp>
      <p:sp>
        <p:nvSpPr>
          <p:cNvPr id="4" name="Date Placeholder 3">
            <a:extLst>
              <a:ext uri="{FF2B5EF4-FFF2-40B4-BE49-F238E27FC236}">
                <a16:creationId xmlns:a16="http://schemas.microsoft.com/office/drawing/2014/main" id="{BBA1E362-F4DE-7023-341C-83A9D456C781}"/>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E1EE6094-0D5B-E1B4-0A30-E349879AFB20}"/>
              </a:ext>
            </a:extLst>
          </p:cNvPr>
          <p:cNvSpPr>
            <a:spLocks noGrp="1"/>
          </p:cNvSpPr>
          <p:nvPr>
            <p:ph type="sldNum" sz="quarter" idx="12"/>
          </p:nvPr>
        </p:nvSpPr>
        <p:spPr/>
        <p:txBody>
          <a:bodyPr/>
          <a:lstStyle/>
          <a:p>
            <a:fld id="{271ECC92-9CDE-4EB3-B1C5-F46B9E1FA3C1}" type="slidenum">
              <a:rPr lang="en-SE" smtClean="0"/>
              <a:t>4</a:t>
            </a:fld>
            <a:endParaRPr lang="en-SE"/>
          </a:p>
        </p:txBody>
      </p:sp>
    </p:spTree>
    <p:extLst>
      <p:ext uri="{BB962C8B-B14F-4D97-AF65-F5344CB8AC3E}">
        <p14:creationId xmlns:p14="http://schemas.microsoft.com/office/powerpoint/2010/main" val="3616316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496814-E6E8-AF59-48EA-2C88428A6AFE}"/>
              </a:ext>
            </a:extLst>
          </p:cNvPr>
          <p:cNvSpPr>
            <a:spLocks noGrp="1"/>
          </p:cNvSpPr>
          <p:nvPr>
            <p:ph type="title"/>
          </p:nvPr>
        </p:nvSpPr>
        <p:spPr/>
        <p:txBody>
          <a:bodyPr/>
          <a:lstStyle/>
          <a:p>
            <a:r>
              <a:rPr lang="en-US" noProof="0" dirty="0"/>
              <a:t>State-of-the-art</a:t>
            </a:r>
          </a:p>
        </p:txBody>
      </p:sp>
      <p:sp>
        <p:nvSpPr>
          <p:cNvPr id="4" name="Date Placeholder 3">
            <a:extLst>
              <a:ext uri="{FF2B5EF4-FFF2-40B4-BE49-F238E27FC236}">
                <a16:creationId xmlns:a16="http://schemas.microsoft.com/office/drawing/2014/main" id="{F68BFACD-3B4A-CB5E-645E-3446E72AE50C}"/>
              </a:ext>
            </a:extLst>
          </p:cNvPr>
          <p:cNvSpPr>
            <a:spLocks noGrp="1"/>
          </p:cNvSpPr>
          <p:nvPr>
            <p:ph type="dt" sz="half" idx="10"/>
          </p:nvPr>
        </p:nvSpPr>
        <p:spPr/>
        <p:txBody>
          <a:bodyPr/>
          <a:lstStyle/>
          <a:p>
            <a:fld id="{B1F82A23-AB26-4EA9-9EE4-DB6F9A4796C6}" type="datetime1">
              <a:rPr lang="en-US" noProof="0" smtClean="0"/>
              <a:t>1/20/2026</a:t>
            </a:fld>
            <a:endParaRPr lang="en-US" noProof="0" dirty="0"/>
          </a:p>
        </p:txBody>
      </p:sp>
      <p:sp>
        <p:nvSpPr>
          <p:cNvPr id="5" name="Footer Placeholder 4">
            <a:extLst>
              <a:ext uri="{FF2B5EF4-FFF2-40B4-BE49-F238E27FC236}">
                <a16:creationId xmlns:a16="http://schemas.microsoft.com/office/drawing/2014/main" id="{0C36527D-ED42-3A78-13DC-DBB30CC0671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D17868A-84F4-286C-CD7B-0C1A6006F032}"/>
              </a:ext>
            </a:extLst>
          </p:cNvPr>
          <p:cNvSpPr>
            <a:spLocks noGrp="1"/>
          </p:cNvSpPr>
          <p:nvPr>
            <p:ph type="sldNum" sz="quarter" idx="12"/>
          </p:nvPr>
        </p:nvSpPr>
        <p:spPr/>
        <p:txBody>
          <a:bodyPr/>
          <a:lstStyle/>
          <a:p>
            <a:fld id="{0FA2D919-C0DE-4971-A2E9-D4AC0031921B}" type="slidenum">
              <a:rPr lang="en-US" noProof="0" smtClean="0"/>
              <a:t>5</a:t>
            </a:fld>
            <a:endParaRPr lang="en-US" noProof="0" dirty="0"/>
          </a:p>
        </p:txBody>
      </p:sp>
      <p:pic>
        <p:nvPicPr>
          <p:cNvPr id="3" name="Picture 2">
            <a:extLst>
              <a:ext uri="{FF2B5EF4-FFF2-40B4-BE49-F238E27FC236}">
                <a16:creationId xmlns:a16="http://schemas.microsoft.com/office/drawing/2014/main" id="{6B183B19-313A-7363-40DB-219F7656B34D}"/>
              </a:ext>
            </a:extLst>
          </p:cNvPr>
          <p:cNvPicPr>
            <a:picLocks noChangeAspect="1"/>
          </p:cNvPicPr>
          <p:nvPr/>
        </p:nvPicPr>
        <p:blipFill>
          <a:blip r:embed="rId3"/>
          <a:stretch>
            <a:fillRect/>
          </a:stretch>
        </p:blipFill>
        <p:spPr>
          <a:xfrm>
            <a:off x="838200" y="1884891"/>
            <a:ext cx="5010150" cy="2343150"/>
          </a:xfrm>
          <a:prstGeom prst="rect">
            <a:avLst/>
          </a:prstGeom>
          <a:effectLst>
            <a:outerShdw blurRad="63500" sx="102000" sy="102000" algn="ctr" rotWithShape="0">
              <a:prstClr val="black">
                <a:alpha val="40000"/>
              </a:prstClr>
            </a:outerShdw>
          </a:effectLst>
        </p:spPr>
      </p:pic>
      <p:sp>
        <p:nvSpPr>
          <p:cNvPr id="9" name="Rectangle 8">
            <a:extLst>
              <a:ext uri="{FF2B5EF4-FFF2-40B4-BE49-F238E27FC236}">
                <a16:creationId xmlns:a16="http://schemas.microsoft.com/office/drawing/2014/main" id="{39D28F5F-CC60-85EA-6FCA-08DA375B7416}"/>
              </a:ext>
            </a:extLst>
          </p:cNvPr>
          <p:cNvSpPr/>
          <p:nvPr/>
        </p:nvSpPr>
        <p:spPr>
          <a:xfrm>
            <a:off x="934720" y="2417870"/>
            <a:ext cx="3103880" cy="240981"/>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DAE6EC4-4823-F09F-C521-D18178CD6DCE}"/>
              </a:ext>
            </a:extLst>
          </p:cNvPr>
          <p:cNvSpPr/>
          <p:nvPr/>
        </p:nvSpPr>
        <p:spPr>
          <a:xfrm>
            <a:off x="1183640" y="2658850"/>
            <a:ext cx="3103880" cy="245851"/>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BE3A0D77-7CC3-2F74-F25F-71850A264905}"/>
              </a:ext>
            </a:extLst>
          </p:cNvPr>
          <p:cNvSpPr txBox="1"/>
          <p:nvPr/>
        </p:nvSpPr>
        <p:spPr>
          <a:xfrm>
            <a:off x="838200" y="4291660"/>
            <a:ext cx="5095240" cy="646331"/>
          </a:xfrm>
          <a:prstGeom prst="rect">
            <a:avLst/>
          </a:prstGeom>
          <a:noFill/>
        </p:spPr>
        <p:txBody>
          <a:bodyPr wrap="square" rtlCol="0">
            <a:spAutoFit/>
          </a:bodyPr>
          <a:lstStyle/>
          <a:p>
            <a:r>
              <a:rPr lang="en-US" sz="900" noProof="0" dirty="0"/>
              <a:t>Sanei, A., Cheng, J., &amp; Adams, B. (2021, May). The impacts of sentiments and tones in community-generated issue discussions. In </a:t>
            </a:r>
            <a:r>
              <a:rPr lang="en-US" sz="900" i="1" noProof="0" dirty="0"/>
              <a:t>2021 IEEE/ACM 13th International Workshop on Cooperative and Human Aspects of Software Engineering (CHASE)</a:t>
            </a:r>
            <a:r>
              <a:rPr lang="en-US" sz="900" noProof="0" dirty="0"/>
              <a:t> (pp. 1-10). IEEE. DOI: </a:t>
            </a:r>
            <a:r>
              <a:rPr lang="en-US" sz="900" noProof="0" dirty="0">
                <a:hlinkClick r:id="rId4"/>
              </a:rPr>
              <a:t>10.1109/CHASE52884.2021.00009</a:t>
            </a:r>
            <a:endParaRPr lang="en-US" sz="900" noProof="0" dirty="0"/>
          </a:p>
        </p:txBody>
      </p:sp>
      <p:pic>
        <p:nvPicPr>
          <p:cNvPr id="8" name="Picture 7">
            <a:extLst>
              <a:ext uri="{FF2B5EF4-FFF2-40B4-BE49-F238E27FC236}">
                <a16:creationId xmlns:a16="http://schemas.microsoft.com/office/drawing/2014/main" id="{441F07E6-CF49-C07A-39B7-89A44AA1DE19}"/>
              </a:ext>
            </a:extLst>
          </p:cNvPr>
          <p:cNvPicPr>
            <a:picLocks noChangeAspect="1"/>
          </p:cNvPicPr>
          <p:nvPr/>
        </p:nvPicPr>
        <p:blipFill>
          <a:blip r:embed="rId5"/>
          <a:stretch>
            <a:fillRect/>
          </a:stretch>
        </p:blipFill>
        <p:spPr>
          <a:xfrm>
            <a:off x="6343652" y="1908926"/>
            <a:ext cx="4580017" cy="2712955"/>
          </a:xfrm>
          <a:prstGeom prst="rect">
            <a:avLst/>
          </a:prstGeom>
          <a:effectLst>
            <a:outerShdw blurRad="63500" sx="102000" sy="102000" algn="ctr" rotWithShape="0">
              <a:prstClr val="black">
                <a:alpha val="40000"/>
              </a:prstClr>
            </a:outerShdw>
          </a:effectLst>
        </p:spPr>
      </p:pic>
      <p:sp>
        <p:nvSpPr>
          <p:cNvPr id="12" name="Rectangle 11">
            <a:extLst>
              <a:ext uri="{FF2B5EF4-FFF2-40B4-BE49-F238E27FC236}">
                <a16:creationId xmlns:a16="http://schemas.microsoft.com/office/drawing/2014/main" id="{C8F805A2-32C3-80D0-ED36-FB6CA473FE84}"/>
              </a:ext>
            </a:extLst>
          </p:cNvPr>
          <p:cNvSpPr/>
          <p:nvPr/>
        </p:nvSpPr>
        <p:spPr>
          <a:xfrm>
            <a:off x="6534991" y="4190986"/>
            <a:ext cx="2641709" cy="17534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D218C615-6294-FCFE-DCA3-50D3593B81BA}"/>
              </a:ext>
            </a:extLst>
          </p:cNvPr>
          <p:cNvSpPr/>
          <p:nvPr/>
        </p:nvSpPr>
        <p:spPr>
          <a:xfrm>
            <a:off x="9205971" y="4187564"/>
            <a:ext cx="1596854" cy="1753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E24E833A-3917-5686-6DF9-C80B75C85A10}"/>
              </a:ext>
            </a:extLst>
          </p:cNvPr>
          <p:cNvSpPr/>
          <p:nvPr/>
        </p:nvSpPr>
        <p:spPr>
          <a:xfrm>
            <a:off x="6413467" y="4372216"/>
            <a:ext cx="2877703" cy="1753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24FCD34C-0E00-4026-C875-A05A92FAF0C4}"/>
              </a:ext>
            </a:extLst>
          </p:cNvPr>
          <p:cNvSpPr txBox="1"/>
          <p:nvPr/>
        </p:nvSpPr>
        <p:spPr>
          <a:xfrm>
            <a:off x="6343652" y="4631193"/>
            <a:ext cx="4580017" cy="507831"/>
          </a:xfrm>
          <a:prstGeom prst="rect">
            <a:avLst/>
          </a:prstGeom>
          <a:noFill/>
        </p:spPr>
        <p:txBody>
          <a:bodyPr wrap="square">
            <a:spAutoFit/>
          </a:bodyPr>
          <a:lstStyle/>
          <a:p>
            <a:r>
              <a:rPr lang="en-US" sz="900" dirty="0" err="1"/>
              <a:t>Inozemtseva</a:t>
            </a:r>
            <a:r>
              <a:rPr lang="en-US" sz="900" dirty="0"/>
              <a:t>, L., &amp; Holmes, R. (2014, May). Coverage is not strongly correlated with test suite effectiveness. In </a:t>
            </a:r>
            <a:r>
              <a:rPr lang="en-US" sz="900" i="1" dirty="0"/>
              <a:t>Proceedings of the 36th international conference on software engineering</a:t>
            </a:r>
            <a:r>
              <a:rPr lang="en-US" sz="900" dirty="0"/>
              <a:t> (pp. 435-445).</a:t>
            </a:r>
            <a:r>
              <a:rPr lang="en-SE" sz="900" dirty="0"/>
              <a:t> </a:t>
            </a:r>
            <a:r>
              <a:rPr lang="en-SE" sz="900" dirty="0">
                <a:hlinkClick r:id="rId6"/>
              </a:rPr>
              <a:t>10.1145/2568225.2568271</a:t>
            </a:r>
            <a:endParaRPr lang="en-US" sz="900" noProof="0" dirty="0"/>
          </a:p>
        </p:txBody>
      </p:sp>
      <p:pic>
        <p:nvPicPr>
          <p:cNvPr id="13" name="Picture 12">
            <a:extLst>
              <a:ext uri="{FF2B5EF4-FFF2-40B4-BE49-F238E27FC236}">
                <a16:creationId xmlns:a16="http://schemas.microsoft.com/office/drawing/2014/main" id="{F5C0A147-6D39-1327-AAE1-A8BE9CD8CDBF}"/>
              </a:ext>
            </a:extLst>
          </p:cNvPr>
          <p:cNvPicPr>
            <a:picLocks noChangeAspect="1"/>
          </p:cNvPicPr>
          <p:nvPr/>
        </p:nvPicPr>
        <p:blipFill>
          <a:blip r:embed="rId7"/>
          <a:stretch>
            <a:fillRect/>
          </a:stretch>
        </p:blipFill>
        <p:spPr>
          <a:xfrm>
            <a:off x="7427931" y="1471799"/>
            <a:ext cx="4022389" cy="4129246"/>
          </a:xfrm>
          <a:prstGeom prst="rect">
            <a:avLst/>
          </a:prstGeom>
          <a:effectLst>
            <a:outerShdw blurRad="63500" sx="102000" sy="102000" algn="ctr" rotWithShape="0">
              <a:prstClr val="black">
                <a:alpha val="40000"/>
              </a:prstClr>
            </a:outerShdw>
          </a:effectLst>
        </p:spPr>
      </p:pic>
      <p:sp>
        <p:nvSpPr>
          <p:cNvPr id="14" name="Rectangle 13">
            <a:extLst>
              <a:ext uri="{FF2B5EF4-FFF2-40B4-BE49-F238E27FC236}">
                <a16:creationId xmlns:a16="http://schemas.microsoft.com/office/drawing/2014/main" id="{DFCBFB27-DAC6-A680-FD80-5D66AEFB1B35}"/>
              </a:ext>
            </a:extLst>
          </p:cNvPr>
          <p:cNvSpPr/>
          <p:nvPr/>
        </p:nvSpPr>
        <p:spPr>
          <a:xfrm>
            <a:off x="8780767" y="4113597"/>
            <a:ext cx="2560320" cy="21280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0CAFAF70-8F7B-DB6E-8ACF-AF0C30AA871D}"/>
              </a:ext>
            </a:extLst>
          </p:cNvPr>
          <p:cNvSpPr/>
          <p:nvPr/>
        </p:nvSpPr>
        <p:spPr>
          <a:xfrm>
            <a:off x="10299687" y="4538121"/>
            <a:ext cx="1041400" cy="21280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07DDC02-3F70-FBDF-9177-AD7882DD3DD9}"/>
              </a:ext>
            </a:extLst>
          </p:cNvPr>
          <p:cNvSpPr/>
          <p:nvPr/>
        </p:nvSpPr>
        <p:spPr>
          <a:xfrm>
            <a:off x="7513021" y="4326397"/>
            <a:ext cx="3828066" cy="21280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F41C4E20-EBBB-5B8A-AC57-697D71BC2871}"/>
              </a:ext>
            </a:extLst>
          </p:cNvPr>
          <p:cNvSpPr/>
          <p:nvPr/>
        </p:nvSpPr>
        <p:spPr>
          <a:xfrm>
            <a:off x="7513021" y="4538121"/>
            <a:ext cx="2786666" cy="21280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D444053D-F771-A474-D35E-607B59EC0CDD}"/>
              </a:ext>
            </a:extLst>
          </p:cNvPr>
          <p:cNvSpPr/>
          <p:nvPr/>
        </p:nvSpPr>
        <p:spPr>
          <a:xfrm>
            <a:off x="7513021" y="4749845"/>
            <a:ext cx="3828066" cy="21280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tangle 19">
            <a:extLst>
              <a:ext uri="{FF2B5EF4-FFF2-40B4-BE49-F238E27FC236}">
                <a16:creationId xmlns:a16="http://schemas.microsoft.com/office/drawing/2014/main" id="{A2397972-1BBE-28C4-452D-8202FD6502BB}"/>
              </a:ext>
            </a:extLst>
          </p:cNvPr>
          <p:cNvSpPr/>
          <p:nvPr/>
        </p:nvSpPr>
        <p:spPr>
          <a:xfrm>
            <a:off x="7513021" y="4960493"/>
            <a:ext cx="1496346" cy="132641"/>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TextBox 21">
            <a:extLst>
              <a:ext uri="{FF2B5EF4-FFF2-40B4-BE49-F238E27FC236}">
                <a16:creationId xmlns:a16="http://schemas.microsoft.com/office/drawing/2014/main" id="{3F2F848F-807F-D41E-5569-F0CD6BC0418B}"/>
              </a:ext>
            </a:extLst>
          </p:cNvPr>
          <p:cNvSpPr txBox="1"/>
          <p:nvPr/>
        </p:nvSpPr>
        <p:spPr>
          <a:xfrm>
            <a:off x="7427931" y="5664285"/>
            <a:ext cx="4022389" cy="646331"/>
          </a:xfrm>
          <a:prstGeom prst="rect">
            <a:avLst/>
          </a:prstGeom>
          <a:noFill/>
        </p:spPr>
        <p:txBody>
          <a:bodyPr wrap="square">
            <a:spAutoFit/>
          </a:bodyPr>
          <a:lstStyle/>
          <a:p>
            <a:r>
              <a:rPr lang="en-US" sz="900" noProof="0" dirty="0"/>
              <a:t>Frattini, J., Fischbach, J., Mendez, D., Unterkalmsteiner, M., Vogelsang, A., &amp; Wnuk, K. (2023). Causality in requirements artifacts: prevalence, detection, and impact. </a:t>
            </a:r>
            <a:r>
              <a:rPr lang="en-US" sz="900" i="1" noProof="0" dirty="0"/>
              <a:t>Requirements Engineering</a:t>
            </a:r>
            <a:r>
              <a:rPr lang="en-US" sz="900" noProof="0" dirty="0"/>
              <a:t>, </a:t>
            </a:r>
            <a:r>
              <a:rPr lang="en-US" sz="900" i="1" noProof="0" dirty="0"/>
              <a:t>28</a:t>
            </a:r>
            <a:r>
              <a:rPr lang="en-US" sz="900" noProof="0" dirty="0"/>
              <a:t>(1), 49-74. DOI: </a:t>
            </a:r>
            <a:r>
              <a:rPr lang="en-US" sz="900" noProof="0" dirty="0">
                <a:hlinkClick r:id="rId8"/>
              </a:rPr>
              <a:t>10.1007/s00766-022-00371-x</a:t>
            </a:r>
            <a:endParaRPr lang="en-US" sz="900" noProof="0" dirty="0"/>
          </a:p>
        </p:txBody>
      </p:sp>
      <p:pic>
        <p:nvPicPr>
          <p:cNvPr id="24" name="Picture 23">
            <a:extLst>
              <a:ext uri="{FF2B5EF4-FFF2-40B4-BE49-F238E27FC236}">
                <a16:creationId xmlns:a16="http://schemas.microsoft.com/office/drawing/2014/main" id="{BCDC2DCD-CCAE-9F6C-7B50-9865DF6477E6}"/>
              </a:ext>
            </a:extLst>
          </p:cNvPr>
          <p:cNvPicPr>
            <a:picLocks noChangeAspect="1"/>
          </p:cNvPicPr>
          <p:nvPr/>
        </p:nvPicPr>
        <p:blipFill>
          <a:blip r:embed="rId9"/>
          <a:stretch>
            <a:fillRect/>
          </a:stretch>
        </p:blipFill>
        <p:spPr>
          <a:xfrm>
            <a:off x="2712632" y="1637628"/>
            <a:ext cx="3840656" cy="3582743"/>
          </a:xfrm>
          <a:prstGeom prst="rect">
            <a:avLst/>
          </a:prstGeom>
          <a:effectLst>
            <a:outerShdw blurRad="63500" sx="102000" sy="102000" algn="ctr" rotWithShape="0">
              <a:prstClr val="black">
                <a:alpha val="40000"/>
              </a:prstClr>
            </a:outerShdw>
          </a:effectLst>
        </p:spPr>
      </p:pic>
      <p:sp>
        <p:nvSpPr>
          <p:cNvPr id="25" name="Rectangle 24">
            <a:extLst>
              <a:ext uri="{FF2B5EF4-FFF2-40B4-BE49-F238E27FC236}">
                <a16:creationId xmlns:a16="http://schemas.microsoft.com/office/drawing/2014/main" id="{BC95B3B0-9E51-073E-9E62-9CBA855FDF14}"/>
              </a:ext>
            </a:extLst>
          </p:cNvPr>
          <p:cNvSpPr/>
          <p:nvPr/>
        </p:nvSpPr>
        <p:spPr>
          <a:xfrm>
            <a:off x="3690969" y="4016857"/>
            <a:ext cx="2064671" cy="203140"/>
          </a:xfrm>
          <a:prstGeom prst="rect">
            <a:avLst/>
          </a:prstGeom>
          <a:solidFill>
            <a:srgbClr val="C00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E8367AE5-C9A0-801C-0D5A-8CB80631C6FB}"/>
              </a:ext>
            </a:extLst>
          </p:cNvPr>
          <p:cNvSpPr/>
          <p:nvPr/>
        </p:nvSpPr>
        <p:spPr>
          <a:xfrm>
            <a:off x="2735580" y="4224827"/>
            <a:ext cx="2471420" cy="2031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368A4E7-8F4C-9EEC-9522-863B2DD90B95}"/>
              </a:ext>
            </a:extLst>
          </p:cNvPr>
          <p:cNvSpPr/>
          <p:nvPr/>
        </p:nvSpPr>
        <p:spPr>
          <a:xfrm>
            <a:off x="5755640" y="4024901"/>
            <a:ext cx="771519" cy="203140"/>
          </a:xfrm>
          <a:prstGeom prst="rect">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Rectangle 29">
            <a:extLst>
              <a:ext uri="{FF2B5EF4-FFF2-40B4-BE49-F238E27FC236}">
                <a16:creationId xmlns:a16="http://schemas.microsoft.com/office/drawing/2014/main" id="{CD1BA083-10B9-4064-4D18-4712287067FB}"/>
              </a:ext>
            </a:extLst>
          </p:cNvPr>
          <p:cNvSpPr/>
          <p:nvPr/>
        </p:nvSpPr>
        <p:spPr>
          <a:xfrm>
            <a:off x="3015301" y="4430463"/>
            <a:ext cx="3517259" cy="203140"/>
          </a:xfrm>
          <a:prstGeom prst="rect">
            <a:avLst/>
          </a:prstGeom>
          <a:solidFill>
            <a:srgbClr val="92D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D0546234-B9AD-F37B-303D-5B01FD2A3506}"/>
              </a:ext>
            </a:extLst>
          </p:cNvPr>
          <p:cNvSpPr/>
          <p:nvPr/>
        </p:nvSpPr>
        <p:spPr>
          <a:xfrm>
            <a:off x="2712632" y="4631524"/>
            <a:ext cx="3791667" cy="378549"/>
          </a:xfrm>
          <a:prstGeom prst="rect">
            <a:avLst/>
          </a:prstGeom>
          <a:solidFill>
            <a:srgbClr val="92D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Rectangle 31">
            <a:extLst>
              <a:ext uri="{FF2B5EF4-FFF2-40B4-BE49-F238E27FC236}">
                <a16:creationId xmlns:a16="http://schemas.microsoft.com/office/drawing/2014/main" id="{620C5D81-B1D1-E048-940B-891EEEBE73D8}"/>
              </a:ext>
            </a:extLst>
          </p:cNvPr>
          <p:cNvSpPr/>
          <p:nvPr/>
        </p:nvSpPr>
        <p:spPr>
          <a:xfrm>
            <a:off x="2712633" y="5010073"/>
            <a:ext cx="548728" cy="203140"/>
          </a:xfrm>
          <a:prstGeom prst="rect">
            <a:avLst/>
          </a:prstGeom>
          <a:solidFill>
            <a:srgbClr val="92D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TextBox 32">
            <a:extLst>
              <a:ext uri="{FF2B5EF4-FFF2-40B4-BE49-F238E27FC236}">
                <a16:creationId xmlns:a16="http://schemas.microsoft.com/office/drawing/2014/main" id="{D5F43C2D-F2C8-A6E3-B3E5-F5FD488FEC41}"/>
              </a:ext>
            </a:extLst>
          </p:cNvPr>
          <p:cNvSpPr txBox="1"/>
          <p:nvPr/>
        </p:nvSpPr>
        <p:spPr>
          <a:xfrm>
            <a:off x="2712109" y="5248171"/>
            <a:ext cx="3840657" cy="1061829"/>
          </a:xfrm>
          <a:prstGeom prst="rect">
            <a:avLst/>
          </a:prstGeom>
          <a:noFill/>
        </p:spPr>
        <p:txBody>
          <a:bodyPr wrap="square">
            <a:spAutoFit/>
          </a:bodyPr>
          <a:lstStyle/>
          <a:p>
            <a:r>
              <a:rPr lang="en-US" sz="900" noProof="0" dirty="0"/>
              <a:t>McGee, S., &amp; Greer, D. (2012). Towards an understanding of the causes and effects of software requirements change: two case studies. </a:t>
            </a:r>
            <a:r>
              <a:rPr lang="en-US" sz="900" i="1" noProof="0" dirty="0"/>
              <a:t>Requirements Engineering</a:t>
            </a:r>
            <a:r>
              <a:rPr lang="en-US" sz="900" noProof="0" dirty="0"/>
              <a:t>, </a:t>
            </a:r>
            <a:r>
              <a:rPr lang="en-US" sz="900" i="1" noProof="0" dirty="0"/>
              <a:t>17</a:t>
            </a:r>
            <a:r>
              <a:rPr lang="en-US" sz="900" noProof="0" dirty="0"/>
              <a:t>, 133-155. DOI: </a:t>
            </a:r>
            <a:r>
              <a:rPr lang="en-US" sz="900" noProof="0" dirty="0">
                <a:hlinkClick r:id="rId10"/>
              </a:rPr>
              <a:t>10.1007/s00766-012-0149-0</a:t>
            </a:r>
            <a:endParaRPr lang="en-US" sz="900" noProof="0" dirty="0"/>
          </a:p>
          <a:p>
            <a:r>
              <a:rPr lang="en-US" sz="900" b="1" noProof="0" dirty="0"/>
              <a:t>Referring to </a:t>
            </a:r>
            <a:r>
              <a:rPr lang="en-US" sz="900" noProof="0" dirty="0"/>
              <a:t> </a:t>
            </a:r>
            <a:r>
              <a:rPr lang="en-US" sz="900" noProof="0" dirty="0" err="1"/>
              <a:t>Loconsole</a:t>
            </a:r>
            <a:r>
              <a:rPr lang="en-US" sz="900" noProof="0" dirty="0"/>
              <a:t>, A., &amp; </a:t>
            </a:r>
            <a:r>
              <a:rPr lang="en-US" sz="900" noProof="0" dirty="0" err="1"/>
              <a:t>Borstler</a:t>
            </a:r>
            <a:r>
              <a:rPr lang="en-US" sz="900" noProof="0" dirty="0"/>
              <a:t>, J. (2005, December). An industrial case study on requirements volatility measures. In </a:t>
            </a:r>
            <a:r>
              <a:rPr lang="en-US" sz="900" i="1" noProof="0" dirty="0"/>
              <a:t>12th Asia-Pacific Software Engineering Conference (APSEC'05)</a:t>
            </a:r>
            <a:r>
              <a:rPr lang="en-US" sz="900" noProof="0" dirty="0"/>
              <a:t> (pp. 8-pp). IEEE. DOI: </a:t>
            </a:r>
            <a:r>
              <a:rPr lang="en-US" sz="900" noProof="0" dirty="0">
                <a:hlinkClick r:id="rId11"/>
              </a:rPr>
              <a:t>10.1109/APSEC.2005.38</a:t>
            </a:r>
            <a:endParaRPr lang="en-US" sz="900" noProof="0" dirty="0"/>
          </a:p>
        </p:txBody>
      </p:sp>
    </p:spTree>
    <p:extLst>
      <p:ext uri="{BB962C8B-B14F-4D97-AF65-F5344CB8AC3E}">
        <p14:creationId xmlns:p14="http://schemas.microsoft.com/office/powerpoint/2010/main" val="4174537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6" grpId="0" animBg="1"/>
      <p:bldP spid="21" grpId="0" animBg="1"/>
      <p:bldP spid="23" grpId="0"/>
      <p:bldP spid="14" grpId="0" animBg="1"/>
      <p:bldP spid="15" grpId="0" animBg="1"/>
      <p:bldP spid="17" grpId="0" animBg="1"/>
      <p:bldP spid="18" grpId="0" animBg="1"/>
      <p:bldP spid="19" grpId="0" animBg="1"/>
      <p:bldP spid="20" grpId="0" animBg="1"/>
      <p:bldP spid="22" grpId="0"/>
      <p:bldP spid="25" grpId="0" animBg="1"/>
      <p:bldP spid="28" grpId="0" animBg="1"/>
      <p:bldP spid="29" grpId="0" animBg="1"/>
      <p:bldP spid="30" grpId="0" animBg="1"/>
      <p:bldP spid="31" grpId="0" animBg="1"/>
      <p:bldP spid="32" grpId="0" animBg="1"/>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7C81C-A1BF-D1B7-2640-4711CFF699F8}"/>
              </a:ext>
            </a:extLst>
          </p:cNvPr>
          <p:cNvSpPr>
            <a:spLocks noGrp="1"/>
          </p:cNvSpPr>
          <p:nvPr>
            <p:ph type="title"/>
          </p:nvPr>
        </p:nvSpPr>
        <p:spPr/>
        <p:txBody>
          <a:bodyPr/>
          <a:lstStyle/>
          <a:p>
            <a:r>
              <a:rPr lang="en-US" noProof="0" dirty="0"/>
              <a:t>Correlation versus Causality</a:t>
            </a:r>
          </a:p>
        </p:txBody>
      </p:sp>
      <p:sp>
        <p:nvSpPr>
          <p:cNvPr id="3" name="Content Placeholder 2">
            <a:extLst>
              <a:ext uri="{FF2B5EF4-FFF2-40B4-BE49-F238E27FC236}">
                <a16:creationId xmlns:a16="http://schemas.microsoft.com/office/drawing/2014/main" id="{FA80506F-FEDE-9318-E20E-0AA487F45151}"/>
              </a:ext>
            </a:extLst>
          </p:cNvPr>
          <p:cNvSpPr>
            <a:spLocks noGrp="1"/>
          </p:cNvSpPr>
          <p:nvPr>
            <p:ph idx="1"/>
          </p:nvPr>
        </p:nvSpPr>
        <p:spPr>
          <a:xfrm>
            <a:off x="838200" y="3484955"/>
            <a:ext cx="10515600" cy="2692007"/>
          </a:xfrm>
        </p:spPr>
        <p:txBody>
          <a:bodyPr>
            <a:normAutofit/>
          </a:bodyPr>
          <a:lstStyle/>
          <a:p>
            <a:pPr marL="0" indent="0">
              <a:buNone/>
            </a:pPr>
            <a:r>
              <a:rPr lang="en-US" noProof="0" dirty="0"/>
              <a:t>If we want to make a </a:t>
            </a:r>
            <a:r>
              <a:rPr lang="en-US" b="1" noProof="0" dirty="0"/>
              <a:t>positive impact </a:t>
            </a:r>
            <a:r>
              <a:rPr lang="en-US" noProof="0" dirty="0"/>
              <a:t>on the target audience of our research (i.e., SE practitioners), we need to provide </a:t>
            </a:r>
            <a:r>
              <a:rPr lang="en-US" b="1" noProof="0" dirty="0"/>
              <a:t>reliable </a:t>
            </a:r>
            <a:r>
              <a:rPr lang="en-SE" b="1" noProof="0" dirty="0"/>
              <a:t>decision-making policies </a:t>
            </a:r>
            <a:r>
              <a:rPr lang="en-US" noProof="0" dirty="0"/>
              <a:t>– which we can only derive from </a:t>
            </a:r>
            <a:r>
              <a:rPr lang="en-US" b="1" noProof="0" dirty="0"/>
              <a:t>causal</a:t>
            </a:r>
            <a:r>
              <a:rPr lang="en-US" noProof="0" dirty="0"/>
              <a:t> relationships, not correlations.</a:t>
            </a:r>
          </a:p>
        </p:txBody>
      </p:sp>
      <p:sp>
        <p:nvSpPr>
          <p:cNvPr id="4" name="Date Placeholder 3">
            <a:extLst>
              <a:ext uri="{FF2B5EF4-FFF2-40B4-BE49-F238E27FC236}">
                <a16:creationId xmlns:a16="http://schemas.microsoft.com/office/drawing/2014/main" id="{72313719-8DAA-FA36-43B1-A46D784E2763}"/>
              </a:ext>
            </a:extLst>
          </p:cNvPr>
          <p:cNvSpPr>
            <a:spLocks noGrp="1"/>
          </p:cNvSpPr>
          <p:nvPr>
            <p:ph type="dt" sz="half" idx="10"/>
          </p:nvPr>
        </p:nvSpPr>
        <p:spPr/>
        <p:txBody>
          <a:bodyPr/>
          <a:lstStyle/>
          <a:p>
            <a:fld id="{403A2FDA-9B6F-4F19-BB52-15CB2FEB03DD}" type="datetime1">
              <a:rPr lang="en-US" noProof="0" smtClean="0"/>
              <a:t>1/20/2026</a:t>
            </a:fld>
            <a:endParaRPr lang="en-US" noProof="0" dirty="0"/>
          </a:p>
        </p:txBody>
      </p:sp>
      <p:sp>
        <p:nvSpPr>
          <p:cNvPr id="5" name="Footer Placeholder 4">
            <a:extLst>
              <a:ext uri="{FF2B5EF4-FFF2-40B4-BE49-F238E27FC236}">
                <a16:creationId xmlns:a16="http://schemas.microsoft.com/office/drawing/2014/main" id="{3633E04D-DEE9-84E5-4792-98F8AEAFB76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49DE150-6A02-E9B2-9B95-D357B96496D9}"/>
              </a:ext>
            </a:extLst>
          </p:cNvPr>
          <p:cNvSpPr>
            <a:spLocks noGrp="1"/>
          </p:cNvSpPr>
          <p:nvPr>
            <p:ph type="sldNum" sz="quarter" idx="12"/>
          </p:nvPr>
        </p:nvSpPr>
        <p:spPr/>
        <p:txBody>
          <a:bodyPr/>
          <a:lstStyle/>
          <a:p>
            <a:fld id="{0FA2D919-C0DE-4971-A2E9-D4AC0031921B}" type="slidenum">
              <a:rPr lang="en-US" noProof="0" smtClean="0"/>
              <a:t>6</a:t>
            </a:fld>
            <a:endParaRPr lang="en-US" noProof="0" dirty="0"/>
          </a:p>
        </p:txBody>
      </p:sp>
      <p:sp>
        <p:nvSpPr>
          <p:cNvPr id="9" name="TextBox 8">
            <a:extLst>
              <a:ext uri="{FF2B5EF4-FFF2-40B4-BE49-F238E27FC236}">
                <a16:creationId xmlns:a16="http://schemas.microsoft.com/office/drawing/2014/main" id="{AFCAAE86-A36C-9BC5-0C25-FDDB6D92FB7D}"/>
              </a:ext>
            </a:extLst>
          </p:cNvPr>
          <p:cNvSpPr txBox="1"/>
          <p:nvPr/>
        </p:nvSpPr>
        <p:spPr>
          <a:xfrm>
            <a:off x="5909461" y="6082541"/>
            <a:ext cx="3204058" cy="276999"/>
          </a:xfrm>
          <a:prstGeom prst="rect">
            <a:avLst/>
          </a:prstGeom>
          <a:noFill/>
        </p:spPr>
        <p:txBody>
          <a:bodyPr wrap="square">
            <a:spAutoFit/>
          </a:bodyPr>
          <a:lstStyle/>
          <a:p>
            <a:pPr algn="r"/>
            <a:r>
              <a:rPr lang="en-US" sz="1200" baseline="30000" noProof="0" dirty="0"/>
              <a:t>1</a:t>
            </a:r>
            <a:r>
              <a:rPr lang="en-US" sz="1200" noProof="0" dirty="0"/>
              <a:t>we’ll revisit this statement later</a:t>
            </a:r>
          </a:p>
        </p:txBody>
      </p:sp>
      <p:grpSp>
        <p:nvGrpSpPr>
          <p:cNvPr id="12" name="Group 11">
            <a:extLst>
              <a:ext uri="{FF2B5EF4-FFF2-40B4-BE49-F238E27FC236}">
                <a16:creationId xmlns:a16="http://schemas.microsoft.com/office/drawing/2014/main" id="{AF0170DD-3F15-69DF-BF1B-A2CD4898C771}"/>
              </a:ext>
            </a:extLst>
          </p:cNvPr>
          <p:cNvGrpSpPr/>
          <p:nvPr/>
        </p:nvGrpSpPr>
        <p:grpSpPr>
          <a:xfrm>
            <a:off x="3078480" y="5139136"/>
            <a:ext cx="6035039" cy="946595"/>
            <a:chOff x="775411" y="5230368"/>
            <a:chExt cx="6035039" cy="946595"/>
          </a:xfrm>
        </p:grpSpPr>
        <p:sp>
          <p:nvSpPr>
            <p:cNvPr id="7" name="Rectangle: Rounded Corners 6">
              <a:extLst>
                <a:ext uri="{FF2B5EF4-FFF2-40B4-BE49-F238E27FC236}">
                  <a16:creationId xmlns:a16="http://schemas.microsoft.com/office/drawing/2014/main" id="{167DB7A9-0AFB-7D89-7C1A-94A5D3AE1DD6}"/>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We cannot infer causality from data alone – we must also know the process that created that data.</a:t>
              </a:r>
              <a:r>
                <a:rPr lang="en-US" baseline="30000" noProof="0" dirty="0"/>
                <a:t>1</a:t>
              </a:r>
            </a:p>
          </p:txBody>
        </p:sp>
        <p:pic>
          <p:nvPicPr>
            <p:cNvPr id="11" name="Graphic 10" descr="Open quotation mark with solid fill">
              <a:extLst>
                <a:ext uri="{FF2B5EF4-FFF2-40B4-BE49-F238E27FC236}">
                  <a16:creationId xmlns:a16="http://schemas.microsoft.com/office/drawing/2014/main" id="{B97B62C8-0097-A527-ADE8-10BE252934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75412" y="5343665"/>
              <a:ext cx="720000" cy="720000"/>
            </a:xfrm>
            <a:prstGeom prst="rect">
              <a:avLst/>
            </a:prstGeom>
          </p:spPr>
        </p:pic>
      </p:grpSp>
      <p:sp>
        <p:nvSpPr>
          <p:cNvPr id="14" name="TextBox 13">
            <a:extLst>
              <a:ext uri="{FF2B5EF4-FFF2-40B4-BE49-F238E27FC236}">
                <a16:creationId xmlns:a16="http://schemas.microsoft.com/office/drawing/2014/main" id="{5896B250-C81A-E64D-B295-3192BB4F1B26}"/>
              </a:ext>
            </a:extLst>
          </p:cNvPr>
          <p:cNvSpPr txBox="1"/>
          <p:nvPr/>
        </p:nvSpPr>
        <p:spPr>
          <a:xfrm>
            <a:off x="2120831" y="2587822"/>
            <a:ext cx="2635300" cy="923330"/>
          </a:xfrm>
          <a:prstGeom prst="rect">
            <a:avLst/>
          </a:prstGeom>
          <a:noFill/>
        </p:spPr>
        <p:txBody>
          <a:bodyPr wrap="square">
            <a:spAutoFit/>
          </a:bodyPr>
          <a:lstStyle/>
          <a:p>
            <a:pPr marL="0" indent="0" algn="ctr">
              <a:buNone/>
            </a:pPr>
            <a:r>
              <a:rPr lang="en-US" b="1" noProof="0" dirty="0"/>
              <a:t>Correlation:</a:t>
            </a:r>
          </a:p>
          <a:p>
            <a:pPr marL="0" indent="0" algn="ctr">
              <a:buNone/>
            </a:pPr>
            <a:r>
              <a:rPr lang="en-US" noProof="0" dirty="0"/>
              <a:t>when we </a:t>
            </a:r>
            <a:r>
              <a:rPr lang="en-US" i="1" noProof="0" dirty="0"/>
              <a:t>observe</a:t>
            </a:r>
            <a:r>
              <a:rPr lang="en-US" noProof="0" dirty="0"/>
              <a:t> X, </a:t>
            </a:r>
          </a:p>
          <a:p>
            <a:pPr marL="0" indent="0" algn="ctr">
              <a:buNone/>
            </a:pPr>
            <a:r>
              <a:rPr lang="en-US" noProof="0" dirty="0"/>
              <a:t>we also observe Y</a:t>
            </a:r>
          </a:p>
        </p:txBody>
      </p:sp>
      <p:pic>
        <p:nvPicPr>
          <p:cNvPr id="16" name="Graphic 15" descr="Raised hand with solid fill">
            <a:extLst>
              <a:ext uri="{FF2B5EF4-FFF2-40B4-BE49-F238E27FC236}">
                <a16:creationId xmlns:a16="http://schemas.microsoft.com/office/drawing/2014/main" id="{CA956E1D-65FB-1AF0-6690-1627DB6E45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96321" y="1673422"/>
            <a:ext cx="914400" cy="914400"/>
          </a:xfrm>
          <a:prstGeom prst="rect">
            <a:avLst/>
          </a:prstGeom>
        </p:spPr>
      </p:pic>
      <p:pic>
        <p:nvPicPr>
          <p:cNvPr id="18" name="Graphic 17" descr="Eye with solid fill">
            <a:extLst>
              <a:ext uri="{FF2B5EF4-FFF2-40B4-BE49-F238E27FC236}">
                <a16:creationId xmlns:a16="http://schemas.microsoft.com/office/drawing/2014/main" id="{DC3318F7-1DB1-344E-2916-48A042F6F2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81281" y="1673422"/>
            <a:ext cx="914400" cy="914400"/>
          </a:xfrm>
          <a:prstGeom prst="rect">
            <a:avLst/>
          </a:prstGeom>
        </p:spPr>
      </p:pic>
      <p:sp>
        <p:nvSpPr>
          <p:cNvPr id="20" name="TextBox 19">
            <a:extLst>
              <a:ext uri="{FF2B5EF4-FFF2-40B4-BE49-F238E27FC236}">
                <a16:creationId xmlns:a16="http://schemas.microsoft.com/office/drawing/2014/main" id="{EE7BD2C6-E66D-F733-782B-5AF40BB4375E}"/>
              </a:ext>
            </a:extLst>
          </p:cNvPr>
          <p:cNvSpPr txBox="1"/>
          <p:nvPr/>
        </p:nvSpPr>
        <p:spPr>
          <a:xfrm>
            <a:off x="6985986" y="2587822"/>
            <a:ext cx="3535070" cy="923330"/>
          </a:xfrm>
          <a:prstGeom prst="rect">
            <a:avLst/>
          </a:prstGeom>
          <a:noFill/>
        </p:spPr>
        <p:txBody>
          <a:bodyPr wrap="square">
            <a:spAutoFit/>
          </a:bodyPr>
          <a:lstStyle/>
          <a:p>
            <a:pPr marL="0" indent="0" algn="ctr">
              <a:buNone/>
            </a:pPr>
            <a:r>
              <a:rPr lang="en-US" b="1" noProof="0" dirty="0"/>
              <a:t>Causality</a:t>
            </a:r>
            <a:r>
              <a:rPr lang="en-US" noProof="0" dirty="0"/>
              <a:t>: </a:t>
            </a:r>
          </a:p>
          <a:p>
            <a:pPr marL="0" indent="0" algn="ctr">
              <a:buNone/>
            </a:pPr>
            <a:r>
              <a:rPr lang="en-US" noProof="0" dirty="0"/>
              <a:t>when we </a:t>
            </a:r>
            <a:r>
              <a:rPr lang="en-US" i="1" noProof="0" dirty="0"/>
              <a:t>do</a:t>
            </a:r>
            <a:r>
              <a:rPr lang="en-US" noProof="0" dirty="0"/>
              <a:t> X, </a:t>
            </a:r>
          </a:p>
          <a:p>
            <a:pPr marL="0" indent="0" algn="ctr">
              <a:buNone/>
            </a:pPr>
            <a:r>
              <a:rPr lang="en-US" noProof="0" dirty="0"/>
              <a:t>we observe Y.</a:t>
            </a:r>
          </a:p>
        </p:txBody>
      </p:sp>
    </p:spTree>
    <p:extLst>
      <p:ext uri="{BB962C8B-B14F-4D97-AF65-F5344CB8AC3E}">
        <p14:creationId xmlns:p14="http://schemas.microsoft.com/office/powerpoint/2010/main" val="1130195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4"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26E0F-6D3C-7CB6-3EBC-D30E7B418EA4}"/>
              </a:ext>
            </a:extLst>
          </p:cNvPr>
          <p:cNvSpPr>
            <a:spLocks noGrp="1"/>
          </p:cNvSpPr>
          <p:nvPr>
            <p:ph type="title"/>
          </p:nvPr>
        </p:nvSpPr>
        <p:spPr/>
        <p:txBody>
          <a:bodyPr/>
          <a:lstStyle/>
          <a:p>
            <a:r>
              <a:rPr lang="en-US" noProof="0" dirty="0"/>
              <a:t>Experimental vs. Observational Studies</a:t>
            </a:r>
          </a:p>
        </p:txBody>
      </p:sp>
      <p:sp>
        <p:nvSpPr>
          <p:cNvPr id="3" name="Content Placeholder 2">
            <a:extLst>
              <a:ext uri="{FF2B5EF4-FFF2-40B4-BE49-F238E27FC236}">
                <a16:creationId xmlns:a16="http://schemas.microsoft.com/office/drawing/2014/main" id="{7D9E17BD-9ECC-584F-CE66-DA619E01909F}"/>
              </a:ext>
            </a:extLst>
          </p:cNvPr>
          <p:cNvSpPr>
            <a:spLocks noGrp="1"/>
          </p:cNvSpPr>
          <p:nvPr>
            <p:ph idx="1"/>
          </p:nvPr>
        </p:nvSpPr>
        <p:spPr/>
        <p:txBody>
          <a:bodyPr/>
          <a:lstStyle/>
          <a:p>
            <a:pPr marL="0" indent="0">
              <a:buNone/>
            </a:pPr>
            <a:r>
              <a:rPr lang="en-US" noProof="0" dirty="0"/>
              <a:t>One ”straightforward” way to distinguish correlation from causality: </a:t>
            </a:r>
            <a:r>
              <a:rPr lang="en-US" b="1" noProof="0" dirty="0"/>
              <a:t>conduct a controlled experiment</a:t>
            </a:r>
            <a:r>
              <a:rPr lang="en-US" noProof="0" dirty="0"/>
              <a:t>, where we exert control over a treatment and isolate its effect from all confounding.</a:t>
            </a:r>
          </a:p>
        </p:txBody>
      </p:sp>
      <p:sp>
        <p:nvSpPr>
          <p:cNvPr id="4" name="Date Placeholder 3">
            <a:extLst>
              <a:ext uri="{FF2B5EF4-FFF2-40B4-BE49-F238E27FC236}">
                <a16:creationId xmlns:a16="http://schemas.microsoft.com/office/drawing/2014/main" id="{831E049E-8069-3730-02A1-D5A5832CBA6F}"/>
              </a:ext>
            </a:extLst>
          </p:cNvPr>
          <p:cNvSpPr>
            <a:spLocks noGrp="1"/>
          </p:cNvSpPr>
          <p:nvPr>
            <p:ph type="dt" sz="half" idx="10"/>
          </p:nvPr>
        </p:nvSpPr>
        <p:spPr/>
        <p:txBody>
          <a:bodyPr/>
          <a:lstStyle/>
          <a:p>
            <a:fld id="{403A2FDA-9B6F-4F19-BB52-15CB2FEB03DD}" type="datetime1">
              <a:rPr lang="en-US" noProof="0" smtClean="0"/>
              <a:t>1/20/2026</a:t>
            </a:fld>
            <a:endParaRPr lang="en-US" noProof="0" dirty="0"/>
          </a:p>
        </p:txBody>
      </p:sp>
      <p:sp>
        <p:nvSpPr>
          <p:cNvPr id="5" name="Footer Placeholder 4">
            <a:extLst>
              <a:ext uri="{FF2B5EF4-FFF2-40B4-BE49-F238E27FC236}">
                <a16:creationId xmlns:a16="http://schemas.microsoft.com/office/drawing/2014/main" id="{CE80D031-B52A-B22D-65AD-5208E3DA92B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C84C927-AF2D-C904-AE32-16D8D39E9E29}"/>
              </a:ext>
            </a:extLst>
          </p:cNvPr>
          <p:cNvSpPr>
            <a:spLocks noGrp="1"/>
          </p:cNvSpPr>
          <p:nvPr>
            <p:ph type="sldNum" sz="quarter" idx="12"/>
          </p:nvPr>
        </p:nvSpPr>
        <p:spPr/>
        <p:txBody>
          <a:bodyPr/>
          <a:lstStyle/>
          <a:p>
            <a:fld id="{0FA2D919-C0DE-4971-A2E9-D4AC0031921B}" type="slidenum">
              <a:rPr lang="en-US" noProof="0" smtClean="0"/>
              <a:t>7</a:t>
            </a:fld>
            <a:endParaRPr lang="en-US" noProof="0" dirty="0"/>
          </a:p>
        </p:txBody>
      </p:sp>
      <p:grpSp>
        <p:nvGrpSpPr>
          <p:cNvPr id="12" name="Group 11">
            <a:extLst>
              <a:ext uri="{FF2B5EF4-FFF2-40B4-BE49-F238E27FC236}">
                <a16:creationId xmlns:a16="http://schemas.microsoft.com/office/drawing/2014/main" id="{E6B67477-AF0B-1623-5BA2-BE5B3D2C0FDD}"/>
              </a:ext>
            </a:extLst>
          </p:cNvPr>
          <p:cNvGrpSpPr/>
          <p:nvPr/>
        </p:nvGrpSpPr>
        <p:grpSpPr>
          <a:xfrm>
            <a:off x="955244" y="3429000"/>
            <a:ext cx="2403652" cy="2132630"/>
            <a:chOff x="4894174" y="3429000"/>
            <a:chExt cx="2403652" cy="2132630"/>
          </a:xfrm>
        </p:grpSpPr>
        <p:grpSp>
          <p:nvGrpSpPr>
            <p:cNvPr id="10" name="Group 9">
              <a:extLst>
                <a:ext uri="{FF2B5EF4-FFF2-40B4-BE49-F238E27FC236}">
                  <a16:creationId xmlns:a16="http://schemas.microsoft.com/office/drawing/2014/main" id="{5AFD7788-9DF3-6427-4BFB-03391A89DE67}"/>
                </a:ext>
              </a:extLst>
            </p:cNvPr>
            <p:cNvGrpSpPr/>
            <p:nvPr/>
          </p:nvGrpSpPr>
          <p:grpSpPr>
            <a:xfrm>
              <a:off x="5556000" y="3429000"/>
              <a:ext cx="1080000" cy="1080000"/>
              <a:chOff x="3313786" y="3686861"/>
              <a:chExt cx="1080000" cy="1080000"/>
            </a:xfrm>
          </p:grpSpPr>
          <p:sp>
            <p:nvSpPr>
              <p:cNvPr id="7" name="Oval 6">
                <a:extLst>
                  <a:ext uri="{FF2B5EF4-FFF2-40B4-BE49-F238E27FC236}">
                    <a16:creationId xmlns:a16="http://schemas.microsoft.com/office/drawing/2014/main" id="{398E7490-2C0F-E8A8-0921-F6AE05674F4C}"/>
                  </a:ext>
                </a:extLst>
              </p:cNvPr>
              <p:cNvSpPr/>
              <p:nvPr/>
            </p:nvSpPr>
            <p:spPr>
              <a:xfrm>
                <a:off x="3313786" y="3686861"/>
                <a:ext cx="1080000" cy="1080000"/>
              </a:xfrm>
              <a:prstGeom prst="ellipse">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phic 8" descr="Flying Money with solid fill">
                <a:extLst>
                  <a:ext uri="{FF2B5EF4-FFF2-40B4-BE49-F238E27FC236}">
                    <a16:creationId xmlns:a16="http://schemas.microsoft.com/office/drawing/2014/main" id="{3ABC9A5C-0899-D4BD-0FC1-68778363AA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96586" y="3769661"/>
                <a:ext cx="914400" cy="914400"/>
              </a:xfrm>
              <a:prstGeom prst="rect">
                <a:avLst/>
              </a:prstGeom>
            </p:spPr>
          </p:pic>
        </p:grpSp>
        <p:sp>
          <p:nvSpPr>
            <p:cNvPr id="11" name="TextBox 10">
              <a:extLst>
                <a:ext uri="{FF2B5EF4-FFF2-40B4-BE49-F238E27FC236}">
                  <a16:creationId xmlns:a16="http://schemas.microsoft.com/office/drawing/2014/main" id="{6192D482-2076-DA9C-2F2A-DD11ED57A98E}"/>
                </a:ext>
              </a:extLst>
            </p:cNvPr>
            <p:cNvSpPr txBox="1"/>
            <p:nvPr/>
          </p:nvSpPr>
          <p:spPr>
            <a:xfrm>
              <a:off x="4894174" y="4669078"/>
              <a:ext cx="2403652" cy="892552"/>
            </a:xfrm>
            <a:prstGeom prst="rect">
              <a:avLst/>
            </a:prstGeom>
            <a:noFill/>
          </p:spPr>
          <p:txBody>
            <a:bodyPr wrap="square" rtlCol="0">
              <a:spAutoFit/>
            </a:bodyPr>
            <a:lstStyle/>
            <a:p>
              <a:pPr algn="ctr"/>
              <a:r>
                <a:rPr lang="en-US" b="1" noProof="0" dirty="0"/>
                <a:t>Expensive</a:t>
              </a:r>
            </a:p>
            <a:p>
              <a:pPr algn="ctr"/>
              <a:r>
                <a:rPr lang="en-US" sz="1600" noProof="0" dirty="0"/>
                <a:t>Recruiting eligible participants is difficult </a:t>
              </a:r>
            </a:p>
          </p:txBody>
        </p:sp>
      </p:grpSp>
      <p:grpSp>
        <p:nvGrpSpPr>
          <p:cNvPr id="23" name="Group 22">
            <a:extLst>
              <a:ext uri="{FF2B5EF4-FFF2-40B4-BE49-F238E27FC236}">
                <a16:creationId xmlns:a16="http://schemas.microsoft.com/office/drawing/2014/main" id="{A5C0B264-5B48-DF38-5270-D3303FE93FED}"/>
              </a:ext>
            </a:extLst>
          </p:cNvPr>
          <p:cNvGrpSpPr/>
          <p:nvPr/>
        </p:nvGrpSpPr>
        <p:grpSpPr>
          <a:xfrm>
            <a:off x="3492902" y="3429000"/>
            <a:ext cx="2403652" cy="2101852"/>
            <a:chOff x="4894174" y="3429000"/>
            <a:chExt cx="2403652" cy="2101852"/>
          </a:xfrm>
        </p:grpSpPr>
        <p:grpSp>
          <p:nvGrpSpPr>
            <p:cNvPr id="24" name="Group 23">
              <a:extLst>
                <a:ext uri="{FF2B5EF4-FFF2-40B4-BE49-F238E27FC236}">
                  <a16:creationId xmlns:a16="http://schemas.microsoft.com/office/drawing/2014/main" id="{717A8823-0719-8D1E-39F5-095D4C01FDFF}"/>
                </a:ext>
              </a:extLst>
            </p:cNvPr>
            <p:cNvGrpSpPr/>
            <p:nvPr/>
          </p:nvGrpSpPr>
          <p:grpSpPr>
            <a:xfrm>
              <a:off x="5556000" y="3429000"/>
              <a:ext cx="1080000" cy="1080000"/>
              <a:chOff x="3313786" y="3686861"/>
              <a:chExt cx="1080000" cy="1080000"/>
            </a:xfrm>
          </p:grpSpPr>
          <p:sp>
            <p:nvSpPr>
              <p:cNvPr id="26" name="Oval 25">
                <a:extLst>
                  <a:ext uri="{FF2B5EF4-FFF2-40B4-BE49-F238E27FC236}">
                    <a16:creationId xmlns:a16="http://schemas.microsoft.com/office/drawing/2014/main" id="{6EA48B92-9EC2-A025-8C5F-8B753D185662}"/>
                  </a:ext>
                </a:extLst>
              </p:cNvPr>
              <p:cNvSpPr/>
              <p:nvPr/>
            </p:nvSpPr>
            <p:spPr>
              <a:xfrm>
                <a:off x="3313786" y="3686861"/>
                <a:ext cx="1080000" cy="1080000"/>
              </a:xfrm>
              <a:prstGeom prst="ellipse">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7" name="Graphic 26" descr="Forest scene with solid fill">
                <a:extLst>
                  <a:ext uri="{FF2B5EF4-FFF2-40B4-BE49-F238E27FC236}">
                    <a16:creationId xmlns:a16="http://schemas.microsoft.com/office/drawing/2014/main" id="{35BE519F-3E92-4F93-D6E8-65E5C181DC2E}"/>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396586" y="3769661"/>
                <a:ext cx="914400" cy="914400"/>
              </a:xfrm>
              <a:prstGeom prst="rect">
                <a:avLst/>
              </a:prstGeom>
            </p:spPr>
          </p:pic>
        </p:grpSp>
        <p:sp>
          <p:nvSpPr>
            <p:cNvPr id="25" name="TextBox 24">
              <a:extLst>
                <a:ext uri="{FF2B5EF4-FFF2-40B4-BE49-F238E27FC236}">
                  <a16:creationId xmlns:a16="http://schemas.microsoft.com/office/drawing/2014/main" id="{70E4E1AC-CBEE-D673-1DD4-DD0C3DCFE979}"/>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Unrealistic</a:t>
              </a:r>
            </a:p>
            <a:p>
              <a:pPr algn="ctr"/>
              <a:r>
                <a:rPr lang="en-US" sz="1600" noProof="0" dirty="0"/>
                <a:t>Experiments perturb the natural context</a:t>
              </a:r>
            </a:p>
          </p:txBody>
        </p:sp>
      </p:grpSp>
      <p:grpSp>
        <p:nvGrpSpPr>
          <p:cNvPr id="33" name="Group 32">
            <a:extLst>
              <a:ext uri="{FF2B5EF4-FFF2-40B4-BE49-F238E27FC236}">
                <a16:creationId xmlns:a16="http://schemas.microsoft.com/office/drawing/2014/main" id="{EBBD9692-1549-B8CF-73F0-60F62EECE3EB}"/>
              </a:ext>
            </a:extLst>
          </p:cNvPr>
          <p:cNvGrpSpPr/>
          <p:nvPr/>
        </p:nvGrpSpPr>
        <p:grpSpPr>
          <a:xfrm>
            <a:off x="6030560" y="3429000"/>
            <a:ext cx="2403652" cy="2101852"/>
            <a:chOff x="4894174" y="3429000"/>
            <a:chExt cx="2403652" cy="2101852"/>
          </a:xfrm>
        </p:grpSpPr>
        <p:grpSp>
          <p:nvGrpSpPr>
            <p:cNvPr id="34" name="Group 33">
              <a:extLst>
                <a:ext uri="{FF2B5EF4-FFF2-40B4-BE49-F238E27FC236}">
                  <a16:creationId xmlns:a16="http://schemas.microsoft.com/office/drawing/2014/main" id="{7E152CBB-69B5-AC9F-E6B5-2437F524A400}"/>
                </a:ext>
              </a:extLst>
            </p:cNvPr>
            <p:cNvGrpSpPr/>
            <p:nvPr/>
          </p:nvGrpSpPr>
          <p:grpSpPr>
            <a:xfrm>
              <a:off x="5556000" y="3429000"/>
              <a:ext cx="1080000" cy="1080000"/>
              <a:chOff x="3313786" y="3686861"/>
              <a:chExt cx="1080000" cy="1080000"/>
            </a:xfrm>
          </p:grpSpPr>
          <p:sp>
            <p:nvSpPr>
              <p:cNvPr id="36" name="Oval 35">
                <a:extLst>
                  <a:ext uri="{FF2B5EF4-FFF2-40B4-BE49-F238E27FC236}">
                    <a16:creationId xmlns:a16="http://schemas.microsoft.com/office/drawing/2014/main" id="{11B1B7D8-758A-EC52-D562-1D663C96BE59}"/>
                  </a:ext>
                </a:extLst>
              </p:cNvPr>
              <p:cNvSpPr/>
              <p:nvPr/>
            </p:nvSpPr>
            <p:spPr>
              <a:xfrm>
                <a:off x="3313786" y="3686861"/>
                <a:ext cx="1080000" cy="1080000"/>
              </a:xfrm>
              <a:prstGeom prst="ellipse">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7" name="Graphic 36" descr="Right Brain with solid fill">
                <a:extLst>
                  <a:ext uri="{FF2B5EF4-FFF2-40B4-BE49-F238E27FC236}">
                    <a16:creationId xmlns:a16="http://schemas.microsoft.com/office/drawing/2014/main" id="{CC1E6FD6-6AAA-1754-20F6-B79D6CC48118}"/>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96586" y="3769661"/>
                <a:ext cx="914400" cy="914400"/>
              </a:xfrm>
              <a:prstGeom prst="rect">
                <a:avLst/>
              </a:prstGeom>
            </p:spPr>
          </p:pic>
        </p:grpSp>
        <p:sp>
          <p:nvSpPr>
            <p:cNvPr id="35" name="TextBox 34">
              <a:extLst>
                <a:ext uri="{FF2B5EF4-FFF2-40B4-BE49-F238E27FC236}">
                  <a16:creationId xmlns:a16="http://schemas.microsoft.com/office/drawing/2014/main" id="{8E12ECA0-BF47-69CA-2F7E-0EFD81CC7C1C}"/>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Impossible</a:t>
              </a:r>
            </a:p>
            <a:p>
              <a:pPr algn="ctr"/>
              <a:r>
                <a:rPr lang="en-US" sz="1600" noProof="0" dirty="0"/>
                <a:t>Some factors are impossible to control</a:t>
              </a:r>
            </a:p>
          </p:txBody>
        </p:sp>
      </p:grpSp>
      <p:grpSp>
        <p:nvGrpSpPr>
          <p:cNvPr id="38" name="Group 37">
            <a:extLst>
              <a:ext uri="{FF2B5EF4-FFF2-40B4-BE49-F238E27FC236}">
                <a16:creationId xmlns:a16="http://schemas.microsoft.com/office/drawing/2014/main" id="{F348F97D-AB27-9FC0-7E0C-86FAE05BB410}"/>
              </a:ext>
            </a:extLst>
          </p:cNvPr>
          <p:cNvGrpSpPr/>
          <p:nvPr/>
        </p:nvGrpSpPr>
        <p:grpSpPr>
          <a:xfrm>
            <a:off x="8568218" y="3429000"/>
            <a:ext cx="2403652" cy="2594295"/>
            <a:chOff x="4894174" y="3429000"/>
            <a:chExt cx="2403652" cy="2594295"/>
          </a:xfrm>
        </p:grpSpPr>
        <p:grpSp>
          <p:nvGrpSpPr>
            <p:cNvPr id="39" name="Group 38">
              <a:extLst>
                <a:ext uri="{FF2B5EF4-FFF2-40B4-BE49-F238E27FC236}">
                  <a16:creationId xmlns:a16="http://schemas.microsoft.com/office/drawing/2014/main" id="{DF097F5B-10A9-0F02-1292-E434DFA8477D}"/>
                </a:ext>
              </a:extLst>
            </p:cNvPr>
            <p:cNvGrpSpPr/>
            <p:nvPr/>
          </p:nvGrpSpPr>
          <p:grpSpPr>
            <a:xfrm>
              <a:off x="5556000" y="3429000"/>
              <a:ext cx="1080000" cy="1080000"/>
              <a:chOff x="3313786" y="3686861"/>
              <a:chExt cx="1080000" cy="1080000"/>
            </a:xfrm>
          </p:grpSpPr>
          <p:sp>
            <p:nvSpPr>
              <p:cNvPr id="41" name="Oval 40">
                <a:extLst>
                  <a:ext uri="{FF2B5EF4-FFF2-40B4-BE49-F238E27FC236}">
                    <a16:creationId xmlns:a16="http://schemas.microsoft.com/office/drawing/2014/main" id="{0BB6DDAC-EF08-61B1-AE3E-ED8D582D62B8}"/>
                  </a:ext>
                </a:extLst>
              </p:cNvPr>
              <p:cNvSpPr/>
              <p:nvPr/>
            </p:nvSpPr>
            <p:spPr>
              <a:xfrm>
                <a:off x="3313786" y="3686861"/>
                <a:ext cx="1080000" cy="1080000"/>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2" name="Graphic 41" descr="Bar chart with solid fill">
                <a:extLst>
                  <a:ext uri="{FF2B5EF4-FFF2-40B4-BE49-F238E27FC236}">
                    <a16:creationId xmlns:a16="http://schemas.microsoft.com/office/drawing/2014/main" id="{02D681B4-E588-25CA-DF28-623910AABBCF}"/>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3396586" y="3769661"/>
                <a:ext cx="914400" cy="914400"/>
              </a:xfrm>
              <a:prstGeom prst="rect">
                <a:avLst/>
              </a:prstGeom>
            </p:spPr>
          </p:pic>
        </p:grpSp>
        <p:sp>
          <p:nvSpPr>
            <p:cNvPr id="40" name="TextBox 39">
              <a:extLst>
                <a:ext uri="{FF2B5EF4-FFF2-40B4-BE49-F238E27FC236}">
                  <a16:creationId xmlns:a16="http://schemas.microsoft.com/office/drawing/2014/main" id="{18C5D87B-90D1-41E2-FFA2-23688B8A3358}"/>
                </a:ext>
              </a:extLst>
            </p:cNvPr>
            <p:cNvSpPr txBox="1"/>
            <p:nvPr/>
          </p:nvSpPr>
          <p:spPr>
            <a:xfrm>
              <a:off x="4894174" y="4669078"/>
              <a:ext cx="2403652" cy="1354217"/>
            </a:xfrm>
            <a:prstGeom prst="rect">
              <a:avLst/>
            </a:prstGeom>
            <a:noFill/>
          </p:spPr>
          <p:txBody>
            <a:bodyPr wrap="square" rtlCol="0">
              <a:spAutoFit/>
            </a:bodyPr>
            <a:lstStyle/>
            <a:p>
              <a:pPr algn="ctr"/>
              <a:r>
                <a:rPr lang="en-US" b="1" noProof="0" dirty="0"/>
                <a:t>Assumed</a:t>
              </a:r>
            </a:p>
            <a:p>
              <a:pPr algn="ctr"/>
              <a:r>
                <a:rPr lang="en-US" sz="1600" noProof="0" dirty="0"/>
                <a:t>The validity of experimental results depends on several conditions</a:t>
              </a:r>
            </a:p>
          </p:txBody>
        </p:sp>
      </p:grpSp>
    </p:spTree>
    <p:extLst>
      <p:ext uri="{BB962C8B-B14F-4D97-AF65-F5344CB8AC3E}">
        <p14:creationId xmlns:p14="http://schemas.microsoft.com/office/powerpoint/2010/main" val="2756941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E76B28-07A6-8A80-934E-7ED4486260EE}"/>
              </a:ext>
            </a:extLst>
          </p:cNvPr>
          <p:cNvSpPr>
            <a:spLocks noGrp="1"/>
          </p:cNvSpPr>
          <p:nvPr>
            <p:ph type="title"/>
          </p:nvPr>
        </p:nvSpPr>
        <p:spPr/>
        <p:txBody>
          <a:bodyPr/>
          <a:lstStyle/>
          <a:p>
            <a:r>
              <a:rPr lang="en-SE" dirty="0"/>
              <a:t>Causal Modelling</a:t>
            </a:r>
          </a:p>
        </p:txBody>
      </p:sp>
      <p:sp>
        <p:nvSpPr>
          <p:cNvPr id="7" name="Text Placeholder 6">
            <a:extLst>
              <a:ext uri="{FF2B5EF4-FFF2-40B4-BE49-F238E27FC236}">
                <a16:creationId xmlns:a16="http://schemas.microsoft.com/office/drawing/2014/main" id="{4343B233-1733-892B-6BDD-2841F11698D0}"/>
              </a:ext>
            </a:extLst>
          </p:cNvPr>
          <p:cNvSpPr>
            <a:spLocks noGrp="1"/>
          </p:cNvSpPr>
          <p:nvPr>
            <p:ph type="body" idx="1"/>
          </p:nvPr>
        </p:nvSpPr>
        <p:spPr/>
        <p:txBody>
          <a:bodyPr/>
          <a:lstStyle/>
          <a:p>
            <a:r>
              <a:rPr lang="en-SE" dirty="0"/>
              <a:t>Framing Causal Assumptions</a:t>
            </a:r>
          </a:p>
        </p:txBody>
      </p:sp>
      <p:sp>
        <p:nvSpPr>
          <p:cNvPr id="4" name="Date Placeholder 3">
            <a:extLst>
              <a:ext uri="{FF2B5EF4-FFF2-40B4-BE49-F238E27FC236}">
                <a16:creationId xmlns:a16="http://schemas.microsoft.com/office/drawing/2014/main" id="{F8C57C07-FA78-364F-0DBC-8AC3852CE773}"/>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102C1D4A-A91D-46FB-382E-EDEF00A2CE33}"/>
              </a:ext>
            </a:extLst>
          </p:cNvPr>
          <p:cNvSpPr>
            <a:spLocks noGrp="1"/>
          </p:cNvSpPr>
          <p:nvPr>
            <p:ph type="sldNum" sz="quarter" idx="12"/>
          </p:nvPr>
        </p:nvSpPr>
        <p:spPr/>
        <p:txBody>
          <a:bodyPr/>
          <a:lstStyle/>
          <a:p>
            <a:fld id="{271ECC92-9CDE-4EB3-B1C5-F46B9E1FA3C1}" type="slidenum">
              <a:rPr lang="en-SE" smtClean="0"/>
              <a:t>8</a:t>
            </a:fld>
            <a:endParaRPr lang="en-SE"/>
          </a:p>
        </p:txBody>
      </p:sp>
    </p:spTree>
    <p:extLst>
      <p:ext uri="{BB962C8B-B14F-4D97-AF65-F5344CB8AC3E}">
        <p14:creationId xmlns:p14="http://schemas.microsoft.com/office/powerpoint/2010/main" val="3348635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01D5-E46A-3D2F-2040-19A469994ACF}"/>
              </a:ext>
            </a:extLst>
          </p:cNvPr>
          <p:cNvSpPr>
            <a:spLocks noGrp="1"/>
          </p:cNvSpPr>
          <p:nvPr>
            <p:ph type="title"/>
          </p:nvPr>
        </p:nvSpPr>
        <p:spPr/>
        <p:txBody>
          <a:bodyPr/>
          <a:lstStyle/>
          <a:p>
            <a:r>
              <a:rPr lang="en-US" noProof="0" dirty="0"/>
              <a:t>Causal Modeling</a:t>
            </a:r>
          </a:p>
        </p:txBody>
      </p:sp>
      <p:sp>
        <p:nvSpPr>
          <p:cNvPr id="3" name="Content Placeholder 2">
            <a:extLst>
              <a:ext uri="{FF2B5EF4-FFF2-40B4-BE49-F238E27FC236}">
                <a16:creationId xmlns:a16="http://schemas.microsoft.com/office/drawing/2014/main" id="{268C1ED3-CD9B-41F7-C616-17DFEBB418D3}"/>
              </a:ext>
            </a:extLst>
          </p:cNvPr>
          <p:cNvSpPr>
            <a:spLocks noGrp="1"/>
          </p:cNvSpPr>
          <p:nvPr>
            <p:ph idx="1"/>
          </p:nvPr>
        </p:nvSpPr>
        <p:spPr>
          <a:xfrm>
            <a:off x="838200" y="1825625"/>
            <a:ext cx="10515600" cy="1648155"/>
          </a:xfrm>
        </p:spPr>
        <p:txBody>
          <a:bodyPr/>
          <a:lstStyle/>
          <a:p>
            <a:pPr marL="0" indent="0">
              <a:buNone/>
            </a:pPr>
            <a:r>
              <a:rPr lang="en-US" b="1" noProof="0" dirty="0"/>
              <a:t>Directed, acyclic graphs </a:t>
            </a:r>
            <a:r>
              <a:rPr lang="en-US" noProof="0" dirty="0"/>
              <a:t>(DAGs) can represent causal assumptions, where </a:t>
            </a:r>
            <a:r>
              <a:rPr lang="en-US" i="1" noProof="0" dirty="0"/>
              <a:t>nodes represent variables </a:t>
            </a:r>
            <a:r>
              <a:rPr lang="en-US" noProof="0" dirty="0"/>
              <a:t>and </a:t>
            </a:r>
            <a:r>
              <a:rPr lang="en-US" i="1" noProof="0" dirty="0"/>
              <a:t>edges represent assumed/potential causal relationships </a:t>
            </a:r>
            <a:r>
              <a:rPr lang="en-US" noProof="0" dirty="0"/>
              <a:t>between those variables. </a:t>
            </a:r>
          </a:p>
        </p:txBody>
      </p:sp>
      <p:sp>
        <p:nvSpPr>
          <p:cNvPr id="4" name="Date Placeholder 3">
            <a:extLst>
              <a:ext uri="{FF2B5EF4-FFF2-40B4-BE49-F238E27FC236}">
                <a16:creationId xmlns:a16="http://schemas.microsoft.com/office/drawing/2014/main" id="{D3ECDEA1-9251-8010-9BDF-96EB0C689E28}"/>
              </a:ext>
            </a:extLst>
          </p:cNvPr>
          <p:cNvSpPr>
            <a:spLocks noGrp="1"/>
          </p:cNvSpPr>
          <p:nvPr>
            <p:ph type="dt" sz="half" idx="10"/>
          </p:nvPr>
        </p:nvSpPr>
        <p:spPr/>
        <p:txBody>
          <a:bodyPr/>
          <a:lstStyle/>
          <a:p>
            <a:fld id="{403A2FDA-9B6F-4F19-BB52-15CB2FEB03DD}" type="datetime1">
              <a:rPr lang="en-US" noProof="0" smtClean="0"/>
              <a:t>1/20/2026</a:t>
            </a:fld>
            <a:endParaRPr lang="en-US" noProof="0" dirty="0"/>
          </a:p>
        </p:txBody>
      </p:sp>
      <p:sp>
        <p:nvSpPr>
          <p:cNvPr id="5" name="Footer Placeholder 4">
            <a:extLst>
              <a:ext uri="{FF2B5EF4-FFF2-40B4-BE49-F238E27FC236}">
                <a16:creationId xmlns:a16="http://schemas.microsoft.com/office/drawing/2014/main" id="{C9BBC3B8-D200-43BE-3E66-C6281791291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9A06E96-EAC8-884A-18DB-A872B14C1C4B}"/>
              </a:ext>
            </a:extLst>
          </p:cNvPr>
          <p:cNvSpPr>
            <a:spLocks noGrp="1"/>
          </p:cNvSpPr>
          <p:nvPr>
            <p:ph type="sldNum" sz="quarter" idx="12"/>
          </p:nvPr>
        </p:nvSpPr>
        <p:spPr/>
        <p:txBody>
          <a:bodyPr/>
          <a:lstStyle/>
          <a:p>
            <a:fld id="{0FA2D919-C0DE-4971-A2E9-D4AC0031921B}" type="slidenum">
              <a:rPr lang="en-US" noProof="0" smtClean="0"/>
              <a:t>9</a:t>
            </a:fld>
            <a:endParaRPr lang="en-US" noProof="0" dirty="0"/>
          </a:p>
        </p:txBody>
      </p:sp>
      <p:sp>
        <p:nvSpPr>
          <p:cNvPr id="7" name="Oval 6">
            <a:extLst>
              <a:ext uri="{FF2B5EF4-FFF2-40B4-BE49-F238E27FC236}">
                <a16:creationId xmlns:a16="http://schemas.microsoft.com/office/drawing/2014/main" id="{E29DF2B2-1294-E509-291E-087811B57916}"/>
              </a:ext>
            </a:extLst>
          </p:cNvPr>
          <p:cNvSpPr/>
          <p:nvPr/>
        </p:nvSpPr>
        <p:spPr>
          <a:xfrm>
            <a:off x="1618046" y="396844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939CE83A-5A3D-768C-F51B-5236EB03EB28}"/>
              </a:ext>
            </a:extLst>
          </p:cNvPr>
          <p:cNvSpPr/>
          <p:nvPr/>
        </p:nvSpPr>
        <p:spPr>
          <a:xfrm>
            <a:off x="4109426" y="396844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Straight Arrow Connector 9">
            <a:extLst>
              <a:ext uri="{FF2B5EF4-FFF2-40B4-BE49-F238E27FC236}">
                <a16:creationId xmlns:a16="http://schemas.microsoft.com/office/drawing/2014/main" id="{E1E7991C-5FE2-6232-D234-92F4BCB3C857}"/>
              </a:ext>
            </a:extLst>
          </p:cNvPr>
          <p:cNvCxnSpPr>
            <a:stCxn id="7" idx="6"/>
            <a:endCxn id="8" idx="2"/>
          </p:cNvCxnSpPr>
          <p:nvPr/>
        </p:nvCxnSpPr>
        <p:spPr>
          <a:xfrm>
            <a:off x="1978046" y="414844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C2BD42AF-E48E-7B51-DE49-8941430EC6D2}"/>
              </a:ext>
            </a:extLst>
          </p:cNvPr>
          <p:cNvSpPr txBox="1"/>
          <p:nvPr/>
        </p:nvSpPr>
        <p:spPr>
          <a:xfrm>
            <a:off x="956794" y="3509109"/>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2" name="TextBox 11">
            <a:extLst>
              <a:ext uri="{FF2B5EF4-FFF2-40B4-BE49-F238E27FC236}">
                <a16:creationId xmlns:a16="http://schemas.microsoft.com/office/drawing/2014/main" id="{5D552F5E-017B-6C53-D8E0-E7F2B4B2A9C7}"/>
              </a:ext>
            </a:extLst>
          </p:cNvPr>
          <p:cNvSpPr txBox="1"/>
          <p:nvPr/>
        </p:nvSpPr>
        <p:spPr>
          <a:xfrm>
            <a:off x="2882359" y="4396926"/>
            <a:ext cx="1921680" cy="369332"/>
          </a:xfrm>
          <a:prstGeom prst="rect">
            <a:avLst/>
          </a:prstGeom>
          <a:noFill/>
        </p:spPr>
        <p:txBody>
          <a:bodyPr wrap="none" rtlCol="0">
            <a:spAutoFit/>
          </a:bodyPr>
          <a:lstStyle/>
          <a:p>
            <a:r>
              <a:rPr lang="en-US" noProof="0" dirty="0">
                <a:solidFill>
                  <a:srgbClr val="006D70"/>
                </a:solidFill>
              </a:rPr>
              <a:t>identified defects</a:t>
            </a:r>
          </a:p>
        </p:txBody>
      </p:sp>
      <p:grpSp>
        <p:nvGrpSpPr>
          <p:cNvPr id="9" name="Group 8">
            <a:extLst>
              <a:ext uri="{FF2B5EF4-FFF2-40B4-BE49-F238E27FC236}">
                <a16:creationId xmlns:a16="http://schemas.microsoft.com/office/drawing/2014/main" id="{AC9E53DE-C33F-6F0F-B577-09D1BAEA87C4}"/>
              </a:ext>
            </a:extLst>
          </p:cNvPr>
          <p:cNvGrpSpPr/>
          <p:nvPr/>
        </p:nvGrpSpPr>
        <p:grpSpPr>
          <a:xfrm>
            <a:off x="6169980" y="3509109"/>
            <a:ext cx="5692291" cy="1604317"/>
            <a:chOff x="6169980" y="3509109"/>
            <a:chExt cx="5692291" cy="1604317"/>
          </a:xfrm>
        </p:grpSpPr>
        <p:sp>
          <p:nvSpPr>
            <p:cNvPr id="14" name="Oval 13">
              <a:extLst>
                <a:ext uri="{FF2B5EF4-FFF2-40B4-BE49-F238E27FC236}">
                  <a16:creationId xmlns:a16="http://schemas.microsoft.com/office/drawing/2014/main" id="{735E4827-12C0-027C-234F-9DD84F6191EB}"/>
                </a:ext>
              </a:extLst>
            </p:cNvPr>
            <p:cNvSpPr/>
            <p:nvPr/>
          </p:nvSpPr>
          <p:spPr>
            <a:xfrm>
              <a:off x="7666780" y="396844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D2DC2964-CB7F-2751-FF50-A4EE8CA7B5B1}"/>
                </a:ext>
              </a:extLst>
            </p:cNvPr>
            <p:cNvSpPr/>
            <p:nvPr/>
          </p:nvSpPr>
          <p:spPr>
            <a:xfrm>
              <a:off x="10158160" y="396844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E7B0F98D-67A4-5225-43AF-40A40C93155B}"/>
                </a:ext>
              </a:extLst>
            </p:cNvPr>
            <p:cNvCxnSpPr>
              <a:stCxn id="14" idx="6"/>
              <a:endCxn id="15" idx="2"/>
            </p:cNvCxnSpPr>
            <p:nvPr/>
          </p:nvCxnSpPr>
          <p:spPr>
            <a:xfrm>
              <a:off x="8026780" y="414844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4EFBCF18-C3E1-44FD-78AE-22C9C3A88B12}"/>
                </a:ext>
              </a:extLst>
            </p:cNvPr>
            <p:cNvSpPr txBox="1"/>
            <p:nvPr/>
          </p:nvSpPr>
          <p:spPr>
            <a:xfrm>
              <a:off x="6485877" y="3509109"/>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8" name="TextBox 17">
              <a:extLst>
                <a:ext uri="{FF2B5EF4-FFF2-40B4-BE49-F238E27FC236}">
                  <a16:creationId xmlns:a16="http://schemas.microsoft.com/office/drawing/2014/main" id="{E78C183F-0AF0-6378-D245-B9084C4B288A}"/>
                </a:ext>
              </a:extLst>
            </p:cNvPr>
            <p:cNvSpPr txBox="1"/>
            <p:nvPr/>
          </p:nvSpPr>
          <p:spPr>
            <a:xfrm>
              <a:off x="9940591" y="4403963"/>
              <a:ext cx="1921680" cy="369332"/>
            </a:xfrm>
            <a:prstGeom prst="rect">
              <a:avLst/>
            </a:prstGeom>
            <a:noFill/>
          </p:spPr>
          <p:txBody>
            <a:bodyPr wrap="none" rtlCol="0">
              <a:spAutoFit/>
            </a:bodyPr>
            <a:lstStyle/>
            <a:p>
              <a:r>
                <a:rPr lang="en-US" noProof="0" dirty="0">
                  <a:solidFill>
                    <a:srgbClr val="006D70"/>
                  </a:solidFill>
                </a:rPr>
                <a:t>identified defects</a:t>
              </a:r>
            </a:p>
          </p:txBody>
        </p:sp>
        <p:sp>
          <p:nvSpPr>
            <p:cNvPr id="19" name="Oval 18">
              <a:extLst>
                <a:ext uri="{FF2B5EF4-FFF2-40B4-BE49-F238E27FC236}">
                  <a16:creationId xmlns:a16="http://schemas.microsoft.com/office/drawing/2014/main" id="{525FBA5D-B19E-AE26-5D16-E0A6359250B7}"/>
                </a:ext>
              </a:extLst>
            </p:cNvPr>
            <p:cNvSpPr/>
            <p:nvPr/>
          </p:nvSpPr>
          <p:spPr>
            <a:xfrm>
              <a:off x="7666780" y="4744094"/>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56AA87ED-42BF-3907-AA2E-ECD69776208C}"/>
                </a:ext>
              </a:extLst>
            </p:cNvPr>
            <p:cNvSpPr/>
            <p:nvPr/>
          </p:nvSpPr>
          <p:spPr>
            <a:xfrm>
              <a:off x="9039374" y="4744094"/>
              <a:ext cx="360000" cy="360000"/>
            </a:xfrm>
            <a:prstGeom prst="ellipse">
              <a:avLst/>
            </a:prstGeom>
            <a:solidFill>
              <a:schemeClr val="bg1">
                <a:lumMod val="75000"/>
              </a:schemeClr>
            </a:solidFill>
            <a:ln>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TextBox 20">
              <a:extLst>
                <a:ext uri="{FF2B5EF4-FFF2-40B4-BE49-F238E27FC236}">
                  <a16:creationId xmlns:a16="http://schemas.microsoft.com/office/drawing/2014/main" id="{34208AB7-6ABE-E78A-BB4D-D6EEAF512645}"/>
                </a:ext>
              </a:extLst>
            </p:cNvPr>
            <p:cNvSpPr txBox="1"/>
            <p:nvPr/>
          </p:nvSpPr>
          <p:spPr>
            <a:xfrm>
              <a:off x="9399374" y="4734762"/>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22" name="TextBox 21">
              <a:extLst>
                <a:ext uri="{FF2B5EF4-FFF2-40B4-BE49-F238E27FC236}">
                  <a16:creationId xmlns:a16="http://schemas.microsoft.com/office/drawing/2014/main" id="{9BD8E16A-7AC8-E5FF-0282-43AA2045018D}"/>
                </a:ext>
              </a:extLst>
            </p:cNvPr>
            <p:cNvSpPr txBox="1"/>
            <p:nvPr/>
          </p:nvSpPr>
          <p:spPr>
            <a:xfrm>
              <a:off x="6169980" y="4744094"/>
              <a:ext cx="1455398" cy="369332"/>
            </a:xfrm>
            <a:prstGeom prst="rect">
              <a:avLst/>
            </a:prstGeom>
            <a:noFill/>
          </p:spPr>
          <p:txBody>
            <a:bodyPr wrap="none" rtlCol="0">
              <a:spAutoFit/>
            </a:bodyPr>
            <a:lstStyle/>
            <a:p>
              <a:pPr algn="r"/>
              <a:r>
                <a:rPr lang="en-US" noProof="0" dirty="0">
                  <a:solidFill>
                    <a:schemeClr val="tx1">
                      <a:lumMod val="65000"/>
                      <a:lumOff val="35000"/>
                    </a:schemeClr>
                  </a:solidFill>
                </a:rPr>
                <a:t>participation</a:t>
              </a:r>
            </a:p>
          </p:txBody>
        </p:sp>
        <p:cxnSp>
          <p:nvCxnSpPr>
            <p:cNvPr id="23" name="Straight Arrow Connector 22">
              <a:extLst>
                <a:ext uri="{FF2B5EF4-FFF2-40B4-BE49-F238E27FC236}">
                  <a16:creationId xmlns:a16="http://schemas.microsoft.com/office/drawing/2014/main" id="{BC03D372-C488-4028-534A-E7FB39B29F94}"/>
                </a:ext>
              </a:extLst>
            </p:cNvPr>
            <p:cNvCxnSpPr>
              <a:cxnSpLocks/>
              <a:stCxn id="20" idx="7"/>
              <a:endCxn id="15" idx="3"/>
            </p:cNvCxnSpPr>
            <p:nvPr/>
          </p:nvCxnSpPr>
          <p:spPr>
            <a:xfrm flipV="1">
              <a:off x="9346653" y="4275720"/>
              <a:ext cx="864228"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3EB0E2A5-0C7E-E710-6AA2-B2CC3BDD87B5}"/>
                </a:ext>
              </a:extLst>
            </p:cNvPr>
            <p:cNvCxnSpPr>
              <a:cxnSpLocks/>
              <a:stCxn id="20" idx="2"/>
              <a:endCxn id="19" idx="6"/>
            </p:cNvCxnSpPr>
            <p:nvPr/>
          </p:nvCxnSpPr>
          <p:spPr>
            <a:xfrm flipH="1">
              <a:off x="8026780" y="4924094"/>
              <a:ext cx="10125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1B39319A-01E2-9541-B069-3F3F4BF0E758}"/>
                </a:ext>
              </a:extLst>
            </p:cNvPr>
            <p:cNvCxnSpPr>
              <a:cxnSpLocks/>
              <a:stCxn id="19" idx="0"/>
              <a:endCxn id="14" idx="4"/>
            </p:cNvCxnSpPr>
            <p:nvPr/>
          </p:nvCxnSpPr>
          <p:spPr>
            <a:xfrm flipV="1">
              <a:off x="7846780" y="4328441"/>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CCED2772-E71C-F3B2-5272-CCC723B63BFA}"/>
                </a:ext>
              </a:extLst>
            </p:cNvPr>
            <p:cNvCxnSpPr>
              <a:cxnSpLocks/>
              <a:stCxn id="20" idx="1"/>
              <a:endCxn id="14" idx="5"/>
            </p:cNvCxnSpPr>
            <p:nvPr/>
          </p:nvCxnSpPr>
          <p:spPr>
            <a:xfrm flipH="1" flipV="1">
              <a:off x="7974059" y="4275720"/>
              <a:ext cx="1118036"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7" name="Group 26">
            <a:extLst>
              <a:ext uri="{FF2B5EF4-FFF2-40B4-BE49-F238E27FC236}">
                <a16:creationId xmlns:a16="http://schemas.microsoft.com/office/drawing/2014/main" id="{D9125773-8726-84AC-1CBA-1E9538E72964}"/>
              </a:ext>
            </a:extLst>
          </p:cNvPr>
          <p:cNvGrpSpPr/>
          <p:nvPr/>
        </p:nvGrpSpPr>
        <p:grpSpPr>
          <a:xfrm>
            <a:off x="1076545" y="4856774"/>
            <a:ext cx="1477744" cy="360000"/>
            <a:chOff x="1076545" y="4856774"/>
            <a:chExt cx="1477744" cy="360000"/>
          </a:xfrm>
        </p:grpSpPr>
        <p:sp>
          <p:nvSpPr>
            <p:cNvPr id="36" name="Oval 35">
              <a:extLst>
                <a:ext uri="{FF2B5EF4-FFF2-40B4-BE49-F238E27FC236}">
                  <a16:creationId xmlns:a16="http://schemas.microsoft.com/office/drawing/2014/main" id="{E382FD1B-5874-1E26-2E7E-9CAF206FAEE4}"/>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TextBox 44">
              <a:extLst>
                <a:ext uri="{FF2B5EF4-FFF2-40B4-BE49-F238E27FC236}">
                  <a16:creationId xmlns:a16="http://schemas.microsoft.com/office/drawing/2014/main" id="{81B26CC4-ED14-560D-E74B-753EE216E14E}"/>
                </a:ext>
              </a:extLst>
            </p:cNvPr>
            <p:cNvSpPr txBox="1"/>
            <p:nvPr/>
          </p:nvSpPr>
          <p:spPr>
            <a:xfrm>
              <a:off x="1495794" y="4867742"/>
              <a:ext cx="1058495" cy="338554"/>
            </a:xfrm>
            <a:prstGeom prst="rect">
              <a:avLst/>
            </a:prstGeom>
            <a:noFill/>
          </p:spPr>
          <p:txBody>
            <a:bodyPr wrap="none" rtlCol="0">
              <a:spAutoFit/>
            </a:bodyPr>
            <a:lstStyle/>
            <a:p>
              <a:r>
                <a:rPr lang="en-US" sz="1600" noProof="0" dirty="0"/>
                <a:t>treatment</a:t>
              </a:r>
            </a:p>
          </p:txBody>
        </p:sp>
      </p:grpSp>
      <p:grpSp>
        <p:nvGrpSpPr>
          <p:cNvPr id="28" name="Group 27">
            <a:extLst>
              <a:ext uri="{FF2B5EF4-FFF2-40B4-BE49-F238E27FC236}">
                <a16:creationId xmlns:a16="http://schemas.microsoft.com/office/drawing/2014/main" id="{6E6F7AF7-FF8F-8972-0BB1-083F1B1B9A01}"/>
              </a:ext>
            </a:extLst>
          </p:cNvPr>
          <p:cNvGrpSpPr/>
          <p:nvPr/>
        </p:nvGrpSpPr>
        <p:grpSpPr>
          <a:xfrm>
            <a:off x="1074854" y="5309376"/>
            <a:ext cx="1402758" cy="360000"/>
            <a:chOff x="1074854" y="5309376"/>
            <a:chExt cx="1402758" cy="360000"/>
          </a:xfrm>
        </p:grpSpPr>
        <p:sp>
          <p:nvSpPr>
            <p:cNvPr id="37" name="Oval 36">
              <a:extLst>
                <a:ext uri="{FF2B5EF4-FFF2-40B4-BE49-F238E27FC236}">
                  <a16:creationId xmlns:a16="http://schemas.microsoft.com/office/drawing/2014/main" id="{8E347C23-1F0C-FBBC-53EF-0DCAF58BB11E}"/>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6" name="TextBox 45">
              <a:extLst>
                <a:ext uri="{FF2B5EF4-FFF2-40B4-BE49-F238E27FC236}">
                  <a16:creationId xmlns:a16="http://schemas.microsoft.com/office/drawing/2014/main" id="{52844D70-CDCB-C029-3674-F9895018B753}"/>
                </a:ext>
              </a:extLst>
            </p:cNvPr>
            <p:cNvSpPr txBox="1"/>
            <p:nvPr/>
          </p:nvSpPr>
          <p:spPr>
            <a:xfrm>
              <a:off x="1495677" y="5320099"/>
              <a:ext cx="981935" cy="338554"/>
            </a:xfrm>
            <a:prstGeom prst="rect">
              <a:avLst/>
            </a:prstGeom>
            <a:noFill/>
          </p:spPr>
          <p:txBody>
            <a:bodyPr wrap="none" rtlCol="0">
              <a:spAutoFit/>
            </a:bodyPr>
            <a:lstStyle/>
            <a:p>
              <a:r>
                <a:rPr lang="en-US" sz="1600" noProof="0" dirty="0"/>
                <a:t>outcome</a:t>
              </a:r>
            </a:p>
          </p:txBody>
        </p:sp>
      </p:grpSp>
      <p:grpSp>
        <p:nvGrpSpPr>
          <p:cNvPr id="35" name="Group 34">
            <a:extLst>
              <a:ext uri="{FF2B5EF4-FFF2-40B4-BE49-F238E27FC236}">
                <a16:creationId xmlns:a16="http://schemas.microsoft.com/office/drawing/2014/main" id="{F2E7BD8A-DB7C-BF9E-4658-49B3CEF7C406}"/>
              </a:ext>
            </a:extLst>
          </p:cNvPr>
          <p:cNvGrpSpPr/>
          <p:nvPr/>
        </p:nvGrpSpPr>
        <p:grpSpPr>
          <a:xfrm>
            <a:off x="3396566" y="4757200"/>
            <a:ext cx="2457272" cy="584775"/>
            <a:chOff x="3396566" y="4757200"/>
            <a:chExt cx="2457272" cy="584775"/>
          </a:xfrm>
        </p:grpSpPr>
        <p:cxnSp>
          <p:nvCxnSpPr>
            <p:cNvPr id="40" name="Straight Arrow Connector 39">
              <a:extLst>
                <a:ext uri="{FF2B5EF4-FFF2-40B4-BE49-F238E27FC236}">
                  <a16:creationId xmlns:a16="http://schemas.microsoft.com/office/drawing/2014/main" id="{F431263E-2CAD-D36B-30A3-3DBBF068E95E}"/>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F6057B23-59EB-AB5C-B913-DEB1A96D8FFB}"/>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30" name="Group 29">
            <a:extLst>
              <a:ext uri="{FF2B5EF4-FFF2-40B4-BE49-F238E27FC236}">
                <a16:creationId xmlns:a16="http://schemas.microsoft.com/office/drawing/2014/main" id="{E7F5AFE2-76AA-52CC-B96C-A9AAA735FD62}"/>
              </a:ext>
            </a:extLst>
          </p:cNvPr>
          <p:cNvGrpSpPr/>
          <p:nvPr/>
        </p:nvGrpSpPr>
        <p:grpSpPr>
          <a:xfrm>
            <a:off x="6053569" y="5320099"/>
            <a:ext cx="6035039" cy="946595"/>
            <a:chOff x="775411" y="5230368"/>
            <a:chExt cx="6035039" cy="946595"/>
          </a:xfrm>
        </p:grpSpPr>
        <p:sp>
          <p:nvSpPr>
            <p:cNvPr id="31" name="Rectangle: Rounded Corners 30">
              <a:extLst>
                <a:ext uri="{FF2B5EF4-FFF2-40B4-BE49-F238E27FC236}">
                  <a16:creationId xmlns:a16="http://schemas.microsoft.com/office/drawing/2014/main" id="{A970723A-AA44-3235-32F5-A5043D543F74}"/>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DAGs are subjective and represent the view of a domain expert.</a:t>
              </a:r>
              <a:endParaRPr lang="en-US" baseline="30000" noProof="0" dirty="0"/>
            </a:p>
          </p:txBody>
        </p:sp>
        <p:pic>
          <p:nvPicPr>
            <p:cNvPr id="32" name="Graphic 31" descr="Open quotation mark with solid fill">
              <a:extLst>
                <a:ext uri="{FF2B5EF4-FFF2-40B4-BE49-F238E27FC236}">
                  <a16:creationId xmlns:a16="http://schemas.microsoft.com/office/drawing/2014/main" id="{2A69186F-8D75-9F86-F79E-541D1830CF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75412" y="5343665"/>
              <a:ext cx="720000" cy="720000"/>
            </a:xfrm>
            <a:prstGeom prst="rect">
              <a:avLst/>
            </a:prstGeom>
          </p:spPr>
        </p:pic>
      </p:grpSp>
      <p:grpSp>
        <p:nvGrpSpPr>
          <p:cNvPr id="34" name="Group 33">
            <a:extLst>
              <a:ext uri="{FF2B5EF4-FFF2-40B4-BE49-F238E27FC236}">
                <a16:creationId xmlns:a16="http://schemas.microsoft.com/office/drawing/2014/main" id="{F92F992B-D24D-B6BE-246E-D0C0DEC972AF}"/>
              </a:ext>
            </a:extLst>
          </p:cNvPr>
          <p:cNvGrpSpPr/>
          <p:nvPr/>
        </p:nvGrpSpPr>
        <p:grpSpPr>
          <a:xfrm>
            <a:off x="1074854" y="5649590"/>
            <a:ext cx="2062133" cy="584775"/>
            <a:chOff x="1074854" y="5649590"/>
            <a:chExt cx="2062133" cy="584775"/>
          </a:xfrm>
        </p:grpSpPr>
        <p:sp>
          <p:nvSpPr>
            <p:cNvPr id="13" name="Oval 12">
              <a:extLst>
                <a:ext uri="{FF2B5EF4-FFF2-40B4-BE49-F238E27FC236}">
                  <a16:creationId xmlns:a16="http://schemas.microsoft.com/office/drawing/2014/main" id="{7E4E37D4-E266-31C8-4116-E003DB1A6EFA}"/>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72E4346E-9BC2-3799-0934-262C93847A18}"/>
                </a:ext>
              </a:extLst>
            </p:cNvPr>
            <p:cNvSpPr txBox="1"/>
            <p:nvPr/>
          </p:nvSpPr>
          <p:spPr>
            <a:xfrm>
              <a:off x="1497307" y="5649590"/>
              <a:ext cx="1639680" cy="584775"/>
            </a:xfrm>
            <a:prstGeom prst="rect">
              <a:avLst/>
            </a:prstGeom>
            <a:noFill/>
          </p:spPr>
          <p:txBody>
            <a:bodyPr wrap="none" rtlCol="0">
              <a:spAutoFit/>
            </a:bodyPr>
            <a:lstStyle/>
            <a:p>
              <a:r>
                <a:rPr lang="en-SE" sz="1600" noProof="0" dirty="0"/>
                <a:t>other (observed)</a:t>
              </a:r>
            </a:p>
            <a:p>
              <a:r>
                <a:rPr lang="en-SE" sz="1600" dirty="0"/>
                <a:t>factors</a:t>
              </a:r>
              <a:endParaRPr lang="en-US" sz="1600" noProof="0" dirty="0"/>
            </a:p>
          </p:txBody>
        </p:sp>
      </p:grpSp>
      <p:grpSp>
        <p:nvGrpSpPr>
          <p:cNvPr id="41" name="Group 40">
            <a:extLst>
              <a:ext uri="{FF2B5EF4-FFF2-40B4-BE49-F238E27FC236}">
                <a16:creationId xmlns:a16="http://schemas.microsoft.com/office/drawing/2014/main" id="{7C7FC57E-FA4A-4CB9-EA8F-407E0DACC3EB}"/>
              </a:ext>
            </a:extLst>
          </p:cNvPr>
          <p:cNvGrpSpPr/>
          <p:nvPr/>
        </p:nvGrpSpPr>
        <p:grpSpPr>
          <a:xfrm>
            <a:off x="3355166" y="5655293"/>
            <a:ext cx="2612457" cy="584775"/>
            <a:chOff x="3355166" y="5655293"/>
            <a:chExt cx="2612457" cy="584775"/>
          </a:xfrm>
        </p:grpSpPr>
        <p:sp>
          <p:nvSpPr>
            <p:cNvPr id="44" name="Oval 43">
              <a:extLst>
                <a:ext uri="{FF2B5EF4-FFF2-40B4-BE49-F238E27FC236}">
                  <a16:creationId xmlns:a16="http://schemas.microsoft.com/office/drawing/2014/main" id="{AE55B341-6B8C-9909-ED3B-F8C1F59E518F}"/>
                </a:ext>
              </a:extLst>
            </p:cNvPr>
            <p:cNvSpPr/>
            <p:nvPr/>
          </p:nvSpPr>
          <p:spPr>
            <a:xfrm>
              <a:off x="3355166" y="5761978"/>
              <a:ext cx="360000" cy="360000"/>
            </a:xfrm>
            <a:prstGeom prst="ellipse">
              <a:avLst/>
            </a:prstGeom>
            <a:solidFill>
              <a:schemeClr val="bg1">
                <a:lumMod val="75000"/>
              </a:schemeClr>
            </a:solidFill>
            <a:ln>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80640698-F95E-6BE9-2C55-63A3C13F6284}"/>
                </a:ext>
              </a:extLst>
            </p:cNvPr>
            <p:cNvSpPr txBox="1"/>
            <p:nvPr/>
          </p:nvSpPr>
          <p:spPr>
            <a:xfrm>
              <a:off x="4098713" y="5655293"/>
              <a:ext cx="1868910" cy="584775"/>
            </a:xfrm>
            <a:prstGeom prst="rect">
              <a:avLst/>
            </a:prstGeom>
            <a:noFill/>
          </p:spPr>
          <p:txBody>
            <a:bodyPr wrap="none" rtlCol="0">
              <a:spAutoFit/>
            </a:bodyPr>
            <a:lstStyle/>
            <a:p>
              <a:r>
                <a:rPr lang="en-SE" sz="1600" noProof="0" dirty="0"/>
                <a:t>other (unobserved)</a:t>
              </a:r>
            </a:p>
            <a:p>
              <a:r>
                <a:rPr lang="en-SE" sz="1600" dirty="0"/>
                <a:t>factors</a:t>
              </a:r>
              <a:endParaRPr lang="en-US" sz="1600" noProof="0" dirty="0"/>
            </a:p>
          </p:txBody>
        </p:sp>
      </p:grpSp>
      <p:grpSp>
        <p:nvGrpSpPr>
          <p:cNvPr id="42" name="Group 41">
            <a:extLst>
              <a:ext uri="{FF2B5EF4-FFF2-40B4-BE49-F238E27FC236}">
                <a16:creationId xmlns:a16="http://schemas.microsoft.com/office/drawing/2014/main" id="{A0313812-826F-D872-88A7-981B1F392AA9}"/>
              </a:ext>
            </a:extLst>
          </p:cNvPr>
          <p:cNvGrpSpPr/>
          <p:nvPr/>
        </p:nvGrpSpPr>
        <p:grpSpPr>
          <a:xfrm>
            <a:off x="3036566" y="5308246"/>
            <a:ext cx="2435291" cy="360000"/>
            <a:chOff x="3036566" y="4872796"/>
            <a:chExt cx="2435291" cy="360000"/>
          </a:xfrm>
        </p:grpSpPr>
        <p:sp>
          <p:nvSpPr>
            <p:cNvPr id="43" name="Oval 42">
              <a:extLst>
                <a:ext uri="{FF2B5EF4-FFF2-40B4-BE49-F238E27FC236}">
                  <a16:creationId xmlns:a16="http://schemas.microsoft.com/office/drawing/2014/main" id="{BCD69ACF-B492-931C-35F0-5AFD91AA9266}"/>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Oval 48">
              <a:extLst>
                <a:ext uri="{FF2B5EF4-FFF2-40B4-BE49-F238E27FC236}">
                  <a16:creationId xmlns:a16="http://schemas.microsoft.com/office/drawing/2014/main" id="{8A3B8E5B-9392-F1C5-01F9-6664B4560663}"/>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50" name="Straight Arrow Connector 49">
              <a:extLst>
                <a:ext uri="{FF2B5EF4-FFF2-40B4-BE49-F238E27FC236}">
                  <a16:creationId xmlns:a16="http://schemas.microsoft.com/office/drawing/2014/main" id="{4AF675E4-477A-B09F-DBD7-B14AC84B484C}"/>
                </a:ext>
              </a:extLst>
            </p:cNvPr>
            <p:cNvCxnSpPr>
              <a:stCxn id="43" idx="6"/>
              <a:endCxn id="49"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TextBox 50">
              <a:extLst>
                <a:ext uri="{FF2B5EF4-FFF2-40B4-BE49-F238E27FC236}">
                  <a16:creationId xmlns:a16="http://schemas.microsoft.com/office/drawing/2014/main" id="{28810111-6F86-AF0B-29C4-CA4F61FD6808}"/>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spTree>
    <p:extLst>
      <p:ext uri="{BB962C8B-B14F-4D97-AF65-F5344CB8AC3E}">
        <p14:creationId xmlns:p14="http://schemas.microsoft.com/office/powerpoint/2010/main" val="4225466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anim calcmode="lin" valueType="num">
                                      <p:cBhvr>
                                        <p:cTn id="42" dur="500" fill="hold"/>
                                        <p:tgtEl>
                                          <p:spTgt spid="30"/>
                                        </p:tgtEl>
                                        <p:attrNameLst>
                                          <p:attrName>ppt_x</p:attrName>
                                        </p:attrNameLst>
                                      </p:cBhvr>
                                      <p:tavLst>
                                        <p:tav tm="0">
                                          <p:val>
                                            <p:strVal val="#ppt_x"/>
                                          </p:val>
                                        </p:tav>
                                        <p:tav tm="100000">
                                          <p:val>
                                            <p:strVal val="#ppt_x"/>
                                          </p:val>
                                        </p:tav>
                                      </p:tavLst>
                                    </p:anim>
                                    <p:anim calcmode="lin" valueType="num">
                                      <p:cBhvr>
                                        <p:cTn id="43"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3FBD-3F15-097F-0A5A-4356A50C9436}"/>
              </a:ext>
            </a:extLst>
          </p:cNvPr>
          <p:cNvSpPr>
            <a:spLocks noGrp="1"/>
          </p:cNvSpPr>
          <p:nvPr>
            <p:ph type="title"/>
          </p:nvPr>
        </p:nvSpPr>
        <p:spPr/>
        <p:txBody>
          <a:bodyPr/>
          <a:lstStyle/>
          <a:p>
            <a:r>
              <a:rPr lang="en-SE" dirty="0"/>
              <a:t>Exercise: Formulating a DAG</a:t>
            </a:r>
          </a:p>
        </p:txBody>
      </p:sp>
      <p:sp>
        <p:nvSpPr>
          <p:cNvPr id="3" name="Content Placeholder 2">
            <a:extLst>
              <a:ext uri="{FF2B5EF4-FFF2-40B4-BE49-F238E27FC236}">
                <a16:creationId xmlns:a16="http://schemas.microsoft.com/office/drawing/2014/main" id="{8520E043-937F-A4D7-A99D-101016C7F97D}"/>
              </a:ext>
            </a:extLst>
          </p:cNvPr>
          <p:cNvSpPr>
            <a:spLocks noGrp="1"/>
          </p:cNvSpPr>
          <p:nvPr>
            <p:ph idx="1"/>
          </p:nvPr>
        </p:nvSpPr>
        <p:spPr/>
        <p:txBody>
          <a:bodyPr/>
          <a:lstStyle/>
          <a:p>
            <a:pPr marL="0" indent="0">
              <a:buNone/>
            </a:pPr>
            <a:r>
              <a:rPr lang="en-SE" dirty="0"/>
              <a:t>Derive a causal DAG from the following description:</a:t>
            </a:r>
          </a:p>
          <a:p>
            <a:pPr marL="0" indent="0">
              <a:buNone/>
            </a:pPr>
            <a:r>
              <a:rPr lang="en-SE" dirty="0"/>
              <a:t>“Researchers are interested in knowing if using ChatGPT affects the quality and length of code reviews 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FE30DA3F-B36B-C446-2568-6FB2E8D7CD11}"/>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38C1258D-69CE-0243-5B7F-09B485770739}"/>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D2CEE6E-05D8-428C-90C9-B674D6C83BC3}"/>
              </a:ext>
            </a:extLst>
          </p:cNvPr>
          <p:cNvSpPr>
            <a:spLocks noGrp="1"/>
          </p:cNvSpPr>
          <p:nvPr>
            <p:ph type="sldNum" sz="quarter" idx="12"/>
          </p:nvPr>
        </p:nvSpPr>
        <p:spPr/>
        <p:txBody>
          <a:bodyPr/>
          <a:lstStyle/>
          <a:p>
            <a:fld id="{0FA2D919-C0DE-4971-A2E9-D4AC0031921B}" type="slidenum">
              <a:rPr lang="en-US" smtClean="0"/>
              <a:t>10</a:t>
            </a:fld>
            <a:endParaRPr lang="en-US"/>
          </a:p>
        </p:txBody>
      </p:sp>
    </p:spTree>
    <p:extLst>
      <p:ext uri="{BB962C8B-B14F-4D97-AF65-F5344CB8AC3E}">
        <p14:creationId xmlns:p14="http://schemas.microsoft.com/office/powerpoint/2010/main" val="3639891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BC84-5614-7D01-2D78-2D3ABA246A68}"/>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532C4A99-4A50-C416-A31F-28FD0E0B24AC}"/>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95E1153F-693D-D8AE-050C-27F8E6809906}"/>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52B03A78-3F16-F624-7D27-419C8623AE34}"/>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054C5B4-8E28-1D83-AA8A-C6FD58D80896}"/>
              </a:ext>
            </a:extLst>
          </p:cNvPr>
          <p:cNvSpPr>
            <a:spLocks noGrp="1"/>
          </p:cNvSpPr>
          <p:nvPr>
            <p:ph type="sldNum" sz="quarter" idx="12"/>
          </p:nvPr>
        </p:nvSpPr>
        <p:spPr/>
        <p:txBody>
          <a:bodyPr/>
          <a:lstStyle/>
          <a:p>
            <a:fld id="{0FA2D919-C0DE-4971-A2E9-D4AC0031921B}" type="slidenum">
              <a:rPr lang="en-US" smtClean="0"/>
              <a:t>11</a:t>
            </a:fld>
            <a:endParaRPr lang="en-US"/>
          </a:p>
        </p:txBody>
      </p:sp>
      <p:sp>
        <p:nvSpPr>
          <p:cNvPr id="8" name="Oval 7">
            <a:extLst>
              <a:ext uri="{FF2B5EF4-FFF2-40B4-BE49-F238E27FC236}">
                <a16:creationId xmlns:a16="http://schemas.microsoft.com/office/drawing/2014/main" id="{18175F8B-187A-30E0-30C2-F02D74199FCA}"/>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75714894-43F6-757E-1CB0-106EDA63EE87}"/>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C3E838D0-C15A-76A0-AF04-F5770A4C116F}"/>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133C62B1-3A48-4ECA-316A-EE2AD7FA5063}"/>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2BF66CED-272B-EA6A-5C41-BEB0955019CD}"/>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813E89A1-C46F-C36C-BDD3-88AA1C5DC74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2EEA25BF-6D9F-44D0-6B1A-2E21982658EB}"/>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8E56E22-C969-C2CE-75E5-5FA5F5B3A0FF}"/>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22728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A498-8414-567E-6E35-B446EF79C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404F4-9740-2A34-C7C3-080DA6AA4F2A}"/>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ADD477A6-9DC8-1C3B-1A18-6DBF23DBC90E}"/>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5EBADD74-03AF-4D12-367D-88626577A8CA}"/>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FC96F183-7284-41A5-0BA9-27A7B2DA5DB7}"/>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B4B37FA-5D19-CB1A-B279-878BC1388FFB}"/>
              </a:ext>
            </a:extLst>
          </p:cNvPr>
          <p:cNvSpPr>
            <a:spLocks noGrp="1"/>
          </p:cNvSpPr>
          <p:nvPr>
            <p:ph type="sldNum" sz="quarter" idx="12"/>
          </p:nvPr>
        </p:nvSpPr>
        <p:spPr/>
        <p:txBody>
          <a:bodyPr/>
          <a:lstStyle/>
          <a:p>
            <a:fld id="{0FA2D919-C0DE-4971-A2E9-D4AC0031921B}" type="slidenum">
              <a:rPr lang="en-US" smtClean="0"/>
              <a:t>12</a:t>
            </a:fld>
            <a:endParaRPr lang="en-US"/>
          </a:p>
        </p:txBody>
      </p:sp>
      <p:sp>
        <p:nvSpPr>
          <p:cNvPr id="8" name="Oval 7">
            <a:extLst>
              <a:ext uri="{FF2B5EF4-FFF2-40B4-BE49-F238E27FC236}">
                <a16:creationId xmlns:a16="http://schemas.microsoft.com/office/drawing/2014/main" id="{26B8DEA0-EA65-E16C-D2A5-F14FF21CE063}"/>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DDE8D316-788C-3E14-61DA-0FC24B66F004}"/>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D3DF0A8B-2C28-6584-5B28-FC8CB687475C}"/>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D7AF8B61-FFB9-B6E9-4F0C-5E3DA5D5C390}"/>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A369C4C4-FB1F-A6C0-4FB1-E50083325A69}"/>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E6267037-8EE4-F739-A21B-C220C2C7FC52}"/>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73B44695-22F1-F969-BE45-88177636E98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7FE34C5-0657-2C78-59B9-AEB3FDBFC7FA}"/>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828F2C6-0075-EC0D-5325-F3605D071CFB}"/>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4F4793F-E500-530B-A97B-EC5B5EA272FB}"/>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A99FDF26-7044-4DD5-2CB1-5C8E6A46DC50}"/>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77431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BB2C-A452-E7D9-9B3C-51178077E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2F985-06B4-4887-FAB3-1358F3E2FD30}"/>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F65F50E0-0D03-13BC-5343-A95615B0F5B7}"/>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 </a:t>
            </a:r>
            <a:r>
              <a:rPr lang="en-SE" dirty="0"/>
              <a:t>generally produce more concise (i.e., shorter) and better code reviews.”</a:t>
            </a:r>
          </a:p>
        </p:txBody>
      </p:sp>
      <p:sp>
        <p:nvSpPr>
          <p:cNvPr id="4" name="Date Placeholder 3">
            <a:extLst>
              <a:ext uri="{FF2B5EF4-FFF2-40B4-BE49-F238E27FC236}">
                <a16:creationId xmlns:a16="http://schemas.microsoft.com/office/drawing/2014/main" id="{F41EDFA7-76B0-4778-3326-0AAE183370C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6983AFC-8BBB-0561-FF03-1850B25D5B8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AE9A8FC9-725A-279C-DA2D-88F2A2A563EF}"/>
              </a:ext>
            </a:extLst>
          </p:cNvPr>
          <p:cNvSpPr>
            <a:spLocks noGrp="1"/>
          </p:cNvSpPr>
          <p:nvPr>
            <p:ph type="sldNum" sz="quarter" idx="12"/>
          </p:nvPr>
        </p:nvSpPr>
        <p:spPr/>
        <p:txBody>
          <a:bodyPr/>
          <a:lstStyle/>
          <a:p>
            <a:fld id="{0FA2D919-C0DE-4971-A2E9-D4AC0031921B}" type="slidenum">
              <a:rPr lang="en-US" smtClean="0"/>
              <a:t>13</a:t>
            </a:fld>
            <a:endParaRPr lang="en-US"/>
          </a:p>
        </p:txBody>
      </p:sp>
      <p:sp>
        <p:nvSpPr>
          <p:cNvPr id="8" name="Oval 7">
            <a:extLst>
              <a:ext uri="{FF2B5EF4-FFF2-40B4-BE49-F238E27FC236}">
                <a16:creationId xmlns:a16="http://schemas.microsoft.com/office/drawing/2014/main" id="{24F1A287-AFB1-42FC-BC5D-55AED8845BEF}"/>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367D5160-CB7A-E0B1-DCBA-85D6881C12FD}"/>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3EDAF45D-CA56-CB00-C4C4-90773BC55468}"/>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C3BB0BDD-87D9-181F-1145-F08805504A9B}"/>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13E50191-DE93-64CF-1A7D-742F5A9B8545}"/>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D6F6E08F-EFF2-D971-9D29-272B409C692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920AE35A-901B-0EAC-339E-7F243FEDFA64}"/>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118A04E-65F7-E100-208F-D979D602A407}"/>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785A9354-B27F-A4A8-BD7E-F53AE2E7F922}"/>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FCF8B61F-22D9-A742-961D-7F52685F8CBA}"/>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E03F05D1-FA23-5888-D34F-3F0045232519}"/>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A3C08348-25F4-0E35-3207-525EDA0AA0BC}"/>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0B3D504A-1D64-B936-D21C-591AC4A50C36}"/>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993D8069-2E80-92BF-2643-F85B784EF0A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5AD61E4-47BE-B97B-EBE7-966FBE9DA0E9}"/>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8389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C2E5-6942-8D1F-89FB-3602D8967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91076-CF1D-A1AC-8C10-7341EA0685DF}"/>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9A5F1933-5CF0-2341-7C01-2A87FA99EDCA}"/>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a:t>
            </a:r>
            <a:r>
              <a:rPr lang="en-SE" dirty="0"/>
              <a:t> generally produce more concise (i.e., shorter) and better code reviews.”</a:t>
            </a:r>
          </a:p>
        </p:txBody>
      </p:sp>
      <p:sp>
        <p:nvSpPr>
          <p:cNvPr id="4" name="Date Placeholder 3">
            <a:extLst>
              <a:ext uri="{FF2B5EF4-FFF2-40B4-BE49-F238E27FC236}">
                <a16:creationId xmlns:a16="http://schemas.microsoft.com/office/drawing/2014/main" id="{838EC19A-9E5A-EC9F-8FA7-5D91A9B16C22}"/>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9791BBEB-F103-42E3-D274-FC18677A6E12}"/>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12DB5A95-7FA0-1830-0BCE-2DC4B7E1243A}"/>
              </a:ext>
            </a:extLst>
          </p:cNvPr>
          <p:cNvSpPr>
            <a:spLocks noGrp="1"/>
          </p:cNvSpPr>
          <p:nvPr>
            <p:ph type="sldNum" sz="quarter" idx="12"/>
          </p:nvPr>
        </p:nvSpPr>
        <p:spPr/>
        <p:txBody>
          <a:bodyPr/>
          <a:lstStyle/>
          <a:p>
            <a:fld id="{0FA2D919-C0DE-4971-A2E9-D4AC0031921B}" type="slidenum">
              <a:rPr lang="en-US" smtClean="0"/>
              <a:t>14</a:t>
            </a:fld>
            <a:endParaRPr lang="en-US"/>
          </a:p>
        </p:txBody>
      </p:sp>
      <p:sp>
        <p:nvSpPr>
          <p:cNvPr id="8" name="Oval 7">
            <a:extLst>
              <a:ext uri="{FF2B5EF4-FFF2-40B4-BE49-F238E27FC236}">
                <a16:creationId xmlns:a16="http://schemas.microsoft.com/office/drawing/2014/main" id="{72F6360D-FA50-E8B0-BE18-A46397906A5B}"/>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A10B4A13-99F2-0B83-FCE8-34D2EF3E8FE5}"/>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45C8134B-E38D-204B-C04B-F774397EE8D5}"/>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759AB872-C278-AE65-D480-32D6EABE214C}"/>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56C444D9-4617-6916-3D59-FF5F27C3FBFE}"/>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68D8EC2F-500C-26E6-D22E-CFC01625009A}"/>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5993D038-AAC2-B447-9C48-0C6141A1F26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64E4B5F8-E0AC-A7CD-DE18-48AA73D01B10}"/>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D90D075-7E54-F2BA-2183-C14592F2AA21}"/>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CA431B0F-2F5C-6B89-CD12-4009D47FC00F}"/>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41F0B2BF-9AB2-DCC3-1131-B2684166752F}"/>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6D6D81C-7FD1-B735-9245-D7D9E64010D1}"/>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83F0CAC2-64C3-8F1C-5686-A45B8AE76E4C}"/>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0E330AF0-0776-6BAF-41E5-60F86176E0C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5806F6E5-EFA9-F7CB-72D0-EAC4F365473D}"/>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8F964D5-95C4-966A-B124-1D9BDCCAE559}"/>
              </a:ext>
            </a:extLst>
          </p:cNvPr>
          <p:cNvCxnSpPr>
            <a:cxnSpLocks/>
            <a:stCxn id="7" idx="6"/>
            <a:endCxn id="18" idx="2"/>
          </p:cNvCxnSpPr>
          <p:nvPr/>
        </p:nvCxnSpPr>
        <p:spPr>
          <a:xfrm>
            <a:off x="4967392" y="5832151"/>
            <a:ext cx="942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3055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486D25-8B83-9D9D-5FD6-3A502B4012D4}"/>
              </a:ext>
            </a:extLst>
          </p:cNvPr>
          <p:cNvSpPr>
            <a:spLocks noGrp="1"/>
          </p:cNvSpPr>
          <p:nvPr>
            <p:ph type="title"/>
          </p:nvPr>
        </p:nvSpPr>
        <p:spPr/>
        <p:txBody>
          <a:bodyPr/>
          <a:lstStyle/>
          <a:p>
            <a:r>
              <a:rPr lang="en-SE" dirty="0"/>
              <a:t>Types of Associations</a:t>
            </a:r>
          </a:p>
        </p:txBody>
      </p:sp>
      <p:sp>
        <p:nvSpPr>
          <p:cNvPr id="7" name="Text Placeholder 6">
            <a:extLst>
              <a:ext uri="{FF2B5EF4-FFF2-40B4-BE49-F238E27FC236}">
                <a16:creationId xmlns:a16="http://schemas.microsoft.com/office/drawing/2014/main" id="{753A6951-E062-B509-D71F-ECC3FEDA4155}"/>
              </a:ext>
            </a:extLst>
          </p:cNvPr>
          <p:cNvSpPr>
            <a:spLocks noGrp="1"/>
          </p:cNvSpPr>
          <p:nvPr>
            <p:ph type="body" idx="1"/>
          </p:nvPr>
        </p:nvSpPr>
        <p:spPr/>
        <p:txBody>
          <a:bodyPr/>
          <a:lstStyle/>
          <a:p>
            <a:r>
              <a:rPr lang="en-SE" dirty="0"/>
              <a:t>Relationships Between Three (or more) Variables</a:t>
            </a:r>
          </a:p>
        </p:txBody>
      </p:sp>
      <p:sp>
        <p:nvSpPr>
          <p:cNvPr id="4" name="Date Placeholder 3">
            <a:extLst>
              <a:ext uri="{FF2B5EF4-FFF2-40B4-BE49-F238E27FC236}">
                <a16:creationId xmlns:a16="http://schemas.microsoft.com/office/drawing/2014/main" id="{460BE057-9EBE-19BE-0344-9014230CC172}"/>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2CEAB494-5868-2999-B9F3-A1F967A683B6}"/>
              </a:ext>
            </a:extLst>
          </p:cNvPr>
          <p:cNvSpPr>
            <a:spLocks noGrp="1"/>
          </p:cNvSpPr>
          <p:nvPr>
            <p:ph type="sldNum" sz="quarter" idx="12"/>
          </p:nvPr>
        </p:nvSpPr>
        <p:spPr/>
        <p:txBody>
          <a:bodyPr/>
          <a:lstStyle/>
          <a:p>
            <a:fld id="{271ECC92-9CDE-4EB3-B1C5-F46B9E1FA3C1}" type="slidenum">
              <a:rPr lang="en-SE" smtClean="0"/>
              <a:t>15</a:t>
            </a:fld>
            <a:endParaRPr lang="en-SE"/>
          </a:p>
        </p:txBody>
      </p:sp>
    </p:spTree>
    <p:extLst>
      <p:ext uri="{BB962C8B-B14F-4D97-AF65-F5344CB8AC3E}">
        <p14:creationId xmlns:p14="http://schemas.microsoft.com/office/powerpoint/2010/main" val="1305055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D427-0F29-D664-0D74-8D7E924E4067}"/>
              </a:ext>
            </a:extLst>
          </p:cNvPr>
          <p:cNvSpPr>
            <a:spLocks noGrp="1"/>
          </p:cNvSpPr>
          <p:nvPr>
            <p:ph type="title"/>
          </p:nvPr>
        </p:nvSpPr>
        <p:spPr/>
        <p:txBody>
          <a:bodyPr/>
          <a:lstStyle/>
          <a:p>
            <a:r>
              <a:rPr lang="en-SE" dirty="0"/>
              <a:t>Three Types of Associations</a:t>
            </a:r>
          </a:p>
        </p:txBody>
      </p:sp>
      <p:sp>
        <p:nvSpPr>
          <p:cNvPr id="4" name="Date Placeholder 3">
            <a:extLst>
              <a:ext uri="{FF2B5EF4-FFF2-40B4-BE49-F238E27FC236}">
                <a16:creationId xmlns:a16="http://schemas.microsoft.com/office/drawing/2014/main" id="{680B4885-297B-BC5C-E3B8-5C5E3746A776}"/>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59C3D409-B4D0-BFF4-94BF-F2C240826272}"/>
              </a:ext>
            </a:extLst>
          </p:cNvPr>
          <p:cNvSpPr>
            <a:spLocks noGrp="1"/>
          </p:cNvSpPr>
          <p:nvPr>
            <p:ph type="sldNum" sz="quarter" idx="12"/>
          </p:nvPr>
        </p:nvSpPr>
        <p:spPr/>
        <p:txBody>
          <a:bodyPr/>
          <a:lstStyle/>
          <a:p>
            <a:fld id="{271ECC92-9CDE-4EB3-B1C5-F46B9E1FA3C1}" type="slidenum">
              <a:rPr lang="en-SE" smtClean="0"/>
              <a:t>16</a:t>
            </a:fld>
            <a:endParaRPr lang="en-SE"/>
          </a:p>
        </p:txBody>
      </p:sp>
      <p:grpSp>
        <p:nvGrpSpPr>
          <p:cNvPr id="24" name="Group 23">
            <a:extLst>
              <a:ext uri="{FF2B5EF4-FFF2-40B4-BE49-F238E27FC236}">
                <a16:creationId xmlns:a16="http://schemas.microsoft.com/office/drawing/2014/main" id="{31C1EE81-5897-E7E0-5756-4E9D126B4705}"/>
              </a:ext>
            </a:extLst>
          </p:cNvPr>
          <p:cNvGrpSpPr/>
          <p:nvPr/>
        </p:nvGrpSpPr>
        <p:grpSpPr>
          <a:xfrm>
            <a:off x="1704700" y="3455983"/>
            <a:ext cx="1876697" cy="956965"/>
            <a:chOff x="1704703" y="3311892"/>
            <a:chExt cx="1876697" cy="956965"/>
          </a:xfrm>
        </p:grpSpPr>
        <p:sp>
          <p:nvSpPr>
            <p:cNvPr id="6" name="Oval 5">
              <a:extLst>
                <a:ext uri="{FF2B5EF4-FFF2-40B4-BE49-F238E27FC236}">
                  <a16:creationId xmlns:a16="http://schemas.microsoft.com/office/drawing/2014/main" id="{6F6CDA5D-67BE-6A5A-DA78-5FC4784FD643}"/>
                </a:ext>
              </a:extLst>
            </p:cNvPr>
            <p:cNvSpPr/>
            <p:nvPr/>
          </p:nvSpPr>
          <p:spPr>
            <a:xfrm>
              <a:off x="1704703" y="331189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7" name="Oval 6">
              <a:extLst>
                <a:ext uri="{FF2B5EF4-FFF2-40B4-BE49-F238E27FC236}">
                  <a16:creationId xmlns:a16="http://schemas.microsoft.com/office/drawing/2014/main" id="{7AFBD2EB-73BD-7C93-8F11-91F574D32D36}"/>
                </a:ext>
              </a:extLst>
            </p:cNvPr>
            <p:cNvSpPr/>
            <p:nvPr/>
          </p:nvSpPr>
          <p:spPr>
            <a:xfrm>
              <a:off x="3221400" y="33118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4DC63294-9E9E-CB14-0610-681981229BCE}"/>
                </a:ext>
              </a:extLst>
            </p:cNvPr>
            <p:cNvCxnSpPr>
              <a:cxnSpLocks/>
              <a:stCxn id="6" idx="6"/>
              <a:endCxn id="7" idx="2"/>
            </p:cNvCxnSpPr>
            <p:nvPr/>
          </p:nvCxnSpPr>
          <p:spPr>
            <a:xfrm>
              <a:off x="2064703" y="3491892"/>
              <a:ext cx="11566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Oval 12">
              <a:extLst>
                <a:ext uri="{FF2B5EF4-FFF2-40B4-BE49-F238E27FC236}">
                  <a16:creationId xmlns:a16="http://schemas.microsoft.com/office/drawing/2014/main" id="{ECB62CFF-E1D5-638D-464A-DF84324D03ED}"/>
                </a:ext>
              </a:extLst>
            </p:cNvPr>
            <p:cNvSpPr/>
            <p:nvPr/>
          </p:nvSpPr>
          <p:spPr>
            <a:xfrm>
              <a:off x="2468474" y="390885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16" name="Straight Arrow Connector 15">
              <a:extLst>
                <a:ext uri="{FF2B5EF4-FFF2-40B4-BE49-F238E27FC236}">
                  <a16:creationId xmlns:a16="http://schemas.microsoft.com/office/drawing/2014/main" id="{FB10F6A4-8EB2-B1EE-BA03-26C242D9D6B4}"/>
                </a:ext>
              </a:extLst>
            </p:cNvPr>
            <p:cNvCxnSpPr>
              <a:cxnSpLocks/>
              <a:stCxn id="13" idx="1"/>
              <a:endCxn id="6" idx="5"/>
            </p:cNvCxnSpPr>
            <p:nvPr/>
          </p:nvCxnSpPr>
          <p:spPr>
            <a:xfrm flipH="1" flipV="1">
              <a:off x="2011982" y="3619171"/>
              <a:ext cx="509213"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E2E93487-4848-2774-EBE6-6417AF8CDF94}"/>
                </a:ext>
              </a:extLst>
            </p:cNvPr>
            <p:cNvCxnSpPr>
              <a:cxnSpLocks/>
              <a:stCxn id="13" idx="7"/>
              <a:endCxn id="7" idx="3"/>
            </p:cNvCxnSpPr>
            <p:nvPr/>
          </p:nvCxnSpPr>
          <p:spPr>
            <a:xfrm flipV="1">
              <a:off x="2775753" y="3619171"/>
              <a:ext cx="498368"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3" name="TextBox 22">
            <a:extLst>
              <a:ext uri="{FF2B5EF4-FFF2-40B4-BE49-F238E27FC236}">
                <a16:creationId xmlns:a16="http://schemas.microsoft.com/office/drawing/2014/main" id="{CF36F291-AB83-1A5A-25F5-DBDF0FA1AC3F}"/>
              </a:ext>
            </a:extLst>
          </p:cNvPr>
          <p:cNvSpPr txBox="1"/>
          <p:nvPr/>
        </p:nvSpPr>
        <p:spPr>
          <a:xfrm>
            <a:off x="1220881" y="2068914"/>
            <a:ext cx="2844339" cy="1169551"/>
          </a:xfrm>
          <a:prstGeom prst="rect">
            <a:avLst/>
          </a:prstGeom>
          <a:noFill/>
        </p:spPr>
        <p:txBody>
          <a:bodyPr wrap="square" rtlCol="0">
            <a:spAutoFit/>
          </a:bodyPr>
          <a:lstStyle/>
          <a:p>
            <a:pPr algn="ctr"/>
            <a:r>
              <a:rPr lang="en-SE" sz="2400" b="1" dirty="0"/>
              <a:t>Confounder</a:t>
            </a:r>
          </a:p>
          <a:p>
            <a:pPr algn="ctr"/>
            <a:r>
              <a:rPr lang="en-SE" sz="1400" dirty="0"/>
              <a:t>(or: fork)</a:t>
            </a:r>
          </a:p>
          <a:p>
            <a:pPr algn="ctr"/>
            <a:r>
              <a:rPr lang="en-SE" sz="1600" dirty="0"/>
              <a:t>z is a common cause of both exposure x and the outcome y</a:t>
            </a:r>
            <a:endParaRPr lang="en-SE" dirty="0"/>
          </a:p>
        </p:txBody>
      </p:sp>
      <p:sp>
        <p:nvSpPr>
          <p:cNvPr id="25" name="TextBox 24">
            <a:extLst>
              <a:ext uri="{FF2B5EF4-FFF2-40B4-BE49-F238E27FC236}">
                <a16:creationId xmlns:a16="http://schemas.microsoft.com/office/drawing/2014/main" id="{723E9F04-C7BC-0CAA-912A-3E283BE7C4C8}"/>
              </a:ext>
            </a:extLst>
          </p:cNvPr>
          <p:cNvSpPr txBox="1"/>
          <p:nvPr/>
        </p:nvSpPr>
        <p:spPr>
          <a:xfrm>
            <a:off x="1220880" y="4630466"/>
            <a:ext cx="2844339" cy="830997"/>
          </a:xfrm>
          <a:prstGeom prst="rect">
            <a:avLst/>
          </a:prstGeom>
          <a:noFill/>
        </p:spPr>
        <p:txBody>
          <a:bodyPr wrap="square" rtlCol="0">
            <a:spAutoFit/>
          </a:bodyPr>
          <a:lstStyle/>
          <a:p>
            <a:pPr algn="ctr"/>
            <a:r>
              <a:rPr lang="en-SE" sz="1600" dirty="0"/>
              <a:t>To get an unbiased estimation of the effect x → y we must control z.</a:t>
            </a:r>
            <a:endParaRPr lang="en-SE" sz="1200" dirty="0"/>
          </a:p>
        </p:txBody>
      </p:sp>
      <p:grpSp>
        <p:nvGrpSpPr>
          <p:cNvPr id="28" name="Group 27">
            <a:extLst>
              <a:ext uri="{FF2B5EF4-FFF2-40B4-BE49-F238E27FC236}">
                <a16:creationId xmlns:a16="http://schemas.microsoft.com/office/drawing/2014/main" id="{22690261-C43F-3A70-727F-DAB52E6DDF5F}"/>
              </a:ext>
            </a:extLst>
          </p:cNvPr>
          <p:cNvGrpSpPr/>
          <p:nvPr/>
        </p:nvGrpSpPr>
        <p:grpSpPr>
          <a:xfrm>
            <a:off x="5157650" y="3455983"/>
            <a:ext cx="1876697" cy="956965"/>
            <a:chOff x="1704703" y="3311892"/>
            <a:chExt cx="1876697" cy="956965"/>
          </a:xfrm>
        </p:grpSpPr>
        <p:sp>
          <p:nvSpPr>
            <p:cNvPr id="31" name="Oval 30">
              <a:extLst>
                <a:ext uri="{FF2B5EF4-FFF2-40B4-BE49-F238E27FC236}">
                  <a16:creationId xmlns:a16="http://schemas.microsoft.com/office/drawing/2014/main" id="{2DA01170-E563-5557-7995-DF3DD988A8E1}"/>
                </a:ext>
              </a:extLst>
            </p:cNvPr>
            <p:cNvSpPr/>
            <p:nvPr/>
          </p:nvSpPr>
          <p:spPr>
            <a:xfrm>
              <a:off x="1704703" y="331189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2" name="Oval 31">
              <a:extLst>
                <a:ext uri="{FF2B5EF4-FFF2-40B4-BE49-F238E27FC236}">
                  <a16:creationId xmlns:a16="http://schemas.microsoft.com/office/drawing/2014/main" id="{94D6F8A2-9E9D-50F8-1E50-7E61F59EA7D3}"/>
                </a:ext>
              </a:extLst>
            </p:cNvPr>
            <p:cNvSpPr/>
            <p:nvPr/>
          </p:nvSpPr>
          <p:spPr>
            <a:xfrm>
              <a:off x="3221400" y="33118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3" name="Straight Arrow Connector 32">
              <a:extLst>
                <a:ext uri="{FF2B5EF4-FFF2-40B4-BE49-F238E27FC236}">
                  <a16:creationId xmlns:a16="http://schemas.microsoft.com/office/drawing/2014/main" id="{C4A07D57-2954-5BF8-2E8B-3B7A06668475}"/>
                </a:ext>
              </a:extLst>
            </p:cNvPr>
            <p:cNvCxnSpPr>
              <a:cxnSpLocks/>
              <a:stCxn id="31" idx="6"/>
              <a:endCxn id="32" idx="2"/>
            </p:cNvCxnSpPr>
            <p:nvPr/>
          </p:nvCxnSpPr>
          <p:spPr>
            <a:xfrm>
              <a:off x="2064703" y="3491892"/>
              <a:ext cx="11566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Oval 33">
              <a:extLst>
                <a:ext uri="{FF2B5EF4-FFF2-40B4-BE49-F238E27FC236}">
                  <a16:creationId xmlns:a16="http://schemas.microsoft.com/office/drawing/2014/main" id="{05FC0E83-AC9F-B337-6D23-48A1E19B9B6F}"/>
                </a:ext>
              </a:extLst>
            </p:cNvPr>
            <p:cNvSpPr/>
            <p:nvPr/>
          </p:nvSpPr>
          <p:spPr>
            <a:xfrm>
              <a:off x="2468474" y="390885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35" name="Straight Arrow Connector 34">
              <a:extLst>
                <a:ext uri="{FF2B5EF4-FFF2-40B4-BE49-F238E27FC236}">
                  <a16:creationId xmlns:a16="http://schemas.microsoft.com/office/drawing/2014/main" id="{6DB24529-8717-3002-A0FE-1DFBADE574FE}"/>
                </a:ext>
              </a:extLst>
            </p:cNvPr>
            <p:cNvCxnSpPr>
              <a:cxnSpLocks/>
              <a:stCxn id="31" idx="5"/>
              <a:endCxn id="34" idx="1"/>
            </p:cNvCxnSpPr>
            <p:nvPr/>
          </p:nvCxnSpPr>
          <p:spPr>
            <a:xfrm>
              <a:off x="2011982" y="3619171"/>
              <a:ext cx="509213"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B5CB1040-5239-161C-4FA4-7B8178D7B033}"/>
                </a:ext>
              </a:extLst>
            </p:cNvPr>
            <p:cNvCxnSpPr>
              <a:cxnSpLocks/>
              <a:stCxn id="34" idx="7"/>
              <a:endCxn id="32" idx="3"/>
            </p:cNvCxnSpPr>
            <p:nvPr/>
          </p:nvCxnSpPr>
          <p:spPr>
            <a:xfrm flipV="1">
              <a:off x="2775753" y="3619171"/>
              <a:ext cx="498368"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9" name="TextBox 28">
            <a:extLst>
              <a:ext uri="{FF2B5EF4-FFF2-40B4-BE49-F238E27FC236}">
                <a16:creationId xmlns:a16="http://schemas.microsoft.com/office/drawing/2014/main" id="{BDFFF9FE-60D3-6F7C-15C5-690240EE0FA4}"/>
              </a:ext>
            </a:extLst>
          </p:cNvPr>
          <p:cNvSpPr txBox="1"/>
          <p:nvPr/>
        </p:nvSpPr>
        <p:spPr>
          <a:xfrm>
            <a:off x="4673831" y="2068914"/>
            <a:ext cx="2844339" cy="1169551"/>
          </a:xfrm>
          <a:prstGeom prst="rect">
            <a:avLst/>
          </a:prstGeom>
          <a:noFill/>
        </p:spPr>
        <p:txBody>
          <a:bodyPr wrap="square" rtlCol="0">
            <a:spAutoFit/>
          </a:bodyPr>
          <a:lstStyle/>
          <a:p>
            <a:pPr algn="ctr"/>
            <a:r>
              <a:rPr lang="en-SE" sz="2400" b="1" dirty="0"/>
              <a:t>Mediator</a:t>
            </a:r>
          </a:p>
          <a:p>
            <a:pPr algn="ctr"/>
            <a:r>
              <a:rPr lang="en-SE" sz="1400" dirty="0"/>
              <a:t>(or: pipe)</a:t>
            </a:r>
          </a:p>
          <a:p>
            <a:pPr algn="ctr"/>
            <a:r>
              <a:rPr lang="en-SE" sz="1600" dirty="0"/>
              <a:t>z is an effect of exposure x and a cause the outcome y</a:t>
            </a:r>
            <a:endParaRPr lang="en-SE" dirty="0"/>
          </a:p>
        </p:txBody>
      </p:sp>
      <p:sp>
        <p:nvSpPr>
          <p:cNvPr id="30" name="TextBox 29">
            <a:extLst>
              <a:ext uri="{FF2B5EF4-FFF2-40B4-BE49-F238E27FC236}">
                <a16:creationId xmlns:a16="http://schemas.microsoft.com/office/drawing/2014/main" id="{B499B8D2-2E01-5625-29EC-FBCCBB144859}"/>
              </a:ext>
            </a:extLst>
          </p:cNvPr>
          <p:cNvSpPr txBox="1"/>
          <p:nvPr/>
        </p:nvSpPr>
        <p:spPr>
          <a:xfrm>
            <a:off x="4673830" y="4630466"/>
            <a:ext cx="2844339" cy="830997"/>
          </a:xfrm>
          <a:prstGeom prst="rect">
            <a:avLst/>
          </a:prstGeom>
          <a:noFill/>
        </p:spPr>
        <p:txBody>
          <a:bodyPr wrap="square" rtlCol="0">
            <a:spAutoFit/>
          </a:bodyPr>
          <a:lstStyle/>
          <a:p>
            <a:pPr algn="ctr"/>
            <a:r>
              <a:rPr lang="en-SE" sz="1600" dirty="0"/>
              <a:t>To get the direct effect x → y we must control z. To get the total effect, we must not control z.</a:t>
            </a:r>
            <a:endParaRPr lang="en-SE" sz="1200" dirty="0"/>
          </a:p>
        </p:txBody>
      </p:sp>
      <p:grpSp>
        <p:nvGrpSpPr>
          <p:cNvPr id="37" name="Group 36">
            <a:extLst>
              <a:ext uri="{FF2B5EF4-FFF2-40B4-BE49-F238E27FC236}">
                <a16:creationId xmlns:a16="http://schemas.microsoft.com/office/drawing/2014/main" id="{A761C3CC-7529-B05B-3C9A-4B35235B61BB}"/>
              </a:ext>
            </a:extLst>
          </p:cNvPr>
          <p:cNvGrpSpPr/>
          <p:nvPr/>
        </p:nvGrpSpPr>
        <p:grpSpPr>
          <a:xfrm>
            <a:off x="8126781" y="2066987"/>
            <a:ext cx="2844339" cy="2344034"/>
            <a:chOff x="1220881" y="2068914"/>
            <a:chExt cx="2844339" cy="2344034"/>
          </a:xfrm>
        </p:grpSpPr>
        <p:grpSp>
          <p:nvGrpSpPr>
            <p:cNvPr id="38" name="Group 37">
              <a:extLst>
                <a:ext uri="{FF2B5EF4-FFF2-40B4-BE49-F238E27FC236}">
                  <a16:creationId xmlns:a16="http://schemas.microsoft.com/office/drawing/2014/main" id="{C9F3005A-4192-5456-4DF1-E889A18A3F3E}"/>
                </a:ext>
              </a:extLst>
            </p:cNvPr>
            <p:cNvGrpSpPr/>
            <p:nvPr/>
          </p:nvGrpSpPr>
          <p:grpSpPr>
            <a:xfrm>
              <a:off x="1704700" y="3455983"/>
              <a:ext cx="1876697" cy="956965"/>
              <a:chOff x="1704703" y="3311892"/>
              <a:chExt cx="1876697" cy="956965"/>
            </a:xfrm>
          </p:grpSpPr>
          <p:sp>
            <p:nvSpPr>
              <p:cNvPr id="41" name="Oval 40">
                <a:extLst>
                  <a:ext uri="{FF2B5EF4-FFF2-40B4-BE49-F238E27FC236}">
                    <a16:creationId xmlns:a16="http://schemas.microsoft.com/office/drawing/2014/main" id="{58F6CCC3-161F-F969-C2F2-B9A299DF41D7}"/>
                  </a:ext>
                </a:extLst>
              </p:cNvPr>
              <p:cNvSpPr/>
              <p:nvPr/>
            </p:nvSpPr>
            <p:spPr>
              <a:xfrm>
                <a:off x="1704703" y="331189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42" name="Oval 41">
                <a:extLst>
                  <a:ext uri="{FF2B5EF4-FFF2-40B4-BE49-F238E27FC236}">
                    <a16:creationId xmlns:a16="http://schemas.microsoft.com/office/drawing/2014/main" id="{4C95E87C-D1CB-A3B3-FE6B-65877C2B68B4}"/>
                  </a:ext>
                </a:extLst>
              </p:cNvPr>
              <p:cNvSpPr/>
              <p:nvPr/>
            </p:nvSpPr>
            <p:spPr>
              <a:xfrm>
                <a:off x="3221400" y="33118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43" name="Straight Arrow Connector 42">
                <a:extLst>
                  <a:ext uri="{FF2B5EF4-FFF2-40B4-BE49-F238E27FC236}">
                    <a16:creationId xmlns:a16="http://schemas.microsoft.com/office/drawing/2014/main" id="{10393DE9-F0D3-6D63-C0C2-749AE930905F}"/>
                  </a:ext>
                </a:extLst>
              </p:cNvPr>
              <p:cNvCxnSpPr>
                <a:cxnSpLocks/>
                <a:stCxn id="41" idx="6"/>
                <a:endCxn id="42" idx="2"/>
              </p:cNvCxnSpPr>
              <p:nvPr/>
            </p:nvCxnSpPr>
            <p:spPr>
              <a:xfrm>
                <a:off x="2064703" y="3491892"/>
                <a:ext cx="11566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val 43">
                <a:extLst>
                  <a:ext uri="{FF2B5EF4-FFF2-40B4-BE49-F238E27FC236}">
                    <a16:creationId xmlns:a16="http://schemas.microsoft.com/office/drawing/2014/main" id="{A452810C-B960-468D-5EE7-C514139760EC}"/>
                  </a:ext>
                </a:extLst>
              </p:cNvPr>
              <p:cNvSpPr/>
              <p:nvPr/>
            </p:nvSpPr>
            <p:spPr>
              <a:xfrm>
                <a:off x="2468474" y="390885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45" name="Straight Arrow Connector 44">
                <a:extLst>
                  <a:ext uri="{FF2B5EF4-FFF2-40B4-BE49-F238E27FC236}">
                    <a16:creationId xmlns:a16="http://schemas.microsoft.com/office/drawing/2014/main" id="{50BD1BA6-614C-C303-F500-E81A6B24F7EC}"/>
                  </a:ext>
                </a:extLst>
              </p:cNvPr>
              <p:cNvCxnSpPr>
                <a:cxnSpLocks/>
                <a:stCxn id="41" idx="5"/>
                <a:endCxn id="44" idx="1"/>
              </p:cNvCxnSpPr>
              <p:nvPr/>
            </p:nvCxnSpPr>
            <p:spPr>
              <a:xfrm>
                <a:off x="2011982" y="3619171"/>
                <a:ext cx="509213"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B2F077F2-1609-FFA6-E65A-7D7B82F48D6A}"/>
                  </a:ext>
                </a:extLst>
              </p:cNvPr>
              <p:cNvCxnSpPr>
                <a:cxnSpLocks/>
                <a:stCxn id="42" idx="3"/>
                <a:endCxn id="44" idx="7"/>
              </p:cNvCxnSpPr>
              <p:nvPr/>
            </p:nvCxnSpPr>
            <p:spPr>
              <a:xfrm flipH="1">
                <a:off x="2775753" y="3619171"/>
                <a:ext cx="498368" cy="3424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9" name="TextBox 38">
              <a:extLst>
                <a:ext uri="{FF2B5EF4-FFF2-40B4-BE49-F238E27FC236}">
                  <a16:creationId xmlns:a16="http://schemas.microsoft.com/office/drawing/2014/main" id="{ECBC2C37-65D3-CCA1-ED73-0E6011349AD7}"/>
                </a:ext>
              </a:extLst>
            </p:cNvPr>
            <p:cNvSpPr txBox="1"/>
            <p:nvPr/>
          </p:nvSpPr>
          <p:spPr>
            <a:xfrm>
              <a:off x="1220881" y="2068914"/>
              <a:ext cx="2844339" cy="1169551"/>
            </a:xfrm>
            <a:prstGeom prst="rect">
              <a:avLst/>
            </a:prstGeom>
            <a:noFill/>
          </p:spPr>
          <p:txBody>
            <a:bodyPr wrap="square" rtlCol="0">
              <a:spAutoFit/>
            </a:bodyPr>
            <a:lstStyle/>
            <a:p>
              <a:pPr algn="ctr"/>
              <a:r>
                <a:rPr lang="en-SE" sz="2400" b="1" dirty="0"/>
                <a:t>Collider</a:t>
              </a:r>
            </a:p>
            <a:p>
              <a:pPr algn="ctr"/>
              <a:endParaRPr lang="en-SE" sz="1400" dirty="0"/>
            </a:p>
            <a:p>
              <a:pPr algn="ctr"/>
              <a:r>
                <a:rPr lang="en-SE" sz="1600" dirty="0"/>
                <a:t>z is a common effect of both exposure x and the outcome y</a:t>
              </a:r>
              <a:endParaRPr lang="en-SE" dirty="0"/>
            </a:p>
          </p:txBody>
        </p:sp>
      </p:grpSp>
    </p:spTree>
    <p:extLst>
      <p:ext uri="{BB962C8B-B14F-4D97-AF65-F5344CB8AC3E}">
        <p14:creationId xmlns:p14="http://schemas.microsoft.com/office/powerpoint/2010/main" val="1967224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9"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11C01-89BD-E7B9-75D5-5B06431841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523C338-DA81-BDEE-F4A4-9EFDD1FADD00}"/>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0CDE1F96-C813-C2D0-1BB6-18F629A4EE7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FF830CB6-0EE4-6848-1FEB-88BE6262BC6D}"/>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3FBD1F6-3707-7533-3CF8-00EFB73EB26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AD39BF5-066E-F2C2-4973-BDEA1DB88B68}"/>
              </a:ext>
            </a:extLst>
          </p:cNvPr>
          <p:cNvSpPr>
            <a:spLocks noGrp="1"/>
          </p:cNvSpPr>
          <p:nvPr>
            <p:ph type="sldNum" sz="quarter" idx="12"/>
          </p:nvPr>
        </p:nvSpPr>
        <p:spPr/>
        <p:txBody>
          <a:bodyPr/>
          <a:lstStyle/>
          <a:p>
            <a:fld id="{0FA2D919-C0DE-4971-A2E9-D4AC0031921B}" type="slidenum">
              <a:rPr lang="en-US" noProof="0" smtClean="0"/>
              <a:t>17</a:t>
            </a:fld>
            <a:endParaRPr lang="en-US" noProof="0" dirty="0"/>
          </a:p>
        </p:txBody>
      </p:sp>
      <p:cxnSp>
        <p:nvCxnSpPr>
          <p:cNvPr id="13" name="Straight Arrow Connector 12">
            <a:extLst>
              <a:ext uri="{FF2B5EF4-FFF2-40B4-BE49-F238E27FC236}">
                <a16:creationId xmlns:a16="http://schemas.microsoft.com/office/drawing/2014/main" id="{119C8D2D-444F-C2BA-B329-A0E4C98B4516}"/>
              </a:ext>
            </a:extLst>
          </p:cNvPr>
          <p:cNvCxnSpPr>
            <a:cxnSpLocks/>
            <a:stCxn id="17" idx="3"/>
            <a:endCxn id="18" idx="1"/>
          </p:cNvCxnSpPr>
          <p:nvPr/>
        </p:nvCxnSpPr>
        <p:spPr>
          <a:xfrm>
            <a:off x="4491656" y="4106826"/>
            <a:ext cx="3286599" cy="0"/>
          </a:xfrm>
          <a:prstGeom prst="straightConnector1">
            <a:avLst/>
          </a:prstGeom>
          <a:ln w="28575">
            <a:prstDash val="sysDash"/>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D1F7776-1A18-C88D-8A55-1719A04B19CA}"/>
              </a:ext>
            </a:extLst>
          </p:cNvPr>
          <p:cNvSpPr txBox="1"/>
          <p:nvPr/>
        </p:nvSpPr>
        <p:spPr>
          <a:xfrm>
            <a:off x="3660712" y="3168412"/>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15" name="TextBox 14">
            <a:extLst>
              <a:ext uri="{FF2B5EF4-FFF2-40B4-BE49-F238E27FC236}">
                <a16:creationId xmlns:a16="http://schemas.microsoft.com/office/drawing/2014/main" id="{A92DE9DF-2336-7932-E334-AA2D93C83D42}"/>
              </a:ext>
            </a:extLst>
          </p:cNvPr>
          <p:cNvSpPr txBox="1"/>
          <p:nvPr/>
        </p:nvSpPr>
        <p:spPr>
          <a:xfrm>
            <a:off x="7401051" y="3162735"/>
            <a:ext cx="2194640" cy="369332"/>
          </a:xfrm>
          <a:prstGeom prst="rect">
            <a:avLst/>
          </a:prstGeom>
          <a:noFill/>
        </p:spPr>
        <p:txBody>
          <a:bodyPr wrap="none" rtlCol="0">
            <a:spAutoFit/>
          </a:bodyPr>
          <a:lstStyle/>
          <a:p>
            <a:r>
              <a:rPr lang="en-US" noProof="0" dirty="0">
                <a:solidFill>
                  <a:srgbClr val="006D70"/>
                </a:solidFill>
              </a:rPr>
              <a:t>specification quality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74FDD8F-DD4D-1FDD-1173-E8B983E59665}"/>
                  </a:ext>
                </a:extLst>
              </p:cNvPr>
              <p:cNvSpPr txBox="1"/>
              <p:nvPr/>
            </p:nvSpPr>
            <p:spPr>
              <a:xfrm>
                <a:off x="4922098" y="4166628"/>
                <a:ext cx="2425714"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0</m:t>
                    </m:r>
                  </m:oMath>
                </a14:m>
                <a:r>
                  <a:rPr lang="en-US" sz="1400" noProof="0" dirty="0"/>
                  <a:t>: the specification size does not affect its quality</a:t>
                </a:r>
              </a:p>
            </p:txBody>
          </p:sp>
        </mc:Choice>
        <mc:Fallback xmlns="">
          <p:sp>
            <p:nvSpPr>
              <p:cNvPr id="16" name="TextBox 15">
                <a:extLst>
                  <a:ext uri="{FF2B5EF4-FFF2-40B4-BE49-F238E27FC236}">
                    <a16:creationId xmlns:a16="http://schemas.microsoft.com/office/drawing/2014/main" id="{874FDD8F-DD4D-1FDD-1173-E8B983E59665}"/>
                  </a:ext>
                </a:extLst>
              </p:cNvPr>
              <p:cNvSpPr txBox="1">
                <a:spLocks noRot="1" noChangeAspect="1" noMove="1" noResize="1" noEditPoints="1" noAdjustHandles="1" noChangeArrowheads="1" noChangeShapeType="1" noTextEdit="1"/>
              </p:cNvSpPr>
              <p:nvPr/>
            </p:nvSpPr>
            <p:spPr>
              <a:xfrm>
                <a:off x="4922098" y="4166628"/>
                <a:ext cx="2425714" cy="523220"/>
              </a:xfrm>
              <a:prstGeom prst="rect">
                <a:avLst/>
              </a:prstGeom>
              <a:blipFill>
                <a:blip r:embed="rId8"/>
                <a:stretch>
                  <a:fillRect l="-754" t="-2353" r="-1005" b="-11765"/>
                </a:stretch>
              </a:blipFill>
            </p:spPr>
            <p:txBody>
              <a:bodyPr/>
              <a:lstStyle/>
              <a:p>
                <a:r>
                  <a:rPr lang="en-SE">
                    <a:noFill/>
                  </a:rPr>
                  <a:t> </a:t>
                </a:r>
              </a:p>
            </p:txBody>
          </p:sp>
        </mc:Fallback>
      </mc:AlternateContent>
      <p:sp>
        <p:nvSpPr>
          <p:cNvPr id="17" name="Rectangle: Rounded Corners 16">
            <a:extLst>
              <a:ext uri="{FF2B5EF4-FFF2-40B4-BE49-F238E27FC236}">
                <a16:creationId xmlns:a16="http://schemas.microsoft.com/office/drawing/2014/main" id="{E6C50474-6BB3-E3EE-349B-B3ABF6F13F9E}"/>
              </a:ext>
            </a:extLst>
          </p:cNvPr>
          <p:cNvSpPr/>
          <p:nvPr/>
        </p:nvSpPr>
        <p:spPr>
          <a:xfrm>
            <a:off x="4131656" y="3926826"/>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Rounded Corners 17">
            <a:extLst>
              <a:ext uri="{FF2B5EF4-FFF2-40B4-BE49-F238E27FC236}">
                <a16:creationId xmlns:a16="http://schemas.microsoft.com/office/drawing/2014/main" id="{FD2C2B6F-81E5-F7FB-5E5A-30EFB2ADBCF5}"/>
              </a:ext>
            </a:extLst>
          </p:cNvPr>
          <p:cNvSpPr/>
          <p:nvPr/>
        </p:nvSpPr>
        <p:spPr>
          <a:xfrm>
            <a:off x="7778255" y="3926826"/>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Rectangle: Rounded Corners 62">
            <a:extLst>
              <a:ext uri="{FF2B5EF4-FFF2-40B4-BE49-F238E27FC236}">
                <a16:creationId xmlns:a16="http://schemas.microsoft.com/office/drawing/2014/main" id="{92F703E1-F5B7-38A3-9F2E-D1A1A32A9B60}"/>
              </a:ext>
            </a:extLst>
          </p:cNvPr>
          <p:cNvSpPr/>
          <p:nvPr/>
        </p:nvSpPr>
        <p:spPr>
          <a:xfrm>
            <a:off x="5954955" y="5166166"/>
            <a:ext cx="360000" cy="360000"/>
          </a:xfrm>
          <a:prstGeom prst="round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4" name="Straight Arrow Connector 63">
            <a:extLst>
              <a:ext uri="{FF2B5EF4-FFF2-40B4-BE49-F238E27FC236}">
                <a16:creationId xmlns:a16="http://schemas.microsoft.com/office/drawing/2014/main" id="{C96DDE53-818B-5E9A-5A0D-2041712831E9}"/>
              </a:ext>
            </a:extLst>
          </p:cNvPr>
          <p:cNvCxnSpPr>
            <a:cxnSpLocks/>
            <a:stCxn id="17" idx="2"/>
            <a:endCxn id="63" idx="1"/>
          </p:cNvCxnSpPr>
          <p:nvPr/>
        </p:nvCxnSpPr>
        <p:spPr>
          <a:xfrm>
            <a:off x="4311656" y="4286826"/>
            <a:ext cx="1643299"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B32D83B3-6883-2DBC-D14D-0E5F9BF66474}"/>
              </a:ext>
            </a:extLst>
          </p:cNvPr>
          <p:cNvCxnSpPr>
            <a:cxnSpLocks/>
            <a:stCxn id="18" idx="2"/>
            <a:endCxn id="63" idx="3"/>
          </p:cNvCxnSpPr>
          <p:nvPr/>
        </p:nvCxnSpPr>
        <p:spPr>
          <a:xfrm flipH="1">
            <a:off x="6314955" y="4286826"/>
            <a:ext cx="1643300"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72" name="TextBox 71">
            <a:extLst>
              <a:ext uri="{FF2B5EF4-FFF2-40B4-BE49-F238E27FC236}">
                <a16:creationId xmlns:a16="http://schemas.microsoft.com/office/drawing/2014/main" id="{B785E1F2-5AD3-114B-2B59-E759796E56BC}"/>
              </a:ext>
            </a:extLst>
          </p:cNvPr>
          <p:cNvSpPr txBox="1"/>
          <p:nvPr/>
        </p:nvSpPr>
        <p:spPr>
          <a:xfrm>
            <a:off x="5594155" y="5600357"/>
            <a:ext cx="4497513" cy="369332"/>
          </a:xfrm>
          <a:prstGeom prst="rect">
            <a:avLst/>
          </a:prstGeom>
          <a:noFill/>
        </p:spPr>
        <p:txBody>
          <a:bodyPr wrap="none" rtlCol="0">
            <a:spAutoFit/>
          </a:bodyPr>
          <a:lstStyle/>
          <a:p>
            <a:r>
              <a:rPr lang="en-US" noProof="0" dirty="0">
                <a:solidFill>
                  <a:schemeClr val="bg1">
                    <a:lumMod val="50000"/>
                  </a:schemeClr>
                </a:solidFill>
              </a:rPr>
              <a:t>feature success (0 = rejected, 1 = approved)</a:t>
            </a:r>
          </a:p>
        </p:txBody>
      </p:sp>
      <p:sp>
        <p:nvSpPr>
          <p:cNvPr id="73" name="TextBox 72">
            <a:extLst>
              <a:ext uri="{FF2B5EF4-FFF2-40B4-BE49-F238E27FC236}">
                <a16:creationId xmlns:a16="http://schemas.microsoft.com/office/drawing/2014/main" id="{5BCA5CCB-4062-671E-F56C-EEBE5A9EE677}"/>
              </a:ext>
            </a:extLst>
          </p:cNvPr>
          <p:cNvSpPr txBox="1"/>
          <p:nvPr/>
        </p:nvSpPr>
        <p:spPr>
          <a:xfrm>
            <a:off x="2172764" y="4622171"/>
            <a:ext cx="2743201" cy="523220"/>
          </a:xfrm>
          <a:prstGeom prst="rect">
            <a:avLst/>
          </a:prstGeom>
          <a:noFill/>
        </p:spPr>
        <p:txBody>
          <a:bodyPr wrap="square">
            <a:spAutoFit/>
          </a:bodyPr>
          <a:lstStyle/>
          <a:p>
            <a:r>
              <a:rPr lang="en-US" sz="1400" noProof="0" dirty="0"/>
              <a:t>A feature is successful if it is very elaborately described ...</a:t>
            </a:r>
          </a:p>
        </p:txBody>
      </p:sp>
      <p:sp>
        <p:nvSpPr>
          <p:cNvPr id="74" name="TextBox 73">
            <a:extLst>
              <a:ext uri="{FF2B5EF4-FFF2-40B4-BE49-F238E27FC236}">
                <a16:creationId xmlns:a16="http://schemas.microsoft.com/office/drawing/2014/main" id="{03BAB81F-3B2D-F565-7A5C-48172ACD3682}"/>
              </a:ext>
            </a:extLst>
          </p:cNvPr>
          <p:cNvSpPr txBox="1"/>
          <p:nvPr/>
        </p:nvSpPr>
        <p:spPr>
          <a:xfrm>
            <a:off x="7333701" y="4617782"/>
            <a:ext cx="1936005" cy="523220"/>
          </a:xfrm>
          <a:prstGeom prst="rect">
            <a:avLst/>
          </a:prstGeom>
          <a:noFill/>
        </p:spPr>
        <p:txBody>
          <a:bodyPr wrap="square">
            <a:spAutoFit/>
          </a:bodyPr>
          <a:lstStyle/>
          <a:p>
            <a:r>
              <a:rPr lang="en-US" sz="1400" noProof="0" dirty="0"/>
              <a:t>... or its description is high-quality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2A7BB0-3F7D-A4C4-886D-0E3B146E6B3B}"/>
                  </a:ext>
                </a:extLst>
              </p:cNvPr>
              <p:cNvSpPr txBox="1"/>
              <p:nvPr/>
            </p:nvSpPr>
            <p:spPr>
              <a:xfrm>
                <a:off x="3688312" y="3489019"/>
                <a:ext cx="1905843"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D0180A"/>
                          </a:solidFill>
                          <a:latin typeface="Cambria Math" panose="02040503050406030204" pitchFamily="18" charset="0"/>
                        </a:rPr>
                        <m:t>~ </m:t>
                      </m:r>
                      <m:r>
                        <a:rPr lang="en-US" b="0" i="1" noProof="0" smtClean="0">
                          <a:solidFill>
                            <a:srgbClr val="D0180A"/>
                          </a:solidFill>
                          <a:latin typeface="Cambria Math" panose="02040503050406030204" pitchFamily="18" charset="0"/>
                        </a:rPr>
                        <m:t>𝑁</m:t>
                      </m:r>
                      <m:r>
                        <a:rPr lang="en-US" b="0" i="1" noProof="0" smtClean="0">
                          <a:solidFill>
                            <a:srgbClr val="D0180A"/>
                          </a:solidFill>
                          <a:latin typeface="Cambria Math" panose="02040503050406030204" pitchFamily="18" charset="0"/>
                        </a:rPr>
                        <m:t>(0, 1)</m:t>
                      </m:r>
                    </m:oMath>
                  </m:oMathPara>
                </a14:m>
                <a:endParaRPr lang="en-US" noProof="0" dirty="0"/>
              </a:p>
            </p:txBody>
          </p:sp>
        </mc:Choice>
        <mc:Fallback xmlns="">
          <p:sp>
            <p:nvSpPr>
              <p:cNvPr id="3" name="TextBox 2">
                <a:extLst>
                  <a:ext uri="{FF2B5EF4-FFF2-40B4-BE49-F238E27FC236}">
                    <a16:creationId xmlns:a16="http://schemas.microsoft.com/office/drawing/2014/main" id="{482A7BB0-3F7D-A4C4-886D-0E3B146E6B3B}"/>
                  </a:ext>
                </a:extLst>
              </p:cNvPr>
              <p:cNvSpPr txBox="1">
                <a:spLocks noRot="1" noChangeAspect="1" noMove="1" noResize="1" noEditPoints="1" noAdjustHandles="1" noChangeArrowheads="1" noChangeShapeType="1" noTextEdit="1"/>
              </p:cNvSpPr>
              <p:nvPr/>
            </p:nvSpPr>
            <p:spPr>
              <a:xfrm>
                <a:off x="3688312" y="3489019"/>
                <a:ext cx="1905843" cy="369332"/>
              </a:xfrm>
              <a:prstGeom prst="rect">
                <a:avLst/>
              </a:prstGeom>
              <a:blipFill>
                <a:blip r:embed="rId9"/>
                <a:stretch>
                  <a:fillRect b="-1311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FAD873-6739-DD65-7458-AA44E46B8330}"/>
                  </a:ext>
                </a:extLst>
              </p:cNvPr>
              <p:cNvSpPr txBox="1"/>
              <p:nvPr/>
            </p:nvSpPr>
            <p:spPr>
              <a:xfrm>
                <a:off x="7373451" y="3492729"/>
                <a:ext cx="1359127"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006D70"/>
                          </a:solidFill>
                          <a:latin typeface="Cambria Math" panose="02040503050406030204" pitchFamily="18" charset="0"/>
                        </a:rPr>
                        <m:t>~ </m:t>
                      </m:r>
                      <m:r>
                        <a:rPr lang="en-US" b="0" i="1" noProof="0" smtClean="0">
                          <a:solidFill>
                            <a:srgbClr val="006D70"/>
                          </a:solidFill>
                          <a:latin typeface="Cambria Math" panose="02040503050406030204" pitchFamily="18" charset="0"/>
                        </a:rPr>
                        <m:t>𝑁</m:t>
                      </m:r>
                      <m:r>
                        <a:rPr lang="en-US" b="0" i="1" noProof="0" smtClean="0">
                          <a:solidFill>
                            <a:srgbClr val="006D70"/>
                          </a:solidFill>
                          <a:latin typeface="Cambria Math" panose="02040503050406030204" pitchFamily="18" charset="0"/>
                        </a:rPr>
                        <m:t>(0, 1)</m:t>
                      </m:r>
                    </m:oMath>
                  </m:oMathPara>
                </a14:m>
                <a:endParaRPr lang="en-US" noProof="0" dirty="0"/>
              </a:p>
            </p:txBody>
          </p:sp>
        </mc:Choice>
        <mc:Fallback xmlns="">
          <p:sp>
            <p:nvSpPr>
              <p:cNvPr id="10" name="TextBox 9">
                <a:extLst>
                  <a:ext uri="{FF2B5EF4-FFF2-40B4-BE49-F238E27FC236}">
                    <a16:creationId xmlns:a16="http://schemas.microsoft.com/office/drawing/2014/main" id="{CFFAD873-6739-DD65-7458-AA44E46B8330}"/>
                  </a:ext>
                </a:extLst>
              </p:cNvPr>
              <p:cNvSpPr txBox="1">
                <a:spLocks noRot="1" noChangeAspect="1" noMove="1" noResize="1" noEditPoints="1" noAdjustHandles="1" noChangeArrowheads="1" noChangeShapeType="1" noTextEdit="1"/>
              </p:cNvSpPr>
              <p:nvPr/>
            </p:nvSpPr>
            <p:spPr>
              <a:xfrm>
                <a:off x="7373451" y="3492729"/>
                <a:ext cx="1359127" cy="369332"/>
              </a:xfrm>
              <a:prstGeom prst="rect">
                <a:avLst/>
              </a:prstGeom>
              <a:blipFill>
                <a:blip r:embed="rId10"/>
                <a:stretch>
                  <a:fillRect b="-1147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3AF9D8-9CDD-587B-62F5-77004DFD46EB}"/>
                  </a:ext>
                </a:extLst>
              </p:cNvPr>
              <p:cNvSpPr txBox="1"/>
              <p:nvPr/>
            </p:nvSpPr>
            <p:spPr>
              <a:xfrm>
                <a:off x="5636586" y="5939122"/>
                <a:ext cx="297401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0" noProof="0" smtClean="0">
                          <a:solidFill>
                            <a:schemeClr val="bg1">
                              <a:lumMod val="50000"/>
                            </a:schemeClr>
                          </a:solidFill>
                          <a:latin typeface="Cambria Math" panose="02040503050406030204" pitchFamily="18" charset="0"/>
                        </a:rPr>
                        <m:t>~ </m:t>
                      </m:r>
                      <m:d>
                        <m:dPr>
                          <m:ctrlPr>
                            <a:rPr lang="en-US" b="0" i="1" noProof="0" smtClean="0">
                              <a:solidFill>
                                <a:schemeClr val="bg1">
                                  <a:lumMod val="50000"/>
                                </a:schemeClr>
                              </a:solidFill>
                              <a:latin typeface="Cambria Math" panose="02040503050406030204" pitchFamily="18" charset="0"/>
                            </a:rPr>
                          </m:ctrlPr>
                        </m:dPr>
                        <m:e>
                          <m:r>
                            <a:rPr lang="en-US" b="0" i="1" noProof="0" smtClean="0">
                              <a:solidFill>
                                <a:srgbClr val="C00000"/>
                              </a:solidFill>
                              <a:latin typeface="Cambria Math" panose="02040503050406030204" pitchFamily="18" charset="0"/>
                            </a:rPr>
                            <m:t>𝑠𝑖𝑧𝑒</m:t>
                          </m:r>
                          <m:r>
                            <a:rPr lang="en-US" b="0" i="1" noProof="0" smtClean="0">
                              <a:solidFill>
                                <a:schemeClr val="bg1">
                                  <a:lumMod val="50000"/>
                                </a:schemeClr>
                              </a:solidFill>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solidFill>
                                <a:schemeClr val="bg1">
                                  <a:lumMod val="50000"/>
                                </a:schemeClr>
                              </a:solidFill>
                              <a:latin typeface="Cambria Math" panose="02040503050406030204" pitchFamily="18" charset="0"/>
                            </a:rPr>
                            <m:t>&gt;0.7</m:t>
                          </m:r>
                        </m:e>
                      </m:d>
                    </m:oMath>
                  </m:oMathPara>
                </a14:m>
                <a:endParaRPr lang="en-US" noProof="0" dirty="0"/>
              </a:p>
            </p:txBody>
          </p:sp>
        </mc:Choice>
        <mc:Fallback xmlns="">
          <p:sp>
            <p:nvSpPr>
              <p:cNvPr id="12" name="TextBox 11">
                <a:extLst>
                  <a:ext uri="{FF2B5EF4-FFF2-40B4-BE49-F238E27FC236}">
                    <a16:creationId xmlns:a16="http://schemas.microsoft.com/office/drawing/2014/main" id="{EB3AF9D8-9CDD-587B-62F5-77004DFD46EB}"/>
                  </a:ext>
                </a:extLst>
              </p:cNvPr>
              <p:cNvSpPr txBox="1">
                <a:spLocks noRot="1" noChangeAspect="1" noMove="1" noResize="1" noEditPoints="1" noAdjustHandles="1" noChangeArrowheads="1" noChangeShapeType="1" noTextEdit="1"/>
              </p:cNvSpPr>
              <p:nvPr/>
            </p:nvSpPr>
            <p:spPr>
              <a:xfrm>
                <a:off x="5636586" y="5939122"/>
                <a:ext cx="2974014" cy="369332"/>
              </a:xfrm>
              <a:prstGeom prst="rect">
                <a:avLst/>
              </a:prstGeom>
              <a:blipFill>
                <a:blip r:embed="rId11"/>
                <a:stretch>
                  <a:fillRect b="-13115"/>
                </a:stretch>
              </a:blipFill>
            </p:spPr>
            <p:txBody>
              <a:bodyPr/>
              <a:lstStyle/>
              <a:p>
                <a:r>
                  <a:rPr lang="en-SE">
                    <a:noFill/>
                  </a:rPr>
                  <a:t> </a:t>
                </a:r>
              </a:p>
            </p:txBody>
          </p:sp>
        </mc:Fallback>
      </mc:AlternateContent>
    </p:spTree>
    <p:extLst>
      <p:ext uri="{BB962C8B-B14F-4D97-AF65-F5344CB8AC3E}">
        <p14:creationId xmlns:p14="http://schemas.microsoft.com/office/powerpoint/2010/main" val="266583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4" grpId="0"/>
      <p:bldP spid="15" grpId="0"/>
      <p:bldP spid="16" grpId="0"/>
      <p:bldP spid="17" grpId="0" animBg="1"/>
      <p:bldP spid="18" grpId="0" animBg="1"/>
      <p:bldP spid="63" grpId="0" animBg="1"/>
      <p:bldP spid="72" grpId="0"/>
      <p:bldP spid="73" grpId="0"/>
      <p:bldP spid="74" grpId="0"/>
      <p:bldP spid="3" grpId="0"/>
      <p:bldP spid="10"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8F9F-19B4-4DAB-7784-EB5BAB827F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4900A-94DF-DCB0-C66E-5AC62E5FA2CC}"/>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E1A08D7F-BD29-22EF-40A1-6B8A7B407220}"/>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1B957326-8650-DD99-6D98-CF3EEA730776}"/>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0AB56ACE-8815-9C4E-5FC4-7721FDB22A3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FC87614-970F-DD6A-05B2-9C1D148127E9}"/>
              </a:ext>
            </a:extLst>
          </p:cNvPr>
          <p:cNvSpPr>
            <a:spLocks noGrp="1"/>
          </p:cNvSpPr>
          <p:nvPr>
            <p:ph type="sldNum" sz="quarter" idx="12"/>
          </p:nvPr>
        </p:nvSpPr>
        <p:spPr/>
        <p:txBody>
          <a:bodyPr/>
          <a:lstStyle/>
          <a:p>
            <a:fld id="{0FA2D919-C0DE-4971-A2E9-D4AC0031921B}" type="slidenum">
              <a:rPr lang="en-US" noProof="0" smtClean="0"/>
              <a:t>18</a:t>
            </a:fld>
            <a:endParaRPr lang="en-US" noProof="0" dirty="0"/>
          </a:p>
        </p:txBody>
      </p:sp>
      <p:sp>
        <p:nvSpPr>
          <p:cNvPr id="2" name="Oval 1">
            <a:extLst>
              <a:ext uri="{FF2B5EF4-FFF2-40B4-BE49-F238E27FC236}">
                <a16:creationId xmlns:a16="http://schemas.microsoft.com/office/drawing/2014/main" id="{366691D1-B5E4-852E-3992-6D3A6CD6D91F}"/>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5A690D11-2CEB-7030-1E04-EE7A8AB30800}"/>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 name="Straight Arrow Connector 10">
            <a:extLst>
              <a:ext uri="{FF2B5EF4-FFF2-40B4-BE49-F238E27FC236}">
                <a16:creationId xmlns:a16="http://schemas.microsoft.com/office/drawing/2014/main" id="{659540DB-7094-9D47-8C6B-4E1CAFAB713E}"/>
              </a:ext>
            </a:extLst>
          </p:cNvPr>
          <p:cNvCxnSpPr>
            <a:stCxn id="2"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50168ED8-AD89-33B7-3E4A-F0860C87B859}"/>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20" name="TextBox 19">
            <a:extLst>
              <a:ext uri="{FF2B5EF4-FFF2-40B4-BE49-F238E27FC236}">
                <a16:creationId xmlns:a16="http://schemas.microsoft.com/office/drawing/2014/main" id="{4C9D27AD-39C8-F7EE-2A24-C132157A9796}"/>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21" name="Oval 20">
            <a:extLst>
              <a:ext uri="{FF2B5EF4-FFF2-40B4-BE49-F238E27FC236}">
                <a16:creationId xmlns:a16="http://schemas.microsoft.com/office/drawing/2014/main" id="{72853731-6FBD-2AA6-5450-DFCC9568E5AE}"/>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TextBox 21">
            <a:extLst>
              <a:ext uri="{FF2B5EF4-FFF2-40B4-BE49-F238E27FC236}">
                <a16:creationId xmlns:a16="http://schemas.microsoft.com/office/drawing/2014/main" id="{810179F5-2278-09D4-72AD-D08267175F4F}"/>
              </a:ext>
            </a:extLst>
          </p:cNvPr>
          <p:cNvSpPr txBox="1"/>
          <p:nvPr/>
        </p:nvSpPr>
        <p:spPr>
          <a:xfrm>
            <a:off x="2791327" y="5050631"/>
            <a:ext cx="1769908"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23" name="Straight Arrow Connector 22">
            <a:extLst>
              <a:ext uri="{FF2B5EF4-FFF2-40B4-BE49-F238E27FC236}">
                <a16:creationId xmlns:a16="http://schemas.microsoft.com/office/drawing/2014/main" id="{C877FAFC-74AB-36BC-665C-A4C26F5CA47F}"/>
              </a:ext>
            </a:extLst>
          </p:cNvPr>
          <p:cNvCxnSpPr>
            <a:cxnSpLocks/>
            <a:stCxn id="9" idx="3"/>
            <a:endCxn id="21"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F8E67E6-1E4F-31E2-4C3D-015B813300F6}"/>
              </a:ext>
            </a:extLst>
          </p:cNvPr>
          <p:cNvCxnSpPr>
            <a:cxnSpLocks/>
            <a:stCxn id="2" idx="5"/>
            <a:endCxn id="21"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7" name="Group 26">
            <a:extLst>
              <a:ext uri="{FF2B5EF4-FFF2-40B4-BE49-F238E27FC236}">
                <a16:creationId xmlns:a16="http://schemas.microsoft.com/office/drawing/2014/main" id="{249A6B0B-63C3-3A46-B706-642E4D35301B}"/>
              </a:ext>
            </a:extLst>
          </p:cNvPr>
          <p:cNvGrpSpPr/>
          <p:nvPr/>
        </p:nvGrpSpPr>
        <p:grpSpPr>
          <a:xfrm>
            <a:off x="4814355" y="4032332"/>
            <a:ext cx="2563289" cy="432000"/>
            <a:chOff x="4604412" y="1893985"/>
            <a:chExt cx="2563289" cy="432000"/>
          </a:xfrm>
        </p:grpSpPr>
        <p:sp>
          <p:nvSpPr>
            <p:cNvPr id="28" name="Arrow: Pentagon 27">
              <a:extLst>
                <a:ext uri="{FF2B5EF4-FFF2-40B4-BE49-F238E27FC236}">
                  <a16:creationId xmlns:a16="http://schemas.microsoft.com/office/drawing/2014/main" id="{A34E88B4-CB83-68A0-1AA5-31F9329A8005}"/>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29" name="Graphic 28" descr="Connections with solid fill">
              <a:extLst>
                <a:ext uri="{FF2B5EF4-FFF2-40B4-BE49-F238E27FC236}">
                  <a16:creationId xmlns:a16="http://schemas.microsoft.com/office/drawing/2014/main" id="{1EFBDB66-82F9-3F9C-31B4-5AFA469658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269DDD8-42D2-CE2D-225A-B4EA5078763A}"/>
                  </a:ext>
                </a:extLst>
              </p:cNvPr>
              <p:cNvSpPr txBox="1"/>
              <p:nvPr/>
            </p:nvSpPr>
            <p:spPr>
              <a:xfrm>
                <a:off x="7480486" y="4344783"/>
                <a:ext cx="2180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30" name="TextBox 29">
                <a:extLst>
                  <a:ext uri="{FF2B5EF4-FFF2-40B4-BE49-F238E27FC236}">
                    <a16:creationId xmlns:a16="http://schemas.microsoft.com/office/drawing/2014/main" id="{6269DDD8-42D2-CE2D-225A-B4EA5078763A}"/>
                  </a:ext>
                </a:extLst>
              </p:cNvPr>
              <p:cNvSpPr txBox="1">
                <a:spLocks noRot="1" noChangeAspect="1" noMove="1" noResize="1" noEditPoints="1" noAdjustHandles="1" noChangeArrowheads="1" noChangeShapeType="1" noTextEdit="1"/>
              </p:cNvSpPr>
              <p:nvPr/>
            </p:nvSpPr>
            <p:spPr>
              <a:xfrm>
                <a:off x="7480486" y="4344783"/>
                <a:ext cx="2180533" cy="276999"/>
              </a:xfrm>
              <a:prstGeom prst="rect">
                <a:avLst/>
              </a:prstGeom>
              <a:blipFill>
                <a:blip r:embed="rId11"/>
                <a:stretch>
                  <a:fillRect l="-1397" t="-4444" r="-2514"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E1EC060-1B20-B0E6-7437-3852085C2B5B}"/>
                  </a:ext>
                </a:extLst>
              </p:cNvPr>
              <p:cNvSpPr txBox="1"/>
              <p:nvPr/>
            </p:nvSpPr>
            <p:spPr>
              <a:xfrm>
                <a:off x="7480486" y="3846626"/>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31" name="TextBox 30">
                <a:extLst>
                  <a:ext uri="{FF2B5EF4-FFF2-40B4-BE49-F238E27FC236}">
                    <a16:creationId xmlns:a16="http://schemas.microsoft.com/office/drawing/2014/main" id="{0E1EC060-1B20-B0E6-7437-3852085C2B5B}"/>
                  </a:ext>
                </a:extLst>
              </p:cNvPr>
              <p:cNvSpPr txBox="1">
                <a:spLocks noRot="1" noChangeAspect="1" noMove="1" noResize="1" noEditPoints="1" noAdjustHandles="1" noChangeArrowheads="1" noChangeShapeType="1" noTextEdit="1"/>
              </p:cNvSpPr>
              <p:nvPr/>
            </p:nvSpPr>
            <p:spPr>
              <a:xfrm>
                <a:off x="7480486" y="3846626"/>
                <a:ext cx="3246979" cy="276999"/>
              </a:xfrm>
              <a:prstGeom prst="rect">
                <a:avLst/>
              </a:prstGeom>
              <a:blipFill>
                <a:blip r:embed="rId12"/>
                <a:stretch>
                  <a:fillRect l="-563" t="-2222" r="-563" b="-35556"/>
                </a:stretch>
              </a:blipFill>
            </p:spPr>
            <p:txBody>
              <a:bodyPr/>
              <a:lstStyle/>
              <a:p>
                <a:r>
                  <a:rPr lang="en-SE">
                    <a:noFill/>
                  </a:rPr>
                  <a:t> </a:t>
                </a:r>
              </a:p>
            </p:txBody>
          </p:sp>
        </mc:Fallback>
      </mc:AlternateContent>
      <p:pic>
        <p:nvPicPr>
          <p:cNvPr id="10" name="Picture 9">
            <a:extLst>
              <a:ext uri="{FF2B5EF4-FFF2-40B4-BE49-F238E27FC236}">
                <a16:creationId xmlns:a16="http://schemas.microsoft.com/office/drawing/2014/main" id="{826BBC42-5AA5-5B6D-6E1E-51BD4F70AD94}"/>
              </a:ext>
            </a:extLst>
          </p:cNvPr>
          <p:cNvPicPr>
            <a:picLocks noChangeAspect="1"/>
          </p:cNvPicPr>
          <p:nvPr/>
        </p:nvPicPr>
        <p:blipFill>
          <a:blip r:embed="rId13"/>
          <a:stretch>
            <a:fillRect/>
          </a:stretch>
        </p:blipFill>
        <p:spPr>
          <a:xfrm>
            <a:off x="7860683" y="4702397"/>
            <a:ext cx="3493117" cy="2105386"/>
          </a:xfrm>
          <a:prstGeom prst="rect">
            <a:avLst/>
          </a:prstGeom>
        </p:spPr>
      </p:pic>
    </p:spTree>
    <p:extLst>
      <p:ext uri="{BB962C8B-B14F-4D97-AF65-F5344CB8AC3E}">
        <p14:creationId xmlns:p14="http://schemas.microsoft.com/office/powerpoint/2010/main" val="1102399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172D-3CAE-8671-D842-9334E227402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28711C-1F3E-B19D-E5AC-112CD7222EE5}"/>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69BE27F1-83E2-1955-05D7-057F7E598A8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3324F0B3-D651-79AA-F449-D99E2EF9D9C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4D3EF88-8A84-9866-EA2F-68FB3BC461D3}"/>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750B3EB-315F-6964-EEA2-738629B344D0}"/>
              </a:ext>
            </a:extLst>
          </p:cNvPr>
          <p:cNvSpPr>
            <a:spLocks noGrp="1"/>
          </p:cNvSpPr>
          <p:nvPr>
            <p:ph type="sldNum" sz="quarter" idx="12"/>
          </p:nvPr>
        </p:nvSpPr>
        <p:spPr/>
        <p:txBody>
          <a:bodyPr/>
          <a:lstStyle/>
          <a:p>
            <a:fld id="{0FA2D919-C0DE-4971-A2E9-D4AC0031921B}" type="slidenum">
              <a:rPr lang="en-US" noProof="0" smtClean="0"/>
              <a:t>19</a:t>
            </a:fld>
            <a:endParaRPr lang="en-US" noProof="0" dirty="0"/>
          </a:p>
        </p:txBody>
      </p:sp>
      <p:pic>
        <p:nvPicPr>
          <p:cNvPr id="3" name="Picture 2">
            <a:extLst>
              <a:ext uri="{FF2B5EF4-FFF2-40B4-BE49-F238E27FC236}">
                <a16:creationId xmlns:a16="http://schemas.microsoft.com/office/drawing/2014/main" id="{E91955AF-555A-1890-D047-D0AC701E1476}"/>
              </a:ext>
            </a:extLst>
          </p:cNvPr>
          <p:cNvPicPr>
            <a:picLocks noChangeAspect="1"/>
          </p:cNvPicPr>
          <p:nvPr/>
        </p:nvPicPr>
        <p:blipFill>
          <a:blip r:embed="rId3"/>
          <a:srcRect l="2765" b="54810"/>
          <a:stretch>
            <a:fillRect/>
          </a:stretch>
        </p:blipFill>
        <p:spPr>
          <a:xfrm>
            <a:off x="1885244" y="3143256"/>
            <a:ext cx="7634974" cy="1317631"/>
          </a:xfrm>
          <a:prstGeom prst="rect">
            <a:avLst/>
          </a:prstGeom>
        </p:spPr>
      </p:pic>
      <p:pic>
        <p:nvPicPr>
          <p:cNvPr id="2" name="Picture 1">
            <a:extLst>
              <a:ext uri="{FF2B5EF4-FFF2-40B4-BE49-F238E27FC236}">
                <a16:creationId xmlns:a16="http://schemas.microsoft.com/office/drawing/2014/main" id="{0C5E3445-BA89-FAAB-E907-F13C5816A448}"/>
              </a:ext>
            </a:extLst>
          </p:cNvPr>
          <p:cNvPicPr>
            <a:picLocks noChangeAspect="1"/>
          </p:cNvPicPr>
          <p:nvPr/>
        </p:nvPicPr>
        <p:blipFill>
          <a:blip r:embed="rId3"/>
          <a:srcRect l="13907" t="86437" b="-301"/>
          <a:stretch>
            <a:fillRect/>
          </a:stretch>
        </p:blipFill>
        <p:spPr>
          <a:xfrm>
            <a:off x="2760133" y="4404279"/>
            <a:ext cx="6760085" cy="40421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2B1FD6-5569-AA0F-6227-3A730D711B89}"/>
                  </a:ext>
                </a:extLst>
              </p:cNvPr>
              <p:cNvSpPr txBox="1"/>
              <p:nvPr/>
            </p:nvSpPr>
            <p:spPr>
              <a:xfrm>
                <a:off x="4472510" y="2795651"/>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9" name="TextBox 8">
                <a:extLst>
                  <a:ext uri="{FF2B5EF4-FFF2-40B4-BE49-F238E27FC236}">
                    <a16:creationId xmlns:a16="http://schemas.microsoft.com/office/drawing/2014/main" id="{272B1FD6-5569-AA0F-6227-3A730D711B89}"/>
                  </a:ext>
                </a:extLst>
              </p:cNvPr>
              <p:cNvSpPr txBox="1">
                <a:spLocks noRot="1" noChangeAspect="1" noMove="1" noResize="1" noEditPoints="1" noAdjustHandles="1" noChangeArrowheads="1" noChangeShapeType="1" noTextEdit="1"/>
              </p:cNvSpPr>
              <p:nvPr/>
            </p:nvSpPr>
            <p:spPr>
              <a:xfrm>
                <a:off x="4472510" y="2795651"/>
                <a:ext cx="3246979" cy="276999"/>
              </a:xfrm>
              <a:prstGeom prst="rect">
                <a:avLst/>
              </a:prstGeom>
              <a:blipFill>
                <a:blip r:embed="rId10"/>
                <a:stretch>
                  <a:fillRect l="-564" t="-4444" r="-752" b="-35556"/>
                </a:stretch>
              </a:blipFill>
            </p:spPr>
            <p:txBody>
              <a:bodyPr/>
              <a:lstStyle/>
              <a:p>
                <a:r>
                  <a:rPr lang="en-SE">
                    <a:noFill/>
                  </a:rPr>
                  <a:t> </a:t>
                </a:r>
              </a:p>
            </p:txBody>
          </p:sp>
        </mc:Fallback>
      </mc:AlternateContent>
    </p:spTree>
    <p:extLst>
      <p:ext uri="{BB962C8B-B14F-4D97-AF65-F5344CB8AC3E}">
        <p14:creationId xmlns:p14="http://schemas.microsoft.com/office/powerpoint/2010/main" val="3875211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861CE-0EBB-24FF-8FCF-1E9E8CFCDA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BF91DE-8E78-9FA3-BB8D-65BAB62F1D0D}"/>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CA0E45FC-B484-8CAA-D7F3-64C2C685A90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F52B0266-E5A1-7463-3A68-A2EAB26B5E75}"/>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6F6B24E-73D5-9983-79B5-CA591D303F2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058DBB4-878C-4B93-679C-2B04C8DFD99D}"/>
              </a:ext>
            </a:extLst>
          </p:cNvPr>
          <p:cNvSpPr>
            <a:spLocks noGrp="1"/>
          </p:cNvSpPr>
          <p:nvPr>
            <p:ph type="sldNum" sz="quarter" idx="12"/>
          </p:nvPr>
        </p:nvSpPr>
        <p:spPr/>
        <p:txBody>
          <a:bodyPr/>
          <a:lstStyle/>
          <a:p>
            <a:fld id="{0FA2D919-C0DE-4971-A2E9-D4AC0031921B}" type="slidenum">
              <a:rPr lang="en-US" noProof="0" smtClean="0"/>
              <a:t>20</a:t>
            </a:fld>
            <a:endParaRPr lang="en-US" noProof="0" dirty="0"/>
          </a:p>
        </p:txBody>
      </p:sp>
      <p:pic>
        <p:nvPicPr>
          <p:cNvPr id="9" name="Picture 8">
            <a:extLst>
              <a:ext uri="{FF2B5EF4-FFF2-40B4-BE49-F238E27FC236}">
                <a16:creationId xmlns:a16="http://schemas.microsoft.com/office/drawing/2014/main" id="{D549F156-9CBF-0267-A912-FE93DE675A3D}"/>
              </a:ext>
            </a:extLst>
          </p:cNvPr>
          <p:cNvPicPr>
            <a:picLocks noChangeAspect="1"/>
          </p:cNvPicPr>
          <p:nvPr/>
        </p:nvPicPr>
        <p:blipFill>
          <a:blip r:embed="rId3"/>
          <a:stretch>
            <a:fillRect/>
          </a:stretch>
        </p:blipFill>
        <p:spPr>
          <a:xfrm>
            <a:off x="768640" y="2898100"/>
            <a:ext cx="5210497" cy="3131024"/>
          </a:xfrm>
          <a:prstGeom prst="rect">
            <a:avLst/>
          </a:prstGeom>
        </p:spPr>
      </p:pic>
      <p:pic>
        <p:nvPicPr>
          <p:cNvPr id="11" name="Picture 10">
            <a:extLst>
              <a:ext uri="{FF2B5EF4-FFF2-40B4-BE49-F238E27FC236}">
                <a16:creationId xmlns:a16="http://schemas.microsoft.com/office/drawing/2014/main" id="{6874E0F7-1058-B69F-D551-0BFC9ECA72C6}"/>
              </a:ext>
            </a:extLst>
          </p:cNvPr>
          <p:cNvPicPr>
            <a:picLocks noChangeAspect="1"/>
          </p:cNvPicPr>
          <p:nvPr/>
        </p:nvPicPr>
        <p:blipFill>
          <a:blip r:embed="rId4"/>
          <a:stretch>
            <a:fillRect/>
          </a:stretch>
        </p:blipFill>
        <p:spPr>
          <a:xfrm>
            <a:off x="6347743" y="2898100"/>
            <a:ext cx="5075616" cy="3131024"/>
          </a:xfrm>
          <a:prstGeom prst="rect">
            <a:avLst/>
          </a:prstGeom>
        </p:spPr>
      </p:pic>
    </p:spTree>
    <p:extLst>
      <p:ext uri="{BB962C8B-B14F-4D97-AF65-F5344CB8AC3E}">
        <p14:creationId xmlns:p14="http://schemas.microsoft.com/office/powerpoint/2010/main" val="20445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8E83-B85E-4198-5F12-CF31E7E16FC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8C3B3A8-BEFB-869A-7797-FF776155F4C2}"/>
              </a:ext>
            </a:extLst>
          </p:cNvPr>
          <p:cNvPicPr>
            <a:picLocks noChangeAspect="1"/>
          </p:cNvPicPr>
          <p:nvPr/>
        </p:nvPicPr>
        <p:blipFill>
          <a:blip r:embed="rId2"/>
          <a:stretch>
            <a:fillRect/>
          </a:stretch>
        </p:blipFill>
        <p:spPr>
          <a:xfrm>
            <a:off x="838200" y="2662182"/>
            <a:ext cx="5786120" cy="3569316"/>
          </a:xfrm>
          <a:prstGeom prst="rect">
            <a:avLst/>
          </a:prstGeom>
        </p:spPr>
      </p:pic>
      <p:sp>
        <p:nvSpPr>
          <p:cNvPr id="7" name="Title 6">
            <a:extLst>
              <a:ext uri="{FF2B5EF4-FFF2-40B4-BE49-F238E27FC236}">
                <a16:creationId xmlns:a16="http://schemas.microsoft.com/office/drawing/2014/main" id="{904F73A1-F684-723A-2BB5-4905394EA455}"/>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5E4FE536-B71B-8410-4908-21925AC06257}"/>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D16B08CD-68BF-7550-B950-51043BF1B5E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07758D4-FEBB-FBA9-26FE-1A836DCD6F70}"/>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C31C984-9DD1-6F69-52D6-EC6CEC8FEB8C}"/>
              </a:ext>
            </a:extLst>
          </p:cNvPr>
          <p:cNvSpPr>
            <a:spLocks noGrp="1"/>
          </p:cNvSpPr>
          <p:nvPr>
            <p:ph type="sldNum" sz="quarter" idx="12"/>
          </p:nvPr>
        </p:nvSpPr>
        <p:spPr/>
        <p:txBody>
          <a:bodyPr/>
          <a:lstStyle/>
          <a:p>
            <a:fld id="{0FA2D919-C0DE-4971-A2E9-D4AC0031921B}" type="slidenum">
              <a:rPr lang="en-US" noProof="0" smtClean="0"/>
              <a:t>21</a:t>
            </a:fld>
            <a:endParaRPr lang="en-US" noProof="0" dirty="0"/>
          </a:p>
        </p:txBody>
      </p:sp>
      <p:sp>
        <p:nvSpPr>
          <p:cNvPr id="11" name="Rectangle 10">
            <a:extLst>
              <a:ext uri="{FF2B5EF4-FFF2-40B4-BE49-F238E27FC236}">
                <a16:creationId xmlns:a16="http://schemas.microsoft.com/office/drawing/2014/main" id="{104B2E89-4D37-BB4D-3C00-34CC469529EE}"/>
              </a:ext>
            </a:extLst>
          </p:cNvPr>
          <p:cNvSpPr/>
          <p:nvPr/>
        </p:nvSpPr>
        <p:spPr>
          <a:xfrm>
            <a:off x="1037507" y="3248614"/>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4C4618BE-F218-ADBD-F510-3D3E6747A3BF}"/>
              </a:ext>
            </a:extLst>
          </p:cNvPr>
          <p:cNvSpPr/>
          <p:nvPr/>
        </p:nvSpPr>
        <p:spPr>
          <a:xfrm>
            <a:off x="1011061" y="5077183"/>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D13728C6-BE00-6026-B4F8-549268B8B81F}"/>
              </a:ext>
            </a:extLst>
          </p:cNvPr>
          <p:cNvSpPr txBox="1"/>
          <p:nvPr/>
        </p:nvSpPr>
        <p:spPr>
          <a:xfrm>
            <a:off x="5719768" y="3133728"/>
            <a:ext cx="6096000" cy="646331"/>
          </a:xfrm>
          <a:prstGeom prst="rect">
            <a:avLst/>
          </a:prstGeom>
          <a:noFill/>
        </p:spPr>
        <p:txBody>
          <a:bodyPr wrap="square">
            <a:spAutoFit/>
          </a:bodyPr>
          <a:lstStyle/>
          <a:p>
            <a:r>
              <a:rPr lang="en-US" noProof="0" dirty="0"/>
              <a:t>For any high</a:t>
            </a:r>
            <a:r>
              <a:rPr lang="en-SE" noProof="0" dirty="0"/>
              <a:t>-</a:t>
            </a:r>
            <a:r>
              <a:rPr lang="en-US" noProof="0" dirty="0">
                <a:solidFill>
                  <a:srgbClr val="006D70"/>
                </a:solidFill>
              </a:rPr>
              <a:t>quality</a:t>
            </a:r>
            <a:r>
              <a:rPr lang="en-US" noProof="0" dirty="0"/>
              <a:t> value, if </a:t>
            </a:r>
            <a:r>
              <a:rPr lang="en-US" noProof="0" dirty="0">
                <a:solidFill>
                  <a:schemeClr val="accent4"/>
                </a:solidFill>
              </a:rPr>
              <a:t>feature success </a:t>
            </a:r>
            <a:r>
              <a:rPr lang="en-US" noProof="0" dirty="0"/>
              <a:t>is </a:t>
            </a:r>
            <a:r>
              <a:rPr lang="en-US" i="1" noProof="0" dirty="0"/>
              <a:t>false</a:t>
            </a:r>
            <a:r>
              <a:rPr lang="en-US" noProof="0" dirty="0"/>
              <a:t>, then it is more likely that the </a:t>
            </a:r>
            <a:r>
              <a:rPr lang="en-US" noProof="0" dirty="0">
                <a:solidFill>
                  <a:srgbClr val="D0180A"/>
                </a:solidFill>
              </a:rPr>
              <a:t>specification size </a:t>
            </a:r>
            <a:r>
              <a:rPr lang="en-US" noProof="0" dirty="0"/>
              <a:t>was small.</a:t>
            </a:r>
          </a:p>
        </p:txBody>
      </p:sp>
      <p:sp>
        <p:nvSpPr>
          <p:cNvPr id="26" name="TextBox 25">
            <a:extLst>
              <a:ext uri="{FF2B5EF4-FFF2-40B4-BE49-F238E27FC236}">
                <a16:creationId xmlns:a16="http://schemas.microsoft.com/office/drawing/2014/main" id="{5AAB7AC1-A161-59A4-BD00-A9594A0967F1}"/>
              </a:ext>
            </a:extLst>
          </p:cNvPr>
          <p:cNvSpPr txBox="1"/>
          <p:nvPr/>
        </p:nvSpPr>
        <p:spPr>
          <a:xfrm>
            <a:off x="5719768" y="4962297"/>
            <a:ext cx="6096000" cy="646331"/>
          </a:xfrm>
          <a:prstGeom prst="rect">
            <a:avLst/>
          </a:prstGeom>
          <a:noFill/>
        </p:spPr>
        <p:txBody>
          <a:bodyPr wrap="square">
            <a:spAutoFit/>
          </a:bodyPr>
          <a:lstStyle/>
          <a:p>
            <a:r>
              <a:rPr lang="en-US" noProof="0" dirty="0"/>
              <a:t>For any low</a:t>
            </a:r>
            <a:r>
              <a:rPr lang="en-SE" noProof="0" dirty="0"/>
              <a:t>-</a:t>
            </a:r>
            <a:r>
              <a:rPr lang="en-US" noProof="0" dirty="0">
                <a:solidFill>
                  <a:srgbClr val="006D70"/>
                </a:solidFill>
              </a:rPr>
              <a:t>quality</a:t>
            </a:r>
            <a:r>
              <a:rPr lang="en-US" noProof="0" dirty="0"/>
              <a:t> value, if </a:t>
            </a:r>
            <a:r>
              <a:rPr lang="en-US" noProof="0" dirty="0">
                <a:solidFill>
                  <a:schemeClr val="accent4"/>
                </a:solidFill>
              </a:rPr>
              <a:t>feature success </a:t>
            </a:r>
            <a:r>
              <a:rPr lang="en-US" noProof="0" dirty="0"/>
              <a:t>is </a:t>
            </a:r>
            <a:r>
              <a:rPr lang="en-US" i="1" noProof="0" dirty="0"/>
              <a:t>true</a:t>
            </a:r>
            <a:r>
              <a:rPr lang="en-US" noProof="0" dirty="0"/>
              <a:t>, then it is more likely that the </a:t>
            </a:r>
            <a:r>
              <a:rPr lang="en-US" noProof="0" dirty="0">
                <a:solidFill>
                  <a:srgbClr val="D0180A"/>
                </a:solidFill>
              </a:rPr>
              <a:t>specification size </a:t>
            </a:r>
            <a:r>
              <a:rPr lang="en-US" noProof="0" dirty="0"/>
              <a:t>was large.</a:t>
            </a:r>
          </a:p>
        </p:txBody>
      </p:sp>
    </p:spTree>
    <p:extLst>
      <p:ext uri="{BB962C8B-B14F-4D97-AF65-F5344CB8AC3E}">
        <p14:creationId xmlns:p14="http://schemas.microsoft.com/office/powerpoint/2010/main" val="883676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5"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C4EA-647C-2598-1568-ADAECD47457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D4E3AD4-3A22-4105-AFA6-3CBB35A1080F}"/>
              </a:ext>
            </a:extLst>
          </p:cNvPr>
          <p:cNvPicPr>
            <a:picLocks noChangeAspect="1"/>
          </p:cNvPicPr>
          <p:nvPr/>
        </p:nvPicPr>
        <p:blipFill>
          <a:blip r:embed="rId2"/>
          <a:stretch>
            <a:fillRect/>
          </a:stretch>
        </p:blipFill>
        <p:spPr>
          <a:xfrm>
            <a:off x="838200" y="2662182"/>
            <a:ext cx="5786120" cy="3569316"/>
          </a:xfrm>
          <a:prstGeom prst="rect">
            <a:avLst/>
          </a:prstGeom>
        </p:spPr>
      </p:pic>
      <p:sp>
        <p:nvSpPr>
          <p:cNvPr id="7" name="Title 6">
            <a:extLst>
              <a:ext uri="{FF2B5EF4-FFF2-40B4-BE49-F238E27FC236}">
                <a16:creationId xmlns:a16="http://schemas.microsoft.com/office/drawing/2014/main" id="{BA3F1740-886A-B4F9-54A2-321F320873AD}"/>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36193F7B-A825-D4C9-1972-55A209BBFA4D}"/>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3AD670EE-361F-3DDA-2996-0D2787130078}"/>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ACDA021-56E4-0182-50F6-15FBDE4AA2F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ABE81024-F1E6-D25C-E90C-1449DE0DB13D}"/>
              </a:ext>
            </a:extLst>
          </p:cNvPr>
          <p:cNvSpPr>
            <a:spLocks noGrp="1"/>
          </p:cNvSpPr>
          <p:nvPr>
            <p:ph type="sldNum" sz="quarter" idx="12"/>
          </p:nvPr>
        </p:nvSpPr>
        <p:spPr/>
        <p:txBody>
          <a:bodyPr/>
          <a:lstStyle/>
          <a:p>
            <a:fld id="{0FA2D919-C0DE-4971-A2E9-D4AC0031921B}" type="slidenum">
              <a:rPr lang="en-US" noProof="0" smtClean="0"/>
              <a:t>22</a:t>
            </a:fld>
            <a:endParaRPr lang="en-US" noProof="0" dirty="0"/>
          </a:p>
        </p:txBody>
      </p:sp>
      <p:sp>
        <p:nvSpPr>
          <p:cNvPr id="11" name="Rectangle 10">
            <a:extLst>
              <a:ext uri="{FF2B5EF4-FFF2-40B4-BE49-F238E27FC236}">
                <a16:creationId xmlns:a16="http://schemas.microsoft.com/office/drawing/2014/main" id="{984322C2-BEB0-FB83-6B15-38D4EDAE3A84}"/>
              </a:ext>
            </a:extLst>
          </p:cNvPr>
          <p:cNvSpPr/>
          <p:nvPr/>
        </p:nvSpPr>
        <p:spPr>
          <a:xfrm>
            <a:off x="1037507" y="3248614"/>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289213B8-1157-5C24-847D-E275B8535823}"/>
              </a:ext>
            </a:extLst>
          </p:cNvPr>
          <p:cNvSpPr/>
          <p:nvPr/>
        </p:nvSpPr>
        <p:spPr>
          <a:xfrm>
            <a:off x="1011061" y="5077183"/>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3" name="Group 12">
            <a:extLst>
              <a:ext uri="{FF2B5EF4-FFF2-40B4-BE49-F238E27FC236}">
                <a16:creationId xmlns:a16="http://schemas.microsoft.com/office/drawing/2014/main" id="{0ABC0337-A870-C75D-5BDA-8BC8A815E2EC}"/>
              </a:ext>
            </a:extLst>
          </p:cNvPr>
          <p:cNvGrpSpPr/>
          <p:nvPr/>
        </p:nvGrpSpPr>
        <p:grpSpPr>
          <a:xfrm>
            <a:off x="5826761" y="5171477"/>
            <a:ext cx="6111240" cy="946595"/>
            <a:chOff x="775412" y="5230368"/>
            <a:chExt cx="6111240" cy="946595"/>
          </a:xfrm>
        </p:grpSpPr>
        <p:sp>
          <p:nvSpPr>
            <p:cNvPr id="14" name="Rectangle: Rounded Corners 13">
              <a:extLst>
                <a:ext uri="{FF2B5EF4-FFF2-40B4-BE49-F238E27FC236}">
                  <a16:creationId xmlns:a16="http://schemas.microsoft.com/office/drawing/2014/main" id="{02E1905C-6EE6-B516-6BF2-A964C97A95B9}"/>
                </a:ext>
              </a:extLst>
            </p:cNvPr>
            <p:cNvSpPr/>
            <p:nvPr/>
          </p:nvSpPr>
          <p:spPr>
            <a:xfrm>
              <a:off x="775412" y="5230368"/>
              <a:ext cx="6111240"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The non-causal association suggests a negative relationship between the cause and effect (</a:t>
              </a:r>
              <a:r>
                <a:rPr lang="en-US" b="1" noProof="0" dirty="0"/>
                <a:t>Berkson’s paradox/fallacy</a:t>
              </a:r>
              <a:r>
                <a:rPr lang="en-US" noProof="0" dirty="0"/>
                <a:t>).</a:t>
              </a:r>
            </a:p>
          </p:txBody>
        </p:sp>
        <p:pic>
          <p:nvPicPr>
            <p:cNvPr id="15" name="Graphic 14" descr="Open quotation mark with solid fill">
              <a:extLst>
                <a:ext uri="{FF2B5EF4-FFF2-40B4-BE49-F238E27FC236}">
                  <a16:creationId xmlns:a16="http://schemas.microsoft.com/office/drawing/2014/main" id="{40AEB187-6D35-C8E2-28B1-EF2206164A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75412" y="5343665"/>
              <a:ext cx="720000" cy="720000"/>
            </a:xfrm>
            <a:prstGeom prst="rect">
              <a:avLst/>
            </a:prstGeom>
          </p:spPr>
        </p:pic>
      </p:grpSp>
      <p:grpSp>
        <p:nvGrpSpPr>
          <p:cNvPr id="2" name="Group 1">
            <a:extLst>
              <a:ext uri="{FF2B5EF4-FFF2-40B4-BE49-F238E27FC236}">
                <a16:creationId xmlns:a16="http://schemas.microsoft.com/office/drawing/2014/main" id="{4BC14CA7-3359-0551-704A-88D9E7DB1799}"/>
              </a:ext>
            </a:extLst>
          </p:cNvPr>
          <p:cNvGrpSpPr/>
          <p:nvPr/>
        </p:nvGrpSpPr>
        <p:grpSpPr>
          <a:xfrm>
            <a:off x="6624320" y="2662182"/>
            <a:ext cx="4319475" cy="1990963"/>
            <a:chOff x="666492" y="3429000"/>
            <a:chExt cx="4319475" cy="1990963"/>
          </a:xfrm>
        </p:grpSpPr>
        <p:sp>
          <p:nvSpPr>
            <p:cNvPr id="3" name="Oval 2">
              <a:extLst>
                <a:ext uri="{FF2B5EF4-FFF2-40B4-BE49-F238E27FC236}">
                  <a16:creationId xmlns:a16="http://schemas.microsoft.com/office/drawing/2014/main" id="{752EFA76-06DA-C1FD-4125-EBBBF612199B}"/>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1626A664-3107-9402-67CB-2D879737C325}"/>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9FC35A53-E954-7963-E811-E693131001E2}"/>
                </a:ext>
              </a:extLst>
            </p:cNvPr>
            <p:cNvCxnSpPr>
              <a:stCxn id="3"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3DC8D3B6-CEB9-F910-8F13-7CF73259C41D}"/>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18" name="TextBox 17">
              <a:extLst>
                <a:ext uri="{FF2B5EF4-FFF2-40B4-BE49-F238E27FC236}">
                  <a16:creationId xmlns:a16="http://schemas.microsoft.com/office/drawing/2014/main" id="{264E2A05-C4ED-B28D-EA17-45D039575D0A}"/>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19" name="Oval 18">
              <a:extLst>
                <a:ext uri="{FF2B5EF4-FFF2-40B4-BE49-F238E27FC236}">
                  <a16:creationId xmlns:a16="http://schemas.microsoft.com/office/drawing/2014/main" id="{438EB28F-9581-AC6C-8234-0DBD32E4739B}"/>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A26C19A1-307F-BB02-7057-5DE2A592E300}"/>
                </a:ext>
              </a:extLst>
            </p:cNvPr>
            <p:cNvSpPr txBox="1"/>
            <p:nvPr/>
          </p:nvSpPr>
          <p:spPr>
            <a:xfrm>
              <a:off x="2791327" y="5050631"/>
              <a:ext cx="1822807"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24" name="Straight Arrow Connector 23">
              <a:extLst>
                <a:ext uri="{FF2B5EF4-FFF2-40B4-BE49-F238E27FC236}">
                  <a16:creationId xmlns:a16="http://schemas.microsoft.com/office/drawing/2014/main" id="{9C8253A7-1923-E811-18BF-E5A9F5C5F1F9}"/>
                </a:ext>
              </a:extLst>
            </p:cNvPr>
            <p:cNvCxnSpPr>
              <a:cxnSpLocks/>
              <a:stCxn id="9" idx="3"/>
              <a:endCxn id="19"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5E5AF028-DE3A-DB18-BB29-077E07E2E17E}"/>
                </a:ext>
              </a:extLst>
            </p:cNvPr>
            <p:cNvCxnSpPr>
              <a:cxnSpLocks/>
              <a:stCxn id="3" idx="5"/>
              <a:endCxn id="19"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1" name="Group 30">
            <a:extLst>
              <a:ext uri="{FF2B5EF4-FFF2-40B4-BE49-F238E27FC236}">
                <a16:creationId xmlns:a16="http://schemas.microsoft.com/office/drawing/2014/main" id="{50229754-D947-FBE8-4342-922C81D19F40}"/>
              </a:ext>
            </a:extLst>
          </p:cNvPr>
          <p:cNvGrpSpPr/>
          <p:nvPr/>
        </p:nvGrpSpPr>
        <p:grpSpPr>
          <a:xfrm>
            <a:off x="8170163" y="3481514"/>
            <a:ext cx="720000" cy="720000"/>
            <a:chOff x="5604304" y="3426506"/>
            <a:chExt cx="720000" cy="720000"/>
          </a:xfrm>
        </p:grpSpPr>
        <p:sp>
          <p:nvSpPr>
            <p:cNvPr id="32" name="Oval 31">
              <a:extLst>
                <a:ext uri="{FF2B5EF4-FFF2-40B4-BE49-F238E27FC236}">
                  <a16:creationId xmlns:a16="http://schemas.microsoft.com/office/drawing/2014/main" id="{8EF7C19E-76CB-DD14-3E18-D88B26EF0663}"/>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3" name="Graphic 32" descr="No sign with solid fill">
              <a:extLst>
                <a:ext uri="{FF2B5EF4-FFF2-40B4-BE49-F238E27FC236}">
                  <a16:creationId xmlns:a16="http://schemas.microsoft.com/office/drawing/2014/main" id="{597DAEE0-92B2-AB07-65A8-20C30F05A0C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61776" y="3489838"/>
              <a:ext cx="612000" cy="612000"/>
            </a:xfrm>
            <a:prstGeom prst="rect">
              <a:avLst/>
            </a:prstGeom>
          </p:spPr>
        </p:pic>
      </p:grpSp>
    </p:spTree>
    <p:extLst>
      <p:ext uri="{BB962C8B-B14F-4D97-AF65-F5344CB8AC3E}">
        <p14:creationId xmlns:p14="http://schemas.microsoft.com/office/powerpoint/2010/main" val="1131516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008A-EBF9-5D72-2B31-6D0E448E4F6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E16DBE5-3F62-21C6-511D-F8A3C2A33AE4}"/>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819C1A48-45A7-DC74-9CE8-576D5F04174F}"/>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0C22A3BD-F0B4-116D-125A-C77CB598A55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780966F1-121D-BBCE-B7AD-155CE42B998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4243766-CAB9-D1FA-B0FF-0628C670A1E3}"/>
              </a:ext>
            </a:extLst>
          </p:cNvPr>
          <p:cNvSpPr>
            <a:spLocks noGrp="1"/>
          </p:cNvSpPr>
          <p:nvPr>
            <p:ph type="sldNum" sz="quarter" idx="12"/>
          </p:nvPr>
        </p:nvSpPr>
        <p:spPr/>
        <p:txBody>
          <a:bodyPr/>
          <a:lstStyle/>
          <a:p>
            <a:fld id="{0FA2D919-C0DE-4971-A2E9-D4AC0031921B}" type="slidenum">
              <a:rPr lang="en-US" noProof="0" smtClean="0"/>
              <a:t>23</a:t>
            </a:fld>
            <a:endParaRPr lang="en-US" noProof="0" dirty="0"/>
          </a:p>
        </p:txBody>
      </p:sp>
      <p:pic>
        <p:nvPicPr>
          <p:cNvPr id="3" name="Picture 2">
            <a:extLst>
              <a:ext uri="{FF2B5EF4-FFF2-40B4-BE49-F238E27FC236}">
                <a16:creationId xmlns:a16="http://schemas.microsoft.com/office/drawing/2014/main" id="{1E856A0E-E604-9F15-B3BA-FEE30EA3F686}"/>
              </a:ext>
            </a:extLst>
          </p:cNvPr>
          <p:cNvPicPr>
            <a:picLocks noChangeAspect="1"/>
          </p:cNvPicPr>
          <p:nvPr/>
        </p:nvPicPr>
        <p:blipFill>
          <a:blip r:embed="rId2"/>
          <a:srcRect b="1"/>
          <a:stretch>
            <a:fillRect/>
          </a:stretch>
        </p:blipFill>
        <p:spPr>
          <a:xfrm>
            <a:off x="993286" y="3143256"/>
            <a:ext cx="7852126" cy="291567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86B7385-6A9A-FD62-79C3-23D98EEC5519}"/>
                  </a:ext>
                </a:extLst>
              </p:cNvPr>
              <p:cNvSpPr txBox="1"/>
              <p:nvPr/>
            </p:nvSpPr>
            <p:spPr>
              <a:xfrm>
                <a:off x="8891933" y="4462594"/>
                <a:ext cx="2180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2" name="TextBox 1">
                <a:extLst>
                  <a:ext uri="{FF2B5EF4-FFF2-40B4-BE49-F238E27FC236}">
                    <a16:creationId xmlns:a16="http://schemas.microsoft.com/office/drawing/2014/main" id="{286B7385-6A9A-FD62-79C3-23D98EEC5519}"/>
                  </a:ext>
                </a:extLst>
              </p:cNvPr>
              <p:cNvSpPr txBox="1">
                <a:spLocks noRot="1" noChangeAspect="1" noMove="1" noResize="1" noEditPoints="1" noAdjustHandles="1" noChangeArrowheads="1" noChangeShapeType="1" noTextEdit="1"/>
              </p:cNvSpPr>
              <p:nvPr/>
            </p:nvSpPr>
            <p:spPr>
              <a:xfrm>
                <a:off x="8891933" y="4462594"/>
                <a:ext cx="2180533" cy="276999"/>
              </a:xfrm>
              <a:prstGeom prst="rect">
                <a:avLst/>
              </a:prstGeom>
              <a:blipFill>
                <a:blip r:embed="rId9"/>
                <a:stretch>
                  <a:fillRect l="-1401" t="-2222" r="-2801"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C36C5A-FF1D-7CA3-354A-ABF4162B3DE1}"/>
                  </a:ext>
                </a:extLst>
              </p:cNvPr>
              <p:cNvSpPr txBox="1"/>
              <p:nvPr/>
            </p:nvSpPr>
            <p:spPr>
              <a:xfrm>
                <a:off x="8845412" y="3163674"/>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9" name="TextBox 8">
                <a:extLst>
                  <a:ext uri="{FF2B5EF4-FFF2-40B4-BE49-F238E27FC236}">
                    <a16:creationId xmlns:a16="http://schemas.microsoft.com/office/drawing/2014/main" id="{4DC36C5A-FF1D-7CA3-354A-ABF4162B3DE1}"/>
                  </a:ext>
                </a:extLst>
              </p:cNvPr>
              <p:cNvSpPr txBox="1">
                <a:spLocks noRot="1" noChangeAspect="1" noMove="1" noResize="1" noEditPoints="1" noAdjustHandles="1" noChangeArrowheads="1" noChangeShapeType="1" noTextEdit="1"/>
              </p:cNvSpPr>
              <p:nvPr/>
            </p:nvSpPr>
            <p:spPr>
              <a:xfrm>
                <a:off x="8845412" y="3163674"/>
                <a:ext cx="3246979" cy="276999"/>
              </a:xfrm>
              <a:prstGeom prst="rect">
                <a:avLst/>
              </a:prstGeom>
              <a:blipFill>
                <a:blip r:embed="rId10"/>
                <a:stretch>
                  <a:fillRect l="-563" t="-2222" r="-563" b="-35556"/>
                </a:stretch>
              </a:blipFill>
            </p:spPr>
            <p:txBody>
              <a:bodyPr/>
              <a:lstStyle/>
              <a:p>
                <a:r>
                  <a:rPr lang="en-SE">
                    <a:noFill/>
                  </a:rPr>
                  <a:t> </a:t>
                </a:r>
              </a:p>
            </p:txBody>
          </p:sp>
        </mc:Fallback>
      </mc:AlternateContent>
    </p:spTree>
    <p:extLst>
      <p:ext uri="{BB962C8B-B14F-4D97-AF65-F5344CB8AC3E}">
        <p14:creationId xmlns:p14="http://schemas.microsoft.com/office/powerpoint/2010/main" val="1150939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3AC6D-FD56-99BB-45EF-7D395D7A69E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C3289E8-418C-AD07-A144-82F4A346F486}"/>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F7116176-4D08-11D7-6CA1-D543E2F9D8D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EA71E1AE-5B71-5FCC-0DDF-D27DCEFB04B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175B06-CB77-7998-2CB3-0056E88EF001}"/>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59EBABA-373C-E437-135F-B503957FAEBD}"/>
              </a:ext>
            </a:extLst>
          </p:cNvPr>
          <p:cNvSpPr>
            <a:spLocks noGrp="1"/>
          </p:cNvSpPr>
          <p:nvPr>
            <p:ph type="sldNum" sz="quarter" idx="12"/>
          </p:nvPr>
        </p:nvSpPr>
        <p:spPr/>
        <p:txBody>
          <a:bodyPr/>
          <a:lstStyle/>
          <a:p>
            <a:fld id="{0FA2D919-C0DE-4971-A2E9-D4AC0031921B}" type="slidenum">
              <a:rPr lang="en-US" noProof="0" smtClean="0"/>
              <a:t>24</a:t>
            </a:fld>
            <a:endParaRPr lang="en-US" noProof="0" dirty="0"/>
          </a:p>
        </p:txBody>
      </p:sp>
      <p:grpSp>
        <p:nvGrpSpPr>
          <p:cNvPr id="16" name="Group 15">
            <a:extLst>
              <a:ext uri="{FF2B5EF4-FFF2-40B4-BE49-F238E27FC236}">
                <a16:creationId xmlns:a16="http://schemas.microsoft.com/office/drawing/2014/main" id="{C8D4E8BA-FDA5-8BEF-C09E-F3A2F146E3B7}"/>
              </a:ext>
            </a:extLst>
          </p:cNvPr>
          <p:cNvGrpSpPr/>
          <p:nvPr/>
        </p:nvGrpSpPr>
        <p:grpSpPr>
          <a:xfrm>
            <a:off x="4808088" y="3678745"/>
            <a:ext cx="2563289" cy="432000"/>
            <a:chOff x="4604412" y="1893985"/>
            <a:chExt cx="2563289" cy="432000"/>
          </a:xfrm>
        </p:grpSpPr>
        <p:sp>
          <p:nvSpPr>
            <p:cNvPr id="17" name="Arrow: Pentagon 16">
              <a:extLst>
                <a:ext uri="{FF2B5EF4-FFF2-40B4-BE49-F238E27FC236}">
                  <a16:creationId xmlns:a16="http://schemas.microsoft.com/office/drawing/2014/main" id="{D08446F8-3D19-B1DA-9814-EE377BBA673B}"/>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8" name="Graphic 17" descr="Connections with solid fill">
              <a:extLst>
                <a:ext uri="{FF2B5EF4-FFF2-40B4-BE49-F238E27FC236}">
                  <a16:creationId xmlns:a16="http://schemas.microsoft.com/office/drawing/2014/main" id="{30B44D3A-1B46-FB1F-D56E-2487A70510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8A88B5C-38D1-13E9-4ABB-59A7232D28C5}"/>
                  </a:ext>
                </a:extLst>
              </p:cNvPr>
              <p:cNvSpPr txBox="1"/>
              <p:nvPr/>
            </p:nvSpPr>
            <p:spPr>
              <a:xfrm>
                <a:off x="7602992" y="3361158"/>
                <a:ext cx="32416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trike="sngStrike" noProof="0" smtClean="0">
                              <a:solidFill>
                                <a:schemeClr val="bg1">
                                  <a:lumMod val="85000"/>
                                </a:schemeClr>
                              </a:solidFill>
                              <a:latin typeface="Cambria Math" panose="02040503050406030204" pitchFamily="18" charset="0"/>
                            </a:rPr>
                          </m:ctrlPr>
                        </m:sSubPr>
                        <m:e>
                          <m:r>
                            <a:rPr lang="en-US" b="0" i="1" strike="sngStrike" noProof="0" smtClean="0">
                              <a:solidFill>
                                <a:schemeClr val="bg1">
                                  <a:lumMod val="85000"/>
                                </a:schemeClr>
                              </a:solidFill>
                              <a:latin typeface="Cambria Math" panose="02040503050406030204" pitchFamily="18" charset="0"/>
                            </a:rPr>
                            <m:t>𝑚</m:t>
                          </m:r>
                        </m:e>
                        <m:sub>
                          <m:r>
                            <a:rPr lang="en-US" b="0" i="1" strike="sngStrike" noProof="0" smtClean="0">
                              <a:solidFill>
                                <a:schemeClr val="bg1">
                                  <a:lumMod val="85000"/>
                                </a:schemeClr>
                              </a:solidFill>
                              <a:latin typeface="Cambria Math" panose="02040503050406030204" pitchFamily="18" charset="0"/>
                            </a:rPr>
                            <m:t>1</m:t>
                          </m:r>
                        </m:sub>
                      </m:sSub>
                      <m:r>
                        <a:rPr lang="en-US" b="0" i="1" strike="sngStrike" noProof="0" smtClean="0">
                          <a:solidFill>
                            <a:schemeClr val="bg1">
                              <a:lumMod val="85000"/>
                            </a:schemeClr>
                          </a:solidFill>
                          <a:latin typeface="Cambria Math" panose="02040503050406030204" pitchFamily="18" charset="0"/>
                        </a:rPr>
                        <m:t>:</m:t>
                      </m:r>
                      <m:r>
                        <a:rPr lang="en-US" b="0" i="1" strike="sngStrike" noProof="0" smtClean="0">
                          <a:solidFill>
                            <a:srgbClr val="00BFC4"/>
                          </a:solidFill>
                          <a:latin typeface="Cambria Math" panose="02040503050406030204" pitchFamily="18" charset="0"/>
                        </a:rPr>
                        <m:t>𝑞𝑢𝑎𝑙𝑖𝑡𝑦</m:t>
                      </m:r>
                      <m:r>
                        <a:rPr lang="en-US" b="0" i="1" strike="sngStrike" noProof="0" smtClean="0">
                          <a:solidFill>
                            <a:schemeClr val="bg1">
                              <a:lumMod val="85000"/>
                            </a:schemeClr>
                          </a:solidFill>
                          <a:latin typeface="Cambria Math" panose="02040503050406030204" pitchFamily="18" charset="0"/>
                        </a:rPr>
                        <m:t>~1+</m:t>
                      </m:r>
                      <m:r>
                        <a:rPr lang="en-US" b="0" i="1" strike="sngStrike" noProof="0" smtClean="0">
                          <a:solidFill>
                            <a:srgbClr val="F8766D"/>
                          </a:solidFill>
                          <a:latin typeface="Cambria Math" panose="02040503050406030204" pitchFamily="18" charset="0"/>
                        </a:rPr>
                        <m:t>𝑠𝑖𝑧𝑒</m:t>
                      </m:r>
                      <m:r>
                        <a:rPr lang="en-US" i="1" strike="sngStrike" noProof="0" smtClean="0">
                          <a:solidFill>
                            <a:schemeClr val="bg1">
                              <a:lumMod val="85000"/>
                            </a:schemeClr>
                          </a:solidFill>
                          <a:latin typeface="Cambria Math" panose="02040503050406030204" pitchFamily="18" charset="0"/>
                        </a:rPr>
                        <m:t>+</m:t>
                      </m:r>
                      <m:r>
                        <a:rPr lang="en-US" b="0" i="1" strike="sngStrike" noProof="0" smtClean="0">
                          <a:solidFill>
                            <a:schemeClr val="bg1">
                              <a:lumMod val="50000"/>
                            </a:schemeClr>
                          </a:solidFill>
                          <a:latin typeface="Cambria Math" panose="02040503050406030204" pitchFamily="18" charset="0"/>
                        </a:rPr>
                        <m:t>𝑠𝑢𝑐𝑐𝑒𝑠𝑠</m:t>
                      </m:r>
                    </m:oMath>
                  </m:oMathPara>
                </a14:m>
                <a:endParaRPr lang="en-US" strike="sngStrike" noProof="0" dirty="0"/>
              </a:p>
            </p:txBody>
          </p:sp>
        </mc:Choice>
        <mc:Fallback xmlns="">
          <p:sp>
            <p:nvSpPr>
              <p:cNvPr id="19" name="TextBox 18">
                <a:extLst>
                  <a:ext uri="{FF2B5EF4-FFF2-40B4-BE49-F238E27FC236}">
                    <a16:creationId xmlns:a16="http://schemas.microsoft.com/office/drawing/2014/main" id="{C8A88B5C-38D1-13E9-4ABB-59A7232D28C5}"/>
                  </a:ext>
                </a:extLst>
              </p:cNvPr>
              <p:cNvSpPr txBox="1">
                <a:spLocks noRot="1" noChangeAspect="1" noMove="1" noResize="1" noEditPoints="1" noAdjustHandles="1" noChangeArrowheads="1" noChangeShapeType="1" noTextEdit="1"/>
              </p:cNvSpPr>
              <p:nvPr/>
            </p:nvSpPr>
            <p:spPr>
              <a:xfrm>
                <a:off x="7602992" y="3361158"/>
                <a:ext cx="3241657" cy="276999"/>
              </a:xfrm>
              <a:prstGeom prst="rect">
                <a:avLst/>
              </a:prstGeom>
              <a:blipFill>
                <a:blip r:embed="rId10"/>
                <a:stretch>
                  <a:fillRect l="-752" t="-2174" r="-752"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477CFBB-21B7-199F-D6B8-C88A2CFA1939}"/>
                  </a:ext>
                </a:extLst>
              </p:cNvPr>
              <p:cNvSpPr txBox="1"/>
              <p:nvPr/>
            </p:nvSpPr>
            <p:spPr>
              <a:xfrm>
                <a:off x="7602992" y="3932647"/>
                <a:ext cx="2185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20" name="TextBox 19">
                <a:extLst>
                  <a:ext uri="{FF2B5EF4-FFF2-40B4-BE49-F238E27FC236}">
                    <a16:creationId xmlns:a16="http://schemas.microsoft.com/office/drawing/2014/main" id="{3477CFBB-21B7-199F-D6B8-C88A2CFA1939}"/>
                  </a:ext>
                </a:extLst>
              </p:cNvPr>
              <p:cNvSpPr txBox="1">
                <a:spLocks noRot="1" noChangeAspect="1" noMove="1" noResize="1" noEditPoints="1" noAdjustHandles="1" noChangeArrowheads="1" noChangeShapeType="1" noTextEdit="1"/>
              </p:cNvSpPr>
              <p:nvPr/>
            </p:nvSpPr>
            <p:spPr>
              <a:xfrm>
                <a:off x="7602992" y="3932647"/>
                <a:ext cx="2185855" cy="276999"/>
              </a:xfrm>
              <a:prstGeom prst="rect">
                <a:avLst/>
              </a:prstGeom>
              <a:blipFill>
                <a:blip r:embed="rId11"/>
                <a:stretch>
                  <a:fillRect l="-1393" t="-2174" r="-2228" b="-32609"/>
                </a:stretch>
              </a:blipFill>
            </p:spPr>
            <p:txBody>
              <a:bodyPr/>
              <a:lstStyle/>
              <a:p>
                <a:r>
                  <a:rPr lang="en-SE">
                    <a:noFill/>
                  </a:rPr>
                  <a:t> </a:t>
                </a:r>
              </a:p>
            </p:txBody>
          </p:sp>
        </mc:Fallback>
      </mc:AlternateContent>
      <p:grpSp>
        <p:nvGrpSpPr>
          <p:cNvPr id="21" name="Group 20">
            <a:extLst>
              <a:ext uri="{FF2B5EF4-FFF2-40B4-BE49-F238E27FC236}">
                <a16:creationId xmlns:a16="http://schemas.microsoft.com/office/drawing/2014/main" id="{10D81A56-66A1-94BD-DB44-647454877D26}"/>
              </a:ext>
            </a:extLst>
          </p:cNvPr>
          <p:cNvGrpSpPr/>
          <p:nvPr/>
        </p:nvGrpSpPr>
        <p:grpSpPr>
          <a:xfrm>
            <a:off x="838200" y="5248387"/>
            <a:ext cx="10515599" cy="946595"/>
            <a:chOff x="775411" y="5230368"/>
            <a:chExt cx="10515599" cy="946595"/>
          </a:xfrm>
        </p:grpSpPr>
        <p:sp>
          <p:nvSpPr>
            <p:cNvPr id="22" name="Rectangle: Rounded Corners 21">
              <a:extLst>
                <a:ext uri="{FF2B5EF4-FFF2-40B4-BE49-F238E27FC236}">
                  <a16:creationId xmlns:a16="http://schemas.microsoft.com/office/drawing/2014/main" id="{DB7A3BA9-62A9-C722-FF83-B7D0BA1B35E9}"/>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If both treatment and outcome have a common effect, we must not condition on this common effect. Consequently, we cannot simply add </a:t>
              </a:r>
              <a:r>
                <a:rPr lang="en-US" i="1" noProof="0" dirty="0"/>
                <a:t>all</a:t>
              </a:r>
              <a:r>
                <a:rPr lang="en-US" noProof="0" dirty="0"/>
                <a:t> relevant variables as predictors.</a:t>
              </a:r>
            </a:p>
          </p:txBody>
        </p:sp>
        <p:pic>
          <p:nvPicPr>
            <p:cNvPr id="23" name="Graphic 22" descr="Open quotation mark with solid fill">
              <a:extLst>
                <a:ext uri="{FF2B5EF4-FFF2-40B4-BE49-F238E27FC236}">
                  <a16:creationId xmlns:a16="http://schemas.microsoft.com/office/drawing/2014/main" id="{0BC65A9F-7394-B909-5E8D-CD23F976309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10800000">
              <a:off x="775412" y="5343665"/>
              <a:ext cx="720000" cy="720000"/>
            </a:xfrm>
            <a:prstGeom prst="rect">
              <a:avLst/>
            </a:prstGeom>
          </p:spPr>
        </p:pic>
      </p:grpSp>
      <p:grpSp>
        <p:nvGrpSpPr>
          <p:cNvPr id="38" name="Group 37">
            <a:extLst>
              <a:ext uri="{FF2B5EF4-FFF2-40B4-BE49-F238E27FC236}">
                <a16:creationId xmlns:a16="http://schemas.microsoft.com/office/drawing/2014/main" id="{6B3BE524-9911-794C-0975-E5D06C6AF7D9}"/>
              </a:ext>
            </a:extLst>
          </p:cNvPr>
          <p:cNvGrpSpPr/>
          <p:nvPr/>
        </p:nvGrpSpPr>
        <p:grpSpPr>
          <a:xfrm>
            <a:off x="728502" y="2899263"/>
            <a:ext cx="4319475" cy="1990963"/>
            <a:chOff x="666492" y="3429000"/>
            <a:chExt cx="4319475" cy="1990963"/>
          </a:xfrm>
        </p:grpSpPr>
        <p:sp>
          <p:nvSpPr>
            <p:cNvPr id="29" name="Oval 28">
              <a:extLst>
                <a:ext uri="{FF2B5EF4-FFF2-40B4-BE49-F238E27FC236}">
                  <a16:creationId xmlns:a16="http://schemas.microsoft.com/office/drawing/2014/main" id="{81931A43-BA82-2FDE-BFDC-74E868F39802}"/>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28DCB918-5FAF-EC86-956D-F2D84919E23A}"/>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1" name="Straight Arrow Connector 30">
              <a:extLst>
                <a:ext uri="{FF2B5EF4-FFF2-40B4-BE49-F238E27FC236}">
                  <a16:creationId xmlns:a16="http://schemas.microsoft.com/office/drawing/2014/main" id="{37A14433-7377-3425-E3E0-2B3D969AC668}"/>
                </a:ext>
              </a:extLst>
            </p:cNvPr>
            <p:cNvCxnSpPr>
              <a:stCxn id="29" idx="6"/>
              <a:endCxn id="30"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07A56669-0FB4-11A5-5F6C-ED3BA497DCF6}"/>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33" name="TextBox 32">
              <a:extLst>
                <a:ext uri="{FF2B5EF4-FFF2-40B4-BE49-F238E27FC236}">
                  <a16:creationId xmlns:a16="http://schemas.microsoft.com/office/drawing/2014/main" id="{D25B75A1-1C1A-6454-DF7B-B31FFEE90C9E}"/>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34" name="Oval 33">
              <a:extLst>
                <a:ext uri="{FF2B5EF4-FFF2-40B4-BE49-F238E27FC236}">
                  <a16:creationId xmlns:a16="http://schemas.microsoft.com/office/drawing/2014/main" id="{DD757184-5752-D2B0-DBB3-71731AEB966C}"/>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TextBox 34">
              <a:extLst>
                <a:ext uri="{FF2B5EF4-FFF2-40B4-BE49-F238E27FC236}">
                  <a16:creationId xmlns:a16="http://schemas.microsoft.com/office/drawing/2014/main" id="{5BF220C6-9E3F-720B-4EDC-7596F4B422A7}"/>
                </a:ext>
              </a:extLst>
            </p:cNvPr>
            <p:cNvSpPr txBox="1"/>
            <p:nvPr/>
          </p:nvSpPr>
          <p:spPr>
            <a:xfrm>
              <a:off x="2791327" y="5050631"/>
              <a:ext cx="1822807"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36" name="Straight Arrow Connector 35">
              <a:extLst>
                <a:ext uri="{FF2B5EF4-FFF2-40B4-BE49-F238E27FC236}">
                  <a16:creationId xmlns:a16="http://schemas.microsoft.com/office/drawing/2014/main" id="{09C5C728-AA05-110A-BC93-97260B3DCB39}"/>
                </a:ext>
              </a:extLst>
            </p:cNvPr>
            <p:cNvCxnSpPr>
              <a:cxnSpLocks/>
              <a:stCxn id="30" idx="3"/>
              <a:endCxn id="34"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6C54813C-E9EB-905A-95EF-6F247C054184}"/>
                </a:ext>
              </a:extLst>
            </p:cNvPr>
            <p:cNvCxnSpPr>
              <a:cxnSpLocks/>
              <a:stCxn id="29" idx="5"/>
              <a:endCxn id="34"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121522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D984-D518-32C9-4EF5-CA5E0B845B8F}"/>
              </a:ext>
            </a:extLst>
          </p:cNvPr>
          <p:cNvSpPr>
            <a:spLocks noGrp="1"/>
          </p:cNvSpPr>
          <p:nvPr>
            <p:ph type="title"/>
          </p:nvPr>
        </p:nvSpPr>
        <p:spPr/>
        <p:txBody>
          <a:bodyPr/>
          <a:lstStyle/>
          <a:p>
            <a:r>
              <a:rPr lang="en-US" noProof="0" dirty="0"/>
              <a:t>Basic Types of Association</a:t>
            </a:r>
          </a:p>
        </p:txBody>
      </p:sp>
      <p:sp>
        <p:nvSpPr>
          <p:cNvPr id="3" name="Content Placeholder 2">
            <a:extLst>
              <a:ext uri="{FF2B5EF4-FFF2-40B4-BE49-F238E27FC236}">
                <a16:creationId xmlns:a16="http://schemas.microsoft.com/office/drawing/2014/main" id="{DF62D629-A6BE-16A9-EF3B-B8F19B1A3515}"/>
              </a:ext>
            </a:extLst>
          </p:cNvPr>
          <p:cNvSpPr>
            <a:spLocks noGrp="1"/>
          </p:cNvSpPr>
          <p:nvPr>
            <p:ph idx="1"/>
          </p:nvPr>
        </p:nvSpPr>
        <p:spPr>
          <a:xfrm>
            <a:off x="838200" y="1756428"/>
            <a:ext cx="10515600" cy="1055998"/>
          </a:xfrm>
        </p:spPr>
        <p:txBody>
          <a:bodyPr/>
          <a:lstStyle/>
          <a:p>
            <a:pPr marL="0" indent="0">
              <a:buNone/>
            </a:pPr>
            <a:r>
              <a:rPr lang="en-US" noProof="0" dirty="0"/>
              <a:t>The three basic types of association behave differently when statistically controlling for the third variable:</a:t>
            </a:r>
          </a:p>
        </p:txBody>
      </p:sp>
      <p:sp>
        <p:nvSpPr>
          <p:cNvPr id="4" name="Date Placeholder 3">
            <a:extLst>
              <a:ext uri="{FF2B5EF4-FFF2-40B4-BE49-F238E27FC236}">
                <a16:creationId xmlns:a16="http://schemas.microsoft.com/office/drawing/2014/main" id="{DC513192-8CE3-79D8-EAB3-35D97F68A10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4EF2C75-983A-4A7A-D815-E2C4157A7F1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CD2B199-179A-2733-1C79-5F06954B8A01}"/>
              </a:ext>
            </a:extLst>
          </p:cNvPr>
          <p:cNvSpPr>
            <a:spLocks noGrp="1"/>
          </p:cNvSpPr>
          <p:nvPr>
            <p:ph type="sldNum" sz="quarter" idx="12"/>
          </p:nvPr>
        </p:nvSpPr>
        <p:spPr/>
        <p:txBody>
          <a:bodyPr/>
          <a:lstStyle/>
          <a:p>
            <a:fld id="{0FA2D919-C0DE-4971-A2E9-D4AC0031921B}" type="slidenum">
              <a:rPr lang="en-US" noProof="0" smtClean="0"/>
              <a:t>25</a:t>
            </a:fld>
            <a:endParaRPr lang="en-US" noProof="0" dirty="0"/>
          </a:p>
        </p:txBody>
      </p:sp>
      <p:sp>
        <p:nvSpPr>
          <p:cNvPr id="9" name="TextBox 8">
            <a:extLst>
              <a:ext uri="{FF2B5EF4-FFF2-40B4-BE49-F238E27FC236}">
                <a16:creationId xmlns:a16="http://schemas.microsoft.com/office/drawing/2014/main" id="{B2EDF7C6-A4C4-F3AA-4488-16AACBC8C01D}"/>
              </a:ext>
            </a:extLst>
          </p:cNvPr>
          <p:cNvSpPr txBox="1"/>
          <p:nvPr/>
        </p:nvSpPr>
        <p:spPr>
          <a:xfrm>
            <a:off x="3008919" y="3631518"/>
            <a:ext cx="1438022" cy="369332"/>
          </a:xfrm>
          <a:prstGeom prst="rect">
            <a:avLst/>
          </a:prstGeom>
          <a:noFill/>
        </p:spPr>
        <p:txBody>
          <a:bodyPr wrap="none" rtlCol="0">
            <a:spAutoFit/>
          </a:bodyPr>
          <a:lstStyle/>
          <a:p>
            <a:r>
              <a:rPr lang="en-SE" b="1" noProof="0" dirty="0"/>
              <a:t>Confounder</a:t>
            </a:r>
            <a:endParaRPr lang="en-US" b="1" noProof="0" dirty="0"/>
          </a:p>
        </p:txBody>
      </p:sp>
      <p:sp>
        <p:nvSpPr>
          <p:cNvPr id="18" name="TextBox 17">
            <a:extLst>
              <a:ext uri="{FF2B5EF4-FFF2-40B4-BE49-F238E27FC236}">
                <a16:creationId xmlns:a16="http://schemas.microsoft.com/office/drawing/2014/main" id="{DC201E99-68B0-D44B-5AB2-7C5AF6CCD470}"/>
              </a:ext>
            </a:extLst>
          </p:cNvPr>
          <p:cNvSpPr txBox="1"/>
          <p:nvPr/>
        </p:nvSpPr>
        <p:spPr>
          <a:xfrm>
            <a:off x="3012334" y="4674585"/>
            <a:ext cx="1123000" cy="369332"/>
          </a:xfrm>
          <a:prstGeom prst="rect">
            <a:avLst/>
          </a:prstGeom>
          <a:noFill/>
        </p:spPr>
        <p:txBody>
          <a:bodyPr wrap="none" rtlCol="0">
            <a:spAutoFit/>
          </a:bodyPr>
          <a:lstStyle/>
          <a:p>
            <a:r>
              <a:rPr lang="en-SE" b="1" noProof="0" dirty="0"/>
              <a:t>Mediator</a:t>
            </a:r>
            <a:endParaRPr lang="en-US" b="1" noProof="0" dirty="0"/>
          </a:p>
        </p:txBody>
      </p:sp>
      <p:sp>
        <p:nvSpPr>
          <p:cNvPr id="27" name="TextBox 26">
            <a:extLst>
              <a:ext uri="{FF2B5EF4-FFF2-40B4-BE49-F238E27FC236}">
                <a16:creationId xmlns:a16="http://schemas.microsoft.com/office/drawing/2014/main" id="{73104E06-C75B-B58B-ABC6-AB4C5C46ED73}"/>
              </a:ext>
            </a:extLst>
          </p:cNvPr>
          <p:cNvSpPr txBox="1"/>
          <p:nvPr/>
        </p:nvSpPr>
        <p:spPr>
          <a:xfrm>
            <a:off x="3008919" y="5717350"/>
            <a:ext cx="1029449" cy="369332"/>
          </a:xfrm>
          <a:prstGeom prst="rect">
            <a:avLst/>
          </a:prstGeom>
          <a:noFill/>
        </p:spPr>
        <p:txBody>
          <a:bodyPr wrap="none" rtlCol="0">
            <a:spAutoFit/>
          </a:bodyPr>
          <a:lstStyle/>
          <a:p>
            <a:r>
              <a:rPr lang="en-US" b="1" noProof="0" dirty="0"/>
              <a:t>Collider</a:t>
            </a:r>
          </a:p>
        </p:txBody>
      </p:sp>
      <p:sp>
        <p:nvSpPr>
          <p:cNvPr id="34" name="TextBox 33">
            <a:extLst>
              <a:ext uri="{FF2B5EF4-FFF2-40B4-BE49-F238E27FC236}">
                <a16:creationId xmlns:a16="http://schemas.microsoft.com/office/drawing/2014/main" id="{3E3D294D-263D-5018-1DB1-75BC4764DAD7}"/>
              </a:ext>
            </a:extLst>
          </p:cNvPr>
          <p:cNvSpPr txBox="1"/>
          <p:nvPr/>
        </p:nvSpPr>
        <p:spPr>
          <a:xfrm>
            <a:off x="4126896" y="3041816"/>
            <a:ext cx="1908536" cy="369332"/>
          </a:xfrm>
          <a:prstGeom prst="rect">
            <a:avLst/>
          </a:prstGeom>
          <a:noFill/>
        </p:spPr>
        <p:txBody>
          <a:bodyPr wrap="none" rtlCol="0">
            <a:spAutoFit/>
          </a:bodyPr>
          <a:lstStyle/>
          <a:p>
            <a:pPr algn="ctr"/>
            <a:r>
              <a:rPr lang="en-US" b="1" noProof="0" dirty="0"/>
              <a:t>Not controlling z</a:t>
            </a:r>
          </a:p>
        </p:txBody>
      </p:sp>
      <p:sp>
        <p:nvSpPr>
          <p:cNvPr id="35" name="TextBox 34">
            <a:extLst>
              <a:ext uri="{FF2B5EF4-FFF2-40B4-BE49-F238E27FC236}">
                <a16:creationId xmlns:a16="http://schemas.microsoft.com/office/drawing/2014/main" id="{DB7C6E84-3433-E6BF-F599-8F6C1FACB2DB}"/>
              </a:ext>
            </a:extLst>
          </p:cNvPr>
          <p:cNvSpPr txBox="1"/>
          <p:nvPr/>
        </p:nvSpPr>
        <p:spPr>
          <a:xfrm>
            <a:off x="6181714" y="3041816"/>
            <a:ext cx="1517403" cy="369332"/>
          </a:xfrm>
          <a:prstGeom prst="rect">
            <a:avLst/>
          </a:prstGeom>
          <a:noFill/>
        </p:spPr>
        <p:txBody>
          <a:bodyPr wrap="none" rtlCol="0">
            <a:spAutoFit/>
          </a:bodyPr>
          <a:lstStyle/>
          <a:p>
            <a:pPr algn="ctr"/>
            <a:r>
              <a:rPr lang="en-US" b="1" noProof="0" dirty="0"/>
              <a:t>Controlling z</a:t>
            </a:r>
          </a:p>
        </p:txBody>
      </p:sp>
      <p:grpSp>
        <p:nvGrpSpPr>
          <p:cNvPr id="36" name="Group 35">
            <a:extLst>
              <a:ext uri="{FF2B5EF4-FFF2-40B4-BE49-F238E27FC236}">
                <a16:creationId xmlns:a16="http://schemas.microsoft.com/office/drawing/2014/main" id="{DAF4B801-AD07-4682-C7BA-33EBBB453611}"/>
              </a:ext>
            </a:extLst>
          </p:cNvPr>
          <p:cNvGrpSpPr/>
          <p:nvPr/>
        </p:nvGrpSpPr>
        <p:grpSpPr>
          <a:xfrm>
            <a:off x="4739163" y="3424708"/>
            <a:ext cx="720000" cy="720000"/>
            <a:chOff x="5604304" y="3426506"/>
            <a:chExt cx="720000" cy="720000"/>
          </a:xfrm>
        </p:grpSpPr>
        <p:sp>
          <p:nvSpPr>
            <p:cNvPr id="37" name="Oval 36">
              <a:extLst>
                <a:ext uri="{FF2B5EF4-FFF2-40B4-BE49-F238E27FC236}">
                  <a16:creationId xmlns:a16="http://schemas.microsoft.com/office/drawing/2014/main" id="{4F1607F8-422C-22E4-922B-B0A380C13131}"/>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Chevron arrows with solid fill">
              <a:extLst>
                <a:ext uri="{FF2B5EF4-FFF2-40B4-BE49-F238E27FC236}">
                  <a16:creationId xmlns:a16="http://schemas.microsoft.com/office/drawing/2014/main" id="{D48D4820-F7E6-36B3-5A24-250B45E95E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grpSp>
        <p:nvGrpSpPr>
          <p:cNvPr id="39" name="Group 38">
            <a:extLst>
              <a:ext uri="{FF2B5EF4-FFF2-40B4-BE49-F238E27FC236}">
                <a16:creationId xmlns:a16="http://schemas.microsoft.com/office/drawing/2014/main" id="{0D86205B-BC4C-A808-3B25-E5075F2388F0}"/>
              </a:ext>
            </a:extLst>
          </p:cNvPr>
          <p:cNvGrpSpPr/>
          <p:nvPr/>
        </p:nvGrpSpPr>
        <p:grpSpPr>
          <a:xfrm>
            <a:off x="4739163" y="4483893"/>
            <a:ext cx="720000" cy="720000"/>
            <a:chOff x="5604304" y="3426506"/>
            <a:chExt cx="720000" cy="720000"/>
          </a:xfrm>
        </p:grpSpPr>
        <p:sp>
          <p:nvSpPr>
            <p:cNvPr id="40" name="Oval 39">
              <a:extLst>
                <a:ext uri="{FF2B5EF4-FFF2-40B4-BE49-F238E27FC236}">
                  <a16:creationId xmlns:a16="http://schemas.microsoft.com/office/drawing/2014/main" id="{2DD835DD-8023-2EE8-38EC-47634FBBEC9B}"/>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Chevron arrows with solid fill">
              <a:extLst>
                <a:ext uri="{FF2B5EF4-FFF2-40B4-BE49-F238E27FC236}">
                  <a16:creationId xmlns:a16="http://schemas.microsoft.com/office/drawing/2014/main" id="{B8B819D7-77E1-46BA-F441-60968DB5A4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grpSp>
        <p:nvGrpSpPr>
          <p:cNvPr id="42" name="Group 41">
            <a:extLst>
              <a:ext uri="{FF2B5EF4-FFF2-40B4-BE49-F238E27FC236}">
                <a16:creationId xmlns:a16="http://schemas.microsoft.com/office/drawing/2014/main" id="{D3609DA1-2243-BA05-956B-ACF8CD64F697}"/>
              </a:ext>
            </a:extLst>
          </p:cNvPr>
          <p:cNvGrpSpPr/>
          <p:nvPr/>
        </p:nvGrpSpPr>
        <p:grpSpPr>
          <a:xfrm>
            <a:off x="4739163" y="5548495"/>
            <a:ext cx="720000" cy="720000"/>
            <a:chOff x="5604304" y="3426506"/>
            <a:chExt cx="720000" cy="720000"/>
          </a:xfrm>
        </p:grpSpPr>
        <p:sp>
          <p:nvSpPr>
            <p:cNvPr id="43" name="Oval 42">
              <a:extLst>
                <a:ext uri="{FF2B5EF4-FFF2-40B4-BE49-F238E27FC236}">
                  <a16:creationId xmlns:a16="http://schemas.microsoft.com/office/drawing/2014/main" id="{5EF3478B-D1AD-9D3C-2C25-47B22AFE5216}"/>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No sign with solid fill">
              <a:extLst>
                <a:ext uri="{FF2B5EF4-FFF2-40B4-BE49-F238E27FC236}">
                  <a16:creationId xmlns:a16="http://schemas.microsoft.com/office/drawing/2014/main" id="{40D49ECC-C26B-AAE1-35CA-D3CC773826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61776" y="3489838"/>
              <a:ext cx="612000" cy="612000"/>
            </a:xfrm>
            <a:prstGeom prst="rect">
              <a:avLst/>
            </a:prstGeom>
          </p:spPr>
        </p:pic>
      </p:grpSp>
      <p:grpSp>
        <p:nvGrpSpPr>
          <p:cNvPr id="45" name="Group 44">
            <a:extLst>
              <a:ext uri="{FF2B5EF4-FFF2-40B4-BE49-F238E27FC236}">
                <a16:creationId xmlns:a16="http://schemas.microsoft.com/office/drawing/2014/main" id="{062147FE-1C1F-15E5-3F50-1CCEB16C617D}"/>
              </a:ext>
            </a:extLst>
          </p:cNvPr>
          <p:cNvGrpSpPr/>
          <p:nvPr/>
        </p:nvGrpSpPr>
        <p:grpSpPr>
          <a:xfrm>
            <a:off x="6638910" y="3416544"/>
            <a:ext cx="720000" cy="720000"/>
            <a:chOff x="5604304" y="3426506"/>
            <a:chExt cx="720000" cy="720000"/>
          </a:xfrm>
        </p:grpSpPr>
        <p:sp>
          <p:nvSpPr>
            <p:cNvPr id="46" name="Oval 45">
              <a:extLst>
                <a:ext uri="{FF2B5EF4-FFF2-40B4-BE49-F238E27FC236}">
                  <a16:creationId xmlns:a16="http://schemas.microsoft.com/office/drawing/2014/main" id="{1E6C3C14-66AB-EF33-D17B-2B4E8B90DD38}"/>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7" name="Graphic 46" descr="No sign with solid fill">
              <a:extLst>
                <a:ext uri="{FF2B5EF4-FFF2-40B4-BE49-F238E27FC236}">
                  <a16:creationId xmlns:a16="http://schemas.microsoft.com/office/drawing/2014/main" id="{E7C9A13F-94D2-7CB0-9B27-332B3EBA393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61776" y="3489838"/>
              <a:ext cx="612000" cy="612000"/>
            </a:xfrm>
            <a:prstGeom prst="rect">
              <a:avLst/>
            </a:prstGeom>
          </p:spPr>
        </p:pic>
      </p:grpSp>
      <p:grpSp>
        <p:nvGrpSpPr>
          <p:cNvPr id="48" name="Group 47">
            <a:extLst>
              <a:ext uri="{FF2B5EF4-FFF2-40B4-BE49-F238E27FC236}">
                <a16:creationId xmlns:a16="http://schemas.microsoft.com/office/drawing/2014/main" id="{88525EAB-26DB-A836-F1B7-A65653A2A89D}"/>
              </a:ext>
            </a:extLst>
          </p:cNvPr>
          <p:cNvGrpSpPr/>
          <p:nvPr/>
        </p:nvGrpSpPr>
        <p:grpSpPr>
          <a:xfrm>
            <a:off x="6638910" y="4475729"/>
            <a:ext cx="720000" cy="720000"/>
            <a:chOff x="5604304" y="3426506"/>
            <a:chExt cx="720000" cy="720000"/>
          </a:xfrm>
        </p:grpSpPr>
        <p:sp>
          <p:nvSpPr>
            <p:cNvPr id="49" name="Oval 48">
              <a:extLst>
                <a:ext uri="{FF2B5EF4-FFF2-40B4-BE49-F238E27FC236}">
                  <a16:creationId xmlns:a16="http://schemas.microsoft.com/office/drawing/2014/main" id="{B829F0AA-3627-9316-4BFF-DD5A8D935E26}"/>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0" name="Graphic 49" descr="No sign with solid fill">
              <a:extLst>
                <a:ext uri="{FF2B5EF4-FFF2-40B4-BE49-F238E27FC236}">
                  <a16:creationId xmlns:a16="http://schemas.microsoft.com/office/drawing/2014/main" id="{604450CB-D9F1-BED9-25E9-EA440DDCDF3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61776" y="3489838"/>
              <a:ext cx="612000" cy="612000"/>
            </a:xfrm>
            <a:prstGeom prst="rect">
              <a:avLst/>
            </a:prstGeom>
          </p:spPr>
        </p:pic>
      </p:grpSp>
      <p:grpSp>
        <p:nvGrpSpPr>
          <p:cNvPr id="51" name="Group 50">
            <a:extLst>
              <a:ext uri="{FF2B5EF4-FFF2-40B4-BE49-F238E27FC236}">
                <a16:creationId xmlns:a16="http://schemas.microsoft.com/office/drawing/2014/main" id="{112FF957-309B-9308-EE53-C05C026184BF}"/>
              </a:ext>
            </a:extLst>
          </p:cNvPr>
          <p:cNvGrpSpPr/>
          <p:nvPr/>
        </p:nvGrpSpPr>
        <p:grpSpPr>
          <a:xfrm>
            <a:off x="6638910" y="5540331"/>
            <a:ext cx="720000" cy="720000"/>
            <a:chOff x="5604304" y="3426506"/>
            <a:chExt cx="720000" cy="720000"/>
          </a:xfrm>
        </p:grpSpPr>
        <p:sp>
          <p:nvSpPr>
            <p:cNvPr id="52" name="Oval 51">
              <a:extLst>
                <a:ext uri="{FF2B5EF4-FFF2-40B4-BE49-F238E27FC236}">
                  <a16:creationId xmlns:a16="http://schemas.microsoft.com/office/drawing/2014/main" id="{EA289122-D661-CDFE-C9B5-405BA1A4FC4E}"/>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3" name="Graphic 52" descr="Chevron arrows with solid fill">
              <a:extLst>
                <a:ext uri="{FF2B5EF4-FFF2-40B4-BE49-F238E27FC236}">
                  <a16:creationId xmlns:a16="http://schemas.microsoft.com/office/drawing/2014/main" id="{186FE68B-F044-DDF7-5DDC-4F2D925B0C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grpSp>
        <p:nvGrpSpPr>
          <p:cNvPr id="57" name="Group 56">
            <a:extLst>
              <a:ext uri="{FF2B5EF4-FFF2-40B4-BE49-F238E27FC236}">
                <a16:creationId xmlns:a16="http://schemas.microsoft.com/office/drawing/2014/main" id="{4F41440B-F756-661A-49CF-535BCABB4F78}"/>
              </a:ext>
            </a:extLst>
          </p:cNvPr>
          <p:cNvGrpSpPr/>
          <p:nvPr/>
        </p:nvGrpSpPr>
        <p:grpSpPr>
          <a:xfrm>
            <a:off x="8610600" y="5301125"/>
            <a:ext cx="360000" cy="360000"/>
            <a:chOff x="5604304" y="3426506"/>
            <a:chExt cx="720000" cy="720000"/>
          </a:xfrm>
        </p:grpSpPr>
        <p:sp>
          <p:nvSpPr>
            <p:cNvPr id="58" name="Oval 57">
              <a:extLst>
                <a:ext uri="{FF2B5EF4-FFF2-40B4-BE49-F238E27FC236}">
                  <a16:creationId xmlns:a16="http://schemas.microsoft.com/office/drawing/2014/main" id="{FBF0585F-F17A-677D-6A53-B7CE5772F633}"/>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Chevron arrows with solid fill">
              <a:extLst>
                <a:ext uri="{FF2B5EF4-FFF2-40B4-BE49-F238E27FC236}">
                  <a16:creationId xmlns:a16="http://schemas.microsoft.com/office/drawing/2014/main" id="{543D3AC4-44DE-75C7-D66C-5D403663EC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grpSp>
        <p:nvGrpSpPr>
          <p:cNvPr id="60" name="Group 59">
            <a:extLst>
              <a:ext uri="{FF2B5EF4-FFF2-40B4-BE49-F238E27FC236}">
                <a16:creationId xmlns:a16="http://schemas.microsoft.com/office/drawing/2014/main" id="{05A7504B-F8EE-E951-4638-B04D074E1BFF}"/>
              </a:ext>
            </a:extLst>
          </p:cNvPr>
          <p:cNvGrpSpPr/>
          <p:nvPr/>
        </p:nvGrpSpPr>
        <p:grpSpPr>
          <a:xfrm>
            <a:off x="8610600" y="5753909"/>
            <a:ext cx="360000" cy="360000"/>
            <a:chOff x="5604304" y="3426506"/>
            <a:chExt cx="720000" cy="720000"/>
          </a:xfrm>
        </p:grpSpPr>
        <p:sp>
          <p:nvSpPr>
            <p:cNvPr id="61" name="Oval 60">
              <a:extLst>
                <a:ext uri="{FF2B5EF4-FFF2-40B4-BE49-F238E27FC236}">
                  <a16:creationId xmlns:a16="http://schemas.microsoft.com/office/drawing/2014/main" id="{AA03F63D-6313-0C25-7F53-A0C15696A547}"/>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2" name="Graphic 61" descr="No sign with solid fill">
              <a:extLst>
                <a:ext uri="{FF2B5EF4-FFF2-40B4-BE49-F238E27FC236}">
                  <a16:creationId xmlns:a16="http://schemas.microsoft.com/office/drawing/2014/main" id="{BF6F2B07-189B-4EB1-C233-C2F5C77EE27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61776" y="3489838"/>
              <a:ext cx="612000" cy="612000"/>
            </a:xfrm>
            <a:prstGeom prst="rect">
              <a:avLst/>
            </a:prstGeom>
          </p:spPr>
        </p:pic>
      </p:grpSp>
      <p:sp>
        <p:nvSpPr>
          <p:cNvPr id="63" name="TextBox 62">
            <a:extLst>
              <a:ext uri="{FF2B5EF4-FFF2-40B4-BE49-F238E27FC236}">
                <a16:creationId xmlns:a16="http://schemas.microsoft.com/office/drawing/2014/main" id="{21B1B150-BF6B-6067-8F71-2EC9561ADD2B}"/>
              </a:ext>
            </a:extLst>
          </p:cNvPr>
          <p:cNvSpPr txBox="1"/>
          <p:nvPr/>
        </p:nvSpPr>
        <p:spPr>
          <a:xfrm>
            <a:off x="8970600" y="5323675"/>
            <a:ext cx="2680286" cy="338554"/>
          </a:xfrm>
          <a:prstGeom prst="rect">
            <a:avLst/>
          </a:prstGeom>
          <a:noFill/>
        </p:spPr>
        <p:txBody>
          <a:bodyPr wrap="none" rtlCol="0">
            <a:spAutoFit/>
          </a:bodyPr>
          <a:lstStyle/>
          <a:p>
            <a:r>
              <a:rPr lang="en-US" sz="1600" noProof="0" dirty="0"/>
              <a:t>Information flows from x to y</a:t>
            </a:r>
          </a:p>
        </p:txBody>
      </p:sp>
      <p:sp>
        <p:nvSpPr>
          <p:cNvPr id="64" name="TextBox 63">
            <a:extLst>
              <a:ext uri="{FF2B5EF4-FFF2-40B4-BE49-F238E27FC236}">
                <a16:creationId xmlns:a16="http://schemas.microsoft.com/office/drawing/2014/main" id="{D34FBAF2-3980-CFF9-1A05-71CC3A28478B}"/>
              </a:ext>
            </a:extLst>
          </p:cNvPr>
          <p:cNvSpPr txBox="1"/>
          <p:nvPr/>
        </p:nvSpPr>
        <p:spPr>
          <a:xfrm>
            <a:off x="8970600" y="5639052"/>
            <a:ext cx="2448106" cy="584775"/>
          </a:xfrm>
          <a:prstGeom prst="rect">
            <a:avLst/>
          </a:prstGeom>
          <a:noFill/>
        </p:spPr>
        <p:txBody>
          <a:bodyPr wrap="none" rtlCol="0">
            <a:spAutoFit/>
          </a:bodyPr>
          <a:lstStyle/>
          <a:p>
            <a:r>
              <a:rPr lang="en-US" sz="1600" noProof="0" dirty="0"/>
              <a:t>Information does not flow</a:t>
            </a:r>
          </a:p>
          <a:p>
            <a:r>
              <a:rPr lang="en-US" sz="1600" noProof="0" dirty="0"/>
              <a:t> from x to y</a:t>
            </a:r>
          </a:p>
        </p:txBody>
      </p:sp>
      <p:grpSp>
        <p:nvGrpSpPr>
          <p:cNvPr id="82" name="Group 81">
            <a:extLst>
              <a:ext uri="{FF2B5EF4-FFF2-40B4-BE49-F238E27FC236}">
                <a16:creationId xmlns:a16="http://schemas.microsoft.com/office/drawing/2014/main" id="{765D1A82-A163-F899-293B-3B804E62E12B}"/>
              </a:ext>
            </a:extLst>
          </p:cNvPr>
          <p:cNvGrpSpPr/>
          <p:nvPr/>
        </p:nvGrpSpPr>
        <p:grpSpPr>
          <a:xfrm>
            <a:off x="1156195" y="5530822"/>
            <a:ext cx="1657770" cy="755345"/>
            <a:chOff x="1113271" y="5421792"/>
            <a:chExt cx="1657770" cy="755345"/>
          </a:xfrm>
        </p:grpSpPr>
        <p:sp>
          <p:nvSpPr>
            <p:cNvPr id="68" name="Oval 67">
              <a:extLst>
                <a:ext uri="{FF2B5EF4-FFF2-40B4-BE49-F238E27FC236}">
                  <a16:creationId xmlns:a16="http://schemas.microsoft.com/office/drawing/2014/main" id="{F6F29A36-28B5-D045-AA35-7FAF300A2763}"/>
                </a:ext>
              </a:extLst>
            </p:cNvPr>
            <p:cNvSpPr/>
            <p:nvPr/>
          </p:nvSpPr>
          <p:spPr>
            <a:xfrm>
              <a:off x="1113271" y="542557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69" name="Oval 68">
              <a:extLst>
                <a:ext uri="{FF2B5EF4-FFF2-40B4-BE49-F238E27FC236}">
                  <a16:creationId xmlns:a16="http://schemas.microsoft.com/office/drawing/2014/main" id="{4BE0450B-F1D7-2A69-45B7-2F5A1E8A0D43}"/>
                </a:ext>
              </a:extLst>
            </p:cNvPr>
            <p:cNvSpPr/>
            <p:nvPr/>
          </p:nvSpPr>
          <p:spPr>
            <a:xfrm>
              <a:off x="2411041" y="54217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70" name="Straight Arrow Connector 69">
              <a:extLst>
                <a:ext uri="{FF2B5EF4-FFF2-40B4-BE49-F238E27FC236}">
                  <a16:creationId xmlns:a16="http://schemas.microsoft.com/office/drawing/2014/main" id="{10AC58CA-A396-9ADC-B82E-0BD4A37CD728}"/>
                </a:ext>
              </a:extLst>
            </p:cNvPr>
            <p:cNvCxnSpPr>
              <a:cxnSpLocks/>
              <a:stCxn id="68" idx="6"/>
              <a:endCxn id="69" idx="2"/>
            </p:cNvCxnSpPr>
            <p:nvPr/>
          </p:nvCxnSpPr>
          <p:spPr>
            <a:xfrm flipV="1">
              <a:off x="1473271" y="5601792"/>
              <a:ext cx="937770" cy="37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1" name="Oval 70">
              <a:extLst>
                <a:ext uri="{FF2B5EF4-FFF2-40B4-BE49-F238E27FC236}">
                  <a16:creationId xmlns:a16="http://schemas.microsoft.com/office/drawing/2014/main" id="{D02BB1C6-8A2B-8353-297F-CA72868A0F6B}"/>
                </a:ext>
              </a:extLst>
            </p:cNvPr>
            <p:cNvSpPr/>
            <p:nvPr/>
          </p:nvSpPr>
          <p:spPr>
            <a:xfrm>
              <a:off x="1757229" y="581713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72" name="Straight Arrow Connector 71">
              <a:extLst>
                <a:ext uri="{FF2B5EF4-FFF2-40B4-BE49-F238E27FC236}">
                  <a16:creationId xmlns:a16="http://schemas.microsoft.com/office/drawing/2014/main" id="{CC5E9922-6788-D902-425E-BBD70441C404}"/>
                </a:ext>
              </a:extLst>
            </p:cNvPr>
            <p:cNvCxnSpPr>
              <a:cxnSpLocks/>
              <a:stCxn id="68" idx="5"/>
              <a:endCxn id="71" idx="2"/>
            </p:cNvCxnSpPr>
            <p:nvPr/>
          </p:nvCxnSpPr>
          <p:spPr>
            <a:xfrm>
              <a:off x="1420550" y="5732854"/>
              <a:ext cx="336679" cy="2642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036F1CEA-9A09-1EB7-2CED-A9B441662FEC}"/>
                </a:ext>
              </a:extLst>
            </p:cNvPr>
            <p:cNvCxnSpPr>
              <a:cxnSpLocks/>
              <a:stCxn id="69" idx="3"/>
              <a:endCxn id="71" idx="6"/>
            </p:cNvCxnSpPr>
            <p:nvPr/>
          </p:nvCxnSpPr>
          <p:spPr>
            <a:xfrm flipH="1">
              <a:off x="2117229" y="5729071"/>
              <a:ext cx="346533" cy="2680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83" name="Group 82">
            <a:extLst>
              <a:ext uri="{FF2B5EF4-FFF2-40B4-BE49-F238E27FC236}">
                <a16:creationId xmlns:a16="http://schemas.microsoft.com/office/drawing/2014/main" id="{F3B96268-B4B8-B87D-DA50-50A572F7CC3E}"/>
              </a:ext>
            </a:extLst>
          </p:cNvPr>
          <p:cNvGrpSpPr/>
          <p:nvPr/>
        </p:nvGrpSpPr>
        <p:grpSpPr>
          <a:xfrm>
            <a:off x="1156195" y="4486329"/>
            <a:ext cx="1657770" cy="755345"/>
            <a:chOff x="1113271" y="5421792"/>
            <a:chExt cx="1657770" cy="755345"/>
          </a:xfrm>
        </p:grpSpPr>
        <p:sp>
          <p:nvSpPr>
            <p:cNvPr id="84" name="Oval 83">
              <a:extLst>
                <a:ext uri="{FF2B5EF4-FFF2-40B4-BE49-F238E27FC236}">
                  <a16:creationId xmlns:a16="http://schemas.microsoft.com/office/drawing/2014/main" id="{24E8B856-AAF4-CDCF-936A-62F221B06AD3}"/>
                </a:ext>
              </a:extLst>
            </p:cNvPr>
            <p:cNvSpPr/>
            <p:nvPr/>
          </p:nvSpPr>
          <p:spPr>
            <a:xfrm>
              <a:off x="1113271" y="542557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5" name="Oval 84">
              <a:extLst>
                <a:ext uri="{FF2B5EF4-FFF2-40B4-BE49-F238E27FC236}">
                  <a16:creationId xmlns:a16="http://schemas.microsoft.com/office/drawing/2014/main" id="{A255CBAA-7687-1D91-A5F8-61974DE645C3}"/>
                </a:ext>
              </a:extLst>
            </p:cNvPr>
            <p:cNvSpPr/>
            <p:nvPr/>
          </p:nvSpPr>
          <p:spPr>
            <a:xfrm>
              <a:off x="2411041" y="54217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86" name="Straight Arrow Connector 85">
              <a:extLst>
                <a:ext uri="{FF2B5EF4-FFF2-40B4-BE49-F238E27FC236}">
                  <a16:creationId xmlns:a16="http://schemas.microsoft.com/office/drawing/2014/main" id="{F5430D97-D47E-17AF-AEE9-949DE8B9ABE5}"/>
                </a:ext>
              </a:extLst>
            </p:cNvPr>
            <p:cNvCxnSpPr>
              <a:cxnSpLocks/>
              <a:stCxn id="84" idx="6"/>
              <a:endCxn id="85" idx="2"/>
            </p:cNvCxnSpPr>
            <p:nvPr/>
          </p:nvCxnSpPr>
          <p:spPr>
            <a:xfrm flipV="1">
              <a:off x="1473271" y="5601792"/>
              <a:ext cx="937770" cy="37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7" name="Oval 86">
              <a:extLst>
                <a:ext uri="{FF2B5EF4-FFF2-40B4-BE49-F238E27FC236}">
                  <a16:creationId xmlns:a16="http://schemas.microsoft.com/office/drawing/2014/main" id="{86114FD1-D13E-9A47-7102-3EEA2C41D520}"/>
                </a:ext>
              </a:extLst>
            </p:cNvPr>
            <p:cNvSpPr/>
            <p:nvPr/>
          </p:nvSpPr>
          <p:spPr>
            <a:xfrm>
              <a:off x="1757229" y="581713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88" name="Straight Arrow Connector 87">
              <a:extLst>
                <a:ext uri="{FF2B5EF4-FFF2-40B4-BE49-F238E27FC236}">
                  <a16:creationId xmlns:a16="http://schemas.microsoft.com/office/drawing/2014/main" id="{204B7C72-B325-45F7-7569-9ED8F5776462}"/>
                </a:ext>
              </a:extLst>
            </p:cNvPr>
            <p:cNvCxnSpPr>
              <a:cxnSpLocks/>
              <a:stCxn id="84" idx="5"/>
              <a:endCxn id="87" idx="2"/>
            </p:cNvCxnSpPr>
            <p:nvPr/>
          </p:nvCxnSpPr>
          <p:spPr>
            <a:xfrm>
              <a:off x="1420550" y="5732854"/>
              <a:ext cx="336679" cy="2642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2227B418-9D70-1A23-6E76-711E28064ACD}"/>
                </a:ext>
              </a:extLst>
            </p:cNvPr>
            <p:cNvCxnSpPr>
              <a:cxnSpLocks/>
              <a:stCxn id="87" idx="6"/>
              <a:endCxn id="85" idx="3"/>
            </p:cNvCxnSpPr>
            <p:nvPr/>
          </p:nvCxnSpPr>
          <p:spPr>
            <a:xfrm flipV="1">
              <a:off x="2117229" y="5729071"/>
              <a:ext cx="346533" cy="2680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0" name="Group 89">
            <a:extLst>
              <a:ext uri="{FF2B5EF4-FFF2-40B4-BE49-F238E27FC236}">
                <a16:creationId xmlns:a16="http://schemas.microsoft.com/office/drawing/2014/main" id="{9B15B0A0-0B3F-EFD3-86AB-2F52AA9B0029}"/>
              </a:ext>
            </a:extLst>
          </p:cNvPr>
          <p:cNvGrpSpPr/>
          <p:nvPr/>
        </p:nvGrpSpPr>
        <p:grpSpPr>
          <a:xfrm>
            <a:off x="1156195" y="3441835"/>
            <a:ext cx="1657770" cy="755345"/>
            <a:chOff x="1113271" y="5421792"/>
            <a:chExt cx="1657770" cy="755345"/>
          </a:xfrm>
        </p:grpSpPr>
        <p:sp>
          <p:nvSpPr>
            <p:cNvPr id="91" name="Oval 90">
              <a:extLst>
                <a:ext uri="{FF2B5EF4-FFF2-40B4-BE49-F238E27FC236}">
                  <a16:creationId xmlns:a16="http://schemas.microsoft.com/office/drawing/2014/main" id="{259C2857-8ECD-09AC-6874-A9D910A9DCCF}"/>
                </a:ext>
              </a:extLst>
            </p:cNvPr>
            <p:cNvSpPr/>
            <p:nvPr/>
          </p:nvSpPr>
          <p:spPr>
            <a:xfrm>
              <a:off x="1113271" y="542557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2" name="Oval 91">
              <a:extLst>
                <a:ext uri="{FF2B5EF4-FFF2-40B4-BE49-F238E27FC236}">
                  <a16:creationId xmlns:a16="http://schemas.microsoft.com/office/drawing/2014/main" id="{72350B48-E555-ACD2-C7B2-E75E3CB6E9C1}"/>
                </a:ext>
              </a:extLst>
            </p:cNvPr>
            <p:cNvSpPr/>
            <p:nvPr/>
          </p:nvSpPr>
          <p:spPr>
            <a:xfrm>
              <a:off x="2411041" y="542179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3" name="Straight Arrow Connector 92">
              <a:extLst>
                <a:ext uri="{FF2B5EF4-FFF2-40B4-BE49-F238E27FC236}">
                  <a16:creationId xmlns:a16="http://schemas.microsoft.com/office/drawing/2014/main" id="{81CE6F03-546A-B946-D99F-4914DF733B18}"/>
                </a:ext>
              </a:extLst>
            </p:cNvPr>
            <p:cNvCxnSpPr>
              <a:cxnSpLocks/>
              <a:stCxn id="91" idx="6"/>
              <a:endCxn id="92" idx="2"/>
            </p:cNvCxnSpPr>
            <p:nvPr/>
          </p:nvCxnSpPr>
          <p:spPr>
            <a:xfrm flipV="1">
              <a:off x="1473271" y="5601792"/>
              <a:ext cx="937770" cy="37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4" name="Oval 93">
              <a:extLst>
                <a:ext uri="{FF2B5EF4-FFF2-40B4-BE49-F238E27FC236}">
                  <a16:creationId xmlns:a16="http://schemas.microsoft.com/office/drawing/2014/main" id="{AACCB2A1-BF29-5DB5-4BB8-EC0C3D2DE2C5}"/>
                </a:ext>
              </a:extLst>
            </p:cNvPr>
            <p:cNvSpPr/>
            <p:nvPr/>
          </p:nvSpPr>
          <p:spPr>
            <a:xfrm>
              <a:off x="1757229" y="581713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lumMod val="65000"/>
                      <a:lumOff val="35000"/>
                    </a:schemeClr>
                  </a:solidFill>
                </a:rPr>
                <a:t>z</a:t>
              </a:r>
              <a:endParaRPr lang="en-US" noProof="0" dirty="0">
                <a:solidFill>
                  <a:schemeClr val="tx1">
                    <a:lumMod val="65000"/>
                    <a:lumOff val="35000"/>
                  </a:schemeClr>
                </a:solidFill>
              </a:endParaRPr>
            </a:p>
          </p:txBody>
        </p:sp>
        <p:cxnSp>
          <p:nvCxnSpPr>
            <p:cNvPr id="95" name="Straight Arrow Connector 94">
              <a:extLst>
                <a:ext uri="{FF2B5EF4-FFF2-40B4-BE49-F238E27FC236}">
                  <a16:creationId xmlns:a16="http://schemas.microsoft.com/office/drawing/2014/main" id="{01D62D4B-CF2D-5822-656B-C57571459F68}"/>
                </a:ext>
              </a:extLst>
            </p:cNvPr>
            <p:cNvCxnSpPr>
              <a:cxnSpLocks/>
              <a:stCxn id="94" idx="2"/>
              <a:endCxn id="91" idx="5"/>
            </p:cNvCxnSpPr>
            <p:nvPr/>
          </p:nvCxnSpPr>
          <p:spPr>
            <a:xfrm flipH="1" flipV="1">
              <a:off x="1420550" y="5732854"/>
              <a:ext cx="336679" cy="2642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6" name="Straight Arrow Connector 95">
              <a:extLst>
                <a:ext uri="{FF2B5EF4-FFF2-40B4-BE49-F238E27FC236}">
                  <a16:creationId xmlns:a16="http://schemas.microsoft.com/office/drawing/2014/main" id="{18EFECB0-D053-BE32-0393-2B4917E6336A}"/>
                </a:ext>
              </a:extLst>
            </p:cNvPr>
            <p:cNvCxnSpPr>
              <a:cxnSpLocks/>
              <a:stCxn id="94" idx="6"/>
              <a:endCxn id="92" idx="3"/>
            </p:cNvCxnSpPr>
            <p:nvPr/>
          </p:nvCxnSpPr>
          <p:spPr>
            <a:xfrm flipV="1">
              <a:off x="2117229" y="5729071"/>
              <a:ext cx="346533" cy="2680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346112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63" grpId="0"/>
      <p:bldP spid="6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D05F20B-A23A-E6FA-AA37-DFC6933C35CE}"/>
              </a:ext>
            </a:extLst>
          </p:cNvPr>
          <p:cNvSpPr>
            <a:spLocks noGrp="1"/>
          </p:cNvSpPr>
          <p:nvPr>
            <p:ph type="title"/>
          </p:nvPr>
        </p:nvSpPr>
        <p:spPr/>
        <p:txBody>
          <a:bodyPr/>
          <a:lstStyle/>
          <a:p>
            <a:r>
              <a:rPr lang="en-SE" dirty="0"/>
              <a:t>Identification</a:t>
            </a:r>
          </a:p>
        </p:txBody>
      </p:sp>
      <p:sp>
        <p:nvSpPr>
          <p:cNvPr id="7" name="Text Placeholder 6">
            <a:extLst>
              <a:ext uri="{FF2B5EF4-FFF2-40B4-BE49-F238E27FC236}">
                <a16:creationId xmlns:a16="http://schemas.microsoft.com/office/drawing/2014/main" id="{7C606A60-3A19-8DC0-6904-13EB5A2138EA}"/>
              </a:ext>
            </a:extLst>
          </p:cNvPr>
          <p:cNvSpPr>
            <a:spLocks noGrp="1"/>
          </p:cNvSpPr>
          <p:nvPr>
            <p:ph type="body" idx="1"/>
          </p:nvPr>
        </p:nvSpPr>
        <p:spPr/>
        <p:txBody>
          <a:bodyPr/>
          <a:lstStyle/>
          <a:p>
            <a:r>
              <a:rPr lang="en-SE" dirty="0"/>
              <a:t>Causal Inference Based on Causal </a:t>
            </a:r>
            <a:r>
              <a:rPr lang="en-SE" dirty="0" err="1"/>
              <a:t>DAGs</a:t>
            </a:r>
            <a:endParaRPr lang="en-SE" dirty="0"/>
          </a:p>
        </p:txBody>
      </p:sp>
      <p:sp>
        <p:nvSpPr>
          <p:cNvPr id="4" name="Date Placeholder 3">
            <a:extLst>
              <a:ext uri="{FF2B5EF4-FFF2-40B4-BE49-F238E27FC236}">
                <a16:creationId xmlns:a16="http://schemas.microsoft.com/office/drawing/2014/main" id="{5E8D0E40-0B6C-F657-C159-E3437E22E99F}"/>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EF121F18-9EE3-65F2-EA01-30A7A4C3E214}"/>
              </a:ext>
            </a:extLst>
          </p:cNvPr>
          <p:cNvSpPr>
            <a:spLocks noGrp="1"/>
          </p:cNvSpPr>
          <p:nvPr>
            <p:ph type="sldNum" sz="quarter" idx="12"/>
          </p:nvPr>
        </p:nvSpPr>
        <p:spPr/>
        <p:txBody>
          <a:bodyPr/>
          <a:lstStyle/>
          <a:p>
            <a:fld id="{271ECC92-9CDE-4EB3-B1C5-F46B9E1FA3C1}" type="slidenum">
              <a:rPr lang="en-SE" smtClean="0"/>
              <a:t>26</a:t>
            </a:fld>
            <a:endParaRPr lang="en-SE"/>
          </a:p>
        </p:txBody>
      </p:sp>
    </p:spTree>
    <p:extLst>
      <p:ext uri="{BB962C8B-B14F-4D97-AF65-F5344CB8AC3E}">
        <p14:creationId xmlns:p14="http://schemas.microsoft.com/office/powerpoint/2010/main" val="1925867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CDE7-1223-9778-1325-9BD7ECAA9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AE039-0BAF-21F4-43C6-11E7267ED940}"/>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CD9677A1-CAF1-C80D-A9C8-5DEB632CF4D1}"/>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7CA4F1FC-8DF7-9A95-7AF1-A702A44682F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F6EDA96-D8DE-F120-25A8-D7DF9F7DA2E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7F91CF4-3AFF-E562-FDA5-EE850B868700}"/>
              </a:ext>
            </a:extLst>
          </p:cNvPr>
          <p:cNvSpPr>
            <a:spLocks noGrp="1"/>
          </p:cNvSpPr>
          <p:nvPr>
            <p:ph type="sldNum" sz="quarter" idx="12"/>
          </p:nvPr>
        </p:nvSpPr>
        <p:spPr/>
        <p:txBody>
          <a:bodyPr/>
          <a:lstStyle/>
          <a:p>
            <a:fld id="{0FA2D919-C0DE-4971-A2E9-D4AC0031921B}" type="slidenum">
              <a:rPr lang="en-US" noProof="0" smtClean="0"/>
              <a:t>27</a:t>
            </a:fld>
            <a:endParaRPr lang="en-US" noProof="0" dirty="0"/>
          </a:p>
        </p:txBody>
      </p:sp>
      <p:sp>
        <p:nvSpPr>
          <p:cNvPr id="8" name="TextBox 7">
            <a:extLst>
              <a:ext uri="{FF2B5EF4-FFF2-40B4-BE49-F238E27FC236}">
                <a16:creationId xmlns:a16="http://schemas.microsoft.com/office/drawing/2014/main" id="{45DFD197-A361-BDA0-0AE1-EBB49FA91E6F}"/>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Tree>
    <p:extLst>
      <p:ext uri="{BB962C8B-B14F-4D97-AF65-F5344CB8AC3E}">
        <p14:creationId xmlns:p14="http://schemas.microsoft.com/office/powerpoint/2010/main" val="1615070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A66E-ACFF-1268-CDA5-18AC5C848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56EFA-FB6F-EA4D-7A66-1AAE04EC7E89}"/>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8DA10461-5544-791C-36EA-5F7830BB5441}"/>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644DF340-E5BB-4C8A-26F3-A75AA749227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00754B9-6194-75F6-FD55-44F99A285D5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58287CD-A3D9-D6F2-2DAD-937B67C91E0B}"/>
              </a:ext>
            </a:extLst>
          </p:cNvPr>
          <p:cNvSpPr>
            <a:spLocks noGrp="1"/>
          </p:cNvSpPr>
          <p:nvPr>
            <p:ph type="sldNum" sz="quarter" idx="12"/>
          </p:nvPr>
        </p:nvSpPr>
        <p:spPr/>
        <p:txBody>
          <a:bodyPr/>
          <a:lstStyle/>
          <a:p>
            <a:fld id="{0FA2D919-C0DE-4971-A2E9-D4AC0031921B}" type="slidenum">
              <a:rPr lang="en-US" noProof="0" smtClean="0"/>
              <a:t>28</a:t>
            </a:fld>
            <a:endParaRPr lang="en-US" noProof="0" dirty="0"/>
          </a:p>
        </p:txBody>
      </p:sp>
      <p:sp>
        <p:nvSpPr>
          <p:cNvPr id="8" name="TextBox 7">
            <a:extLst>
              <a:ext uri="{FF2B5EF4-FFF2-40B4-BE49-F238E27FC236}">
                <a16:creationId xmlns:a16="http://schemas.microsoft.com/office/drawing/2014/main" id="{85E5C05E-890A-85C3-746A-68D3691EFC1C}"/>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
        <p:nvSpPr>
          <p:cNvPr id="11" name="Oval 10">
            <a:extLst>
              <a:ext uri="{FF2B5EF4-FFF2-40B4-BE49-F238E27FC236}">
                <a16:creationId xmlns:a16="http://schemas.microsoft.com/office/drawing/2014/main" id="{AAEE7681-F563-0162-5D6E-13B8797B989B}"/>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CD9BB880-B857-43FD-5C44-050598F8ECD2}"/>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31628A8E-B656-3DBE-64A7-287580785766}"/>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635496F8-682B-93C7-04C7-FE12C0D55C7C}"/>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22C317EE-C832-0C92-F95E-28C6AEDAD01A}"/>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C7EB212-8EA8-1217-9094-BE082E0788FB}"/>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C5BD7D2C-3CFF-CEB3-2074-3DD65931219E}"/>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09839CD6-8FB8-88C1-12A4-FD4B8E7691A4}"/>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FFC0513E-92A3-E8C3-7CDE-670E13813BE4}"/>
              </a:ext>
            </a:extLst>
          </p:cNvPr>
          <p:cNvCxnSpPr>
            <a:cxnSpLocks/>
            <a:stCxn id="23" idx="4"/>
            <a:endCxn id="11" idx="0"/>
          </p:cNvCxnSpPr>
          <p:nvPr/>
        </p:nvCxnSpPr>
        <p:spPr>
          <a:xfrm flipH="1">
            <a:off x="1508964" y="3916278"/>
            <a:ext cx="1294" cy="47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B6C3CF87-8090-3130-EC04-45E9A05B29CA}"/>
              </a:ext>
            </a:extLst>
          </p:cNvPr>
          <p:cNvCxnSpPr>
            <a:cxnSpLocks/>
            <a:stCxn id="23" idx="6"/>
            <a:endCxn id="24" idx="2"/>
          </p:cNvCxnSpPr>
          <p:nvPr/>
        </p:nvCxnSpPr>
        <p:spPr>
          <a:xfrm flipV="1">
            <a:off x="1690258" y="3731713"/>
            <a:ext cx="884396" cy="456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61D4BF4C-56D2-FFE6-53ED-F00543734C3D}"/>
              </a:ext>
            </a:extLst>
          </p:cNvPr>
          <p:cNvCxnSpPr>
            <a:cxnSpLocks/>
            <a:stCxn id="12" idx="1"/>
            <a:endCxn id="24" idx="5"/>
          </p:cNvCxnSpPr>
          <p:nvPr/>
        </p:nvCxnSpPr>
        <p:spPr>
          <a:xfrm flipH="1" flipV="1">
            <a:off x="2881933" y="3858992"/>
            <a:ext cx="991132" cy="588156"/>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6F2EB214-29DF-7F9B-D114-9A7C523FB416}"/>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071C02B5-4BAE-B196-4A9B-66025C81659C}"/>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890230D3-BCCE-D220-18FC-AD8204217065}"/>
              </a:ext>
            </a:extLst>
          </p:cNvPr>
          <p:cNvCxnSpPr>
            <a:cxnSpLocks/>
            <a:stCxn id="54" idx="0"/>
            <a:endCxn id="11" idx="4"/>
          </p:cNvCxnSpPr>
          <p:nvPr/>
        </p:nvCxnSpPr>
        <p:spPr>
          <a:xfrm flipV="1">
            <a:off x="1508964" y="4754427"/>
            <a:ext cx="0" cy="83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D724D3C6-1542-35A3-4F4E-57DA07CF6998}"/>
              </a:ext>
            </a:extLst>
          </p:cNvPr>
          <p:cNvCxnSpPr>
            <a:cxnSpLocks/>
            <a:stCxn id="54" idx="6"/>
            <a:endCxn id="55" idx="2"/>
          </p:cNvCxnSpPr>
          <p:nvPr/>
        </p:nvCxnSpPr>
        <p:spPr>
          <a:xfrm>
            <a:off x="1688964" y="5772576"/>
            <a:ext cx="2131380"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3207E108-9D92-DBC9-C7BD-85801EE87899}"/>
              </a:ext>
            </a:extLst>
          </p:cNvPr>
          <p:cNvCxnSpPr>
            <a:cxnSpLocks/>
            <a:stCxn id="55" idx="0"/>
            <a:endCxn id="12" idx="4"/>
          </p:cNvCxnSpPr>
          <p:nvPr/>
        </p:nvCxnSpPr>
        <p:spPr>
          <a:xfrm flipV="1">
            <a:off x="4000344" y="4754427"/>
            <a:ext cx="0" cy="83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nvGrpSpPr>
          <p:cNvPr id="69" name="Group 68">
            <a:extLst>
              <a:ext uri="{FF2B5EF4-FFF2-40B4-BE49-F238E27FC236}">
                <a16:creationId xmlns:a16="http://schemas.microsoft.com/office/drawing/2014/main" id="{860D6E7E-47A1-684A-1423-8DBB4A488B04}"/>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84C6A342-7F7C-4480-2DAB-71497AEC56DE}"/>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555999C7-8281-83DB-E452-6172B3AAE8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5F26C48-155A-FE75-0B25-B4866D71255B}"/>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15F26C48-155A-FE75-0B25-B4866D71255B}"/>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6"/>
                <a:stretch>
                  <a:fillRect l="-4724" r="-3937" b="-8889"/>
                </a:stretch>
              </a:blipFill>
            </p:spPr>
            <p:txBody>
              <a:bodyPr/>
              <a:lstStyle/>
              <a:p>
                <a:r>
                  <a:rPr lang="en-SE">
                    <a:noFill/>
                  </a:rPr>
                  <a:t> </a:t>
                </a:r>
              </a:p>
            </p:txBody>
          </p:sp>
        </mc:Fallback>
      </mc:AlternateContent>
    </p:spTree>
    <p:extLst>
      <p:ext uri="{BB962C8B-B14F-4D97-AF65-F5344CB8AC3E}">
        <p14:creationId xmlns:p14="http://schemas.microsoft.com/office/powerpoint/2010/main" val="1881324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1E925-04CC-8A66-E145-BCE170F41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F556D-FD7E-CA3B-8A8F-4886E9F1BD8E}"/>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A46E0AE1-3DEF-DAAD-55EE-685F8AE89158}"/>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8136881D-9E55-10D7-AD5A-63988AEFEE9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1CD6CB-4F6B-EEAE-F2FC-C009C03BD7F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E2FA418-7807-4889-72A9-2309957B34DD}"/>
              </a:ext>
            </a:extLst>
          </p:cNvPr>
          <p:cNvSpPr>
            <a:spLocks noGrp="1"/>
          </p:cNvSpPr>
          <p:nvPr>
            <p:ph type="sldNum" sz="quarter" idx="12"/>
          </p:nvPr>
        </p:nvSpPr>
        <p:spPr/>
        <p:txBody>
          <a:bodyPr/>
          <a:lstStyle/>
          <a:p>
            <a:fld id="{0FA2D919-C0DE-4971-A2E9-D4AC0031921B}" type="slidenum">
              <a:rPr lang="en-US" noProof="0" smtClean="0"/>
              <a:t>29</a:t>
            </a:fld>
            <a:endParaRPr lang="en-US" noProof="0" dirty="0"/>
          </a:p>
        </p:txBody>
      </p:sp>
      <p:sp>
        <p:nvSpPr>
          <p:cNvPr id="8" name="TextBox 7">
            <a:extLst>
              <a:ext uri="{FF2B5EF4-FFF2-40B4-BE49-F238E27FC236}">
                <a16:creationId xmlns:a16="http://schemas.microsoft.com/office/drawing/2014/main" id="{9CC66470-CB10-B468-9560-0A79A5D104DB}"/>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
        <p:nvSpPr>
          <p:cNvPr id="11" name="Oval 10">
            <a:extLst>
              <a:ext uri="{FF2B5EF4-FFF2-40B4-BE49-F238E27FC236}">
                <a16:creationId xmlns:a16="http://schemas.microsoft.com/office/drawing/2014/main" id="{2816B623-6EAB-F025-6800-4CA4730FD53A}"/>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47B1B23C-97B8-5894-1AA3-84BD08F73004}"/>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2AC58CF2-D667-4A36-8656-B274A06E73AA}"/>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C62E228D-6D24-3DE0-E119-986B7ECFA131}"/>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26C6988E-7659-A50D-24E1-891879658818}"/>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9C88A5D-8B24-C6BB-C12E-C99D6330AC98}"/>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14002446-6E48-6C52-6760-514530EEC84A}"/>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2D2626C0-C962-33DB-4992-6B21C56E084F}"/>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13A462E5-6973-C535-4007-0E46636A42A4}"/>
              </a:ext>
            </a:extLst>
          </p:cNvPr>
          <p:cNvCxnSpPr>
            <a:cxnSpLocks/>
            <a:stCxn id="23" idx="4"/>
            <a:endCxn id="11"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59CAD51-13D5-C7DD-0426-D634DD83342A}"/>
              </a:ext>
            </a:extLst>
          </p:cNvPr>
          <p:cNvCxnSpPr>
            <a:cxnSpLocks/>
            <a:stCxn id="23" idx="6"/>
            <a:endCxn id="24"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0CD89038-C556-5F4B-53A9-4E34BDBFE607}"/>
              </a:ext>
            </a:extLst>
          </p:cNvPr>
          <p:cNvCxnSpPr>
            <a:cxnSpLocks/>
            <a:stCxn id="12" idx="1"/>
            <a:endCxn id="24"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FC9D6E6E-1E4B-4419-ADAB-B8CBC675EAA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09B928AC-111F-9EB0-FCE9-A082C5A0FD39}"/>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513B3E57-C7C4-207D-6985-340CA69A2978}"/>
              </a:ext>
            </a:extLst>
          </p:cNvPr>
          <p:cNvCxnSpPr>
            <a:cxnSpLocks/>
            <a:stCxn id="54" idx="0"/>
            <a:endCxn id="11"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0D2DA356-22E1-0574-024E-DA05B5406EC0}"/>
              </a:ext>
            </a:extLst>
          </p:cNvPr>
          <p:cNvCxnSpPr>
            <a:cxnSpLocks/>
            <a:stCxn id="54" idx="6"/>
            <a:endCxn id="5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88D59CFE-4887-8CB6-B0A0-D097D882BEF2}"/>
              </a:ext>
            </a:extLst>
          </p:cNvPr>
          <p:cNvCxnSpPr>
            <a:cxnSpLocks/>
            <a:stCxn id="55" idx="0"/>
            <a:endCxn id="12"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F2B9F061-BFA7-E6CE-2949-D99D496428C8}"/>
              </a:ext>
            </a:extLst>
          </p:cNvPr>
          <p:cNvSpPr txBox="1"/>
          <p:nvPr/>
        </p:nvSpPr>
        <p:spPr>
          <a:xfrm>
            <a:off x="4564594" y="4232692"/>
            <a:ext cx="7254125" cy="369332"/>
          </a:xfrm>
          <a:prstGeom prst="rect">
            <a:avLst/>
          </a:prstGeom>
          <a:noFill/>
        </p:spPr>
        <p:txBody>
          <a:bodyPr wrap="square" rtlCol="0">
            <a:spAutoFit/>
          </a:bodyPr>
          <a:lstStyle/>
          <a:p>
            <a:pPr marL="342900" indent="-342900">
              <a:buFont typeface="+mj-lt"/>
              <a:buAutoNum type="arabicPeriod"/>
            </a:pPr>
            <a:r>
              <a:rPr lang="en-US" noProof="0" dirty="0"/>
              <a:t>Identify every </a:t>
            </a:r>
            <a:r>
              <a:rPr lang="en-US" b="1" noProof="0" dirty="0"/>
              <a:t>backdoor path</a:t>
            </a:r>
            <a:r>
              <a:rPr lang="en-US" i="1" noProof="0" dirty="0"/>
              <a:t>.</a:t>
            </a:r>
            <a:endParaRPr lang="en-US" noProof="0" dirty="0"/>
          </a:p>
        </p:txBody>
      </p:sp>
      <p:grpSp>
        <p:nvGrpSpPr>
          <p:cNvPr id="69" name="Group 68">
            <a:extLst>
              <a:ext uri="{FF2B5EF4-FFF2-40B4-BE49-F238E27FC236}">
                <a16:creationId xmlns:a16="http://schemas.microsoft.com/office/drawing/2014/main" id="{B8E8643C-3A89-2DE5-1B8E-ABFB0C4F9E7F}"/>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42252693-6B02-15AB-8A4A-E2580DF2C57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49271CE2-A685-A000-EB07-13F5C029A1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8930368-5507-D9A8-D65F-C0CC098D4B82}"/>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38930368-5507-D9A8-D65F-C0CC098D4B82}"/>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6"/>
                <a:stretch>
                  <a:fillRect l="-4724" r="-3937" b="-8889"/>
                </a:stretch>
              </a:blipFill>
            </p:spPr>
            <p:txBody>
              <a:bodyPr/>
              <a:lstStyle/>
              <a:p>
                <a:r>
                  <a:rPr lang="en-SE">
                    <a:noFill/>
                  </a:rPr>
                  <a:t> </a:t>
                </a:r>
              </a:p>
            </p:txBody>
          </p:sp>
        </mc:Fallback>
      </mc:AlternateContent>
    </p:spTree>
    <p:extLst>
      <p:ext uri="{BB962C8B-B14F-4D97-AF65-F5344CB8AC3E}">
        <p14:creationId xmlns:p14="http://schemas.microsoft.com/office/powerpoint/2010/main" val="337314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CB685-E138-A5B6-F802-EFAA34361A4C}"/>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EFB16A0E-D5B6-B943-CA50-9C3C086B7798}"/>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9254DF0C-883F-EF08-C47B-748D4F15265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3A587E4-C813-16A5-A723-B84D42C31CB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801C69C6-658E-795A-B968-D882D3E1456C}"/>
              </a:ext>
            </a:extLst>
          </p:cNvPr>
          <p:cNvSpPr>
            <a:spLocks noGrp="1"/>
          </p:cNvSpPr>
          <p:nvPr>
            <p:ph type="sldNum" sz="quarter" idx="12"/>
          </p:nvPr>
        </p:nvSpPr>
        <p:spPr/>
        <p:txBody>
          <a:bodyPr/>
          <a:lstStyle/>
          <a:p>
            <a:fld id="{0FA2D919-C0DE-4971-A2E9-D4AC0031921B}" type="slidenum">
              <a:rPr lang="en-US" noProof="0" smtClean="0"/>
              <a:t>30</a:t>
            </a:fld>
            <a:endParaRPr lang="en-US" noProof="0" dirty="0"/>
          </a:p>
        </p:txBody>
      </p:sp>
      <p:sp>
        <p:nvSpPr>
          <p:cNvPr id="8" name="TextBox 7">
            <a:extLst>
              <a:ext uri="{FF2B5EF4-FFF2-40B4-BE49-F238E27FC236}">
                <a16:creationId xmlns:a16="http://schemas.microsoft.com/office/drawing/2014/main" id="{26F53804-34C1-6FF8-E0DC-73F846EF02F4}"/>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68" name="TextBox 67">
            <a:extLst>
              <a:ext uri="{FF2B5EF4-FFF2-40B4-BE49-F238E27FC236}">
                <a16:creationId xmlns:a16="http://schemas.microsoft.com/office/drawing/2014/main" id="{6D5868F1-5011-6AA7-6FA7-3C2640A364B4}"/>
              </a:ext>
            </a:extLst>
          </p:cNvPr>
          <p:cNvSpPr txBox="1"/>
          <p:nvPr/>
        </p:nvSpPr>
        <p:spPr>
          <a:xfrm>
            <a:off x="4564594" y="4232692"/>
            <a:ext cx="7254125" cy="923330"/>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a:t>
            </a:r>
            <a:r>
              <a:rPr lang="en-US" b="1" noProof="0" dirty="0">
                <a:solidFill>
                  <a:schemeClr val="bg2">
                    <a:lumMod val="75000"/>
                  </a:schemeClr>
                </a:solidFill>
              </a:rPr>
              <a:t>collider</a:t>
            </a:r>
            <a:r>
              <a:rPr lang="en-US" noProof="0" dirty="0"/>
              <a:t> between the cause and effect of interest.</a:t>
            </a:r>
          </a:p>
          <a:p>
            <a:pPr marL="800100" lvl="1" indent="-342900">
              <a:buFont typeface="+mj-lt"/>
              <a:buAutoNum type="arabicPeriod"/>
            </a:pPr>
            <a:r>
              <a:rPr lang="en-US" noProof="0" dirty="0"/>
              <a:t>If yes, do not condition on any of the variables on this path.</a:t>
            </a:r>
          </a:p>
        </p:txBody>
      </p:sp>
      <p:grpSp>
        <p:nvGrpSpPr>
          <p:cNvPr id="69" name="Group 68">
            <a:extLst>
              <a:ext uri="{FF2B5EF4-FFF2-40B4-BE49-F238E27FC236}">
                <a16:creationId xmlns:a16="http://schemas.microsoft.com/office/drawing/2014/main" id="{892F82F6-5C06-7A19-A9AA-4081360BC9FB}"/>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706CAA29-7C42-41AF-8F7E-81D25A568C4A}"/>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766D0D84-C177-6635-D9B1-3CF076BD9D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FEAD5DDA-B7CF-C07B-F9C9-62056900083E}"/>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FEAD5DDA-B7CF-C07B-F9C9-62056900083E}"/>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5"/>
                <a:stretch>
                  <a:fillRect l="-4724" r="-3937" b="-8889"/>
                </a:stretch>
              </a:blipFill>
            </p:spPr>
            <p:txBody>
              <a:bodyPr/>
              <a:lstStyle/>
              <a:p>
                <a:r>
                  <a:rPr lang="en-SE">
                    <a:noFill/>
                  </a:rPr>
                  <a:t> </a:t>
                </a:r>
              </a:p>
            </p:txBody>
          </p:sp>
        </mc:Fallback>
      </mc:AlternateContent>
      <p:sp>
        <p:nvSpPr>
          <p:cNvPr id="73" name="Oval 72">
            <a:extLst>
              <a:ext uri="{FF2B5EF4-FFF2-40B4-BE49-F238E27FC236}">
                <a16:creationId xmlns:a16="http://schemas.microsoft.com/office/drawing/2014/main" id="{07B4066A-549A-1302-27A5-39E495A03B3B}"/>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74" name="Oval 73">
            <a:extLst>
              <a:ext uri="{FF2B5EF4-FFF2-40B4-BE49-F238E27FC236}">
                <a16:creationId xmlns:a16="http://schemas.microsoft.com/office/drawing/2014/main" id="{1C879866-19E7-8E5E-7D9D-FBB628FBE65D}"/>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75" name="Straight Arrow Connector 74">
            <a:extLst>
              <a:ext uri="{FF2B5EF4-FFF2-40B4-BE49-F238E27FC236}">
                <a16:creationId xmlns:a16="http://schemas.microsoft.com/office/drawing/2014/main" id="{172E67BB-96B3-95D8-857A-366C72D5E6BF}"/>
              </a:ext>
            </a:extLst>
          </p:cNvPr>
          <p:cNvCxnSpPr>
            <a:stCxn id="73" idx="6"/>
            <a:endCxn id="74"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Oval 75">
            <a:extLst>
              <a:ext uri="{FF2B5EF4-FFF2-40B4-BE49-F238E27FC236}">
                <a16:creationId xmlns:a16="http://schemas.microsoft.com/office/drawing/2014/main" id="{A590A7B2-66C6-2BBD-4049-C9DB161BDAD6}"/>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77" name="Straight Arrow Connector 76">
            <a:extLst>
              <a:ext uri="{FF2B5EF4-FFF2-40B4-BE49-F238E27FC236}">
                <a16:creationId xmlns:a16="http://schemas.microsoft.com/office/drawing/2014/main" id="{4ABBB32A-30A7-CAFE-DB19-B2D844659865}"/>
              </a:ext>
            </a:extLst>
          </p:cNvPr>
          <p:cNvCxnSpPr>
            <a:cxnSpLocks/>
            <a:stCxn id="76" idx="6"/>
            <a:endCxn id="74"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8783E7FF-2DAA-775B-B2C4-5C7F301DD2C7}"/>
              </a:ext>
            </a:extLst>
          </p:cNvPr>
          <p:cNvCxnSpPr>
            <a:cxnSpLocks/>
            <a:stCxn id="73" idx="5"/>
            <a:endCxn id="7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D7B07AFD-5AB2-1201-994F-73A92E4295AA}"/>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80" name="Oval 79">
            <a:extLst>
              <a:ext uri="{FF2B5EF4-FFF2-40B4-BE49-F238E27FC236}">
                <a16:creationId xmlns:a16="http://schemas.microsoft.com/office/drawing/2014/main" id="{C24C6894-E548-EAA4-CB55-E250321FD45E}"/>
              </a:ext>
            </a:extLst>
          </p:cNvPr>
          <p:cNvSpPr/>
          <p:nvPr/>
        </p:nvSpPr>
        <p:spPr>
          <a:xfrm>
            <a:off x="2574654" y="3551713"/>
            <a:ext cx="360000" cy="360000"/>
          </a:xfrm>
          <a:prstGeom prst="ellipse">
            <a:avLst/>
          </a:prstGeom>
          <a:solidFill>
            <a:srgbClr val="FFC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81" name="Straight Arrow Connector 80">
            <a:extLst>
              <a:ext uri="{FF2B5EF4-FFF2-40B4-BE49-F238E27FC236}">
                <a16:creationId xmlns:a16="http://schemas.microsoft.com/office/drawing/2014/main" id="{9A535583-DF23-435B-8BF2-38456ADC5A92}"/>
              </a:ext>
            </a:extLst>
          </p:cNvPr>
          <p:cNvCxnSpPr>
            <a:cxnSpLocks/>
            <a:stCxn id="79" idx="4"/>
            <a:endCxn id="73"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E8417A89-8C5D-51EE-8211-5502543D9FF2}"/>
              </a:ext>
            </a:extLst>
          </p:cNvPr>
          <p:cNvCxnSpPr>
            <a:cxnSpLocks/>
            <a:stCxn id="79" idx="6"/>
            <a:endCxn id="80"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6B350669-1929-669D-9CAC-5DF0C233CF42}"/>
              </a:ext>
            </a:extLst>
          </p:cNvPr>
          <p:cNvCxnSpPr>
            <a:cxnSpLocks/>
            <a:stCxn id="74" idx="1"/>
            <a:endCxn id="80"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8DC4373E-0BA6-1F4E-E746-A6F049D39974}"/>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85" name="Oval 84">
            <a:extLst>
              <a:ext uri="{FF2B5EF4-FFF2-40B4-BE49-F238E27FC236}">
                <a16:creationId xmlns:a16="http://schemas.microsoft.com/office/drawing/2014/main" id="{321D2E0F-C80E-E756-D12B-2F1AE15EA0EE}"/>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86" name="Straight Arrow Connector 85">
            <a:extLst>
              <a:ext uri="{FF2B5EF4-FFF2-40B4-BE49-F238E27FC236}">
                <a16:creationId xmlns:a16="http://schemas.microsoft.com/office/drawing/2014/main" id="{A11F05EC-A40D-4B42-A6E8-0D245E999CEC}"/>
              </a:ext>
            </a:extLst>
          </p:cNvPr>
          <p:cNvCxnSpPr>
            <a:cxnSpLocks/>
            <a:stCxn id="84" idx="0"/>
            <a:endCxn id="73"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5D9774B0-22B5-25EE-7651-E21CC584505D}"/>
              </a:ext>
            </a:extLst>
          </p:cNvPr>
          <p:cNvCxnSpPr>
            <a:cxnSpLocks/>
            <a:stCxn id="84" idx="6"/>
            <a:endCxn id="8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84C19F3C-D130-F153-CF01-EF46CF4FF1C0}"/>
              </a:ext>
            </a:extLst>
          </p:cNvPr>
          <p:cNvCxnSpPr>
            <a:cxnSpLocks/>
            <a:stCxn id="85" idx="0"/>
            <a:endCxn id="74"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06481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DD02-9E2D-3246-79E8-D4DA8BA0E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05777-79EE-E32E-C089-B9DAA594FCA1}"/>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AA2903D0-C641-4B89-868E-DB782D3E0762}"/>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5BB669A3-E574-F8F7-32DD-184599C6FAD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F5546B6-5DA8-3F64-FDC1-52B4B265244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D492D98-8172-2817-EA16-8C4449378EE4}"/>
              </a:ext>
            </a:extLst>
          </p:cNvPr>
          <p:cNvSpPr>
            <a:spLocks noGrp="1"/>
          </p:cNvSpPr>
          <p:nvPr>
            <p:ph type="sldNum" sz="quarter" idx="12"/>
          </p:nvPr>
        </p:nvSpPr>
        <p:spPr/>
        <p:txBody>
          <a:bodyPr/>
          <a:lstStyle/>
          <a:p>
            <a:fld id="{0FA2D919-C0DE-4971-A2E9-D4AC0031921B}" type="slidenum">
              <a:rPr lang="en-US" noProof="0" smtClean="0"/>
              <a:t>31</a:t>
            </a:fld>
            <a:endParaRPr lang="en-US" noProof="0" dirty="0"/>
          </a:p>
        </p:txBody>
      </p:sp>
      <p:sp>
        <p:nvSpPr>
          <p:cNvPr id="8" name="TextBox 7">
            <a:extLst>
              <a:ext uri="{FF2B5EF4-FFF2-40B4-BE49-F238E27FC236}">
                <a16:creationId xmlns:a16="http://schemas.microsoft.com/office/drawing/2014/main" id="{687BA49A-EDF0-9034-DFE7-3034AE3A355B}"/>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68" name="TextBox 67">
            <a:extLst>
              <a:ext uri="{FF2B5EF4-FFF2-40B4-BE49-F238E27FC236}">
                <a16:creationId xmlns:a16="http://schemas.microsoft.com/office/drawing/2014/main" id="{EA551C66-4DFD-EBD0-CF84-0493AD21CBCD}"/>
              </a:ext>
            </a:extLst>
          </p:cNvPr>
          <p:cNvSpPr txBox="1"/>
          <p:nvPr/>
        </p:nvSpPr>
        <p:spPr>
          <a:xfrm>
            <a:off x="4564594" y="4232692"/>
            <a:ext cx="7254125" cy="1477328"/>
          </a:xfrm>
          <a:prstGeom prst="rect">
            <a:avLst/>
          </a:prstGeom>
          <a:noFill/>
        </p:spPr>
        <p:txBody>
          <a:bodyPr wrap="square" rtlCol="0">
            <a:spAutoFit/>
          </a:bodyPr>
          <a:lstStyle/>
          <a:p>
            <a:pPr marL="342900" indent="-342900">
              <a:buFont typeface="+mj-lt"/>
              <a:buAutoNum type="arabicPeriod"/>
            </a:pPr>
            <a:r>
              <a:rPr lang="en-US" noProof="0" dirty="0"/>
              <a:t>Identify every backdoor</a:t>
            </a:r>
            <a:r>
              <a:rPr lang="en-US" i="1" noProof="0" dirty="0"/>
              <a:t> </a:t>
            </a:r>
            <a:r>
              <a:rPr lang="en-US" noProof="0" dirty="0"/>
              <a:t>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t>
            </a:r>
            <a:r>
              <a:rPr lang="en-US" b="1" noProof="0" dirty="0">
                <a:solidFill>
                  <a:schemeClr val="accent1">
                    <a:lumMod val="75000"/>
                  </a:schemeClr>
                </a:solidFill>
              </a:rPr>
              <a:t>any of the variables </a:t>
            </a:r>
            <a:r>
              <a:rPr lang="en-US" noProof="0" dirty="0"/>
              <a:t>on this path to “close” the backdoor path.</a:t>
            </a:r>
          </a:p>
        </p:txBody>
      </p:sp>
      <p:grpSp>
        <p:nvGrpSpPr>
          <p:cNvPr id="69" name="Group 68">
            <a:extLst>
              <a:ext uri="{FF2B5EF4-FFF2-40B4-BE49-F238E27FC236}">
                <a16:creationId xmlns:a16="http://schemas.microsoft.com/office/drawing/2014/main" id="{95238822-1B79-5A25-AAF9-693D26075F99}"/>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9B506046-EB78-768D-DADF-8E435D33909C}"/>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7155CCD0-EA21-30DF-C7E5-9165F25929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29F024D-78E5-275B-C59D-6C649B07EE31}"/>
                  </a:ext>
                </a:extLst>
              </p:cNvPr>
              <p:cNvSpPr txBox="1"/>
              <p:nvPr/>
            </p:nvSpPr>
            <p:spPr>
              <a:xfrm>
                <a:off x="7343347" y="3413213"/>
                <a:ext cx="11819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oMath>
                  </m:oMathPara>
                </a14:m>
                <a:endParaRPr lang="en-US" noProof="0" dirty="0"/>
              </a:p>
            </p:txBody>
          </p:sp>
        </mc:Choice>
        <mc:Fallback xmlns="">
          <p:sp>
            <p:nvSpPr>
              <p:cNvPr id="72" name="TextBox 71">
                <a:extLst>
                  <a:ext uri="{FF2B5EF4-FFF2-40B4-BE49-F238E27FC236}">
                    <a16:creationId xmlns:a16="http://schemas.microsoft.com/office/drawing/2014/main" id="{E29F024D-78E5-275B-C59D-6C649B07EE31}"/>
                  </a:ext>
                </a:extLst>
              </p:cNvPr>
              <p:cNvSpPr txBox="1">
                <a:spLocks noRot="1" noChangeAspect="1" noMove="1" noResize="1" noEditPoints="1" noAdjustHandles="1" noChangeArrowheads="1" noChangeShapeType="1" noTextEdit="1"/>
              </p:cNvSpPr>
              <p:nvPr/>
            </p:nvSpPr>
            <p:spPr>
              <a:xfrm>
                <a:off x="7343347" y="3413213"/>
                <a:ext cx="1181990" cy="276999"/>
              </a:xfrm>
              <a:prstGeom prst="rect">
                <a:avLst/>
              </a:prstGeom>
              <a:blipFill>
                <a:blip r:embed="rId5"/>
                <a:stretch>
                  <a:fillRect l="-2577" t="-2222" r="-6186" b="-35556"/>
                </a:stretch>
              </a:blipFill>
            </p:spPr>
            <p:txBody>
              <a:bodyPr/>
              <a:lstStyle/>
              <a:p>
                <a:r>
                  <a:rPr lang="en-SE">
                    <a:noFill/>
                  </a:rPr>
                  <a:t> </a:t>
                </a:r>
              </a:p>
            </p:txBody>
          </p:sp>
        </mc:Fallback>
      </mc:AlternateContent>
      <p:sp>
        <p:nvSpPr>
          <p:cNvPr id="73" name="Oval 72">
            <a:extLst>
              <a:ext uri="{FF2B5EF4-FFF2-40B4-BE49-F238E27FC236}">
                <a16:creationId xmlns:a16="http://schemas.microsoft.com/office/drawing/2014/main" id="{D153B058-98B5-D8B7-7612-3D4FE437ADA0}"/>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74" name="Oval 73">
            <a:extLst>
              <a:ext uri="{FF2B5EF4-FFF2-40B4-BE49-F238E27FC236}">
                <a16:creationId xmlns:a16="http://schemas.microsoft.com/office/drawing/2014/main" id="{296D6679-FEC9-A27A-A200-A1024155CC7C}"/>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75" name="Straight Arrow Connector 74">
            <a:extLst>
              <a:ext uri="{FF2B5EF4-FFF2-40B4-BE49-F238E27FC236}">
                <a16:creationId xmlns:a16="http://schemas.microsoft.com/office/drawing/2014/main" id="{8CE91BB8-8229-DD96-D5EE-64C468F0A8FC}"/>
              </a:ext>
            </a:extLst>
          </p:cNvPr>
          <p:cNvCxnSpPr>
            <a:stCxn id="73" idx="6"/>
            <a:endCxn id="74"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Oval 75">
            <a:extLst>
              <a:ext uri="{FF2B5EF4-FFF2-40B4-BE49-F238E27FC236}">
                <a16:creationId xmlns:a16="http://schemas.microsoft.com/office/drawing/2014/main" id="{20B8A9CE-C67B-967E-020C-C2C667DC64EB}"/>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77" name="Straight Arrow Connector 76">
            <a:extLst>
              <a:ext uri="{FF2B5EF4-FFF2-40B4-BE49-F238E27FC236}">
                <a16:creationId xmlns:a16="http://schemas.microsoft.com/office/drawing/2014/main" id="{B61010B2-B72C-EE5D-B9AE-962163B986AA}"/>
              </a:ext>
            </a:extLst>
          </p:cNvPr>
          <p:cNvCxnSpPr>
            <a:cxnSpLocks/>
            <a:stCxn id="76" idx="6"/>
            <a:endCxn id="74"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C4CBF350-C383-B199-3080-9A556D7CF853}"/>
              </a:ext>
            </a:extLst>
          </p:cNvPr>
          <p:cNvCxnSpPr>
            <a:cxnSpLocks/>
            <a:stCxn id="73" idx="5"/>
            <a:endCxn id="7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D7F555ED-40DE-ABC8-8CF6-606BEB3A2A98}"/>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80" name="Oval 79">
            <a:extLst>
              <a:ext uri="{FF2B5EF4-FFF2-40B4-BE49-F238E27FC236}">
                <a16:creationId xmlns:a16="http://schemas.microsoft.com/office/drawing/2014/main" id="{447BB812-015A-9441-8984-A04235DB6508}"/>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81" name="Straight Arrow Connector 80">
            <a:extLst>
              <a:ext uri="{FF2B5EF4-FFF2-40B4-BE49-F238E27FC236}">
                <a16:creationId xmlns:a16="http://schemas.microsoft.com/office/drawing/2014/main" id="{F3BE1D9E-C963-7AE7-C604-F5A7173DD911}"/>
              </a:ext>
            </a:extLst>
          </p:cNvPr>
          <p:cNvCxnSpPr>
            <a:cxnSpLocks/>
            <a:stCxn id="79" idx="4"/>
            <a:endCxn id="73"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C94A1A0E-7A6E-20E9-7416-1C8E2DF53CF3}"/>
              </a:ext>
            </a:extLst>
          </p:cNvPr>
          <p:cNvCxnSpPr>
            <a:cxnSpLocks/>
            <a:stCxn id="79" idx="6"/>
            <a:endCxn id="80"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BE1F8288-59A4-7B48-52CC-A29AAC01A815}"/>
              </a:ext>
            </a:extLst>
          </p:cNvPr>
          <p:cNvCxnSpPr>
            <a:cxnSpLocks/>
            <a:stCxn id="74" idx="1"/>
            <a:endCxn id="80"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8DD842D9-A7CB-F96B-CD41-3557FE36FE49}"/>
              </a:ext>
            </a:extLst>
          </p:cNvPr>
          <p:cNvSpPr/>
          <p:nvPr/>
        </p:nvSpPr>
        <p:spPr>
          <a:xfrm>
            <a:off x="1328964" y="5592576"/>
            <a:ext cx="360000" cy="36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85" name="Oval 84">
            <a:extLst>
              <a:ext uri="{FF2B5EF4-FFF2-40B4-BE49-F238E27FC236}">
                <a16:creationId xmlns:a16="http://schemas.microsoft.com/office/drawing/2014/main" id="{1EF99C20-288F-08B1-FFCA-F41C7D6C2C1D}"/>
              </a:ext>
            </a:extLst>
          </p:cNvPr>
          <p:cNvSpPr/>
          <p:nvPr/>
        </p:nvSpPr>
        <p:spPr>
          <a:xfrm>
            <a:off x="3820344" y="5592576"/>
            <a:ext cx="360000" cy="36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86" name="Straight Arrow Connector 85">
            <a:extLst>
              <a:ext uri="{FF2B5EF4-FFF2-40B4-BE49-F238E27FC236}">
                <a16:creationId xmlns:a16="http://schemas.microsoft.com/office/drawing/2014/main" id="{FE061B77-0A79-288A-169A-8602367E0EF9}"/>
              </a:ext>
            </a:extLst>
          </p:cNvPr>
          <p:cNvCxnSpPr>
            <a:cxnSpLocks/>
            <a:stCxn id="84" idx="0"/>
            <a:endCxn id="73"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7984948F-1F6E-68DA-DB9C-85674604CE7F}"/>
              </a:ext>
            </a:extLst>
          </p:cNvPr>
          <p:cNvCxnSpPr>
            <a:cxnSpLocks/>
            <a:stCxn id="84" idx="6"/>
            <a:endCxn id="8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BA1F7EC4-72AF-7ED9-4B02-8889BF83E9AF}"/>
              </a:ext>
            </a:extLst>
          </p:cNvPr>
          <p:cNvCxnSpPr>
            <a:cxnSpLocks/>
            <a:stCxn id="85" idx="0"/>
            <a:endCxn id="74"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D8E65E-4D31-EFA4-D4CC-0CB0D9599883}"/>
                  </a:ext>
                </a:extLst>
              </p:cNvPr>
              <p:cNvSpPr txBox="1"/>
              <p:nvPr/>
            </p:nvSpPr>
            <p:spPr>
              <a:xfrm>
                <a:off x="7343347" y="3798331"/>
                <a:ext cx="11936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oMath>
                  </m:oMathPara>
                </a14:m>
                <a:endParaRPr lang="en-US" noProof="0" dirty="0"/>
              </a:p>
            </p:txBody>
          </p:sp>
        </mc:Choice>
        <mc:Fallback xmlns="">
          <p:sp>
            <p:nvSpPr>
              <p:cNvPr id="7" name="TextBox 6">
                <a:extLst>
                  <a:ext uri="{FF2B5EF4-FFF2-40B4-BE49-F238E27FC236}">
                    <a16:creationId xmlns:a16="http://schemas.microsoft.com/office/drawing/2014/main" id="{04D8E65E-4D31-EFA4-D4CC-0CB0D9599883}"/>
                  </a:ext>
                </a:extLst>
              </p:cNvPr>
              <p:cNvSpPr txBox="1">
                <a:spLocks noRot="1" noChangeAspect="1" noMove="1" noResize="1" noEditPoints="1" noAdjustHandles="1" noChangeArrowheads="1" noChangeShapeType="1" noTextEdit="1"/>
              </p:cNvSpPr>
              <p:nvPr/>
            </p:nvSpPr>
            <p:spPr>
              <a:xfrm>
                <a:off x="7343347" y="3798331"/>
                <a:ext cx="1193660" cy="276999"/>
              </a:xfrm>
              <a:prstGeom prst="rect">
                <a:avLst/>
              </a:prstGeom>
              <a:blipFill>
                <a:blip r:embed="rId6"/>
                <a:stretch>
                  <a:fillRect l="-2564" r="-4615" b="-23913"/>
                </a:stretch>
              </a:blipFill>
            </p:spPr>
            <p:txBody>
              <a:bodyPr/>
              <a:lstStyle/>
              <a:p>
                <a:r>
                  <a:rPr lang="en-SE">
                    <a:noFill/>
                  </a:rPr>
                  <a:t> </a:t>
                </a:r>
              </a:p>
            </p:txBody>
          </p:sp>
        </mc:Fallback>
      </mc:AlternateContent>
    </p:spTree>
    <p:extLst>
      <p:ext uri="{BB962C8B-B14F-4D97-AF65-F5344CB8AC3E}">
        <p14:creationId xmlns:p14="http://schemas.microsoft.com/office/powerpoint/2010/main" val="1028957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202F2-F79B-D05C-21ED-3D7568CA7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6046C-17A3-C09A-DAD2-CC44EAF25750}"/>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6DDFAA80-628C-C223-5468-C86EABCF6D40}"/>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7878A1D1-EC29-96A0-B3FD-CF782623596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942BBAD-0A64-1030-1ABD-14006A7CA27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F803046-05B0-1820-1E85-95E4F3DD999E}"/>
              </a:ext>
            </a:extLst>
          </p:cNvPr>
          <p:cNvSpPr>
            <a:spLocks noGrp="1"/>
          </p:cNvSpPr>
          <p:nvPr>
            <p:ph type="sldNum" sz="quarter" idx="12"/>
          </p:nvPr>
        </p:nvSpPr>
        <p:spPr/>
        <p:txBody>
          <a:bodyPr/>
          <a:lstStyle/>
          <a:p>
            <a:fld id="{0FA2D919-C0DE-4971-A2E9-D4AC0031921B}" type="slidenum">
              <a:rPr lang="en-US" noProof="0" smtClean="0"/>
              <a:t>32</a:t>
            </a:fld>
            <a:endParaRPr lang="en-US" noProof="0" dirty="0"/>
          </a:p>
        </p:txBody>
      </p:sp>
      <p:sp>
        <p:nvSpPr>
          <p:cNvPr id="8" name="TextBox 7">
            <a:extLst>
              <a:ext uri="{FF2B5EF4-FFF2-40B4-BE49-F238E27FC236}">
                <a16:creationId xmlns:a16="http://schemas.microsoft.com/office/drawing/2014/main" id="{A7D374A2-A4B5-A689-3334-2F4BB14EC52D}"/>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11" name="Oval 10">
            <a:extLst>
              <a:ext uri="{FF2B5EF4-FFF2-40B4-BE49-F238E27FC236}">
                <a16:creationId xmlns:a16="http://schemas.microsoft.com/office/drawing/2014/main" id="{B731331E-6910-B223-2594-9DF25C4A3471}"/>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7601A7D7-58A6-301A-488D-E3F11069C124}"/>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3EB309B2-EDF8-15DB-6FC3-C9989C5849E1}"/>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1D58E774-65F4-2B64-F8EB-F40DC9FF0730}"/>
              </a:ext>
            </a:extLst>
          </p:cNvPr>
          <p:cNvSpPr/>
          <p:nvPr/>
        </p:nvSpPr>
        <p:spPr>
          <a:xfrm>
            <a:off x="2574654" y="5052577"/>
            <a:ext cx="360000" cy="360000"/>
          </a:xfrm>
          <a:prstGeom prst="ellipse">
            <a:avLst/>
          </a:prstGeom>
          <a:solidFill>
            <a:schemeClr val="accent2">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59DE0A00-8737-6D41-24DE-F2BC9A713E31}"/>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14A2C3E-7D09-B2B3-0FDD-B33649F3E055}"/>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FCD33DFC-09A5-9519-669E-986739A7096D}"/>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77FB51FE-94BE-37C1-115B-B8412A97641F}"/>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93CB89C6-003B-5BE8-205F-07BCC5A89D61}"/>
              </a:ext>
            </a:extLst>
          </p:cNvPr>
          <p:cNvCxnSpPr>
            <a:cxnSpLocks/>
            <a:stCxn id="23" idx="4"/>
            <a:endCxn id="11" idx="0"/>
          </p:cNvCxnSpPr>
          <p:nvPr/>
        </p:nvCxnSpPr>
        <p:spPr>
          <a:xfrm flipH="1">
            <a:off x="1508964" y="3916278"/>
            <a:ext cx="1294" cy="47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53E3A3B-F93C-4667-E0A7-C792F580D779}"/>
              </a:ext>
            </a:extLst>
          </p:cNvPr>
          <p:cNvCxnSpPr>
            <a:cxnSpLocks/>
            <a:stCxn id="23" idx="6"/>
            <a:endCxn id="24" idx="2"/>
          </p:cNvCxnSpPr>
          <p:nvPr/>
        </p:nvCxnSpPr>
        <p:spPr>
          <a:xfrm flipV="1">
            <a:off x="1690258" y="3731713"/>
            <a:ext cx="884396" cy="4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06CB4104-082E-D629-5D93-C0B8D501CC2D}"/>
              </a:ext>
            </a:extLst>
          </p:cNvPr>
          <p:cNvCxnSpPr>
            <a:cxnSpLocks/>
            <a:stCxn id="12" idx="1"/>
            <a:endCxn id="24" idx="5"/>
          </p:cNvCxnSpPr>
          <p:nvPr/>
        </p:nvCxnSpPr>
        <p:spPr>
          <a:xfrm flipH="1" flipV="1">
            <a:off x="2881933" y="3858992"/>
            <a:ext cx="991132" cy="5881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1C3D8ECF-BB55-3E41-2DB3-6E640C17BB5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1C1F852A-B19E-C838-BF80-54803AE24BC4}"/>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1D3B0D4F-B8A8-78D2-D309-A727425CCABF}"/>
              </a:ext>
            </a:extLst>
          </p:cNvPr>
          <p:cNvCxnSpPr>
            <a:cxnSpLocks/>
            <a:stCxn id="54" idx="0"/>
            <a:endCxn id="11" idx="4"/>
          </p:cNvCxnSpPr>
          <p:nvPr/>
        </p:nvCxnSpPr>
        <p:spPr>
          <a:xfrm flipV="1">
            <a:off x="150896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D40C9C76-F3B5-5313-E0CE-011DB241FD9F}"/>
              </a:ext>
            </a:extLst>
          </p:cNvPr>
          <p:cNvCxnSpPr>
            <a:cxnSpLocks/>
            <a:stCxn id="54" idx="6"/>
            <a:endCxn id="55" idx="2"/>
          </p:cNvCxnSpPr>
          <p:nvPr/>
        </p:nvCxnSpPr>
        <p:spPr>
          <a:xfrm>
            <a:off x="1688964" y="577257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6E2DC36-0140-3B07-FFFD-2B24DD93B22A}"/>
              </a:ext>
            </a:extLst>
          </p:cNvPr>
          <p:cNvCxnSpPr>
            <a:cxnSpLocks/>
            <a:stCxn id="55" idx="0"/>
            <a:endCxn id="12" idx="4"/>
          </p:cNvCxnSpPr>
          <p:nvPr/>
        </p:nvCxnSpPr>
        <p:spPr>
          <a:xfrm flipV="1">
            <a:off x="400034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1136C5DF-F561-18A9-3887-E00AD5E27C16}"/>
              </a:ext>
            </a:extLst>
          </p:cNvPr>
          <p:cNvSpPr txBox="1"/>
          <p:nvPr/>
        </p:nvSpPr>
        <p:spPr>
          <a:xfrm>
            <a:off x="4564594" y="4232692"/>
            <a:ext cx="7254125" cy="1754326"/>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any of the variables on this path to “close” the backdoor path.</a:t>
            </a:r>
          </a:p>
          <a:p>
            <a:pPr marL="342900" indent="-342900">
              <a:buFont typeface="+mj-lt"/>
              <a:buAutoNum type="arabicPeriod"/>
            </a:pPr>
            <a:r>
              <a:rPr lang="en-US" noProof="0" dirty="0"/>
              <a:t>Optionally, condition on </a:t>
            </a:r>
            <a:r>
              <a:rPr lang="en-US" b="1" noProof="0" dirty="0">
                <a:solidFill>
                  <a:schemeClr val="accent2"/>
                </a:solidFill>
              </a:rPr>
              <a:t>mediators</a:t>
            </a:r>
            <a:r>
              <a:rPr lang="en-US" noProof="0" dirty="0"/>
              <a:t> to discern the direct effect.</a:t>
            </a:r>
          </a:p>
        </p:txBody>
      </p:sp>
      <p:grpSp>
        <p:nvGrpSpPr>
          <p:cNvPr id="69" name="Group 68">
            <a:extLst>
              <a:ext uri="{FF2B5EF4-FFF2-40B4-BE49-F238E27FC236}">
                <a16:creationId xmlns:a16="http://schemas.microsoft.com/office/drawing/2014/main" id="{1DDFBBE8-FA1A-F588-524A-A1BF1B296339}"/>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6449C24C-C5CB-ECB3-FB01-883F15FAEE74}"/>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ABF714F2-A00F-1CD0-4A16-ED0D1B5952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481A5DB-C159-DD21-6688-25DD68F25627}"/>
                  </a:ext>
                </a:extLst>
              </p:cNvPr>
              <p:cNvSpPr txBox="1"/>
              <p:nvPr/>
            </p:nvSpPr>
            <p:spPr>
              <a:xfrm>
                <a:off x="7343347" y="3413213"/>
                <a:ext cx="16663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accent2"/>
                          </a:solidFill>
                          <a:latin typeface="Cambria Math" panose="02040503050406030204" pitchFamily="18" charset="0"/>
                        </a:rPr>
                        <m:t>𝑒</m:t>
                      </m:r>
                      <m:r>
                        <a:rPr lang="en-US" b="0" i="1" noProof="0" smtClean="0">
                          <a:solidFill>
                            <a:schemeClr val="tx1"/>
                          </a:solidFill>
                          <a:latin typeface="Cambria Math" panose="02040503050406030204" pitchFamily="18" charset="0"/>
                        </a:rPr>
                        <m:t>)</m:t>
                      </m:r>
                    </m:oMath>
                  </m:oMathPara>
                </a14:m>
                <a:endParaRPr lang="en-US" noProof="0" dirty="0"/>
              </a:p>
            </p:txBody>
          </p:sp>
        </mc:Choice>
        <mc:Fallback xmlns="">
          <p:sp>
            <p:nvSpPr>
              <p:cNvPr id="7" name="TextBox 6">
                <a:extLst>
                  <a:ext uri="{FF2B5EF4-FFF2-40B4-BE49-F238E27FC236}">
                    <a16:creationId xmlns:a16="http://schemas.microsoft.com/office/drawing/2014/main" id="{4481A5DB-C159-DD21-6688-25DD68F25627}"/>
                  </a:ext>
                </a:extLst>
              </p:cNvPr>
              <p:cNvSpPr txBox="1">
                <a:spLocks noRot="1" noChangeAspect="1" noMove="1" noResize="1" noEditPoints="1" noAdjustHandles="1" noChangeArrowheads="1" noChangeShapeType="1" noTextEdit="1"/>
              </p:cNvSpPr>
              <p:nvPr/>
            </p:nvSpPr>
            <p:spPr>
              <a:xfrm>
                <a:off x="7343347" y="3413213"/>
                <a:ext cx="1666354" cy="276999"/>
              </a:xfrm>
              <a:prstGeom prst="rect">
                <a:avLst/>
              </a:prstGeom>
              <a:blipFill>
                <a:blip r:embed="rId5"/>
                <a:stretch>
                  <a:fillRect l="-1832" t="-2222" r="-5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5FD7F4A-CF27-4B23-3CE1-FA0270C38BC3}"/>
                  </a:ext>
                </a:extLst>
              </p:cNvPr>
              <p:cNvSpPr txBox="1"/>
              <p:nvPr/>
            </p:nvSpPr>
            <p:spPr>
              <a:xfrm>
                <a:off x="7343347" y="3798331"/>
                <a:ext cx="1678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r>
                        <a:rPr lang="en-US" i="1" noProof="0" smtClean="0">
                          <a:latin typeface="Cambria Math" panose="02040503050406030204" pitchFamily="18" charset="0"/>
                        </a:rPr>
                        <m:t>(+</m:t>
                      </m:r>
                      <m:r>
                        <a:rPr lang="en-US" i="1" noProof="0" smtClean="0">
                          <a:solidFill>
                            <a:schemeClr val="accent2"/>
                          </a:solidFill>
                          <a:latin typeface="Cambria Math" panose="02040503050406030204" pitchFamily="18" charset="0"/>
                        </a:rPr>
                        <m:t>𝑒</m:t>
                      </m:r>
                      <m:r>
                        <a:rPr lang="en-US" i="1" noProof="0" smtClean="0">
                          <a:latin typeface="Cambria Math" panose="02040503050406030204" pitchFamily="18" charset="0"/>
                        </a:rPr>
                        <m:t>)</m:t>
                      </m:r>
                    </m:oMath>
                  </m:oMathPara>
                </a14:m>
                <a:endParaRPr lang="en-US" noProof="0" dirty="0"/>
              </a:p>
            </p:txBody>
          </p:sp>
        </mc:Choice>
        <mc:Fallback xmlns="">
          <p:sp>
            <p:nvSpPr>
              <p:cNvPr id="9" name="TextBox 8">
                <a:extLst>
                  <a:ext uri="{FF2B5EF4-FFF2-40B4-BE49-F238E27FC236}">
                    <a16:creationId xmlns:a16="http://schemas.microsoft.com/office/drawing/2014/main" id="{95FD7F4A-CF27-4B23-3CE1-FA0270C38BC3}"/>
                  </a:ext>
                </a:extLst>
              </p:cNvPr>
              <p:cNvSpPr txBox="1">
                <a:spLocks noRot="1" noChangeAspect="1" noMove="1" noResize="1" noEditPoints="1" noAdjustHandles="1" noChangeArrowheads="1" noChangeShapeType="1" noTextEdit="1"/>
              </p:cNvSpPr>
              <p:nvPr/>
            </p:nvSpPr>
            <p:spPr>
              <a:xfrm>
                <a:off x="7343347" y="3798331"/>
                <a:ext cx="1678023" cy="276999"/>
              </a:xfrm>
              <a:prstGeom prst="rect">
                <a:avLst/>
              </a:prstGeom>
              <a:blipFill>
                <a:blip r:embed="rId6"/>
                <a:stretch>
                  <a:fillRect l="-1818" t="-2174" r="-5091" b="-32609"/>
                </a:stretch>
              </a:blipFill>
            </p:spPr>
            <p:txBody>
              <a:bodyPr/>
              <a:lstStyle/>
              <a:p>
                <a:r>
                  <a:rPr lang="en-SE">
                    <a:noFill/>
                  </a:rPr>
                  <a:t> </a:t>
                </a:r>
              </a:p>
            </p:txBody>
          </p:sp>
        </mc:Fallback>
      </mc:AlternateContent>
    </p:spTree>
    <p:extLst>
      <p:ext uri="{BB962C8B-B14F-4D97-AF65-F5344CB8AC3E}">
        <p14:creationId xmlns:p14="http://schemas.microsoft.com/office/powerpoint/2010/main" val="447878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B4EB-CD83-7F10-A23F-0B210B0F1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CB8C2-F5B4-3F87-CE12-8C64D293A419}"/>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C23B5A46-BA94-D6A8-11A7-27AA1740FB9D}"/>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601D9834-2F95-B93F-D9F5-5AB5BC2B489A}"/>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F0EC682D-1E4F-4EBC-CE1D-9244BB07891F}"/>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4AC1162-C451-0965-1469-5990C8C44EAF}"/>
              </a:ext>
            </a:extLst>
          </p:cNvPr>
          <p:cNvSpPr>
            <a:spLocks noGrp="1"/>
          </p:cNvSpPr>
          <p:nvPr>
            <p:ph type="sldNum" sz="quarter" idx="12"/>
          </p:nvPr>
        </p:nvSpPr>
        <p:spPr/>
        <p:txBody>
          <a:bodyPr/>
          <a:lstStyle/>
          <a:p>
            <a:fld id="{0FA2D919-C0DE-4971-A2E9-D4AC0031921B}" type="slidenum">
              <a:rPr lang="en-US" noProof="0" smtClean="0"/>
              <a:t>33</a:t>
            </a:fld>
            <a:endParaRPr lang="en-US" noProof="0" dirty="0"/>
          </a:p>
        </p:txBody>
      </p:sp>
      <p:sp>
        <p:nvSpPr>
          <p:cNvPr id="8" name="TextBox 7">
            <a:extLst>
              <a:ext uri="{FF2B5EF4-FFF2-40B4-BE49-F238E27FC236}">
                <a16:creationId xmlns:a16="http://schemas.microsoft.com/office/drawing/2014/main" id="{B790E4ED-10C8-92E0-DDC4-4C6ADA754EA0}"/>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11" name="Oval 10">
            <a:extLst>
              <a:ext uri="{FF2B5EF4-FFF2-40B4-BE49-F238E27FC236}">
                <a16:creationId xmlns:a16="http://schemas.microsoft.com/office/drawing/2014/main" id="{CFFF73C8-0B22-142B-0DF5-0D1364F33D80}"/>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63F30886-0664-6CCE-3C9E-CDA150E7731E}"/>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BEFA903B-56D0-2B5F-BFA6-620190088DEB}"/>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FB2A9811-A725-B996-58B4-CBED74D293AE}"/>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0D000759-2D0B-7F6C-4A0C-B96EF8FFB40F}"/>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9982B517-5C5F-9975-EC69-2FA4AF5237F1}"/>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1231C93E-2141-3AFB-AA7A-03DCDA93B680}"/>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D7EE3AA2-4E0C-66A5-16AD-9AB5C61FB5BD}"/>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E84D6396-A4E0-086B-4841-BD3EDE6BF8A7}"/>
              </a:ext>
            </a:extLst>
          </p:cNvPr>
          <p:cNvCxnSpPr>
            <a:cxnSpLocks/>
            <a:stCxn id="23" idx="4"/>
            <a:endCxn id="11" idx="0"/>
          </p:cNvCxnSpPr>
          <p:nvPr/>
        </p:nvCxnSpPr>
        <p:spPr>
          <a:xfrm flipH="1">
            <a:off x="1508964" y="3916278"/>
            <a:ext cx="1294" cy="47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561249AD-AD75-F6FF-FF9D-50A557BFDD36}"/>
              </a:ext>
            </a:extLst>
          </p:cNvPr>
          <p:cNvCxnSpPr>
            <a:cxnSpLocks/>
            <a:stCxn id="23" idx="6"/>
            <a:endCxn id="24" idx="2"/>
          </p:cNvCxnSpPr>
          <p:nvPr/>
        </p:nvCxnSpPr>
        <p:spPr>
          <a:xfrm flipV="1">
            <a:off x="1690258" y="3731713"/>
            <a:ext cx="884396" cy="4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E8D793B5-D618-C576-11C9-585E4E0B7C37}"/>
              </a:ext>
            </a:extLst>
          </p:cNvPr>
          <p:cNvCxnSpPr>
            <a:cxnSpLocks/>
            <a:stCxn id="12" idx="1"/>
            <a:endCxn id="24" idx="5"/>
          </p:cNvCxnSpPr>
          <p:nvPr/>
        </p:nvCxnSpPr>
        <p:spPr>
          <a:xfrm flipH="1" flipV="1">
            <a:off x="2881933" y="3858992"/>
            <a:ext cx="991132" cy="5881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AD2B4D6B-552D-12F7-2529-D6105ABF0E4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DD58EE99-327E-5333-0C62-AD3CBB038A28}"/>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3DFC211B-D8DA-7EDD-AE65-37E7AAC20D56}"/>
              </a:ext>
            </a:extLst>
          </p:cNvPr>
          <p:cNvCxnSpPr>
            <a:cxnSpLocks/>
            <a:stCxn id="54" idx="0"/>
            <a:endCxn id="11" idx="4"/>
          </p:cNvCxnSpPr>
          <p:nvPr/>
        </p:nvCxnSpPr>
        <p:spPr>
          <a:xfrm flipV="1">
            <a:off x="150896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3D5B6D3C-62F8-CC63-38EE-0423DA2914E8}"/>
              </a:ext>
            </a:extLst>
          </p:cNvPr>
          <p:cNvCxnSpPr>
            <a:cxnSpLocks/>
            <a:stCxn id="54" idx="6"/>
            <a:endCxn id="55" idx="2"/>
          </p:cNvCxnSpPr>
          <p:nvPr/>
        </p:nvCxnSpPr>
        <p:spPr>
          <a:xfrm>
            <a:off x="1688964" y="577257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9901BB4-A080-D52D-F777-E453748F7044}"/>
              </a:ext>
            </a:extLst>
          </p:cNvPr>
          <p:cNvCxnSpPr>
            <a:cxnSpLocks/>
            <a:stCxn id="55" idx="0"/>
            <a:endCxn id="12" idx="4"/>
          </p:cNvCxnSpPr>
          <p:nvPr/>
        </p:nvCxnSpPr>
        <p:spPr>
          <a:xfrm flipV="1">
            <a:off x="400034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F1122550-BD3F-92A9-F1AC-B9842CDC08E2}"/>
              </a:ext>
            </a:extLst>
          </p:cNvPr>
          <p:cNvSpPr txBox="1"/>
          <p:nvPr/>
        </p:nvSpPr>
        <p:spPr>
          <a:xfrm>
            <a:off x="4564594" y="4232692"/>
            <a:ext cx="7254125" cy="1754326"/>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any of the variables on this path to “close” the backdoor path.</a:t>
            </a:r>
          </a:p>
          <a:p>
            <a:pPr marL="342900" indent="-342900">
              <a:buFont typeface="+mj-lt"/>
              <a:buAutoNum type="arabicPeriod"/>
            </a:pPr>
            <a:r>
              <a:rPr lang="en-US" noProof="0" dirty="0"/>
              <a:t>Optionally, condition on mediators to discern the direct effect.</a:t>
            </a:r>
          </a:p>
        </p:txBody>
      </p:sp>
      <p:grpSp>
        <p:nvGrpSpPr>
          <p:cNvPr id="69" name="Group 68">
            <a:extLst>
              <a:ext uri="{FF2B5EF4-FFF2-40B4-BE49-F238E27FC236}">
                <a16:creationId xmlns:a16="http://schemas.microsoft.com/office/drawing/2014/main" id="{EFD97713-6117-501C-2C1D-CDB6B9517732}"/>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84B7D666-21D5-4E3C-41D4-7EFC19FB450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CABB0A44-8A36-B53B-89D8-C1FE178D07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5338462-B37F-7148-C56E-FBC16D963310}"/>
                  </a:ext>
                </a:extLst>
              </p:cNvPr>
              <p:cNvSpPr txBox="1"/>
              <p:nvPr/>
            </p:nvSpPr>
            <p:spPr>
              <a:xfrm>
                <a:off x="7343347" y="3413213"/>
                <a:ext cx="16663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accent2"/>
                          </a:solidFill>
                          <a:latin typeface="Cambria Math" panose="02040503050406030204" pitchFamily="18" charset="0"/>
                        </a:rPr>
                        <m:t>𝑒</m:t>
                      </m:r>
                      <m:r>
                        <a:rPr lang="en-US" b="0" i="1" noProof="0" smtClean="0">
                          <a:solidFill>
                            <a:schemeClr val="tx1"/>
                          </a:solidFill>
                          <a:latin typeface="Cambria Math" panose="02040503050406030204" pitchFamily="18" charset="0"/>
                        </a:rPr>
                        <m:t>)</m:t>
                      </m:r>
                    </m:oMath>
                  </m:oMathPara>
                </a14:m>
                <a:endParaRPr lang="en-US" noProof="0" dirty="0"/>
              </a:p>
            </p:txBody>
          </p:sp>
        </mc:Choice>
        <mc:Fallback xmlns="">
          <p:sp>
            <p:nvSpPr>
              <p:cNvPr id="7" name="TextBox 6">
                <a:extLst>
                  <a:ext uri="{FF2B5EF4-FFF2-40B4-BE49-F238E27FC236}">
                    <a16:creationId xmlns:a16="http://schemas.microsoft.com/office/drawing/2014/main" id="{F5338462-B37F-7148-C56E-FBC16D963310}"/>
                  </a:ext>
                </a:extLst>
              </p:cNvPr>
              <p:cNvSpPr txBox="1">
                <a:spLocks noRot="1" noChangeAspect="1" noMove="1" noResize="1" noEditPoints="1" noAdjustHandles="1" noChangeArrowheads="1" noChangeShapeType="1" noTextEdit="1"/>
              </p:cNvSpPr>
              <p:nvPr/>
            </p:nvSpPr>
            <p:spPr>
              <a:xfrm>
                <a:off x="7343347" y="3413213"/>
                <a:ext cx="1666354" cy="276999"/>
              </a:xfrm>
              <a:prstGeom prst="rect">
                <a:avLst/>
              </a:prstGeom>
              <a:blipFill>
                <a:blip r:embed="rId5"/>
                <a:stretch>
                  <a:fillRect l="-1832" t="-2222" r="-5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699206-B808-3192-91F3-C1677150B653}"/>
                  </a:ext>
                </a:extLst>
              </p:cNvPr>
              <p:cNvSpPr txBox="1"/>
              <p:nvPr/>
            </p:nvSpPr>
            <p:spPr>
              <a:xfrm>
                <a:off x="7343347" y="3798331"/>
                <a:ext cx="1678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r>
                        <a:rPr lang="en-US" i="1" noProof="0" smtClean="0">
                          <a:latin typeface="Cambria Math" panose="02040503050406030204" pitchFamily="18" charset="0"/>
                        </a:rPr>
                        <m:t>(+</m:t>
                      </m:r>
                      <m:r>
                        <a:rPr lang="en-US" i="1" noProof="0" smtClean="0">
                          <a:solidFill>
                            <a:schemeClr val="accent2"/>
                          </a:solidFill>
                          <a:latin typeface="Cambria Math" panose="02040503050406030204" pitchFamily="18" charset="0"/>
                        </a:rPr>
                        <m:t>𝑒</m:t>
                      </m:r>
                      <m:r>
                        <a:rPr lang="en-US" i="1" noProof="0" smtClean="0">
                          <a:latin typeface="Cambria Math" panose="02040503050406030204" pitchFamily="18" charset="0"/>
                        </a:rPr>
                        <m:t>)</m:t>
                      </m:r>
                    </m:oMath>
                  </m:oMathPara>
                </a14:m>
                <a:endParaRPr lang="en-US" noProof="0" dirty="0"/>
              </a:p>
            </p:txBody>
          </p:sp>
        </mc:Choice>
        <mc:Fallback xmlns="">
          <p:sp>
            <p:nvSpPr>
              <p:cNvPr id="9" name="TextBox 8">
                <a:extLst>
                  <a:ext uri="{FF2B5EF4-FFF2-40B4-BE49-F238E27FC236}">
                    <a16:creationId xmlns:a16="http://schemas.microsoft.com/office/drawing/2014/main" id="{A2699206-B808-3192-91F3-C1677150B653}"/>
                  </a:ext>
                </a:extLst>
              </p:cNvPr>
              <p:cNvSpPr txBox="1">
                <a:spLocks noRot="1" noChangeAspect="1" noMove="1" noResize="1" noEditPoints="1" noAdjustHandles="1" noChangeArrowheads="1" noChangeShapeType="1" noTextEdit="1"/>
              </p:cNvSpPr>
              <p:nvPr/>
            </p:nvSpPr>
            <p:spPr>
              <a:xfrm>
                <a:off x="7343347" y="3798331"/>
                <a:ext cx="1678023" cy="276999"/>
              </a:xfrm>
              <a:prstGeom prst="rect">
                <a:avLst/>
              </a:prstGeom>
              <a:blipFill>
                <a:blip r:embed="rId6"/>
                <a:stretch>
                  <a:fillRect l="-1818" t="-2174" r="-5091" b="-32609"/>
                </a:stretch>
              </a:blipFill>
            </p:spPr>
            <p:txBody>
              <a:bodyPr/>
              <a:lstStyle/>
              <a:p>
                <a:r>
                  <a:rPr lang="en-SE">
                    <a:noFill/>
                  </a:rPr>
                  <a:t> </a:t>
                </a:r>
              </a:p>
            </p:txBody>
          </p:sp>
        </mc:Fallback>
      </mc:AlternateContent>
    </p:spTree>
    <p:extLst>
      <p:ext uri="{BB962C8B-B14F-4D97-AF65-F5344CB8AC3E}">
        <p14:creationId xmlns:p14="http://schemas.microsoft.com/office/powerpoint/2010/main" val="2522081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311B4-7994-C422-582A-A0C655791F65}"/>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6A9F43D3-DE29-5FC3-0D6E-D876DED2A5D2}"/>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CBFB09EB-5EB2-C850-AD3B-0326572DA261}"/>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616949B-6B95-49E4-C467-E55A5BDE908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398F953-2F86-BDE6-F755-6AA85D7CEB2E}"/>
              </a:ext>
            </a:extLst>
          </p:cNvPr>
          <p:cNvSpPr>
            <a:spLocks noGrp="1"/>
          </p:cNvSpPr>
          <p:nvPr>
            <p:ph type="sldNum" sz="quarter" idx="12"/>
          </p:nvPr>
        </p:nvSpPr>
        <p:spPr/>
        <p:txBody>
          <a:bodyPr/>
          <a:lstStyle/>
          <a:p>
            <a:fld id="{0FA2D919-C0DE-4971-A2E9-D4AC0031921B}" type="slidenum">
              <a:rPr lang="en-US" noProof="0" smtClean="0"/>
              <a:t>34</a:t>
            </a:fld>
            <a:endParaRPr lang="en-US" noProof="0" dirty="0"/>
          </a:p>
        </p:txBody>
      </p:sp>
      <p:cxnSp>
        <p:nvCxnSpPr>
          <p:cNvPr id="9" name="Straight Arrow Connector 8">
            <a:extLst>
              <a:ext uri="{FF2B5EF4-FFF2-40B4-BE49-F238E27FC236}">
                <a16:creationId xmlns:a16="http://schemas.microsoft.com/office/drawing/2014/main" id="{5F149A54-8CB3-C5AC-1C51-A4E18019E2D1}"/>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C6C594A1-6FE1-C539-1B8E-4C937CE7FCBB}"/>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936F7CBB-1551-E58D-0665-50C4C46A3FB5}"/>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015D402D-8EDE-B2A7-F9DE-17B7104FB077}"/>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17132629-54BD-1BBD-9780-87787ACDCBBF}"/>
              </a:ext>
            </a:extLst>
          </p:cNvPr>
          <p:cNvSpPr/>
          <p:nvPr/>
        </p:nvSpPr>
        <p:spPr>
          <a:xfrm>
            <a:off x="5826000" y="3208955"/>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F961F598-07E0-B771-9F16-40BE31D805A9}"/>
              </a:ext>
            </a:extLst>
          </p:cNvPr>
          <p:cNvCxnSpPr>
            <a:cxnSpLocks/>
            <a:stCxn id="10" idx="6"/>
            <a:endCxn id="11" idx="2"/>
          </p:cNvCxnSpPr>
          <p:nvPr/>
        </p:nvCxnSpPr>
        <p:spPr>
          <a:xfrm flipV="1">
            <a:off x="5121604" y="3478955"/>
            <a:ext cx="704396" cy="456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E6648A4B-D269-C636-BA19-A8515B4C7AC6}"/>
              </a:ext>
            </a:extLst>
          </p:cNvPr>
          <p:cNvCxnSpPr>
            <a:cxnSpLocks/>
            <a:stCxn id="11" idx="5"/>
            <a:endCxn id="8" idx="1"/>
          </p:cNvCxnSpPr>
          <p:nvPr/>
        </p:nvCxnSpPr>
        <p:spPr>
          <a:xfrm>
            <a:off x="6286919" y="3669874"/>
            <a:ext cx="863852" cy="919577"/>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104FD7F-20C1-2449-2BD4-6039195DAF4F}"/>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81200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3232-4782-4E6A-AAF4-8A08E8B75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040A6-D6BC-F293-4F2E-A9516D6FF38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0A689463-30DE-E4C7-1F4D-196C886058E5}"/>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DED72C93-9A6E-2F8A-B870-5513850629A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7B8A84F-A8FA-38CC-9957-868EFD7C343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96F1E63-298A-7C22-1556-374DA1E16AED}"/>
              </a:ext>
            </a:extLst>
          </p:cNvPr>
          <p:cNvSpPr>
            <a:spLocks noGrp="1"/>
          </p:cNvSpPr>
          <p:nvPr>
            <p:ph type="sldNum" sz="quarter" idx="12"/>
          </p:nvPr>
        </p:nvSpPr>
        <p:spPr/>
        <p:txBody>
          <a:bodyPr/>
          <a:lstStyle/>
          <a:p>
            <a:fld id="{0FA2D919-C0DE-4971-A2E9-D4AC0031921B}" type="slidenum">
              <a:rPr lang="en-US" noProof="0" smtClean="0"/>
              <a:t>35</a:t>
            </a:fld>
            <a:endParaRPr lang="en-US" noProof="0" dirty="0"/>
          </a:p>
        </p:txBody>
      </p:sp>
      <p:grpSp>
        <p:nvGrpSpPr>
          <p:cNvPr id="16" name="Group 15">
            <a:extLst>
              <a:ext uri="{FF2B5EF4-FFF2-40B4-BE49-F238E27FC236}">
                <a16:creationId xmlns:a16="http://schemas.microsoft.com/office/drawing/2014/main" id="{E81B7DD4-6BD7-C251-84A6-B9A97D417EA0}"/>
              </a:ext>
            </a:extLst>
          </p:cNvPr>
          <p:cNvGrpSpPr/>
          <p:nvPr/>
        </p:nvGrpSpPr>
        <p:grpSpPr>
          <a:xfrm>
            <a:off x="1464577" y="3089804"/>
            <a:ext cx="3031380" cy="1841415"/>
            <a:chOff x="4580310" y="3208955"/>
            <a:chExt cx="3031380" cy="1841415"/>
          </a:xfrm>
        </p:grpSpPr>
        <p:cxnSp>
          <p:nvCxnSpPr>
            <p:cNvPr id="9" name="Straight Arrow Connector 8">
              <a:extLst>
                <a:ext uri="{FF2B5EF4-FFF2-40B4-BE49-F238E27FC236}">
                  <a16:creationId xmlns:a16="http://schemas.microsoft.com/office/drawing/2014/main" id="{CC7A1DD2-BAE6-3884-B8A4-801E6E61CD5C}"/>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114EEF6-9894-A8B2-3B64-C7B0DBCED83C}"/>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B3280ADB-707F-DA0A-D554-A0161C3B18A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96E7A474-BCA0-628A-475D-6C9DFB201FCC}"/>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5E59E8A5-F09B-9F0F-70DE-EACF52891AC6}"/>
                </a:ext>
              </a:extLst>
            </p:cNvPr>
            <p:cNvSpPr/>
            <p:nvPr/>
          </p:nvSpPr>
          <p:spPr>
            <a:xfrm>
              <a:off x="5826000" y="3208955"/>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2" name="Straight Arrow Connector 11">
              <a:extLst>
                <a:ext uri="{FF2B5EF4-FFF2-40B4-BE49-F238E27FC236}">
                  <a16:creationId xmlns:a16="http://schemas.microsoft.com/office/drawing/2014/main" id="{23F884DD-5BC6-F197-CE57-FAA6E0CA0554}"/>
                </a:ext>
              </a:extLst>
            </p:cNvPr>
            <p:cNvCxnSpPr>
              <a:cxnSpLocks/>
              <a:stCxn id="10" idx="4"/>
              <a:endCxn id="7" idx="0"/>
            </p:cNvCxnSpPr>
            <p:nvPr/>
          </p:nvCxnSpPr>
          <p:spPr>
            <a:xfrm flipH="1">
              <a:off x="4850310" y="3753520"/>
              <a:ext cx="1294" cy="75685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5DD9995D-8290-6827-9F0E-D90C8908946B}"/>
                </a:ext>
              </a:extLst>
            </p:cNvPr>
            <p:cNvCxnSpPr>
              <a:cxnSpLocks/>
              <a:stCxn id="10" idx="6"/>
              <a:endCxn id="11" idx="2"/>
            </p:cNvCxnSpPr>
            <p:nvPr/>
          </p:nvCxnSpPr>
          <p:spPr>
            <a:xfrm flipV="1">
              <a:off x="5121604" y="3478955"/>
              <a:ext cx="70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07FD872C-1360-BAB3-A32E-6EB5D137C601}"/>
                </a:ext>
              </a:extLst>
            </p:cNvPr>
            <p:cNvCxnSpPr>
              <a:cxnSpLocks/>
              <a:stCxn id="11" idx="5"/>
              <a:endCxn id="8" idx="1"/>
            </p:cNvCxnSpPr>
            <p:nvPr/>
          </p:nvCxnSpPr>
          <p:spPr>
            <a:xfrm>
              <a:off x="6286919" y="3669874"/>
              <a:ext cx="863852" cy="91957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pSp>
      <p:sp>
        <p:nvSpPr>
          <p:cNvPr id="26" name="TextBox 25">
            <a:extLst>
              <a:ext uri="{FF2B5EF4-FFF2-40B4-BE49-F238E27FC236}">
                <a16:creationId xmlns:a16="http://schemas.microsoft.com/office/drawing/2014/main" id="{BE3F88E9-BF0A-2FE6-E260-2ED5F6D6B89A}"/>
              </a:ext>
            </a:extLst>
          </p:cNvPr>
          <p:cNvSpPr txBox="1"/>
          <p:nvPr/>
        </p:nvSpPr>
        <p:spPr>
          <a:xfrm>
            <a:off x="838200" y="5560519"/>
            <a:ext cx="3285964" cy="523220"/>
          </a:xfrm>
          <a:prstGeom prst="rect">
            <a:avLst/>
          </a:prstGeom>
          <a:noFill/>
        </p:spPr>
        <p:txBody>
          <a:bodyPr wrap="none" rtlCol="0">
            <a:spAutoFit/>
          </a:bodyPr>
          <a:lstStyle/>
          <a:p>
            <a:r>
              <a:rPr lang="en-US" sz="2800" noProof="0" dirty="0"/>
              <a:t>Adjustment set = {d}</a:t>
            </a:r>
          </a:p>
        </p:txBody>
      </p:sp>
      <p:grpSp>
        <p:nvGrpSpPr>
          <p:cNvPr id="17" name="Group 16">
            <a:extLst>
              <a:ext uri="{FF2B5EF4-FFF2-40B4-BE49-F238E27FC236}">
                <a16:creationId xmlns:a16="http://schemas.microsoft.com/office/drawing/2014/main" id="{0FC0142D-EC76-FA7A-0D41-5C6A668A46EA}"/>
              </a:ext>
            </a:extLst>
          </p:cNvPr>
          <p:cNvGrpSpPr/>
          <p:nvPr/>
        </p:nvGrpSpPr>
        <p:grpSpPr>
          <a:xfrm>
            <a:off x="7426045" y="3089803"/>
            <a:ext cx="3031380" cy="1841415"/>
            <a:chOff x="4580310" y="3208955"/>
            <a:chExt cx="3031380" cy="1841415"/>
          </a:xfrm>
        </p:grpSpPr>
        <p:cxnSp>
          <p:nvCxnSpPr>
            <p:cNvPr id="18" name="Straight Arrow Connector 17">
              <a:extLst>
                <a:ext uri="{FF2B5EF4-FFF2-40B4-BE49-F238E27FC236}">
                  <a16:creationId xmlns:a16="http://schemas.microsoft.com/office/drawing/2014/main" id="{75A092F3-703E-23FE-9DB2-6F23C527837C}"/>
                </a:ext>
              </a:extLst>
            </p:cNvPr>
            <p:cNvCxnSpPr>
              <a:stCxn id="19" idx="6"/>
              <a:endCxn id="21"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E600C439-1B57-1C80-16E2-3C76339331B6}"/>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21" name="Oval 20">
              <a:extLst>
                <a:ext uri="{FF2B5EF4-FFF2-40B4-BE49-F238E27FC236}">
                  <a16:creationId xmlns:a16="http://schemas.microsoft.com/office/drawing/2014/main" id="{1D88D6FF-2402-7DF5-70D0-6E88C820B718}"/>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22" name="Oval 21">
              <a:extLst>
                <a:ext uri="{FF2B5EF4-FFF2-40B4-BE49-F238E27FC236}">
                  <a16:creationId xmlns:a16="http://schemas.microsoft.com/office/drawing/2014/main" id="{F3EDE4AF-B3C3-4950-2D9D-47333ACFA6CC}"/>
                </a:ext>
              </a:extLst>
            </p:cNvPr>
            <p:cNvSpPr/>
            <p:nvPr/>
          </p:nvSpPr>
          <p:spPr>
            <a:xfrm>
              <a:off x="4581604"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24" name="Oval 23">
              <a:extLst>
                <a:ext uri="{FF2B5EF4-FFF2-40B4-BE49-F238E27FC236}">
                  <a16:creationId xmlns:a16="http://schemas.microsoft.com/office/drawing/2014/main" id="{C48AA794-093D-7B35-4DFF-901618B959D4}"/>
                </a:ext>
              </a:extLst>
            </p:cNvPr>
            <p:cNvSpPr/>
            <p:nvPr/>
          </p:nvSpPr>
          <p:spPr>
            <a:xfrm>
              <a:off x="5826000" y="3208955"/>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25" name="Straight Arrow Connector 24">
              <a:extLst>
                <a:ext uri="{FF2B5EF4-FFF2-40B4-BE49-F238E27FC236}">
                  <a16:creationId xmlns:a16="http://schemas.microsoft.com/office/drawing/2014/main" id="{D7041801-0823-5CA4-CC42-B50A8D124210}"/>
                </a:ext>
              </a:extLst>
            </p:cNvPr>
            <p:cNvCxnSpPr>
              <a:cxnSpLocks/>
              <a:stCxn id="22" idx="4"/>
              <a:endCxn id="19" idx="0"/>
            </p:cNvCxnSpPr>
            <p:nvPr/>
          </p:nvCxnSpPr>
          <p:spPr>
            <a:xfrm flipH="1">
              <a:off x="4850310" y="3753520"/>
              <a:ext cx="1294" cy="75685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D86A5268-35E9-71AD-F05D-82DEEB2B4616}"/>
                </a:ext>
              </a:extLst>
            </p:cNvPr>
            <p:cNvCxnSpPr>
              <a:cxnSpLocks/>
              <a:stCxn id="22" idx="6"/>
              <a:endCxn id="24" idx="2"/>
            </p:cNvCxnSpPr>
            <p:nvPr/>
          </p:nvCxnSpPr>
          <p:spPr>
            <a:xfrm flipV="1">
              <a:off x="5121604" y="3478955"/>
              <a:ext cx="70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8B34773C-CC77-D7A3-BC7E-92229B6D6549}"/>
                </a:ext>
              </a:extLst>
            </p:cNvPr>
            <p:cNvCxnSpPr>
              <a:cxnSpLocks/>
              <a:stCxn id="24" idx="5"/>
              <a:endCxn id="21" idx="1"/>
            </p:cNvCxnSpPr>
            <p:nvPr/>
          </p:nvCxnSpPr>
          <p:spPr>
            <a:xfrm>
              <a:off x="6286919" y="3669874"/>
              <a:ext cx="863852" cy="91957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pSp>
      <p:sp>
        <p:nvSpPr>
          <p:cNvPr id="29" name="TextBox 28">
            <a:extLst>
              <a:ext uri="{FF2B5EF4-FFF2-40B4-BE49-F238E27FC236}">
                <a16:creationId xmlns:a16="http://schemas.microsoft.com/office/drawing/2014/main" id="{4696D951-3D30-A57E-CA07-7D37247BE82E}"/>
              </a:ext>
            </a:extLst>
          </p:cNvPr>
          <p:cNvSpPr txBox="1"/>
          <p:nvPr/>
        </p:nvSpPr>
        <p:spPr>
          <a:xfrm>
            <a:off x="6872440" y="5563137"/>
            <a:ext cx="3273140" cy="523220"/>
          </a:xfrm>
          <a:prstGeom prst="rect">
            <a:avLst/>
          </a:prstGeom>
          <a:noFill/>
        </p:spPr>
        <p:txBody>
          <a:bodyPr wrap="none" rtlCol="0">
            <a:spAutoFit/>
          </a:bodyPr>
          <a:lstStyle/>
          <a:p>
            <a:r>
              <a:rPr lang="en-US" sz="2800" noProof="0" dirty="0"/>
              <a:t>Adjustment set = {c}</a:t>
            </a:r>
          </a:p>
        </p:txBody>
      </p:sp>
    </p:spTree>
    <p:extLst>
      <p:ext uri="{BB962C8B-B14F-4D97-AF65-F5344CB8AC3E}">
        <p14:creationId xmlns:p14="http://schemas.microsoft.com/office/powerpoint/2010/main" val="475299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D900-85B1-B8DC-89BA-8E62C6E84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97DB4-FE5B-F859-03A3-0056F3F4C6AA}"/>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28F3EAD8-B743-88C5-75A7-68AB49C4B664}"/>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2B67325E-CC0E-C1F8-562F-D0DB5EEA9C0B}"/>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898B4F4-1B4A-4862-8729-80D55F7943C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D12F75DB-1ADF-8368-D6EE-B3FAC5DEC32D}"/>
              </a:ext>
            </a:extLst>
          </p:cNvPr>
          <p:cNvSpPr>
            <a:spLocks noGrp="1"/>
          </p:cNvSpPr>
          <p:nvPr>
            <p:ph type="sldNum" sz="quarter" idx="12"/>
          </p:nvPr>
        </p:nvSpPr>
        <p:spPr/>
        <p:txBody>
          <a:bodyPr/>
          <a:lstStyle/>
          <a:p>
            <a:fld id="{0FA2D919-C0DE-4971-A2E9-D4AC0031921B}" type="slidenum">
              <a:rPr lang="en-US" noProof="0" smtClean="0"/>
              <a:t>36</a:t>
            </a:fld>
            <a:endParaRPr lang="en-US" noProof="0" dirty="0"/>
          </a:p>
        </p:txBody>
      </p:sp>
      <p:cxnSp>
        <p:nvCxnSpPr>
          <p:cNvPr id="9" name="Straight Arrow Connector 8">
            <a:extLst>
              <a:ext uri="{FF2B5EF4-FFF2-40B4-BE49-F238E27FC236}">
                <a16:creationId xmlns:a16="http://schemas.microsoft.com/office/drawing/2014/main" id="{A241440D-E3BD-02BF-1BED-F38461B4BB36}"/>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B52E9A57-0F1C-5DA2-062E-5861854DE0D6}"/>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DF52679C-A397-E428-6EF6-1B0D0E4A15A2}"/>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793CF13F-B1C9-D60C-9C36-72AB77AE0246}"/>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0A9C3CB1-903C-6B14-4AFF-2713713089BC}"/>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7E73DB78-4B04-E385-4709-587A695F405D}"/>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CD5D9EFC-AA07-B201-6FA6-1C1E31DA6895}"/>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2250740-41F1-CA88-3564-DF388E11822E}"/>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89142A50-F358-EDFD-3D3C-799FA59F5FE6}"/>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BE6F43F-5C08-BF1B-7011-1347F9D2D509}"/>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29830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69E4-1C4F-C5CB-B714-FAEFE962A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0DEF-44E3-013B-70D7-87AF14330EB6}"/>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77832429-55EF-E10E-75D8-DF3133D9556E}"/>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C734B9EE-2E5D-527B-6249-329D0891512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38C4841-90BD-5C51-239C-49FB1C14C12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A744EC9-4CBD-6EF4-0884-6737E4B4DC55}"/>
              </a:ext>
            </a:extLst>
          </p:cNvPr>
          <p:cNvSpPr>
            <a:spLocks noGrp="1"/>
          </p:cNvSpPr>
          <p:nvPr>
            <p:ph type="sldNum" sz="quarter" idx="12"/>
          </p:nvPr>
        </p:nvSpPr>
        <p:spPr/>
        <p:txBody>
          <a:bodyPr/>
          <a:lstStyle/>
          <a:p>
            <a:fld id="{0FA2D919-C0DE-4971-A2E9-D4AC0031921B}" type="slidenum">
              <a:rPr lang="en-US" noProof="0" smtClean="0"/>
              <a:t>37</a:t>
            </a:fld>
            <a:endParaRPr lang="en-US" noProof="0" dirty="0"/>
          </a:p>
        </p:txBody>
      </p:sp>
      <p:cxnSp>
        <p:nvCxnSpPr>
          <p:cNvPr id="9" name="Straight Arrow Connector 8">
            <a:extLst>
              <a:ext uri="{FF2B5EF4-FFF2-40B4-BE49-F238E27FC236}">
                <a16:creationId xmlns:a16="http://schemas.microsoft.com/office/drawing/2014/main" id="{470723E8-2DBC-76FA-5869-F34A9EC955D5}"/>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4AF4F974-3ED0-0529-7FF5-79E25A6CB251}"/>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46AB46CA-1340-9A5A-F488-AE83FE9A7A9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5933F246-8C62-D4D8-3002-B9D25AB15349}"/>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ACA57904-5370-499A-E32C-AAE967884E90}"/>
              </a:ext>
            </a:extLst>
          </p:cNvPr>
          <p:cNvSpPr/>
          <p:nvPr/>
        </p:nvSpPr>
        <p:spPr>
          <a:xfrm>
            <a:off x="5826000" y="3630312"/>
            <a:ext cx="540000" cy="540000"/>
          </a:xfrm>
          <a:prstGeom prst="ellipse">
            <a:avLst/>
          </a:prstGeom>
          <a:solidFill>
            <a:srgbClr val="FFC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47D71EA4-9CC2-C737-A1EA-2CAE1C476D0C}"/>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9780E22-B47A-F019-EDA3-414E026A8BDA}"/>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ACB082A6-E359-7946-2854-21BA49D2B5B6}"/>
              </a:ext>
            </a:extLst>
          </p:cNvPr>
          <p:cNvSpPr txBox="1"/>
          <p:nvPr/>
        </p:nvSpPr>
        <p:spPr>
          <a:xfrm>
            <a:off x="838200" y="5560519"/>
            <a:ext cx="3083986" cy="523220"/>
          </a:xfrm>
          <a:prstGeom prst="rect">
            <a:avLst/>
          </a:prstGeom>
          <a:noFill/>
        </p:spPr>
        <p:txBody>
          <a:bodyPr wrap="none" rtlCol="0">
            <a:spAutoFit/>
          </a:bodyPr>
          <a:lstStyle/>
          <a:p>
            <a:r>
              <a:rPr lang="en-US" sz="2800" noProof="0" dirty="0"/>
              <a:t>Adjustment set = {}</a:t>
            </a:r>
          </a:p>
        </p:txBody>
      </p:sp>
      <p:sp>
        <p:nvSpPr>
          <p:cNvPr id="18" name="Oval 17">
            <a:extLst>
              <a:ext uri="{FF2B5EF4-FFF2-40B4-BE49-F238E27FC236}">
                <a16:creationId xmlns:a16="http://schemas.microsoft.com/office/drawing/2014/main" id="{23AA91B9-F463-4C21-13A0-C102C66BDDA8}"/>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59C07A8B-41F3-4223-A55E-967391017509}"/>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8AE4355-406D-817C-C5C3-65A0D5F0D94D}"/>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08206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AA278-CFE6-FCDF-5F63-FB3C06CBB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D69A6-7BAB-7B76-AE53-290501E42717}"/>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849BF4AB-ADD5-20E5-AE3D-B38C6928DB1F}"/>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5B8DF799-E556-BDC2-A9D9-4C1EF2AB227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D2D62BE-77AB-4F66-54FE-E8F5539B9DF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D629A2D-E10A-0CE3-CAA1-5DA6A81BDA31}"/>
              </a:ext>
            </a:extLst>
          </p:cNvPr>
          <p:cNvSpPr>
            <a:spLocks noGrp="1"/>
          </p:cNvSpPr>
          <p:nvPr>
            <p:ph type="sldNum" sz="quarter" idx="12"/>
          </p:nvPr>
        </p:nvSpPr>
        <p:spPr/>
        <p:txBody>
          <a:bodyPr/>
          <a:lstStyle/>
          <a:p>
            <a:fld id="{0FA2D919-C0DE-4971-A2E9-D4AC0031921B}" type="slidenum">
              <a:rPr lang="en-US" noProof="0" smtClean="0"/>
              <a:t>38</a:t>
            </a:fld>
            <a:endParaRPr lang="en-US" noProof="0" dirty="0"/>
          </a:p>
        </p:txBody>
      </p:sp>
      <p:cxnSp>
        <p:nvCxnSpPr>
          <p:cNvPr id="9" name="Straight Arrow Connector 8">
            <a:extLst>
              <a:ext uri="{FF2B5EF4-FFF2-40B4-BE49-F238E27FC236}">
                <a16:creationId xmlns:a16="http://schemas.microsoft.com/office/drawing/2014/main" id="{1911EA5A-9CAB-DD8C-DCCF-5A255F1B7B61}"/>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C6ADDC1-38D5-9CFF-2CBC-08DEE0912721}"/>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DDB00622-91C8-1D09-A1E3-00313C0673D8}"/>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3C570943-CB0A-5E74-33A8-6E3FB435B7FA}"/>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EEEBE441-1FE7-6AD2-DC65-05EEAE9202D1}"/>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2A7094A1-117E-59E8-331C-7CBAB0AC91C1}"/>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8F1F6AAB-FD5B-E658-76E9-BC780B6EA647}"/>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0E23A043-B944-3073-012C-328EE872D5DB}"/>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B5B4B0D3-FD83-557C-4AA9-B7A23DC4DD02}"/>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3DB5F601-5A2C-834A-CDAF-877BB4F2C9E5}"/>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B87E3672-224A-FEE8-ED3D-6A6EF9125BE4}"/>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6004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60E63-3BA5-BC71-B4C5-836FA1198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BA513-B5B7-27CF-658B-E4B273A9F47C}"/>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6ED44FBA-AFDE-BFA9-5BB3-DCA485F1E69D}"/>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6D7CD522-94D0-8966-D0DC-1220FB6ACFB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ADA0E48-04AE-3A72-94A2-65FFA5F7C13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F442C8A-FD9B-953B-9208-2A5BF00357EF}"/>
              </a:ext>
            </a:extLst>
          </p:cNvPr>
          <p:cNvSpPr>
            <a:spLocks noGrp="1"/>
          </p:cNvSpPr>
          <p:nvPr>
            <p:ph type="sldNum" sz="quarter" idx="12"/>
          </p:nvPr>
        </p:nvSpPr>
        <p:spPr/>
        <p:txBody>
          <a:bodyPr/>
          <a:lstStyle/>
          <a:p>
            <a:fld id="{0FA2D919-C0DE-4971-A2E9-D4AC0031921B}" type="slidenum">
              <a:rPr lang="en-US" noProof="0" smtClean="0"/>
              <a:t>39</a:t>
            </a:fld>
            <a:endParaRPr lang="en-US" noProof="0" dirty="0"/>
          </a:p>
        </p:txBody>
      </p:sp>
      <p:cxnSp>
        <p:nvCxnSpPr>
          <p:cNvPr id="9" name="Straight Arrow Connector 8">
            <a:extLst>
              <a:ext uri="{FF2B5EF4-FFF2-40B4-BE49-F238E27FC236}">
                <a16:creationId xmlns:a16="http://schemas.microsoft.com/office/drawing/2014/main" id="{5A20D218-6D45-FB1B-7C52-FB7B4251EC45}"/>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19581589-3FDE-BEFE-6DFE-EB7CD4051A8A}"/>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820AE815-C136-7610-5A5B-24E24F204A86}"/>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42465E7F-0A37-C79C-8056-415524EA46A6}"/>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35B9F72B-CA49-FB06-3540-9E5AA5A9A848}"/>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CAD1EE67-0624-7578-42D9-2EA0D443BE82}"/>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D33DE82B-5543-B3C5-961D-E652D29AF249}"/>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8CC58ABE-F07F-4E1D-382A-52CBAD3BCAFA}"/>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8D9A5DBB-9B04-A114-F717-B5BECB14E084}"/>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ADEE7863-2833-A36B-ABC3-1F572B8CC9A9}"/>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B6FEE8A-D999-A647-B1A1-37BD82DAB51A}"/>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AB4711B-50F8-7CE3-C12B-5BB32AFA9A3C}"/>
              </a:ext>
            </a:extLst>
          </p:cNvPr>
          <p:cNvSpPr txBox="1"/>
          <p:nvPr/>
        </p:nvSpPr>
        <p:spPr>
          <a:xfrm>
            <a:off x="838200" y="5245939"/>
            <a:ext cx="5314917" cy="1200329"/>
          </a:xfrm>
          <a:prstGeom prst="rect">
            <a:avLst/>
          </a:prstGeom>
          <a:noFill/>
        </p:spPr>
        <p:txBody>
          <a:bodyPr wrap="none" rtlCol="0">
            <a:spAutoFit/>
          </a:bodyPr>
          <a:lstStyle/>
          <a:p>
            <a:r>
              <a:rPr lang="en-US" sz="2400" noProof="0" dirty="0"/>
              <a:t>The DAG contains two backdoor paths:</a:t>
            </a:r>
          </a:p>
          <a:p>
            <a:pPr marL="514350" indent="-514350">
              <a:buFont typeface="+mj-lt"/>
              <a:buAutoNum type="arabicPeriod"/>
            </a:pPr>
            <a:r>
              <a:rPr lang="en-US" sz="2400" noProof="0" dirty="0"/>
              <a:t> </a:t>
            </a:r>
            <a:r>
              <a:rPr lang="en-US" sz="2400" noProof="0" dirty="0">
                <a:solidFill>
                  <a:srgbClr val="D0180A"/>
                </a:solidFill>
              </a:rPr>
              <a:t>a</a:t>
            </a:r>
            <a:r>
              <a:rPr lang="en-US" sz="2400" noProof="0" dirty="0"/>
              <a:t> ← c → d ← e → </a:t>
            </a:r>
            <a:r>
              <a:rPr lang="en-US" sz="2400" noProof="0" dirty="0">
                <a:solidFill>
                  <a:srgbClr val="006D70"/>
                </a:solidFill>
              </a:rPr>
              <a:t>b</a:t>
            </a:r>
          </a:p>
          <a:p>
            <a:pPr marL="514350" indent="-514350">
              <a:buFont typeface="+mj-lt"/>
              <a:buAutoNum type="arabicPeriod"/>
            </a:pPr>
            <a:r>
              <a:rPr lang="en-US" sz="2400" noProof="0" dirty="0"/>
              <a:t> </a:t>
            </a:r>
            <a:r>
              <a:rPr lang="en-US" sz="2400" noProof="0" dirty="0">
                <a:solidFill>
                  <a:srgbClr val="D0180A"/>
                </a:solidFill>
              </a:rPr>
              <a:t>a</a:t>
            </a:r>
            <a:r>
              <a:rPr lang="en-US" sz="2400" noProof="0" dirty="0"/>
              <a:t> ← d ← e → </a:t>
            </a:r>
            <a:r>
              <a:rPr lang="en-US" sz="2400" noProof="0" dirty="0">
                <a:solidFill>
                  <a:srgbClr val="006D70"/>
                </a:solidFill>
              </a:rPr>
              <a:t>b</a:t>
            </a:r>
          </a:p>
        </p:txBody>
      </p:sp>
    </p:spTree>
    <p:extLst>
      <p:ext uri="{BB962C8B-B14F-4D97-AF65-F5344CB8AC3E}">
        <p14:creationId xmlns:p14="http://schemas.microsoft.com/office/powerpoint/2010/main" val="1793298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A14E-2B4F-2F7D-4891-1C534F8E6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86E21-648E-5972-1B4B-88444130BF52}"/>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EEC49AE9-D056-281E-1070-81A6AFC73072}"/>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40FC55FB-2C1D-9094-8265-26C6D42C169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21E3EAE-BFD3-C12C-8C03-0E08C047F09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66AE2A54-660C-D8D9-1731-188CB18AE127}"/>
              </a:ext>
            </a:extLst>
          </p:cNvPr>
          <p:cNvSpPr>
            <a:spLocks noGrp="1"/>
          </p:cNvSpPr>
          <p:nvPr>
            <p:ph type="sldNum" sz="quarter" idx="12"/>
          </p:nvPr>
        </p:nvSpPr>
        <p:spPr/>
        <p:txBody>
          <a:bodyPr/>
          <a:lstStyle/>
          <a:p>
            <a:fld id="{0FA2D919-C0DE-4971-A2E9-D4AC0031921B}" type="slidenum">
              <a:rPr lang="en-US" noProof="0" smtClean="0"/>
              <a:t>40</a:t>
            </a:fld>
            <a:endParaRPr lang="en-US" noProof="0" dirty="0"/>
          </a:p>
        </p:txBody>
      </p:sp>
      <p:grpSp>
        <p:nvGrpSpPr>
          <p:cNvPr id="14" name="Group 13">
            <a:extLst>
              <a:ext uri="{FF2B5EF4-FFF2-40B4-BE49-F238E27FC236}">
                <a16:creationId xmlns:a16="http://schemas.microsoft.com/office/drawing/2014/main" id="{6079B753-6C6B-0A26-ED61-5E82D7D398D5}"/>
              </a:ext>
            </a:extLst>
          </p:cNvPr>
          <p:cNvGrpSpPr/>
          <p:nvPr/>
        </p:nvGrpSpPr>
        <p:grpSpPr>
          <a:xfrm>
            <a:off x="2065710" y="2895854"/>
            <a:ext cx="3031380" cy="1836850"/>
            <a:chOff x="4580310" y="3213520"/>
            <a:chExt cx="3031380" cy="1836850"/>
          </a:xfrm>
        </p:grpSpPr>
        <p:cxnSp>
          <p:nvCxnSpPr>
            <p:cNvPr id="9" name="Straight Arrow Connector 8">
              <a:extLst>
                <a:ext uri="{FF2B5EF4-FFF2-40B4-BE49-F238E27FC236}">
                  <a16:creationId xmlns:a16="http://schemas.microsoft.com/office/drawing/2014/main" id="{1A3473F2-FB37-9A13-0E37-DBB2ABA53D06}"/>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A1D7C59E-1088-D794-28EB-1B8DC12CCDC7}"/>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488DB945-0988-90CA-3C6D-9A625B4C2521}"/>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26AF79C9-2107-E098-D49F-EE6BA9E4C042}"/>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30F63CA6-0897-3DBC-6516-D1026B2C8B31}"/>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7F03E491-A49B-5896-6051-927DA8DD766A}"/>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4EB5224E-C686-DF5B-1458-BF6AD8D094E5}"/>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C5D5B228-3F04-8B18-E9BB-26A2F180D9D9}"/>
                </a:ext>
              </a:extLst>
            </p:cNvPr>
            <p:cNvSpPr/>
            <p:nvPr/>
          </p:nvSpPr>
          <p:spPr>
            <a:xfrm>
              <a:off x="7071690"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9DBD06CB-2F87-A1B2-547E-249E825B375B}"/>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551FB4E-B472-7A22-D3CA-B668F3D36B02}"/>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5A530650-2895-8137-562D-6A6EC9964618}"/>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grpSp>
        <p:nvGrpSpPr>
          <p:cNvPr id="15" name="Group 14">
            <a:extLst>
              <a:ext uri="{FF2B5EF4-FFF2-40B4-BE49-F238E27FC236}">
                <a16:creationId xmlns:a16="http://schemas.microsoft.com/office/drawing/2014/main" id="{353325C8-65DD-23D0-6C72-4381EC715AA9}"/>
              </a:ext>
            </a:extLst>
          </p:cNvPr>
          <p:cNvGrpSpPr/>
          <p:nvPr/>
        </p:nvGrpSpPr>
        <p:grpSpPr>
          <a:xfrm>
            <a:off x="7364911" y="2895854"/>
            <a:ext cx="3031380" cy="1836850"/>
            <a:chOff x="4580310" y="3213520"/>
            <a:chExt cx="3031380" cy="1836850"/>
          </a:xfrm>
        </p:grpSpPr>
        <p:cxnSp>
          <p:nvCxnSpPr>
            <p:cNvPr id="16" name="Straight Arrow Connector 15">
              <a:extLst>
                <a:ext uri="{FF2B5EF4-FFF2-40B4-BE49-F238E27FC236}">
                  <a16:creationId xmlns:a16="http://schemas.microsoft.com/office/drawing/2014/main" id="{27D45DF3-DA1A-9781-6EF4-56448AC7A73B}"/>
                </a:ext>
              </a:extLst>
            </p:cNvPr>
            <p:cNvCxnSpPr>
              <a:stCxn id="17" idx="6"/>
              <a:endCxn id="19"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A4CA7CFF-54FF-D1F0-7145-E64F396D2127}"/>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19" name="Oval 18">
              <a:extLst>
                <a:ext uri="{FF2B5EF4-FFF2-40B4-BE49-F238E27FC236}">
                  <a16:creationId xmlns:a16="http://schemas.microsoft.com/office/drawing/2014/main" id="{C6065B33-B5E5-8437-4061-BFE22E2EE0B4}"/>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20" name="Oval 19">
              <a:extLst>
                <a:ext uri="{FF2B5EF4-FFF2-40B4-BE49-F238E27FC236}">
                  <a16:creationId xmlns:a16="http://schemas.microsoft.com/office/drawing/2014/main" id="{8B7427FA-1AD3-BD6A-FA9B-C7557B36C599}"/>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22" name="Oval 21">
              <a:extLst>
                <a:ext uri="{FF2B5EF4-FFF2-40B4-BE49-F238E27FC236}">
                  <a16:creationId xmlns:a16="http://schemas.microsoft.com/office/drawing/2014/main" id="{16374387-9DEA-1CF9-8AC1-9FD816BBB8CF}"/>
                </a:ext>
              </a:extLst>
            </p:cNvPr>
            <p:cNvSpPr/>
            <p:nvPr/>
          </p:nvSpPr>
          <p:spPr>
            <a:xfrm>
              <a:off x="5826000" y="3630312"/>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24" name="Straight Arrow Connector 23">
              <a:extLst>
                <a:ext uri="{FF2B5EF4-FFF2-40B4-BE49-F238E27FC236}">
                  <a16:creationId xmlns:a16="http://schemas.microsoft.com/office/drawing/2014/main" id="{174F6C52-F9D0-917E-D54D-19D10F6B6B11}"/>
                </a:ext>
              </a:extLst>
            </p:cNvPr>
            <p:cNvCxnSpPr>
              <a:cxnSpLocks/>
              <a:stCxn id="20" idx="6"/>
              <a:endCxn id="22"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95E4A6AC-353F-2802-CF6A-4D5FFEB1628D}"/>
                </a:ext>
              </a:extLst>
            </p:cNvPr>
            <p:cNvCxnSpPr>
              <a:cxnSpLocks/>
              <a:stCxn id="20" idx="4"/>
              <a:endCxn id="1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26" name="Oval 25">
              <a:extLst>
                <a:ext uri="{FF2B5EF4-FFF2-40B4-BE49-F238E27FC236}">
                  <a16:creationId xmlns:a16="http://schemas.microsoft.com/office/drawing/2014/main" id="{F134EF1B-B3EA-C956-DEF1-BD43E3C2EB38}"/>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8" name="Straight Arrow Connector 27">
              <a:extLst>
                <a:ext uri="{FF2B5EF4-FFF2-40B4-BE49-F238E27FC236}">
                  <a16:creationId xmlns:a16="http://schemas.microsoft.com/office/drawing/2014/main" id="{C5EE0A84-0FF1-B3F7-0E07-063FFFD92CD8}"/>
                </a:ext>
              </a:extLst>
            </p:cNvPr>
            <p:cNvCxnSpPr>
              <a:cxnSpLocks/>
              <a:stCxn id="26" idx="2"/>
              <a:endCxn id="22"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0F8D9FFD-62F7-7717-ABC8-26014DB64FDD}"/>
                </a:ext>
              </a:extLst>
            </p:cNvPr>
            <p:cNvCxnSpPr>
              <a:cxnSpLocks/>
              <a:stCxn id="26" idx="4"/>
              <a:endCxn id="19"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3F035C7-AE28-8AF5-4FCC-B293EF2662F4}"/>
                </a:ext>
              </a:extLst>
            </p:cNvPr>
            <p:cNvCxnSpPr>
              <a:cxnSpLocks/>
              <a:stCxn id="22" idx="3"/>
              <a:endCxn id="1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sp>
        <p:nvSpPr>
          <p:cNvPr id="43" name="TextBox 42">
            <a:extLst>
              <a:ext uri="{FF2B5EF4-FFF2-40B4-BE49-F238E27FC236}">
                <a16:creationId xmlns:a16="http://schemas.microsoft.com/office/drawing/2014/main" id="{E335E23C-52D1-69C7-6928-5B3C4E2632D2}"/>
              </a:ext>
            </a:extLst>
          </p:cNvPr>
          <p:cNvSpPr txBox="1"/>
          <p:nvPr/>
        </p:nvSpPr>
        <p:spPr>
          <a:xfrm>
            <a:off x="838200" y="4935480"/>
            <a:ext cx="3273140" cy="523220"/>
          </a:xfrm>
          <a:prstGeom prst="rect">
            <a:avLst/>
          </a:prstGeom>
          <a:noFill/>
        </p:spPr>
        <p:txBody>
          <a:bodyPr wrap="none" rtlCol="0">
            <a:spAutoFit/>
          </a:bodyPr>
          <a:lstStyle/>
          <a:p>
            <a:r>
              <a:rPr lang="en-US" sz="2800" noProof="0" dirty="0"/>
              <a:t>Adjustment set = {e}</a:t>
            </a:r>
          </a:p>
        </p:txBody>
      </p:sp>
      <p:sp>
        <p:nvSpPr>
          <p:cNvPr id="44" name="TextBox 43">
            <a:extLst>
              <a:ext uri="{FF2B5EF4-FFF2-40B4-BE49-F238E27FC236}">
                <a16:creationId xmlns:a16="http://schemas.microsoft.com/office/drawing/2014/main" id="{2279BC9C-B9C0-5FF3-ED0A-24C506F6F99E}"/>
              </a:ext>
            </a:extLst>
          </p:cNvPr>
          <p:cNvSpPr txBox="1"/>
          <p:nvPr/>
        </p:nvSpPr>
        <p:spPr>
          <a:xfrm>
            <a:off x="6116180" y="4914495"/>
            <a:ext cx="3640548" cy="523220"/>
          </a:xfrm>
          <a:prstGeom prst="rect">
            <a:avLst/>
          </a:prstGeom>
          <a:noFill/>
        </p:spPr>
        <p:txBody>
          <a:bodyPr wrap="none" rtlCol="0">
            <a:spAutoFit/>
          </a:bodyPr>
          <a:lstStyle/>
          <a:p>
            <a:r>
              <a:rPr lang="en-US" sz="2800" noProof="0" dirty="0"/>
              <a:t>Adjustment set = {c, d}</a:t>
            </a:r>
          </a:p>
        </p:txBody>
      </p:sp>
      <p:grpSp>
        <p:nvGrpSpPr>
          <p:cNvPr id="45" name="Group 44">
            <a:extLst>
              <a:ext uri="{FF2B5EF4-FFF2-40B4-BE49-F238E27FC236}">
                <a16:creationId xmlns:a16="http://schemas.microsoft.com/office/drawing/2014/main" id="{1E4AFBE7-67D7-BB84-3DC3-6854C317A8D0}"/>
              </a:ext>
            </a:extLst>
          </p:cNvPr>
          <p:cNvGrpSpPr/>
          <p:nvPr/>
        </p:nvGrpSpPr>
        <p:grpSpPr>
          <a:xfrm>
            <a:off x="6601049" y="5458700"/>
            <a:ext cx="4559103" cy="946595"/>
            <a:chOff x="775412" y="5230368"/>
            <a:chExt cx="4559103" cy="946595"/>
          </a:xfrm>
        </p:grpSpPr>
        <p:sp>
          <p:nvSpPr>
            <p:cNvPr id="46" name="Rectangle: Rounded Corners 45">
              <a:extLst>
                <a:ext uri="{FF2B5EF4-FFF2-40B4-BE49-F238E27FC236}">
                  <a16:creationId xmlns:a16="http://schemas.microsoft.com/office/drawing/2014/main" id="{9E67F73F-8800-25B8-B05D-375B21C190DE}"/>
                </a:ext>
              </a:extLst>
            </p:cNvPr>
            <p:cNvSpPr/>
            <p:nvPr/>
          </p:nvSpPr>
          <p:spPr>
            <a:xfrm>
              <a:off x="775412" y="5230368"/>
              <a:ext cx="4559103"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sz="1400" noProof="0" dirty="0">
                  <a:solidFill>
                    <a:schemeClr val="bg1"/>
                  </a:solidFill>
                </a:rPr>
                <a:t>Conditioning on </a:t>
              </a:r>
              <a:r>
                <a:rPr lang="en-US" sz="1400" noProof="0" dirty="0">
                  <a:solidFill>
                    <a:schemeClr val="accent1">
                      <a:lumMod val="40000"/>
                      <a:lumOff val="60000"/>
                    </a:schemeClr>
                  </a:solidFill>
                </a:rPr>
                <a:t>d</a:t>
              </a:r>
              <a:r>
                <a:rPr lang="en-US" sz="1400" noProof="0" dirty="0">
                  <a:solidFill>
                    <a:schemeClr val="bg1"/>
                  </a:solidFill>
                </a:rPr>
                <a:t> opens the backdoor-path </a:t>
              </a:r>
              <a:r>
                <a:rPr lang="en-US" sz="1400" noProof="0" dirty="0">
                  <a:solidFill>
                    <a:srgbClr val="D0180A"/>
                  </a:solidFill>
                </a:rPr>
                <a:t>a</a:t>
              </a:r>
              <a:r>
                <a:rPr lang="en-US" sz="1400" noProof="0" dirty="0"/>
                <a:t> ← c → d ← e → </a:t>
              </a:r>
              <a:r>
                <a:rPr lang="en-US" sz="1400" noProof="0" dirty="0">
                  <a:solidFill>
                    <a:srgbClr val="006D70"/>
                  </a:solidFill>
                </a:rPr>
                <a:t>b</a:t>
              </a:r>
              <a:r>
                <a:rPr lang="en-US" sz="1400" noProof="0" dirty="0">
                  <a:solidFill>
                    <a:schemeClr val="bg1"/>
                  </a:solidFill>
                </a:rPr>
                <a:t> which then has to be closed by additionally conditioning on </a:t>
              </a:r>
              <a:r>
                <a:rPr lang="en-US" sz="1400" noProof="0" dirty="0">
                  <a:solidFill>
                    <a:schemeClr val="accent1">
                      <a:lumMod val="40000"/>
                      <a:lumOff val="60000"/>
                    </a:schemeClr>
                  </a:solidFill>
                </a:rPr>
                <a:t>c</a:t>
              </a:r>
              <a:r>
                <a:rPr lang="en-US" sz="1400" noProof="0" dirty="0">
                  <a:solidFill>
                    <a:schemeClr val="bg1"/>
                  </a:solidFill>
                </a:rPr>
                <a:t>.</a:t>
              </a:r>
              <a:endParaRPr lang="en-US" sz="1400" noProof="0" dirty="0">
                <a:solidFill>
                  <a:srgbClr val="006D70"/>
                </a:solidFill>
              </a:endParaRPr>
            </a:p>
          </p:txBody>
        </p:sp>
        <p:pic>
          <p:nvPicPr>
            <p:cNvPr id="47" name="Graphic 46" descr="Open quotation mark with solid fill">
              <a:extLst>
                <a:ext uri="{FF2B5EF4-FFF2-40B4-BE49-F238E27FC236}">
                  <a16:creationId xmlns:a16="http://schemas.microsoft.com/office/drawing/2014/main" id="{CACD80F4-1C6A-15CA-AB3D-6B67409F5F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sp>
        <p:nvSpPr>
          <p:cNvPr id="31" name="Oval 30">
            <a:extLst>
              <a:ext uri="{FF2B5EF4-FFF2-40B4-BE49-F238E27FC236}">
                <a16:creationId xmlns:a16="http://schemas.microsoft.com/office/drawing/2014/main" id="{C1630F94-6BD9-2D48-3A73-0270772BD318}"/>
              </a:ext>
            </a:extLst>
          </p:cNvPr>
          <p:cNvSpPr/>
          <p:nvPr/>
        </p:nvSpPr>
        <p:spPr>
          <a:xfrm>
            <a:off x="7364911" y="2894727"/>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Tree>
    <p:extLst>
      <p:ext uri="{BB962C8B-B14F-4D97-AF65-F5344CB8AC3E}">
        <p14:creationId xmlns:p14="http://schemas.microsoft.com/office/powerpoint/2010/main" val="3267856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93D0-3DEB-8D66-EF39-33BA9D502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3A7A4-2E1B-6BA2-5198-0250B2983139}"/>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7DC8B2A9-2867-C965-D32D-604D008B58F0}"/>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2A7423C3-AD85-77A9-8F34-2B9B687CA81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E3CFB47-BB8D-9115-3FDD-837F4E41A662}"/>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94C03ED5-D29A-D2A2-94A6-4BC427146E3D}"/>
              </a:ext>
            </a:extLst>
          </p:cNvPr>
          <p:cNvSpPr>
            <a:spLocks noGrp="1"/>
          </p:cNvSpPr>
          <p:nvPr>
            <p:ph type="sldNum" sz="quarter" idx="12"/>
          </p:nvPr>
        </p:nvSpPr>
        <p:spPr/>
        <p:txBody>
          <a:bodyPr/>
          <a:lstStyle/>
          <a:p>
            <a:fld id="{0FA2D919-C0DE-4971-A2E9-D4AC0031921B}" type="slidenum">
              <a:rPr lang="en-US" noProof="0" smtClean="0"/>
              <a:t>41</a:t>
            </a:fld>
            <a:endParaRPr lang="en-US" noProof="0" dirty="0"/>
          </a:p>
        </p:txBody>
      </p:sp>
      <p:cxnSp>
        <p:nvCxnSpPr>
          <p:cNvPr id="9" name="Straight Arrow Connector 8">
            <a:extLst>
              <a:ext uri="{FF2B5EF4-FFF2-40B4-BE49-F238E27FC236}">
                <a16:creationId xmlns:a16="http://schemas.microsoft.com/office/drawing/2014/main" id="{87C1995E-5727-995D-E2F5-3ACE47DE1B4D}"/>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6EFE541A-1232-0C26-DF44-FDCD6E11F0B8}"/>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2FFCB15B-423A-2709-DEED-B94BBF8A6237}"/>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A759F4D2-C7A2-F70C-420C-D9759876F755}"/>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A98C5993-7687-EBD0-AB27-81EAC9B605D1}"/>
              </a:ext>
            </a:extLst>
          </p:cNvPr>
          <p:cNvSpPr/>
          <p:nvPr/>
        </p:nvSpPr>
        <p:spPr>
          <a:xfrm>
            <a:off x="5826000" y="3630312"/>
            <a:ext cx="540000" cy="540000"/>
          </a:xfrm>
          <a:prstGeom prst="ellipse">
            <a:avLst/>
          </a:prstGeom>
          <a:solidFill>
            <a:schemeClr val="bg1">
              <a:lumMod val="65000"/>
            </a:schemeClr>
          </a:solidFill>
          <a:ln>
            <a:solidFill>
              <a:schemeClr val="tx1">
                <a:lumMod val="85000"/>
                <a:lumOff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28AD559F-79FF-1609-551B-22DB87E29987}"/>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15205C4A-4398-781F-2D1B-5959D55525E8}"/>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63E611F9-D4D3-6B64-5E56-ED4DEE952FE7}"/>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CA79F451-538D-A2B2-947B-FC04314CCA0C}"/>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6B676DC8-3493-DDEB-BC14-C1CB56B1EF0D}"/>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9FE11636-2FA9-E62F-053E-2E241C7DFF3B}"/>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739CFA24-C021-723E-1A46-6CCA4DBC4D31}"/>
              </a:ext>
            </a:extLst>
          </p:cNvPr>
          <p:cNvSpPr txBox="1"/>
          <p:nvPr/>
        </p:nvSpPr>
        <p:spPr>
          <a:xfrm rot="367986">
            <a:off x="7611690" y="2707920"/>
            <a:ext cx="2170985" cy="646331"/>
          </a:xfrm>
          <a:prstGeom prst="rect">
            <a:avLst/>
          </a:prstGeom>
          <a:noFill/>
        </p:spPr>
        <p:txBody>
          <a:bodyPr wrap="square" rtlCol="0">
            <a:spAutoFit/>
          </a:bodyPr>
          <a:lstStyle/>
          <a:p>
            <a:r>
              <a:rPr lang="en-US" noProof="0" dirty="0">
                <a:solidFill>
                  <a:schemeClr val="tx2">
                    <a:lumMod val="75000"/>
                    <a:lumOff val="25000"/>
                  </a:schemeClr>
                </a:solidFill>
              </a:rPr>
              <a:t>unobservable variable</a:t>
            </a:r>
          </a:p>
        </p:txBody>
      </p:sp>
      <p:cxnSp>
        <p:nvCxnSpPr>
          <p:cNvPr id="17" name="Connector: Curved 16">
            <a:extLst>
              <a:ext uri="{FF2B5EF4-FFF2-40B4-BE49-F238E27FC236}">
                <a16:creationId xmlns:a16="http://schemas.microsoft.com/office/drawing/2014/main" id="{A7B43C43-4FE2-A121-A94D-D852C4413529}"/>
              </a:ext>
            </a:extLst>
          </p:cNvPr>
          <p:cNvCxnSpPr>
            <a:cxnSpLocks/>
            <a:stCxn id="16" idx="1"/>
            <a:endCxn id="11" idx="0"/>
          </p:cNvCxnSpPr>
          <p:nvPr/>
        </p:nvCxnSpPr>
        <p:spPr>
          <a:xfrm rot="10800000" flipV="1">
            <a:off x="6096001" y="2915114"/>
            <a:ext cx="1521903" cy="71519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249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FC9F-31F2-9A09-3181-D4693A6BC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34722-FF76-4BA2-6DD4-082EE2797DE0}"/>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A2F0110C-154E-8BE7-5244-0C0FC24576FF}"/>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5A362326-EE1A-DDCF-C6FA-266D38716C0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0B9C4E8-F0C9-14D6-9935-E3DC3B4136A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20C1028-F5D5-419F-259D-F26481BEADAA}"/>
              </a:ext>
            </a:extLst>
          </p:cNvPr>
          <p:cNvSpPr>
            <a:spLocks noGrp="1"/>
          </p:cNvSpPr>
          <p:nvPr>
            <p:ph type="sldNum" sz="quarter" idx="12"/>
          </p:nvPr>
        </p:nvSpPr>
        <p:spPr/>
        <p:txBody>
          <a:bodyPr/>
          <a:lstStyle/>
          <a:p>
            <a:fld id="{0FA2D919-C0DE-4971-A2E9-D4AC0031921B}" type="slidenum">
              <a:rPr lang="en-US" noProof="0" smtClean="0"/>
              <a:t>42</a:t>
            </a:fld>
            <a:endParaRPr lang="en-US" noProof="0" dirty="0"/>
          </a:p>
        </p:txBody>
      </p:sp>
      <p:sp>
        <p:nvSpPr>
          <p:cNvPr id="43" name="TextBox 42">
            <a:extLst>
              <a:ext uri="{FF2B5EF4-FFF2-40B4-BE49-F238E27FC236}">
                <a16:creationId xmlns:a16="http://schemas.microsoft.com/office/drawing/2014/main" id="{437E2232-154A-1ADC-E1AE-99309EEDD494}"/>
              </a:ext>
            </a:extLst>
          </p:cNvPr>
          <p:cNvSpPr txBox="1"/>
          <p:nvPr/>
        </p:nvSpPr>
        <p:spPr>
          <a:xfrm>
            <a:off x="838200" y="4935480"/>
            <a:ext cx="3273140" cy="523220"/>
          </a:xfrm>
          <a:prstGeom prst="rect">
            <a:avLst/>
          </a:prstGeom>
          <a:noFill/>
        </p:spPr>
        <p:txBody>
          <a:bodyPr wrap="none" rtlCol="0">
            <a:spAutoFit/>
          </a:bodyPr>
          <a:lstStyle/>
          <a:p>
            <a:r>
              <a:rPr lang="en-US" sz="2800" noProof="0" dirty="0"/>
              <a:t>Adjustment set = {e}</a:t>
            </a:r>
          </a:p>
        </p:txBody>
      </p:sp>
      <p:cxnSp>
        <p:nvCxnSpPr>
          <p:cNvPr id="32" name="Straight Arrow Connector 31">
            <a:extLst>
              <a:ext uri="{FF2B5EF4-FFF2-40B4-BE49-F238E27FC236}">
                <a16:creationId xmlns:a16="http://schemas.microsoft.com/office/drawing/2014/main" id="{61A7213E-DDCD-5E11-E76E-8C525DDD1596}"/>
              </a:ext>
            </a:extLst>
          </p:cNvPr>
          <p:cNvCxnSpPr>
            <a:stCxn id="33" idx="6"/>
            <a:endCxn id="34"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9FB15397-C630-AC5D-4089-85E631A4B189}"/>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34" name="Oval 33">
            <a:extLst>
              <a:ext uri="{FF2B5EF4-FFF2-40B4-BE49-F238E27FC236}">
                <a16:creationId xmlns:a16="http://schemas.microsoft.com/office/drawing/2014/main" id="{4CF67CE9-C3AB-2F0D-552E-DEBF6EBFA220}"/>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35" name="Oval 34">
            <a:extLst>
              <a:ext uri="{FF2B5EF4-FFF2-40B4-BE49-F238E27FC236}">
                <a16:creationId xmlns:a16="http://schemas.microsoft.com/office/drawing/2014/main" id="{9A6B98CA-C5D3-EC3B-652F-BD2554428790}"/>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36" name="Oval 35">
            <a:extLst>
              <a:ext uri="{FF2B5EF4-FFF2-40B4-BE49-F238E27FC236}">
                <a16:creationId xmlns:a16="http://schemas.microsoft.com/office/drawing/2014/main" id="{0CC8E379-5615-DDF6-2F76-BB56C946CC08}"/>
              </a:ext>
            </a:extLst>
          </p:cNvPr>
          <p:cNvSpPr/>
          <p:nvPr/>
        </p:nvSpPr>
        <p:spPr>
          <a:xfrm>
            <a:off x="5826000" y="3630312"/>
            <a:ext cx="540000" cy="540000"/>
          </a:xfrm>
          <a:prstGeom prst="ellipse">
            <a:avLst/>
          </a:prstGeom>
          <a:solidFill>
            <a:schemeClr val="bg1">
              <a:lumMod val="65000"/>
            </a:schemeClr>
          </a:solidFill>
          <a:ln>
            <a:solidFill>
              <a:schemeClr val="tx1">
                <a:lumMod val="85000"/>
                <a:lumOff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37" name="Straight Arrow Connector 36">
            <a:extLst>
              <a:ext uri="{FF2B5EF4-FFF2-40B4-BE49-F238E27FC236}">
                <a16:creationId xmlns:a16="http://schemas.microsoft.com/office/drawing/2014/main" id="{8A9AF39D-3E5F-46DF-4006-5B051EA402E8}"/>
              </a:ext>
            </a:extLst>
          </p:cNvPr>
          <p:cNvCxnSpPr>
            <a:cxnSpLocks/>
            <a:stCxn id="35" idx="6"/>
            <a:endCxn id="36"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266B53D7-0B07-8D2C-7192-70B9C41A7643}"/>
              </a:ext>
            </a:extLst>
          </p:cNvPr>
          <p:cNvCxnSpPr>
            <a:cxnSpLocks/>
            <a:stCxn id="35" idx="4"/>
            <a:endCxn id="33"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39" name="Oval 38">
            <a:extLst>
              <a:ext uri="{FF2B5EF4-FFF2-40B4-BE49-F238E27FC236}">
                <a16:creationId xmlns:a16="http://schemas.microsoft.com/office/drawing/2014/main" id="{641D88E2-E6A7-4B40-5FF7-682C65C175CB}"/>
              </a:ext>
            </a:extLst>
          </p:cNvPr>
          <p:cNvSpPr/>
          <p:nvPr/>
        </p:nvSpPr>
        <p:spPr>
          <a:xfrm>
            <a:off x="7071690"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40" name="Straight Arrow Connector 39">
            <a:extLst>
              <a:ext uri="{FF2B5EF4-FFF2-40B4-BE49-F238E27FC236}">
                <a16:creationId xmlns:a16="http://schemas.microsoft.com/office/drawing/2014/main" id="{1C85B7DB-F4B9-4EFF-7B3A-AE73CC9E05A1}"/>
              </a:ext>
            </a:extLst>
          </p:cNvPr>
          <p:cNvCxnSpPr>
            <a:cxnSpLocks/>
            <a:stCxn id="39" idx="2"/>
            <a:endCxn id="36"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D8E81561-67B4-8FF2-2265-C467E47FA3E9}"/>
              </a:ext>
            </a:extLst>
          </p:cNvPr>
          <p:cNvCxnSpPr>
            <a:cxnSpLocks/>
            <a:stCxn id="39" idx="4"/>
            <a:endCxn id="34"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28CA2ACF-A651-B7B9-D54B-9B9507EFA3CA}"/>
              </a:ext>
            </a:extLst>
          </p:cNvPr>
          <p:cNvCxnSpPr>
            <a:cxnSpLocks/>
            <a:stCxn id="36" idx="3"/>
            <a:endCxn id="33"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3507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CF34-4589-03E6-5023-0E380149B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CBD58-475A-2AD0-ACA2-85D56126FC17}"/>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ED961BC6-1ACE-0198-22FB-011140FD2BD1}"/>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A852B7D4-0C39-4D49-3DC6-0A2CD3BC07F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F38D140-F525-C1D9-5032-CC53FC299BE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10F2E49-4898-F107-DC3E-FB2025B538F6}"/>
              </a:ext>
            </a:extLst>
          </p:cNvPr>
          <p:cNvSpPr>
            <a:spLocks noGrp="1"/>
          </p:cNvSpPr>
          <p:nvPr>
            <p:ph type="sldNum" sz="quarter" idx="12"/>
          </p:nvPr>
        </p:nvSpPr>
        <p:spPr/>
        <p:txBody>
          <a:bodyPr/>
          <a:lstStyle/>
          <a:p>
            <a:fld id="{0FA2D919-C0DE-4971-A2E9-D4AC0031921B}" type="slidenum">
              <a:rPr lang="en-US" noProof="0" smtClean="0"/>
              <a:t>43</a:t>
            </a:fld>
            <a:endParaRPr lang="en-US" noProof="0" dirty="0"/>
          </a:p>
        </p:txBody>
      </p:sp>
      <p:cxnSp>
        <p:nvCxnSpPr>
          <p:cNvPr id="44" name="Straight Arrow Connector 43">
            <a:extLst>
              <a:ext uri="{FF2B5EF4-FFF2-40B4-BE49-F238E27FC236}">
                <a16:creationId xmlns:a16="http://schemas.microsoft.com/office/drawing/2014/main" id="{6E749E40-8CA3-6BDE-8CAF-E3B718AAABB9}"/>
              </a:ext>
            </a:extLst>
          </p:cNvPr>
          <p:cNvCxnSpPr>
            <a:stCxn id="45" idx="6"/>
            <a:endCxn id="46"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Oval 44">
            <a:extLst>
              <a:ext uri="{FF2B5EF4-FFF2-40B4-BE49-F238E27FC236}">
                <a16:creationId xmlns:a16="http://schemas.microsoft.com/office/drawing/2014/main" id="{6E1F1A3C-9C1F-7EA5-F0A3-E34B245A48EB}"/>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46" name="Oval 45">
            <a:extLst>
              <a:ext uri="{FF2B5EF4-FFF2-40B4-BE49-F238E27FC236}">
                <a16:creationId xmlns:a16="http://schemas.microsoft.com/office/drawing/2014/main" id="{7E8C63B7-B4BB-178B-FB54-C20574540CC7}"/>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47" name="Oval 46">
            <a:extLst>
              <a:ext uri="{FF2B5EF4-FFF2-40B4-BE49-F238E27FC236}">
                <a16:creationId xmlns:a16="http://schemas.microsoft.com/office/drawing/2014/main" id="{D66C3459-FCAB-6AA8-F599-C50877E36E13}"/>
              </a:ext>
            </a:extLst>
          </p:cNvPr>
          <p:cNvSpPr/>
          <p:nvPr/>
        </p:nvSpPr>
        <p:spPr>
          <a:xfrm>
            <a:off x="4581604"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48" name="Oval 47">
            <a:extLst>
              <a:ext uri="{FF2B5EF4-FFF2-40B4-BE49-F238E27FC236}">
                <a16:creationId xmlns:a16="http://schemas.microsoft.com/office/drawing/2014/main" id="{F584DD6B-BC75-7D72-D561-C84C90864DAC}"/>
              </a:ext>
            </a:extLst>
          </p:cNvPr>
          <p:cNvSpPr/>
          <p:nvPr/>
        </p:nvSpPr>
        <p:spPr>
          <a:xfrm>
            <a:off x="5826000" y="3630312"/>
            <a:ext cx="540000" cy="540000"/>
          </a:xfrm>
          <a:prstGeom prst="ellipse">
            <a:avLst/>
          </a:prstGeom>
          <a:solidFill>
            <a:schemeClr val="bg1">
              <a:lumMod val="8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49" name="Straight Arrow Connector 48">
            <a:extLst>
              <a:ext uri="{FF2B5EF4-FFF2-40B4-BE49-F238E27FC236}">
                <a16:creationId xmlns:a16="http://schemas.microsoft.com/office/drawing/2014/main" id="{A96D7D9A-7CB9-4786-727A-20B7637985BC}"/>
              </a:ext>
            </a:extLst>
          </p:cNvPr>
          <p:cNvCxnSpPr>
            <a:cxnSpLocks/>
            <a:stCxn id="47" idx="6"/>
            <a:endCxn id="48"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3D203DC9-FFC1-BA4B-07EC-69B860FEA851}"/>
              </a:ext>
            </a:extLst>
          </p:cNvPr>
          <p:cNvCxnSpPr>
            <a:cxnSpLocks/>
            <a:stCxn id="47" idx="4"/>
            <a:endCxn id="45"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51" name="Oval 50">
            <a:extLst>
              <a:ext uri="{FF2B5EF4-FFF2-40B4-BE49-F238E27FC236}">
                <a16:creationId xmlns:a16="http://schemas.microsoft.com/office/drawing/2014/main" id="{F757A87F-FA61-A107-FCA7-1557BE854ACB}"/>
              </a:ext>
            </a:extLst>
          </p:cNvPr>
          <p:cNvSpPr/>
          <p:nvPr/>
        </p:nvSpPr>
        <p:spPr>
          <a:xfrm>
            <a:off x="7071690"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52" name="Straight Arrow Connector 51">
            <a:extLst>
              <a:ext uri="{FF2B5EF4-FFF2-40B4-BE49-F238E27FC236}">
                <a16:creationId xmlns:a16="http://schemas.microsoft.com/office/drawing/2014/main" id="{673D70CD-DB0D-9B1D-05D7-3AB2ABC5A112}"/>
              </a:ext>
            </a:extLst>
          </p:cNvPr>
          <p:cNvCxnSpPr>
            <a:cxnSpLocks/>
            <a:stCxn id="51" idx="2"/>
            <a:endCxn id="48"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7C53BE1B-C1CC-5AC1-A820-2D6B03D00D8A}"/>
              </a:ext>
            </a:extLst>
          </p:cNvPr>
          <p:cNvCxnSpPr>
            <a:cxnSpLocks/>
            <a:stCxn id="51" idx="4"/>
            <a:endCxn id="46"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EBA88B61-CD57-C237-AD38-370118D38056}"/>
              </a:ext>
            </a:extLst>
          </p:cNvPr>
          <p:cNvCxnSpPr>
            <a:cxnSpLocks/>
            <a:stCxn id="48" idx="3"/>
            <a:endCxn id="45"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70807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7A26C-21DC-C2C4-E16A-E5D8FD132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9DE1E-249E-1022-7D5A-F5EA8AEE007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D5CDBA9C-718B-BDF5-D5CF-CF999AD69197}"/>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D9F274E1-20B4-D162-644D-54AF2B39DFE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71DC1F9-8535-7221-7AEC-64C80C39C55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1F77A66-6C84-64E5-0D1F-86361F5DB96B}"/>
              </a:ext>
            </a:extLst>
          </p:cNvPr>
          <p:cNvSpPr>
            <a:spLocks noGrp="1"/>
          </p:cNvSpPr>
          <p:nvPr>
            <p:ph type="sldNum" sz="quarter" idx="12"/>
          </p:nvPr>
        </p:nvSpPr>
        <p:spPr/>
        <p:txBody>
          <a:bodyPr/>
          <a:lstStyle/>
          <a:p>
            <a:fld id="{0FA2D919-C0DE-4971-A2E9-D4AC0031921B}" type="slidenum">
              <a:rPr lang="en-US" noProof="0" smtClean="0"/>
              <a:t>44</a:t>
            </a:fld>
            <a:endParaRPr lang="en-US" noProof="0" dirty="0"/>
          </a:p>
        </p:txBody>
      </p:sp>
      <p:grpSp>
        <p:nvGrpSpPr>
          <p:cNvPr id="29" name="Group 28">
            <a:extLst>
              <a:ext uri="{FF2B5EF4-FFF2-40B4-BE49-F238E27FC236}">
                <a16:creationId xmlns:a16="http://schemas.microsoft.com/office/drawing/2014/main" id="{E7F28A5B-77B3-213C-6475-ECBB147AAB4A}"/>
              </a:ext>
            </a:extLst>
          </p:cNvPr>
          <p:cNvGrpSpPr/>
          <p:nvPr/>
        </p:nvGrpSpPr>
        <p:grpSpPr>
          <a:xfrm>
            <a:off x="5594155" y="5241289"/>
            <a:ext cx="6154149" cy="946595"/>
            <a:chOff x="775412" y="5230368"/>
            <a:chExt cx="6154149" cy="946595"/>
          </a:xfrm>
        </p:grpSpPr>
        <p:sp>
          <p:nvSpPr>
            <p:cNvPr id="30" name="Rectangle: Rounded Corners 29">
              <a:extLst>
                <a:ext uri="{FF2B5EF4-FFF2-40B4-BE49-F238E27FC236}">
                  <a16:creationId xmlns:a16="http://schemas.microsoft.com/office/drawing/2014/main" id="{C36E4619-CB58-83B2-947C-26715AFAE881}"/>
                </a:ext>
              </a:extLst>
            </p:cNvPr>
            <p:cNvSpPr/>
            <p:nvPr/>
          </p:nvSpPr>
          <p:spPr>
            <a:xfrm>
              <a:off x="775412" y="5230368"/>
              <a:ext cx="615414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solidFill>
                    <a:schemeClr val="bg1"/>
                  </a:solidFill>
                </a:rPr>
                <a:t>For some DAGs, it is impossible to find an adjustment set that </a:t>
              </a:r>
              <a:r>
                <a:rPr lang="en-US" noProof="0" dirty="0" err="1">
                  <a:solidFill>
                    <a:schemeClr val="bg1"/>
                  </a:solidFill>
                </a:rPr>
                <a:t>deconfounds</a:t>
              </a:r>
              <a:r>
                <a:rPr lang="en-US" noProof="0" dirty="0">
                  <a:solidFill>
                    <a:schemeClr val="bg1"/>
                  </a:solidFill>
                </a:rPr>
                <a:t> the effect of interest.</a:t>
              </a:r>
              <a:endParaRPr lang="en-US" noProof="0" dirty="0">
                <a:solidFill>
                  <a:srgbClr val="006D70"/>
                </a:solidFill>
              </a:endParaRPr>
            </a:p>
          </p:txBody>
        </p:sp>
        <p:pic>
          <p:nvPicPr>
            <p:cNvPr id="31" name="Graphic 30" descr="Open quotation mark with solid fill">
              <a:extLst>
                <a:ext uri="{FF2B5EF4-FFF2-40B4-BE49-F238E27FC236}">
                  <a16:creationId xmlns:a16="http://schemas.microsoft.com/office/drawing/2014/main" id="{81390112-F08C-DFCD-87C2-A2FD629DAB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cxnSp>
        <p:nvCxnSpPr>
          <p:cNvPr id="7" name="Straight Arrow Connector 6">
            <a:extLst>
              <a:ext uri="{FF2B5EF4-FFF2-40B4-BE49-F238E27FC236}">
                <a16:creationId xmlns:a16="http://schemas.microsoft.com/office/drawing/2014/main" id="{36D55121-5959-2BFF-35C5-93528002A086}"/>
              </a:ext>
            </a:extLst>
          </p:cNvPr>
          <p:cNvCxnSpPr>
            <a:stCxn id="8" idx="6"/>
            <a:endCxn id="9"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Oval 7">
            <a:extLst>
              <a:ext uri="{FF2B5EF4-FFF2-40B4-BE49-F238E27FC236}">
                <a16:creationId xmlns:a16="http://schemas.microsoft.com/office/drawing/2014/main" id="{7A6EA974-708D-9B0F-4E33-D688B29430FA}"/>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9" name="Oval 8">
            <a:extLst>
              <a:ext uri="{FF2B5EF4-FFF2-40B4-BE49-F238E27FC236}">
                <a16:creationId xmlns:a16="http://schemas.microsoft.com/office/drawing/2014/main" id="{993FF2C0-050A-C2A8-A38A-92513E756A9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FA848C4A-402E-4AE7-56A9-E5C2D304D179}"/>
              </a:ext>
            </a:extLst>
          </p:cNvPr>
          <p:cNvSpPr/>
          <p:nvPr/>
        </p:nvSpPr>
        <p:spPr>
          <a:xfrm>
            <a:off x="4581604"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62B277E9-0C49-72F3-3F6F-65ECAB6AFC08}"/>
              </a:ext>
            </a:extLst>
          </p:cNvPr>
          <p:cNvSpPr/>
          <p:nvPr/>
        </p:nvSpPr>
        <p:spPr>
          <a:xfrm>
            <a:off x="5826000" y="3630312"/>
            <a:ext cx="540000" cy="540000"/>
          </a:xfrm>
          <a:prstGeom prst="ellipse">
            <a:avLst/>
          </a:prstGeom>
          <a:solidFill>
            <a:schemeClr val="bg1">
              <a:lumMod val="8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2" name="Straight Arrow Connector 11">
            <a:extLst>
              <a:ext uri="{FF2B5EF4-FFF2-40B4-BE49-F238E27FC236}">
                <a16:creationId xmlns:a16="http://schemas.microsoft.com/office/drawing/2014/main" id="{19545329-5902-5061-AD0C-36876F07C449}"/>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18AA39AC-2F58-7E97-6E61-9918ACB936B3}"/>
              </a:ext>
            </a:extLst>
          </p:cNvPr>
          <p:cNvCxnSpPr>
            <a:cxnSpLocks/>
            <a:stCxn id="10" idx="4"/>
            <a:endCxn id="8"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F7C23D02-6E20-B1CB-1D48-6A5AF812A25D}"/>
              </a:ext>
            </a:extLst>
          </p:cNvPr>
          <p:cNvSpPr/>
          <p:nvPr/>
        </p:nvSpPr>
        <p:spPr>
          <a:xfrm>
            <a:off x="7071690"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15" name="Straight Arrow Connector 14">
            <a:extLst>
              <a:ext uri="{FF2B5EF4-FFF2-40B4-BE49-F238E27FC236}">
                <a16:creationId xmlns:a16="http://schemas.microsoft.com/office/drawing/2014/main" id="{E8B3DD38-7B5A-1F87-C41A-BAE0B6F6CF02}"/>
              </a:ext>
            </a:extLst>
          </p:cNvPr>
          <p:cNvCxnSpPr>
            <a:cxnSpLocks/>
            <a:stCxn id="14"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382C2505-7261-A5D3-3617-DB4518BC51F1}"/>
              </a:ext>
            </a:extLst>
          </p:cNvPr>
          <p:cNvCxnSpPr>
            <a:cxnSpLocks/>
            <a:stCxn id="14" idx="4"/>
            <a:endCxn id="9"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5E9EB85-9798-A5C7-A564-590F3C71AF01}"/>
              </a:ext>
            </a:extLst>
          </p:cNvPr>
          <p:cNvCxnSpPr>
            <a:cxnSpLocks/>
            <a:stCxn id="11" idx="3"/>
            <a:endCxn id="8"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278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F4A34C0-C293-368E-01AE-7A95A6573F32}"/>
              </a:ext>
            </a:extLst>
          </p:cNvPr>
          <p:cNvSpPr>
            <a:spLocks noGrp="1"/>
          </p:cNvSpPr>
          <p:nvPr>
            <p:ph type="title"/>
          </p:nvPr>
        </p:nvSpPr>
        <p:spPr/>
        <p:txBody>
          <a:bodyPr/>
          <a:lstStyle/>
          <a:p>
            <a:r>
              <a:rPr lang="en-SE" dirty="0"/>
              <a:t>Conclusion</a:t>
            </a:r>
          </a:p>
        </p:txBody>
      </p:sp>
      <p:sp>
        <p:nvSpPr>
          <p:cNvPr id="7" name="Text Placeholder 6">
            <a:extLst>
              <a:ext uri="{FF2B5EF4-FFF2-40B4-BE49-F238E27FC236}">
                <a16:creationId xmlns:a16="http://schemas.microsoft.com/office/drawing/2014/main" id="{A1D73B4E-C719-5AE6-5BC5-1C5293AB1A39}"/>
              </a:ext>
            </a:extLst>
          </p:cNvPr>
          <p:cNvSpPr>
            <a:spLocks noGrp="1"/>
          </p:cNvSpPr>
          <p:nvPr>
            <p:ph type="body" idx="1"/>
          </p:nvPr>
        </p:nvSpPr>
        <p:spPr/>
        <p:txBody>
          <a:bodyPr/>
          <a:lstStyle/>
          <a:p>
            <a:r>
              <a:rPr lang="en-SE" dirty="0"/>
              <a:t>Implications for Better Science</a:t>
            </a:r>
          </a:p>
        </p:txBody>
      </p:sp>
      <p:sp>
        <p:nvSpPr>
          <p:cNvPr id="4" name="Date Placeholder 3">
            <a:extLst>
              <a:ext uri="{FF2B5EF4-FFF2-40B4-BE49-F238E27FC236}">
                <a16:creationId xmlns:a16="http://schemas.microsoft.com/office/drawing/2014/main" id="{4E32E988-1450-2E4A-335E-2DD9F1EF439E}"/>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2117A2E1-6763-88D7-46BD-4749DDD468BA}"/>
              </a:ext>
            </a:extLst>
          </p:cNvPr>
          <p:cNvSpPr>
            <a:spLocks noGrp="1"/>
          </p:cNvSpPr>
          <p:nvPr>
            <p:ph type="sldNum" sz="quarter" idx="12"/>
          </p:nvPr>
        </p:nvSpPr>
        <p:spPr/>
        <p:txBody>
          <a:bodyPr/>
          <a:lstStyle/>
          <a:p>
            <a:fld id="{271ECC92-9CDE-4EB3-B1C5-F46B9E1FA3C1}" type="slidenum">
              <a:rPr lang="en-SE" smtClean="0"/>
              <a:t>45</a:t>
            </a:fld>
            <a:endParaRPr lang="en-SE"/>
          </a:p>
        </p:txBody>
      </p:sp>
    </p:spTree>
    <p:extLst>
      <p:ext uri="{BB962C8B-B14F-4D97-AF65-F5344CB8AC3E}">
        <p14:creationId xmlns:p14="http://schemas.microsoft.com/office/powerpoint/2010/main" val="847780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E0A7E-FB22-019E-2894-6F64380729FE}"/>
              </a:ext>
            </a:extLst>
          </p:cNvPr>
          <p:cNvSpPr>
            <a:spLocks noGrp="1"/>
          </p:cNvSpPr>
          <p:nvPr>
            <p:ph type="title"/>
          </p:nvPr>
        </p:nvSpPr>
        <p:spPr/>
        <p:txBody>
          <a:bodyPr/>
          <a:lstStyle/>
          <a:p>
            <a:r>
              <a:rPr lang="en-SE" dirty="0"/>
              <a:t>Internal vs. External Validity</a:t>
            </a:r>
          </a:p>
        </p:txBody>
      </p:sp>
      <p:sp>
        <p:nvSpPr>
          <p:cNvPr id="4" name="Date Placeholder 3">
            <a:extLst>
              <a:ext uri="{FF2B5EF4-FFF2-40B4-BE49-F238E27FC236}">
                <a16:creationId xmlns:a16="http://schemas.microsoft.com/office/drawing/2014/main" id="{E329837F-BE0D-E8AE-15E4-E534E737E443}"/>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8291CE67-E14B-E574-9AE7-CAF32BAF237D}"/>
              </a:ext>
            </a:extLst>
          </p:cNvPr>
          <p:cNvSpPr>
            <a:spLocks noGrp="1"/>
          </p:cNvSpPr>
          <p:nvPr>
            <p:ph type="sldNum" sz="quarter" idx="12"/>
          </p:nvPr>
        </p:nvSpPr>
        <p:spPr/>
        <p:txBody>
          <a:bodyPr/>
          <a:lstStyle/>
          <a:p>
            <a:fld id="{271ECC92-9CDE-4EB3-B1C5-F46B9E1FA3C1}" type="slidenum">
              <a:rPr lang="en-SE" smtClean="0"/>
              <a:t>46</a:t>
            </a:fld>
            <a:endParaRPr lang="en-SE"/>
          </a:p>
        </p:txBody>
      </p:sp>
      <p:grpSp>
        <p:nvGrpSpPr>
          <p:cNvPr id="15" name="Group 14">
            <a:extLst>
              <a:ext uri="{FF2B5EF4-FFF2-40B4-BE49-F238E27FC236}">
                <a16:creationId xmlns:a16="http://schemas.microsoft.com/office/drawing/2014/main" id="{65A8F85E-7E8D-8C04-FCFA-CD0D091C353E}"/>
              </a:ext>
            </a:extLst>
          </p:cNvPr>
          <p:cNvGrpSpPr/>
          <p:nvPr/>
        </p:nvGrpSpPr>
        <p:grpSpPr>
          <a:xfrm>
            <a:off x="5199293" y="3429000"/>
            <a:ext cx="1793413" cy="1665182"/>
            <a:chOff x="6458873" y="2830463"/>
            <a:chExt cx="1793413" cy="1665182"/>
          </a:xfrm>
        </p:grpSpPr>
        <p:sp>
          <p:nvSpPr>
            <p:cNvPr id="6" name="Oval 5">
              <a:extLst>
                <a:ext uri="{FF2B5EF4-FFF2-40B4-BE49-F238E27FC236}">
                  <a16:creationId xmlns:a16="http://schemas.microsoft.com/office/drawing/2014/main" id="{CB0CFD9F-E211-EACD-7170-7373ED45BDFD}"/>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7" name="Oval 6">
              <a:extLst>
                <a:ext uri="{FF2B5EF4-FFF2-40B4-BE49-F238E27FC236}">
                  <a16:creationId xmlns:a16="http://schemas.microsoft.com/office/drawing/2014/main" id="{3D7D455C-8F7A-594B-22E9-5516DDD22B22}"/>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8" name="Straight Arrow Connector 7">
              <a:extLst>
                <a:ext uri="{FF2B5EF4-FFF2-40B4-BE49-F238E27FC236}">
                  <a16:creationId xmlns:a16="http://schemas.microsoft.com/office/drawing/2014/main" id="{C4D4F47C-FBAC-A25C-7143-54BC821A6741}"/>
                </a:ext>
              </a:extLst>
            </p:cNvPr>
            <p:cNvCxnSpPr>
              <a:stCxn id="6" idx="6"/>
              <a:endCxn id="7"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Oval 8">
              <a:extLst>
                <a:ext uri="{FF2B5EF4-FFF2-40B4-BE49-F238E27FC236}">
                  <a16:creationId xmlns:a16="http://schemas.microsoft.com/office/drawing/2014/main" id="{A61EB8EA-F6F0-3616-2317-EAF3EDB8AA32}"/>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0" name="Straight Arrow Connector 9">
              <a:extLst>
                <a:ext uri="{FF2B5EF4-FFF2-40B4-BE49-F238E27FC236}">
                  <a16:creationId xmlns:a16="http://schemas.microsoft.com/office/drawing/2014/main" id="{3EFA49D0-7DBF-3E11-5D4F-FE0B74D34F3A}"/>
                </a:ext>
              </a:extLst>
            </p:cNvPr>
            <p:cNvCxnSpPr>
              <a:cxnSpLocks/>
              <a:stCxn id="9" idx="3"/>
              <a:endCxn id="6"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F11891CD-6021-F8AB-BCD8-4FED8C6CFFC6}"/>
                </a:ext>
              </a:extLst>
            </p:cNvPr>
            <p:cNvCxnSpPr>
              <a:cxnSpLocks/>
              <a:stCxn id="9" idx="5"/>
              <a:endCxn id="7"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a:extLst>
                <a:ext uri="{FF2B5EF4-FFF2-40B4-BE49-F238E27FC236}">
                  <a16:creationId xmlns:a16="http://schemas.microsoft.com/office/drawing/2014/main" id="{605B7509-D81A-5722-BEDF-A89D71467758}"/>
                </a:ext>
              </a:extLst>
            </p:cNvPr>
            <p:cNvSpPr/>
            <p:nvPr/>
          </p:nvSpPr>
          <p:spPr>
            <a:xfrm>
              <a:off x="7175578" y="4135645"/>
              <a:ext cx="360000" cy="360000"/>
            </a:xfrm>
            <a:prstGeom prst="ellipse">
              <a:avLst/>
            </a:prstGeom>
            <a:solidFill>
              <a:schemeClr val="bg1">
                <a:lumMod val="65000"/>
              </a:schemeClr>
            </a:solidFill>
            <a:ln>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13" name="Straight Arrow Connector 12">
              <a:extLst>
                <a:ext uri="{FF2B5EF4-FFF2-40B4-BE49-F238E27FC236}">
                  <a16:creationId xmlns:a16="http://schemas.microsoft.com/office/drawing/2014/main" id="{B0C00798-723C-C228-C116-93076E78A098}"/>
                </a:ext>
              </a:extLst>
            </p:cNvPr>
            <p:cNvCxnSpPr>
              <a:cxnSpLocks/>
              <a:stCxn id="12" idx="7"/>
              <a:endCxn id="7" idx="3"/>
            </p:cNvCxnSpPr>
            <p:nvPr/>
          </p:nvCxnSpPr>
          <p:spPr>
            <a:xfrm flipV="1">
              <a:off x="7482857" y="3786780"/>
              <a:ext cx="462150"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2A3B57A4-2D5E-5568-EF2D-86A728ABCB1C}"/>
                </a:ext>
              </a:extLst>
            </p:cNvPr>
            <p:cNvCxnSpPr>
              <a:cxnSpLocks/>
              <a:stCxn id="12" idx="1"/>
              <a:endCxn id="6" idx="5"/>
            </p:cNvCxnSpPr>
            <p:nvPr/>
          </p:nvCxnSpPr>
          <p:spPr>
            <a:xfrm flipH="1" flipV="1">
              <a:off x="6766152" y="3786780"/>
              <a:ext cx="462147"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6" name="TextBox 15">
            <a:extLst>
              <a:ext uri="{FF2B5EF4-FFF2-40B4-BE49-F238E27FC236}">
                <a16:creationId xmlns:a16="http://schemas.microsoft.com/office/drawing/2014/main" id="{E8E31BD8-C8B7-C79B-AE8A-8E913BDA99D1}"/>
              </a:ext>
            </a:extLst>
          </p:cNvPr>
          <p:cNvSpPr txBox="1"/>
          <p:nvPr/>
        </p:nvSpPr>
        <p:spPr>
          <a:xfrm>
            <a:off x="838197" y="4371336"/>
            <a:ext cx="4997302" cy="923330"/>
          </a:xfrm>
          <a:prstGeom prst="rect">
            <a:avLst/>
          </a:prstGeom>
          <a:noFill/>
        </p:spPr>
        <p:txBody>
          <a:bodyPr wrap="square" rtlCol="0">
            <a:spAutoFit/>
          </a:bodyPr>
          <a:lstStyle/>
          <a:p>
            <a:r>
              <a:rPr lang="de-DE" dirty="0"/>
              <a:t>A</a:t>
            </a:r>
            <a:r>
              <a:rPr lang="en-SE" dirty="0"/>
              <a:t>n unobserved/unobservable variable with a causal effect on the phenomenon threatens the </a:t>
            </a:r>
            <a:r>
              <a:rPr lang="en-SE" b="1" dirty="0"/>
              <a:t>internal validity</a:t>
            </a:r>
            <a:r>
              <a:rPr lang="en-SE" dirty="0"/>
              <a:t> of the conclusion.</a:t>
            </a:r>
          </a:p>
        </p:txBody>
      </p:sp>
      <p:grpSp>
        <p:nvGrpSpPr>
          <p:cNvPr id="26" name="Group 25">
            <a:extLst>
              <a:ext uri="{FF2B5EF4-FFF2-40B4-BE49-F238E27FC236}">
                <a16:creationId xmlns:a16="http://schemas.microsoft.com/office/drawing/2014/main" id="{A2401361-80A1-D1A7-041D-20BF08673572}"/>
              </a:ext>
            </a:extLst>
          </p:cNvPr>
          <p:cNvGrpSpPr/>
          <p:nvPr/>
        </p:nvGrpSpPr>
        <p:grpSpPr>
          <a:xfrm>
            <a:off x="838197" y="5328040"/>
            <a:ext cx="7529627" cy="1393435"/>
            <a:chOff x="838197" y="5328040"/>
            <a:chExt cx="7529627" cy="1393435"/>
          </a:xfrm>
        </p:grpSpPr>
        <p:sp>
          <p:nvSpPr>
            <p:cNvPr id="20" name="Rectangle: Rounded Corners 19">
              <a:extLst>
                <a:ext uri="{FF2B5EF4-FFF2-40B4-BE49-F238E27FC236}">
                  <a16:creationId xmlns:a16="http://schemas.microsoft.com/office/drawing/2014/main" id="{B5CA97AA-8EC2-BC0A-79D9-D1939342D83D}"/>
                </a:ext>
              </a:extLst>
            </p:cNvPr>
            <p:cNvSpPr/>
            <p:nvPr/>
          </p:nvSpPr>
          <p:spPr>
            <a:xfrm>
              <a:off x="838202" y="5378941"/>
              <a:ext cx="7529622" cy="1342534"/>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08000" tIns="360000" rtlCol="0" anchor="ctr"/>
            <a:lstStyle/>
            <a:p>
              <a:r>
                <a:rPr lang="en-US" noProof="0" dirty="0"/>
                <a:t>Threats to internal validity are influences that can affect the independent variable</a:t>
              </a:r>
              <a:r>
                <a:rPr lang="en-SE" noProof="0" dirty="0"/>
                <a:t> </a:t>
              </a:r>
              <a:r>
                <a:rPr lang="en-US" noProof="0" dirty="0"/>
                <a:t>with respect to causality, without the researcher’s knowledge.</a:t>
              </a:r>
            </a:p>
          </p:txBody>
        </p:sp>
        <p:pic>
          <p:nvPicPr>
            <p:cNvPr id="21" name="Graphic 20" descr="Open quotation mark with solid fill">
              <a:extLst>
                <a:ext uri="{FF2B5EF4-FFF2-40B4-BE49-F238E27FC236}">
                  <a16:creationId xmlns:a16="http://schemas.microsoft.com/office/drawing/2014/main" id="{F284C336-5B20-FBF6-5A67-89A0A97198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38197" y="5328040"/>
              <a:ext cx="720000" cy="787017"/>
            </a:xfrm>
            <a:prstGeom prst="rect">
              <a:avLst/>
            </a:prstGeom>
          </p:spPr>
        </p:pic>
        <p:sp>
          <p:nvSpPr>
            <p:cNvPr id="22" name="TextBox 21">
              <a:extLst>
                <a:ext uri="{FF2B5EF4-FFF2-40B4-BE49-F238E27FC236}">
                  <a16:creationId xmlns:a16="http://schemas.microsoft.com/office/drawing/2014/main" id="{9D15CEB1-3C3C-E0ED-82E4-6A0A6D9A4D29}"/>
                </a:ext>
              </a:extLst>
            </p:cNvPr>
            <p:cNvSpPr txBox="1"/>
            <p:nvPr/>
          </p:nvSpPr>
          <p:spPr>
            <a:xfrm>
              <a:off x="1558199" y="5507665"/>
              <a:ext cx="6628872" cy="400110"/>
            </a:xfrm>
            <a:prstGeom prst="rect">
              <a:avLst/>
            </a:prstGeom>
            <a:noFill/>
          </p:spPr>
          <p:txBody>
            <a:bodyPr wrap="square" rtlCol="0">
              <a:spAutoFit/>
            </a:bodyPr>
            <a:lstStyle/>
            <a:p>
              <a:r>
                <a:rPr lang="de-DE" sz="1000" dirty="0" err="1">
                  <a:solidFill>
                    <a:schemeClr val="bg1"/>
                  </a:solidFill>
                </a:rPr>
                <a:t>Wohlin</a:t>
              </a:r>
              <a:r>
                <a:rPr lang="de-DE" sz="1000" dirty="0">
                  <a:solidFill>
                    <a:schemeClr val="bg1"/>
                  </a:solidFill>
                </a:rPr>
                <a:t>, C., </a:t>
              </a:r>
              <a:r>
                <a:rPr lang="de-DE" sz="1000" dirty="0" err="1">
                  <a:solidFill>
                    <a:schemeClr val="bg1"/>
                  </a:solidFill>
                </a:rPr>
                <a:t>Runeson</a:t>
              </a:r>
              <a:r>
                <a:rPr lang="de-DE" sz="1000" dirty="0">
                  <a:solidFill>
                    <a:schemeClr val="bg1"/>
                  </a:solidFill>
                </a:rPr>
                <a:t>, P., </a:t>
              </a:r>
              <a:r>
                <a:rPr lang="de-DE" sz="1000" dirty="0" err="1">
                  <a:solidFill>
                    <a:schemeClr val="bg1"/>
                  </a:solidFill>
                </a:rPr>
                <a:t>Höst</a:t>
              </a:r>
              <a:r>
                <a:rPr lang="de-DE" sz="1000" dirty="0">
                  <a:solidFill>
                    <a:schemeClr val="bg1"/>
                  </a:solidFill>
                </a:rPr>
                <a:t>, M., </a:t>
              </a:r>
              <a:r>
                <a:rPr lang="de-DE" sz="1000" dirty="0" err="1">
                  <a:solidFill>
                    <a:schemeClr val="bg1"/>
                  </a:solidFill>
                </a:rPr>
                <a:t>Ohlsson</a:t>
              </a:r>
              <a:r>
                <a:rPr lang="de-DE" sz="1000" dirty="0">
                  <a:solidFill>
                    <a:schemeClr val="bg1"/>
                  </a:solidFill>
                </a:rPr>
                <a:t>, M. C., Regnell, B., &amp; </a:t>
              </a:r>
              <a:r>
                <a:rPr lang="de-DE" sz="1000" dirty="0" err="1">
                  <a:solidFill>
                    <a:schemeClr val="bg1"/>
                  </a:solidFill>
                </a:rPr>
                <a:t>Wesslén</a:t>
              </a:r>
              <a:r>
                <a:rPr lang="de-DE" sz="1000" dirty="0">
                  <a:solidFill>
                    <a:schemeClr val="bg1"/>
                  </a:solidFill>
                </a:rPr>
                <a:t>, A. (2012). </a:t>
              </a:r>
              <a:r>
                <a:rPr lang="de-DE" sz="1000" dirty="0" err="1">
                  <a:solidFill>
                    <a:schemeClr val="bg1"/>
                  </a:solidFill>
                </a:rPr>
                <a:t>Experimentation</a:t>
              </a:r>
              <a:r>
                <a:rPr lang="de-DE" sz="1000" dirty="0">
                  <a:solidFill>
                    <a:schemeClr val="bg1"/>
                  </a:solidFill>
                </a:rPr>
                <a:t> in </a:t>
              </a:r>
              <a:r>
                <a:rPr lang="de-DE" sz="1000" dirty="0" err="1">
                  <a:solidFill>
                    <a:schemeClr val="bg1"/>
                  </a:solidFill>
                </a:rPr>
                <a:t>software</a:t>
              </a:r>
              <a:r>
                <a:rPr lang="de-DE" sz="1000" dirty="0">
                  <a:solidFill>
                    <a:schemeClr val="bg1"/>
                  </a:solidFill>
                </a:rPr>
                <a:t> </a:t>
              </a:r>
              <a:r>
                <a:rPr lang="de-DE" sz="1000" dirty="0" err="1">
                  <a:solidFill>
                    <a:schemeClr val="bg1"/>
                  </a:solidFill>
                </a:rPr>
                <a:t>engineering</a:t>
              </a:r>
              <a:r>
                <a:rPr lang="de-DE" sz="1000" dirty="0">
                  <a:solidFill>
                    <a:schemeClr val="bg1"/>
                  </a:solidFill>
                </a:rPr>
                <a:t> (Vol. 236). Berlin: Springer.</a:t>
              </a:r>
              <a:endParaRPr lang="en-SE" sz="1000" dirty="0">
                <a:solidFill>
                  <a:schemeClr val="bg1"/>
                </a:solidFill>
              </a:endParaRPr>
            </a:p>
          </p:txBody>
        </p:sp>
      </p:grpSp>
      <p:grpSp>
        <p:nvGrpSpPr>
          <p:cNvPr id="27" name="Group 26">
            <a:extLst>
              <a:ext uri="{FF2B5EF4-FFF2-40B4-BE49-F238E27FC236}">
                <a16:creationId xmlns:a16="http://schemas.microsoft.com/office/drawing/2014/main" id="{E620CAC8-D8EF-20AD-C477-9BD9A8E00363}"/>
              </a:ext>
            </a:extLst>
          </p:cNvPr>
          <p:cNvGrpSpPr/>
          <p:nvPr/>
        </p:nvGrpSpPr>
        <p:grpSpPr>
          <a:xfrm>
            <a:off x="3824173" y="1693806"/>
            <a:ext cx="7529627" cy="1393435"/>
            <a:chOff x="838197" y="5328040"/>
            <a:chExt cx="7529627" cy="1393435"/>
          </a:xfrm>
        </p:grpSpPr>
        <p:sp>
          <p:nvSpPr>
            <p:cNvPr id="28" name="Rectangle: Rounded Corners 27">
              <a:extLst>
                <a:ext uri="{FF2B5EF4-FFF2-40B4-BE49-F238E27FC236}">
                  <a16:creationId xmlns:a16="http://schemas.microsoft.com/office/drawing/2014/main" id="{D6208D84-BE44-F55B-FD3A-69CC8621FE2A}"/>
                </a:ext>
              </a:extLst>
            </p:cNvPr>
            <p:cNvSpPr/>
            <p:nvPr/>
          </p:nvSpPr>
          <p:spPr>
            <a:xfrm>
              <a:off x="838202" y="5378941"/>
              <a:ext cx="7529622" cy="1342534"/>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08000" tIns="360000" rtlCol="0" anchor="ctr"/>
            <a:lstStyle/>
            <a:p>
              <a:r>
                <a:rPr lang="en-US" dirty="0"/>
                <a:t>Threats to external validity are conditions that limit our ability to generalize the</a:t>
              </a:r>
              <a:r>
                <a:rPr lang="en-SE" dirty="0"/>
                <a:t> </a:t>
              </a:r>
              <a:r>
                <a:rPr lang="en-US" dirty="0"/>
                <a:t>results of our experiment to industrial practice.</a:t>
              </a:r>
              <a:endParaRPr lang="en-US" noProof="0" dirty="0"/>
            </a:p>
          </p:txBody>
        </p:sp>
        <p:pic>
          <p:nvPicPr>
            <p:cNvPr id="29" name="Graphic 28" descr="Open quotation mark with solid fill">
              <a:extLst>
                <a:ext uri="{FF2B5EF4-FFF2-40B4-BE49-F238E27FC236}">
                  <a16:creationId xmlns:a16="http://schemas.microsoft.com/office/drawing/2014/main" id="{40D04A9C-EA53-5ABE-352B-3059EB568E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38197" y="5328040"/>
              <a:ext cx="720000" cy="787017"/>
            </a:xfrm>
            <a:prstGeom prst="rect">
              <a:avLst/>
            </a:prstGeom>
          </p:spPr>
        </p:pic>
        <p:sp>
          <p:nvSpPr>
            <p:cNvPr id="30" name="TextBox 29">
              <a:extLst>
                <a:ext uri="{FF2B5EF4-FFF2-40B4-BE49-F238E27FC236}">
                  <a16:creationId xmlns:a16="http://schemas.microsoft.com/office/drawing/2014/main" id="{E96ECEA2-C784-C6AA-5BE4-1B95280C1912}"/>
                </a:ext>
              </a:extLst>
            </p:cNvPr>
            <p:cNvSpPr txBox="1"/>
            <p:nvPr/>
          </p:nvSpPr>
          <p:spPr>
            <a:xfrm>
              <a:off x="1558199" y="5507665"/>
              <a:ext cx="6628872" cy="400110"/>
            </a:xfrm>
            <a:prstGeom prst="rect">
              <a:avLst/>
            </a:prstGeom>
            <a:noFill/>
          </p:spPr>
          <p:txBody>
            <a:bodyPr wrap="square" rtlCol="0">
              <a:spAutoFit/>
            </a:bodyPr>
            <a:lstStyle/>
            <a:p>
              <a:r>
                <a:rPr lang="de-DE" sz="1000" dirty="0" err="1">
                  <a:solidFill>
                    <a:schemeClr val="bg1"/>
                  </a:solidFill>
                </a:rPr>
                <a:t>Wohlin</a:t>
              </a:r>
              <a:r>
                <a:rPr lang="de-DE" sz="1000" dirty="0">
                  <a:solidFill>
                    <a:schemeClr val="bg1"/>
                  </a:solidFill>
                </a:rPr>
                <a:t>, C., </a:t>
              </a:r>
              <a:r>
                <a:rPr lang="de-DE" sz="1000" dirty="0" err="1">
                  <a:solidFill>
                    <a:schemeClr val="bg1"/>
                  </a:solidFill>
                </a:rPr>
                <a:t>Runeson</a:t>
              </a:r>
              <a:r>
                <a:rPr lang="de-DE" sz="1000" dirty="0">
                  <a:solidFill>
                    <a:schemeClr val="bg1"/>
                  </a:solidFill>
                </a:rPr>
                <a:t>, P., </a:t>
              </a:r>
              <a:r>
                <a:rPr lang="de-DE" sz="1000" dirty="0" err="1">
                  <a:solidFill>
                    <a:schemeClr val="bg1"/>
                  </a:solidFill>
                </a:rPr>
                <a:t>Höst</a:t>
              </a:r>
              <a:r>
                <a:rPr lang="de-DE" sz="1000" dirty="0">
                  <a:solidFill>
                    <a:schemeClr val="bg1"/>
                  </a:solidFill>
                </a:rPr>
                <a:t>, M., </a:t>
              </a:r>
              <a:r>
                <a:rPr lang="de-DE" sz="1000" dirty="0" err="1">
                  <a:solidFill>
                    <a:schemeClr val="bg1"/>
                  </a:solidFill>
                </a:rPr>
                <a:t>Ohlsson</a:t>
              </a:r>
              <a:r>
                <a:rPr lang="de-DE" sz="1000" dirty="0">
                  <a:solidFill>
                    <a:schemeClr val="bg1"/>
                  </a:solidFill>
                </a:rPr>
                <a:t>, M. C., Regnell, B., &amp; </a:t>
              </a:r>
              <a:r>
                <a:rPr lang="de-DE" sz="1000" dirty="0" err="1">
                  <a:solidFill>
                    <a:schemeClr val="bg1"/>
                  </a:solidFill>
                </a:rPr>
                <a:t>Wesslén</a:t>
              </a:r>
              <a:r>
                <a:rPr lang="de-DE" sz="1000" dirty="0">
                  <a:solidFill>
                    <a:schemeClr val="bg1"/>
                  </a:solidFill>
                </a:rPr>
                <a:t>, A. (2012). </a:t>
              </a:r>
              <a:r>
                <a:rPr lang="de-DE" sz="1000" dirty="0" err="1">
                  <a:solidFill>
                    <a:schemeClr val="bg1"/>
                  </a:solidFill>
                </a:rPr>
                <a:t>Experimentation</a:t>
              </a:r>
              <a:r>
                <a:rPr lang="de-DE" sz="1000" dirty="0">
                  <a:solidFill>
                    <a:schemeClr val="bg1"/>
                  </a:solidFill>
                </a:rPr>
                <a:t> in </a:t>
              </a:r>
              <a:r>
                <a:rPr lang="de-DE" sz="1000" dirty="0" err="1">
                  <a:solidFill>
                    <a:schemeClr val="bg1"/>
                  </a:solidFill>
                </a:rPr>
                <a:t>software</a:t>
              </a:r>
              <a:r>
                <a:rPr lang="de-DE" sz="1000" dirty="0">
                  <a:solidFill>
                    <a:schemeClr val="bg1"/>
                  </a:solidFill>
                </a:rPr>
                <a:t> </a:t>
              </a:r>
              <a:r>
                <a:rPr lang="de-DE" sz="1000" dirty="0" err="1">
                  <a:solidFill>
                    <a:schemeClr val="bg1"/>
                  </a:solidFill>
                </a:rPr>
                <a:t>engineering</a:t>
              </a:r>
              <a:r>
                <a:rPr lang="de-DE" sz="1000" dirty="0">
                  <a:solidFill>
                    <a:schemeClr val="bg1"/>
                  </a:solidFill>
                </a:rPr>
                <a:t> (Vol. 236). Berlin: Springer.</a:t>
              </a:r>
              <a:endParaRPr lang="en-SE" sz="1000" dirty="0">
                <a:solidFill>
                  <a:schemeClr val="bg1"/>
                </a:solidFill>
              </a:endParaRPr>
            </a:p>
          </p:txBody>
        </p:sp>
      </p:grpSp>
      <p:sp>
        <p:nvSpPr>
          <p:cNvPr id="31" name="TextBox 30">
            <a:extLst>
              <a:ext uri="{FF2B5EF4-FFF2-40B4-BE49-F238E27FC236}">
                <a16:creationId xmlns:a16="http://schemas.microsoft.com/office/drawing/2014/main" id="{F169C8E6-E298-F1E6-F236-42854D946DF4}"/>
              </a:ext>
            </a:extLst>
          </p:cNvPr>
          <p:cNvSpPr txBox="1"/>
          <p:nvPr/>
        </p:nvSpPr>
        <p:spPr>
          <a:xfrm>
            <a:off x="6356498" y="3221411"/>
            <a:ext cx="4997302" cy="923330"/>
          </a:xfrm>
          <a:prstGeom prst="rect">
            <a:avLst/>
          </a:prstGeom>
          <a:noFill/>
        </p:spPr>
        <p:txBody>
          <a:bodyPr wrap="square" rtlCol="0">
            <a:spAutoFit/>
          </a:bodyPr>
          <a:lstStyle/>
          <a:p>
            <a:pPr algn="r"/>
            <a:r>
              <a:rPr lang="de-DE" dirty="0"/>
              <a:t>A</a:t>
            </a:r>
            <a:r>
              <a:rPr lang="en-SE" dirty="0"/>
              <a:t>n insufficiently distributed variable with a causal effect on the phenomenon threatens the </a:t>
            </a:r>
            <a:r>
              <a:rPr lang="en-SE" b="1" dirty="0"/>
              <a:t>external validity</a:t>
            </a:r>
            <a:r>
              <a:rPr lang="en-SE" dirty="0"/>
              <a:t> of the conclusion.</a:t>
            </a:r>
          </a:p>
        </p:txBody>
      </p:sp>
    </p:spTree>
    <p:extLst>
      <p:ext uri="{BB962C8B-B14F-4D97-AF65-F5344CB8AC3E}">
        <p14:creationId xmlns:p14="http://schemas.microsoft.com/office/powerpoint/2010/main" val="2898299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anim calcmode="lin" valueType="num">
                                      <p:cBhvr>
                                        <p:cTn id="12" dur="500" fill="hold"/>
                                        <p:tgtEl>
                                          <p:spTgt spid="27"/>
                                        </p:tgtEl>
                                        <p:attrNameLst>
                                          <p:attrName>ppt_x</p:attrName>
                                        </p:attrNameLst>
                                      </p:cBhvr>
                                      <p:tavLst>
                                        <p:tav tm="0">
                                          <p:val>
                                            <p:strVal val="#ppt_x"/>
                                          </p:val>
                                        </p:tav>
                                        <p:tav tm="100000">
                                          <p:val>
                                            <p:strVal val="#ppt_x"/>
                                          </p:val>
                                        </p:tav>
                                      </p:tavLst>
                                    </p:anim>
                                    <p:anim calcmode="lin" valueType="num">
                                      <p:cBhvr>
                                        <p:cTn id="13"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anim calcmode="lin" valueType="num">
                                      <p:cBhvr>
                                        <p:cTn id="23" dur="500" fill="hold"/>
                                        <p:tgtEl>
                                          <p:spTgt spid="26"/>
                                        </p:tgtEl>
                                        <p:attrNameLst>
                                          <p:attrName>ppt_x</p:attrName>
                                        </p:attrNameLst>
                                      </p:cBhvr>
                                      <p:tavLst>
                                        <p:tav tm="0">
                                          <p:val>
                                            <p:strVal val="#ppt_x"/>
                                          </p:val>
                                        </p:tav>
                                        <p:tav tm="100000">
                                          <p:val>
                                            <p:strVal val="#ppt_x"/>
                                          </p:val>
                                        </p:tav>
                                      </p:tavLst>
                                    </p:anim>
                                    <p:anim calcmode="lin" valueType="num">
                                      <p:cBhvr>
                                        <p:cTn id="24"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720BF-FA17-A541-2D0C-B78B10B02D6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207948A-44E1-C648-1FFF-A839E089E95B}"/>
              </a:ext>
            </a:extLst>
          </p:cNvPr>
          <p:cNvSpPr>
            <a:spLocks noGrp="1"/>
          </p:cNvSpPr>
          <p:nvPr>
            <p:ph type="title"/>
          </p:nvPr>
        </p:nvSpPr>
        <p:spPr/>
        <p:txBody>
          <a:bodyPr/>
          <a:lstStyle/>
          <a:p>
            <a:r>
              <a:rPr lang="en-US" noProof="0" dirty="0"/>
              <a:t>Workflow for Statistical Causal Inference</a:t>
            </a:r>
          </a:p>
        </p:txBody>
      </p:sp>
      <p:sp>
        <p:nvSpPr>
          <p:cNvPr id="4" name="Date Placeholder 3">
            <a:extLst>
              <a:ext uri="{FF2B5EF4-FFF2-40B4-BE49-F238E27FC236}">
                <a16:creationId xmlns:a16="http://schemas.microsoft.com/office/drawing/2014/main" id="{E434F649-204E-D5C4-7EF1-D83DDAA46DB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CC6E14B-EF21-D0E0-9997-92E238101D7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1C58BFD-4F67-6768-D701-9FBEC5DB87A9}"/>
              </a:ext>
            </a:extLst>
          </p:cNvPr>
          <p:cNvSpPr>
            <a:spLocks noGrp="1"/>
          </p:cNvSpPr>
          <p:nvPr>
            <p:ph type="sldNum" sz="quarter" idx="12"/>
          </p:nvPr>
        </p:nvSpPr>
        <p:spPr/>
        <p:txBody>
          <a:bodyPr/>
          <a:lstStyle/>
          <a:p>
            <a:fld id="{0FA2D919-C0DE-4971-A2E9-D4AC0031921B}" type="slidenum">
              <a:rPr lang="en-US" noProof="0" smtClean="0"/>
              <a:t>47</a:t>
            </a:fld>
            <a:endParaRPr lang="en-US" noProof="0" dirty="0"/>
          </a:p>
        </p:txBody>
      </p:sp>
      <p:grpSp>
        <p:nvGrpSpPr>
          <p:cNvPr id="14" name="Group 13">
            <a:extLst>
              <a:ext uri="{FF2B5EF4-FFF2-40B4-BE49-F238E27FC236}">
                <a16:creationId xmlns:a16="http://schemas.microsoft.com/office/drawing/2014/main" id="{CC65A5C1-AD8B-8361-9287-658B75E3093D}"/>
              </a:ext>
            </a:extLst>
          </p:cNvPr>
          <p:cNvGrpSpPr/>
          <p:nvPr/>
        </p:nvGrpSpPr>
        <p:grpSpPr>
          <a:xfrm>
            <a:off x="838200" y="1905000"/>
            <a:ext cx="1080000" cy="1080000"/>
            <a:chOff x="838200" y="1905000"/>
            <a:chExt cx="1080000" cy="1080000"/>
          </a:xfrm>
        </p:grpSpPr>
        <p:sp>
          <p:nvSpPr>
            <p:cNvPr id="9" name="Oval 8">
              <a:extLst>
                <a:ext uri="{FF2B5EF4-FFF2-40B4-BE49-F238E27FC236}">
                  <a16:creationId xmlns:a16="http://schemas.microsoft.com/office/drawing/2014/main" id="{12CB1253-6F4A-DE48-AD52-652ED3F2A6ED}"/>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c 12" descr="Influencer with solid fill">
              <a:extLst>
                <a:ext uri="{FF2B5EF4-FFF2-40B4-BE49-F238E27FC236}">
                  <a16:creationId xmlns:a16="http://schemas.microsoft.com/office/drawing/2014/main" id="{C0CF110D-A430-E306-8C84-38475EC7A3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1987800"/>
              <a:ext cx="914400" cy="914400"/>
            </a:xfrm>
            <a:prstGeom prst="rect">
              <a:avLst/>
            </a:prstGeom>
          </p:spPr>
        </p:pic>
      </p:grpSp>
      <p:sp>
        <p:nvSpPr>
          <p:cNvPr id="26" name="TextBox 25">
            <a:extLst>
              <a:ext uri="{FF2B5EF4-FFF2-40B4-BE49-F238E27FC236}">
                <a16:creationId xmlns:a16="http://schemas.microsoft.com/office/drawing/2014/main" id="{7401B5E4-8F60-B78B-B95F-F1238E8AAE9A}"/>
              </a:ext>
            </a:extLst>
          </p:cNvPr>
          <p:cNvSpPr txBox="1"/>
          <p:nvPr/>
        </p:nvSpPr>
        <p:spPr>
          <a:xfrm>
            <a:off x="2001000" y="2075668"/>
            <a:ext cx="4964692" cy="738664"/>
          </a:xfrm>
          <a:prstGeom prst="rect">
            <a:avLst/>
          </a:prstGeom>
          <a:noFill/>
        </p:spPr>
        <p:txBody>
          <a:bodyPr wrap="none" rtlCol="0">
            <a:spAutoFit/>
          </a:bodyPr>
          <a:lstStyle/>
          <a:p>
            <a:r>
              <a:rPr lang="en-US" sz="2400" b="1" noProof="0" dirty="0"/>
              <a:t>1) Modelling</a:t>
            </a:r>
          </a:p>
          <a:p>
            <a:r>
              <a:rPr lang="en-US" noProof="0" dirty="0"/>
              <a:t>Creating a DAG of assumed causal relationships</a:t>
            </a:r>
          </a:p>
        </p:txBody>
      </p:sp>
      <p:grpSp>
        <p:nvGrpSpPr>
          <p:cNvPr id="30" name="Group 29">
            <a:extLst>
              <a:ext uri="{FF2B5EF4-FFF2-40B4-BE49-F238E27FC236}">
                <a16:creationId xmlns:a16="http://schemas.microsoft.com/office/drawing/2014/main" id="{654B00B8-BEB6-CC10-174C-1CA6991AF43D}"/>
              </a:ext>
            </a:extLst>
          </p:cNvPr>
          <p:cNvGrpSpPr/>
          <p:nvPr/>
        </p:nvGrpSpPr>
        <p:grpSpPr>
          <a:xfrm>
            <a:off x="8785503" y="2222888"/>
            <a:ext cx="1127414" cy="640099"/>
            <a:chOff x="4267273" y="3180368"/>
            <a:chExt cx="1127414" cy="640099"/>
          </a:xfrm>
        </p:grpSpPr>
        <p:sp>
          <p:nvSpPr>
            <p:cNvPr id="32" name="Oval 31">
              <a:extLst>
                <a:ext uri="{FF2B5EF4-FFF2-40B4-BE49-F238E27FC236}">
                  <a16:creationId xmlns:a16="http://schemas.microsoft.com/office/drawing/2014/main" id="{F819EF44-9830-B396-3FD5-354515991723}"/>
                </a:ext>
              </a:extLst>
            </p:cNvPr>
            <p:cNvSpPr/>
            <p:nvPr/>
          </p:nvSpPr>
          <p:spPr>
            <a:xfrm>
              <a:off x="4267273" y="3180368"/>
              <a:ext cx="252000" cy="252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D0180A"/>
                  </a:solidFill>
                </a:rPr>
                <a:t>x</a:t>
              </a:r>
            </a:p>
          </p:txBody>
        </p:sp>
        <p:sp>
          <p:nvSpPr>
            <p:cNvPr id="33" name="Oval 32">
              <a:extLst>
                <a:ext uri="{FF2B5EF4-FFF2-40B4-BE49-F238E27FC236}">
                  <a16:creationId xmlns:a16="http://schemas.microsoft.com/office/drawing/2014/main" id="{FC0D858A-5134-BCB5-648E-E7AC70CBFD5E}"/>
                </a:ext>
              </a:extLst>
            </p:cNvPr>
            <p:cNvSpPr/>
            <p:nvPr/>
          </p:nvSpPr>
          <p:spPr>
            <a:xfrm>
              <a:off x="5142687" y="3180368"/>
              <a:ext cx="252000" cy="252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006D70"/>
                  </a:solidFill>
                </a:rPr>
                <a:t>y</a:t>
              </a:r>
            </a:p>
          </p:txBody>
        </p:sp>
        <p:cxnSp>
          <p:nvCxnSpPr>
            <p:cNvPr id="34" name="Straight Arrow Connector 33">
              <a:extLst>
                <a:ext uri="{FF2B5EF4-FFF2-40B4-BE49-F238E27FC236}">
                  <a16:creationId xmlns:a16="http://schemas.microsoft.com/office/drawing/2014/main" id="{05CA63DB-7249-0AE7-C670-CD9ADAF6B9E5}"/>
                </a:ext>
              </a:extLst>
            </p:cNvPr>
            <p:cNvCxnSpPr>
              <a:cxnSpLocks/>
              <a:stCxn id="32" idx="6"/>
              <a:endCxn id="33" idx="2"/>
            </p:cNvCxnSpPr>
            <p:nvPr/>
          </p:nvCxnSpPr>
          <p:spPr>
            <a:xfrm>
              <a:off x="4519273" y="3306368"/>
              <a:ext cx="623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6D464648-32A9-F17B-A1D6-E622DE15C49F}"/>
                </a:ext>
              </a:extLst>
            </p:cNvPr>
            <p:cNvSpPr/>
            <p:nvPr/>
          </p:nvSpPr>
          <p:spPr>
            <a:xfrm>
              <a:off x="4704980" y="3568467"/>
              <a:ext cx="252000" cy="252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lumMod val="50000"/>
                      <a:lumOff val="50000"/>
                    </a:schemeClr>
                  </a:solidFill>
                </a:rPr>
                <a:t>z</a:t>
              </a:r>
            </a:p>
          </p:txBody>
        </p:sp>
        <p:cxnSp>
          <p:nvCxnSpPr>
            <p:cNvPr id="36" name="Straight Arrow Connector 35">
              <a:extLst>
                <a:ext uri="{FF2B5EF4-FFF2-40B4-BE49-F238E27FC236}">
                  <a16:creationId xmlns:a16="http://schemas.microsoft.com/office/drawing/2014/main" id="{796EA802-00D6-2424-2B31-95B0C54C250D}"/>
                </a:ext>
              </a:extLst>
            </p:cNvPr>
            <p:cNvCxnSpPr>
              <a:cxnSpLocks/>
              <a:stCxn id="35" idx="7"/>
              <a:endCxn id="33" idx="3"/>
            </p:cNvCxnSpPr>
            <p:nvPr/>
          </p:nvCxnSpPr>
          <p:spPr>
            <a:xfrm flipV="1">
              <a:off x="4920075"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DE628415-8FA6-C78E-EB19-42EE5A3FA3F3}"/>
                </a:ext>
              </a:extLst>
            </p:cNvPr>
            <p:cNvCxnSpPr>
              <a:cxnSpLocks/>
              <a:stCxn id="35" idx="1"/>
              <a:endCxn id="32" idx="5"/>
            </p:cNvCxnSpPr>
            <p:nvPr/>
          </p:nvCxnSpPr>
          <p:spPr>
            <a:xfrm flipH="1" flipV="1">
              <a:off x="4482368"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01338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D181A2F-78DA-C928-AB92-182CDA96BB59}"/>
              </a:ext>
            </a:extLst>
          </p:cNvPr>
          <p:cNvSpPr>
            <a:spLocks noGrp="1"/>
          </p:cNvSpPr>
          <p:nvPr>
            <p:ph type="title"/>
          </p:nvPr>
        </p:nvSpPr>
        <p:spPr/>
        <p:txBody>
          <a:bodyPr/>
          <a:lstStyle/>
          <a:p>
            <a:r>
              <a:rPr lang="en-US" noProof="0" dirty="0"/>
              <a:t>Workflow for Statistical Causal Inference</a:t>
            </a:r>
          </a:p>
        </p:txBody>
      </p:sp>
      <p:sp>
        <p:nvSpPr>
          <p:cNvPr id="4" name="Date Placeholder 3">
            <a:extLst>
              <a:ext uri="{FF2B5EF4-FFF2-40B4-BE49-F238E27FC236}">
                <a16:creationId xmlns:a16="http://schemas.microsoft.com/office/drawing/2014/main" id="{ACD504CB-94CA-8247-959D-F38A1B926B5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5F5E643-9603-D133-F61C-F2E80BAAAFA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6879301-DBC3-CC0D-BAFD-9B903BD3DD0D}"/>
              </a:ext>
            </a:extLst>
          </p:cNvPr>
          <p:cNvSpPr>
            <a:spLocks noGrp="1"/>
          </p:cNvSpPr>
          <p:nvPr>
            <p:ph type="sldNum" sz="quarter" idx="12"/>
          </p:nvPr>
        </p:nvSpPr>
        <p:spPr/>
        <p:txBody>
          <a:bodyPr/>
          <a:lstStyle/>
          <a:p>
            <a:fld id="{0FA2D919-C0DE-4971-A2E9-D4AC0031921B}" type="slidenum">
              <a:rPr lang="en-US" noProof="0" smtClean="0"/>
              <a:t>48</a:t>
            </a:fld>
            <a:endParaRPr lang="en-US" noProof="0" dirty="0"/>
          </a:p>
        </p:txBody>
      </p:sp>
      <p:sp>
        <p:nvSpPr>
          <p:cNvPr id="3" name="TextBox 2">
            <a:extLst>
              <a:ext uri="{FF2B5EF4-FFF2-40B4-BE49-F238E27FC236}">
                <a16:creationId xmlns:a16="http://schemas.microsoft.com/office/drawing/2014/main" id="{0D5C9EA1-3B5A-AF1D-EA3B-CAA745DF9159}"/>
              </a:ext>
            </a:extLst>
          </p:cNvPr>
          <p:cNvSpPr txBox="1"/>
          <p:nvPr/>
        </p:nvSpPr>
        <p:spPr>
          <a:xfrm>
            <a:off x="838200" y="5987018"/>
            <a:ext cx="4206240" cy="369332"/>
          </a:xfrm>
          <a:prstGeom prst="rect">
            <a:avLst/>
          </a:prstGeom>
          <a:noFill/>
        </p:spPr>
        <p:txBody>
          <a:bodyPr wrap="square">
            <a:spAutoFit/>
          </a:bodyPr>
          <a:lstStyle/>
          <a:p>
            <a:r>
              <a:rPr lang="en-US" sz="900" b="1" noProof="0" dirty="0"/>
              <a:t>Siebert</a:t>
            </a:r>
            <a:r>
              <a:rPr lang="en-US" sz="900" noProof="0" dirty="0"/>
              <a:t>, J. (2023). Applications of statistical causal inference in software engineering. </a:t>
            </a:r>
            <a:r>
              <a:rPr lang="en-US" sz="900" i="1" noProof="0" dirty="0"/>
              <a:t>Information and Software Technology</a:t>
            </a:r>
            <a:r>
              <a:rPr lang="en-US" sz="900" noProof="0" dirty="0"/>
              <a:t>, </a:t>
            </a:r>
            <a:r>
              <a:rPr lang="en-US" sz="900" i="1" noProof="0" dirty="0"/>
              <a:t>159</a:t>
            </a:r>
            <a:r>
              <a:rPr lang="en-US" sz="900" noProof="0" dirty="0"/>
              <a:t>, 107198.</a:t>
            </a:r>
          </a:p>
        </p:txBody>
      </p:sp>
      <p:grpSp>
        <p:nvGrpSpPr>
          <p:cNvPr id="14" name="Group 13">
            <a:extLst>
              <a:ext uri="{FF2B5EF4-FFF2-40B4-BE49-F238E27FC236}">
                <a16:creationId xmlns:a16="http://schemas.microsoft.com/office/drawing/2014/main" id="{40E62E30-F2ED-32D2-AC19-684CBB42655C}"/>
              </a:ext>
            </a:extLst>
          </p:cNvPr>
          <p:cNvGrpSpPr/>
          <p:nvPr/>
        </p:nvGrpSpPr>
        <p:grpSpPr>
          <a:xfrm>
            <a:off x="838200" y="1905000"/>
            <a:ext cx="1080000" cy="1080000"/>
            <a:chOff x="838200" y="1905000"/>
            <a:chExt cx="1080000" cy="1080000"/>
          </a:xfrm>
        </p:grpSpPr>
        <p:sp>
          <p:nvSpPr>
            <p:cNvPr id="9" name="Oval 8">
              <a:extLst>
                <a:ext uri="{FF2B5EF4-FFF2-40B4-BE49-F238E27FC236}">
                  <a16:creationId xmlns:a16="http://schemas.microsoft.com/office/drawing/2014/main" id="{D2DF88DC-BE77-B1C6-0B70-540CD83622D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c 12" descr="Influencer with solid fill">
              <a:extLst>
                <a:ext uri="{FF2B5EF4-FFF2-40B4-BE49-F238E27FC236}">
                  <a16:creationId xmlns:a16="http://schemas.microsoft.com/office/drawing/2014/main" id="{68FCE6AE-3789-A30E-748E-F8D7398BB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1987800"/>
              <a:ext cx="914400" cy="914400"/>
            </a:xfrm>
            <a:prstGeom prst="rect">
              <a:avLst/>
            </a:prstGeom>
          </p:spPr>
        </p:pic>
      </p:grpSp>
      <p:grpSp>
        <p:nvGrpSpPr>
          <p:cNvPr id="15" name="Group 14">
            <a:extLst>
              <a:ext uri="{FF2B5EF4-FFF2-40B4-BE49-F238E27FC236}">
                <a16:creationId xmlns:a16="http://schemas.microsoft.com/office/drawing/2014/main" id="{1CAF5FAF-DD18-23F4-1039-18B838D8B726}"/>
              </a:ext>
            </a:extLst>
          </p:cNvPr>
          <p:cNvGrpSpPr/>
          <p:nvPr/>
        </p:nvGrpSpPr>
        <p:grpSpPr>
          <a:xfrm>
            <a:off x="838200" y="3343897"/>
            <a:ext cx="1080000" cy="1080000"/>
            <a:chOff x="838200" y="1905000"/>
            <a:chExt cx="1080000" cy="1080000"/>
          </a:xfrm>
        </p:grpSpPr>
        <p:sp>
          <p:nvSpPr>
            <p:cNvPr id="16" name="Oval 15">
              <a:extLst>
                <a:ext uri="{FF2B5EF4-FFF2-40B4-BE49-F238E27FC236}">
                  <a16:creationId xmlns:a16="http://schemas.microsoft.com/office/drawing/2014/main" id="{272C8FE5-B791-4EB1-5650-4EE886A249CE}"/>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Magnifying glass with solid fill">
              <a:extLst>
                <a:ext uri="{FF2B5EF4-FFF2-40B4-BE49-F238E27FC236}">
                  <a16:creationId xmlns:a16="http://schemas.microsoft.com/office/drawing/2014/main" id="{0981D9A0-8BD7-BA5E-CC6C-1F527C02C51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grpSp>
        <p:nvGrpSpPr>
          <p:cNvPr id="18" name="Group 17">
            <a:extLst>
              <a:ext uri="{FF2B5EF4-FFF2-40B4-BE49-F238E27FC236}">
                <a16:creationId xmlns:a16="http://schemas.microsoft.com/office/drawing/2014/main" id="{14EAB15A-EF99-FE4C-6EF6-BD6402267625}"/>
              </a:ext>
            </a:extLst>
          </p:cNvPr>
          <p:cNvGrpSpPr/>
          <p:nvPr/>
        </p:nvGrpSpPr>
        <p:grpSpPr>
          <a:xfrm>
            <a:off x="838200" y="4779416"/>
            <a:ext cx="1080000" cy="1080000"/>
            <a:chOff x="838200" y="1905000"/>
            <a:chExt cx="1080000" cy="1080000"/>
          </a:xfrm>
        </p:grpSpPr>
        <p:sp>
          <p:nvSpPr>
            <p:cNvPr id="19" name="Oval 18">
              <a:extLst>
                <a:ext uri="{FF2B5EF4-FFF2-40B4-BE49-F238E27FC236}">
                  <a16:creationId xmlns:a16="http://schemas.microsoft.com/office/drawing/2014/main" id="{855E9A09-9FD2-FAC0-4400-E7E953055E43}"/>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 name="Graphic 19" descr="Normal Distribution with solid fill">
              <a:extLst>
                <a:ext uri="{FF2B5EF4-FFF2-40B4-BE49-F238E27FC236}">
                  <a16:creationId xmlns:a16="http://schemas.microsoft.com/office/drawing/2014/main" id="{9C7E0F61-6F3E-C982-D162-B9B819B08F1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1987800"/>
              <a:ext cx="914400" cy="914400"/>
            </a:xfrm>
            <a:prstGeom prst="rect">
              <a:avLst/>
            </a:prstGeom>
          </p:spPr>
        </p:pic>
      </p:grpSp>
      <p:cxnSp>
        <p:nvCxnSpPr>
          <p:cNvPr id="22" name="Straight Arrow Connector 21">
            <a:extLst>
              <a:ext uri="{FF2B5EF4-FFF2-40B4-BE49-F238E27FC236}">
                <a16:creationId xmlns:a16="http://schemas.microsoft.com/office/drawing/2014/main" id="{C55A203C-240A-E1AF-598E-68A4B54FB7C1}"/>
              </a:ext>
            </a:extLst>
          </p:cNvPr>
          <p:cNvCxnSpPr>
            <a:stCxn id="9" idx="4"/>
            <a:endCxn id="16" idx="0"/>
          </p:cNvCxnSpPr>
          <p:nvPr/>
        </p:nvCxnSpPr>
        <p:spPr>
          <a:xfrm>
            <a:off x="1378200" y="2985000"/>
            <a:ext cx="0" cy="358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087B968-AB36-AC69-2267-1853B97815B7}"/>
              </a:ext>
            </a:extLst>
          </p:cNvPr>
          <p:cNvCxnSpPr>
            <a:cxnSpLocks/>
            <a:stCxn id="16" idx="4"/>
            <a:endCxn id="19" idx="0"/>
          </p:cNvCxnSpPr>
          <p:nvPr/>
        </p:nvCxnSpPr>
        <p:spPr>
          <a:xfrm>
            <a:off x="1378200" y="4423897"/>
            <a:ext cx="0" cy="3555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E445826-783E-D4DF-09E4-01D8287037BE}"/>
              </a:ext>
            </a:extLst>
          </p:cNvPr>
          <p:cNvSpPr txBox="1"/>
          <p:nvPr/>
        </p:nvSpPr>
        <p:spPr>
          <a:xfrm>
            <a:off x="2001000" y="2075668"/>
            <a:ext cx="4964692" cy="738664"/>
          </a:xfrm>
          <a:prstGeom prst="rect">
            <a:avLst/>
          </a:prstGeom>
          <a:noFill/>
        </p:spPr>
        <p:txBody>
          <a:bodyPr wrap="none" rtlCol="0">
            <a:spAutoFit/>
          </a:bodyPr>
          <a:lstStyle/>
          <a:p>
            <a:r>
              <a:rPr lang="en-US" sz="2400" b="1" noProof="0" dirty="0"/>
              <a:t>1) Modelling</a:t>
            </a:r>
          </a:p>
          <a:p>
            <a:r>
              <a:rPr lang="en-US" noProof="0" dirty="0"/>
              <a:t>Creating a DAG of assumed causal relationships</a:t>
            </a:r>
          </a:p>
        </p:txBody>
      </p:sp>
      <p:sp>
        <p:nvSpPr>
          <p:cNvPr id="27" name="TextBox 26">
            <a:extLst>
              <a:ext uri="{FF2B5EF4-FFF2-40B4-BE49-F238E27FC236}">
                <a16:creationId xmlns:a16="http://schemas.microsoft.com/office/drawing/2014/main" id="{A6E146A4-57B9-1F16-7572-C518F645291D}"/>
              </a:ext>
            </a:extLst>
          </p:cNvPr>
          <p:cNvSpPr txBox="1"/>
          <p:nvPr/>
        </p:nvSpPr>
        <p:spPr>
          <a:xfrm>
            <a:off x="2001000" y="3376065"/>
            <a:ext cx="6355922" cy="738664"/>
          </a:xfrm>
          <a:prstGeom prst="rect">
            <a:avLst/>
          </a:prstGeom>
          <a:noFill/>
        </p:spPr>
        <p:txBody>
          <a:bodyPr wrap="square" rtlCol="0">
            <a:spAutoFit/>
          </a:bodyPr>
          <a:lstStyle/>
          <a:p>
            <a:r>
              <a:rPr lang="en-US" sz="2400" b="1" noProof="0" dirty="0"/>
              <a:t>2) Identification</a:t>
            </a:r>
          </a:p>
          <a:p>
            <a:r>
              <a:rPr lang="en-US" noProof="0" dirty="0"/>
              <a:t>Deriving a statistical from the causal model</a:t>
            </a:r>
          </a:p>
        </p:txBody>
      </p:sp>
      <p:sp>
        <p:nvSpPr>
          <p:cNvPr id="28" name="TextBox 27">
            <a:extLst>
              <a:ext uri="{FF2B5EF4-FFF2-40B4-BE49-F238E27FC236}">
                <a16:creationId xmlns:a16="http://schemas.microsoft.com/office/drawing/2014/main" id="{B2B6186A-2F54-4402-424F-76B203E44BBD}"/>
              </a:ext>
            </a:extLst>
          </p:cNvPr>
          <p:cNvSpPr txBox="1"/>
          <p:nvPr/>
        </p:nvSpPr>
        <p:spPr>
          <a:xfrm>
            <a:off x="2001000" y="4811584"/>
            <a:ext cx="4727460" cy="1015663"/>
          </a:xfrm>
          <a:prstGeom prst="rect">
            <a:avLst/>
          </a:prstGeom>
          <a:noFill/>
        </p:spPr>
        <p:txBody>
          <a:bodyPr wrap="square" rtlCol="0">
            <a:spAutoFit/>
          </a:bodyPr>
          <a:lstStyle/>
          <a:p>
            <a:r>
              <a:rPr lang="en-US" sz="2400" b="1" noProof="0" dirty="0"/>
              <a:t>3) Estimation</a:t>
            </a:r>
          </a:p>
          <a:p>
            <a:r>
              <a:rPr lang="en-US" noProof="0" dirty="0"/>
              <a:t>Training a statistical model with the observed data and evaluating the results</a:t>
            </a:r>
          </a:p>
        </p:txBody>
      </p:sp>
      <p:grpSp>
        <p:nvGrpSpPr>
          <p:cNvPr id="30" name="Group 29">
            <a:extLst>
              <a:ext uri="{FF2B5EF4-FFF2-40B4-BE49-F238E27FC236}">
                <a16:creationId xmlns:a16="http://schemas.microsoft.com/office/drawing/2014/main" id="{95E5F68D-C4F0-5D48-FFE5-AE43D2D24578}"/>
              </a:ext>
            </a:extLst>
          </p:cNvPr>
          <p:cNvGrpSpPr/>
          <p:nvPr/>
        </p:nvGrpSpPr>
        <p:grpSpPr>
          <a:xfrm>
            <a:off x="8785503" y="2222888"/>
            <a:ext cx="1127414" cy="640099"/>
            <a:chOff x="4267273" y="3180368"/>
            <a:chExt cx="1127414" cy="640099"/>
          </a:xfrm>
        </p:grpSpPr>
        <p:sp>
          <p:nvSpPr>
            <p:cNvPr id="32" name="Oval 31">
              <a:extLst>
                <a:ext uri="{FF2B5EF4-FFF2-40B4-BE49-F238E27FC236}">
                  <a16:creationId xmlns:a16="http://schemas.microsoft.com/office/drawing/2014/main" id="{5075ECF1-84E9-0984-C438-816600E6FA8D}"/>
                </a:ext>
              </a:extLst>
            </p:cNvPr>
            <p:cNvSpPr/>
            <p:nvPr/>
          </p:nvSpPr>
          <p:spPr>
            <a:xfrm>
              <a:off x="4267273" y="3180368"/>
              <a:ext cx="252000" cy="252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D0180A"/>
                  </a:solidFill>
                </a:rPr>
                <a:t>x</a:t>
              </a:r>
            </a:p>
          </p:txBody>
        </p:sp>
        <p:sp>
          <p:nvSpPr>
            <p:cNvPr id="33" name="Oval 32">
              <a:extLst>
                <a:ext uri="{FF2B5EF4-FFF2-40B4-BE49-F238E27FC236}">
                  <a16:creationId xmlns:a16="http://schemas.microsoft.com/office/drawing/2014/main" id="{BB525688-D454-1DF4-B66F-256ECE7A4727}"/>
                </a:ext>
              </a:extLst>
            </p:cNvPr>
            <p:cNvSpPr/>
            <p:nvPr/>
          </p:nvSpPr>
          <p:spPr>
            <a:xfrm>
              <a:off x="5142687" y="3180368"/>
              <a:ext cx="252000" cy="252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006D70"/>
                  </a:solidFill>
                </a:rPr>
                <a:t>y</a:t>
              </a:r>
            </a:p>
          </p:txBody>
        </p:sp>
        <p:cxnSp>
          <p:nvCxnSpPr>
            <p:cNvPr id="34" name="Straight Arrow Connector 33">
              <a:extLst>
                <a:ext uri="{FF2B5EF4-FFF2-40B4-BE49-F238E27FC236}">
                  <a16:creationId xmlns:a16="http://schemas.microsoft.com/office/drawing/2014/main" id="{DE2F8BEB-6EA8-7A42-50AF-C204A3DE9B43}"/>
                </a:ext>
              </a:extLst>
            </p:cNvPr>
            <p:cNvCxnSpPr>
              <a:cxnSpLocks/>
              <a:stCxn id="32" idx="6"/>
              <a:endCxn id="33" idx="2"/>
            </p:cNvCxnSpPr>
            <p:nvPr/>
          </p:nvCxnSpPr>
          <p:spPr>
            <a:xfrm>
              <a:off x="4519273" y="3306368"/>
              <a:ext cx="623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81F0DF9B-F5B5-CE6C-CB19-69FEF11690CA}"/>
                </a:ext>
              </a:extLst>
            </p:cNvPr>
            <p:cNvSpPr/>
            <p:nvPr/>
          </p:nvSpPr>
          <p:spPr>
            <a:xfrm>
              <a:off x="4704980" y="3568467"/>
              <a:ext cx="252000" cy="252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lumMod val="50000"/>
                      <a:lumOff val="50000"/>
                    </a:schemeClr>
                  </a:solidFill>
                </a:rPr>
                <a:t>z</a:t>
              </a:r>
            </a:p>
          </p:txBody>
        </p:sp>
        <p:cxnSp>
          <p:nvCxnSpPr>
            <p:cNvPr id="36" name="Straight Arrow Connector 35">
              <a:extLst>
                <a:ext uri="{FF2B5EF4-FFF2-40B4-BE49-F238E27FC236}">
                  <a16:creationId xmlns:a16="http://schemas.microsoft.com/office/drawing/2014/main" id="{C6554BA8-E244-3D3D-8F30-C20BDD0F9CE0}"/>
                </a:ext>
              </a:extLst>
            </p:cNvPr>
            <p:cNvCxnSpPr>
              <a:cxnSpLocks/>
              <a:stCxn id="35" idx="7"/>
              <a:endCxn id="33" idx="3"/>
            </p:cNvCxnSpPr>
            <p:nvPr/>
          </p:nvCxnSpPr>
          <p:spPr>
            <a:xfrm flipV="1">
              <a:off x="4920075"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DBB933CE-FF6C-0632-028B-C846E95DFF32}"/>
                </a:ext>
              </a:extLst>
            </p:cNvPr>
            <p:cNvCxnSpPr>
              <a:cxnSpLocks/>
              <a:stCxn id="35" idx="1"/>
              <a:endCxn id="32" idx="5"/>
            </p:cNvCxnSpPr>
            <p:nvPr/>
          </p:nvCxnSpPr>
          <p:spPr>
            <a:xfrm flipH="1" flipV="1">
              <a:off x="4482368"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DCE0E8E-61AB-E629-20AC-9C15C95C29B5}"/>
                  </a:ext>
                </a:extLst>
              </p:cNvPr>
              <p:cNvSpPr txBox="1"/>
              <p:nvPr/>
            </p:nvSpPr>
            <p:spPr>
              <a:xfrm>
                <a:off x="8919179" y="3700353"/>
                <a:ext cx="8677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𝑦</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𝑧</m:t>
                      </m:r>
                    </m:oMath>
                  </m:oMathPara>
                </a14:m>
                <a:endParaRPr lang="en-US" noProof="0" dirty="0"/>
              </a:p>
            </p:txBody>
          </p:sp>
        </mc:Choice>
        <mc:Fallback xmlns="">
          <p:sp>
            <p:nvSpPr>
              <p:cNvPr id="31" name="TextBox 30">
                <a:extLst>
                  <a:ext uri="{FF2B5EF4-FFF2-40B4-BE49-F238E27FC236}">
                    <a16:creationId xmlns:a16="http://schemas.microsoft.com/office/drawing/2014/main" id="{6DCE0E8E-61AB-E629-20AC-9C15C95C29B5}"/>
                  </a:ext>
                </a:extLst>
              </p:cNvPr>
              <p:cNvSpPr txBox="1">
                <a:spLocks noRot="1" noChangeAspect="1" noMove="1" noResize="1" noEditPoints="1" noAdjustHandles="1" noChangeArrowheads="1" noChangeShapeType="1" noTextEdit="1"/>
              </p:cNvSpPr>
              <p:nvPr/>
            </p:nvSpPr>
            <p:spPr>
              <a:xfrm>
                <a:off x="8919179" y="3700353"/>
                <a:ext cx="867738" cy="276999"/>
              </a:xfrm>
              <a:prstGeom prst="rect">
                <a:avLst/>
              </a:prstGeom>
              <a:blipFill>
                <a:blip r:embed="rId9"/>
                <a:stretch>
                  <a:fillRect l="-7042" r="-3521" b="-26667"/>
                </a:stretch>
              </a:blipFill>
            </p:spPr>
            <p:txBody>
              <a:bodyPr/>
              <a:lstStyle/>
              <a:p>
                <a:r>
                  <a:rPr lang="en-SE">
                    <a:noFill/>
                  </a:rPr>
                  <a:t> </a:t>
                </a:r>
              </a:p>
            </p:txBody>
          </p:sp>
        </mc:Fallback>
      </mc:AlternateContent>
      <p:pic>
        <p:nvPicPr>
          <p:cNvPr id="38" name="Picture 37" descr="A graph of a graph&#10;&#10;AI-generated content may be incorrect.">
            <a:extLst>
              <a:ext uri="{FF2B5EF4-FFF2-40B4-BE49-F238E27FC236}">
                <a16:creationId xmlns:a16="http://schemas.microsoft.com/office/drawing/2014/main" id="{14BBB085-08A3-BC03-D8A0-A45DC74541E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94222" y="4649510"/>
            <a:ext cx="2509975" cy="1755495"/>
          </a:xfrm>
          <a:prstGeom prst="rect">
            <a:avLst/>
          </a:prstGeom>
        </p:spPr>
      </p:pic>
      <p:grpSp>
        <p:nvGrpSpPr>
          <p:cNvPr id="2" name="Group 1">
            <a:extLst>
              <a:ext uri="{FF2B5EF4-FFF2-40B4-BE49-F238E27FC236}">
                <a16:creationId xmlns:a16="http://schemas.microsoft.com/office/drawing/2014/main" id="{E830FAEC-21EF-3ED3-33A0-664E78D53B2F}"/>
              </a:ext>
            </a:extLst>
          </p:cNvPr>
          <p:cNvGrpSpPr/>
          <p:nvPr/>
        </p:nvGrpSpPr>
        <p:grpSpPr>
          <a:xfrm>
            <a:off x="2001000" y="4115033"/>
            <a:ext cx="2563289" cy="432000"/>
            <a:chOff x="4604412" y="1893985"/>
            <a:chExt cx="2563289" cy="432000"/>
          </a:xfrm>
        </p:grpSpPr>
        <p:sp>
          <p:nvSpPr>
            <p:cNvPr id="8" name="Arrow: Pentagon 7">
              <a:extLst>
                <a:ext uri="{FF2B5EF4-FFF2-40B4-BE49-F238E27FC236}">
                  <a16:creationId xmlns:a16="http://schemas.microsoft.com/office/drawing/2014/main" id="{10605B65-60D1-89A6-D875-B99924AA1781}"/>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0" name="Graphic 9" descr="Connections with solid fill">
              <a:extLst>
                <a:ext uri="{FF2B5EF4-FFF2-40B4-BE49-F238E27FC236}">
                  <a16:creationId xmlns:a16="http://schemas.microsoft.com/office/drawing/2014/main" id="{78D7CE72-87B3-2F97-1D23-25A8038D61C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64301" y="1929985"/>
              <a:ext cx="360000" cy="360000"/>
            </a:xfrm>
            <a:prstGeom prst="rect">
              <a:avLst/>
            </a:prstGeom>
          </p:spPr>
        </p:pic>
      </p:grpSp>
    </p:spTree>
    <p:extLst>
      <p:ext uri="{BB962C8B-B14F-4D97-AF65-F5344CB8AC3E}">
        <p14:creationId xmlns:p14="http://schemas.microsoft.com/office/powerpoint/2010/main" val="3288537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6A21-8FB7-329F-0F45-E980AA584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55D26-0366-9854-039A-922AC27812DD}"/>
              </a:ext>
            </a:extLst>
          </p:cNvPr>
          <p:cNvSpPr>
            <a:spLocks noGrp="1"/>
          </p:cNvSpPr>
          <p:nvPr>
            <p:ph type="title"/>
          </p:nvPr>
        </p:nvSpPr>
        <p:spPr/>
        <p:txBody>
          <a:bodyPr/>
          <a:lstStyle/>
          <a:p>
            <a:r>
              <a:rPr lang="en-US" noProof="0" dirty="0"/>
              <a:t>Scientific Workflow: Traditional</a:t>
            </a:r>
          </a:p>
        </p:txBody>
      </p:sp>
      <p:sp>
        <p:nvSpPr>
          <p:cNvPr id="56" name="Content Placeholder 55">
            <a:extLst>
              <a:ext uri="{FF2B5EF4-FFF2-40B4-BE49-F238E27FC236}">
                <a16:creationId xmlns:a16="http://schemas.microsoft.com/office/drawing/2014/main" id="{F0CC5C2C-C2B1-39FC-8F7C-311F74790999}"/>
              </a:ext>
            </a:extLst>
          </p:cNvPr>
          <p:cNvSpPr>
            <a:spLocks noGrp="1"/>
          </p:cNvSpPr>
          <p:nvPr>
            <p:ph idx="1"/>
          </p:nvPr>
        </p:nvSpPr>
        <p:spPr>
          <a:xfrm>
            <a:off x="838200" y="4787559"/>
            <a:ext cx="10515600" cy="1389404"/>
          </a:xfrm>
        </p:spPr>
        <p:txBody>
          <a:bodyPr/>
          <a:lstStyle/>
          <a:p>
            <a:pPr marL="0" indent="0">
              <a:buNone/>
            </a:pPr>
            <a:r>
              <a:rPr lang="en-US" noProof="0" dirty="0"/>
              <a:t>Too often, we derive hypotheses from the data available to us.</a:t>
            </a:r>
          </a:p>
        </p:txBody>
      </p:sp>
      <p:sp>
        <p:nvSpPr>
          <p:cNvPr id="4" name="Date Placeholder 3">
            <a:extLst>
              <a:ext uri="{FF2B5EF4-FFF2-40B4-BE49-F238E27FC236}">
                <a16:creationId xmlns:a16="http://schemas.microsoft.com/office/drawing/2014/main" id="{61ACCA0F-FFA0-284E-994F-7DB9073DEAE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2AAE6BEA-C09C-0A6D-6EFE-9EF788AA217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76B480C-BAB7-5A41-B374-C1D7E6554556}"/>
              </a:ext>
            </a:extLst>
          </p:cNvPr>
          <p:cNvSpPr>
            <a:spLocks noGrp="1"/>
          </p:cNvSpPr>
          <p:nvPr>
            <p:ph type="sldNum" sz="quarter" idx="12"/>
          </p:nvPr>
        </p:nvSpPr>
        <p:spPr/>
        <p:txBody>
          <a:bodyPr/>
          <a:lstStyle/>
          <a:p>
            <a:fld id="{0FA2D919-C0DE-4971-A2E9-D4AC0031921B}" type="slidenum">
              <a:rPr lang="en-US" noProof="0" smtClean="0"/>
              <a:t>49</a:t>
            </a:fld>
            <a:endParaRPr lang="en-US" noProof="0" dirty="0"/>
          </a:p>
        </p:txBody>
      </p:sp>
      <p:grpSp>
        <p:nvGrpSpPr>
          <p:cNvPr id="33" name="Group 32">
            <a:extLst>
              <a:ext uri="{FF2B5EF4-FFF2-40B4-BE49-F238E27FC236}">
                <a16:creationId xmlns:a16="http://schemas.microsoft.com/office/drawing/2014/main" id="{ABA7C6A9-19C8-7282-C6FF-DD4152B96D9D}"/>
              </a:ext>
            </a:extLst>
          </p:cNvPr>
          <p:cNvGrpSpPr/>
          <p:nvPr/>
        </p:nvGrpSpPr>
        <p:grpSpPr>
          <a:xfrm>
            <a:off x="844469" y="2409728"/>
            <a:ext cx="540000" cy="540000"/>
            <a:chOff x="838200" y="1905000"/>
            <a:chExt cx="1080000" cy="1080000"/>
          </a:xfrm>
        </p:grpSpPr>
        <p:sp>
          <p:nvSpPr>
            <p:cNvPr id="34" name="Oval 33">
              <a:extLst>
                <a:ext uri="{FF2B5EF4-FFF2-40B4-BE49-F238E27FC236}">
                  <a16:creationId xmlns:a16="http://schemas.microsoft.com/office/drawing/2014/main" id="{0B471997-81DC-89B6-4545-3F6AD43F2B55}"/>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97DC8785-B324-1F16-EE17-6C4D370F6D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CCF4013E-2DCA-AA18-904F-3B92FBD0041C}"/>
              </a:ext>
            </a:extLst>
          </p:cNvPr>
          <p:cNvGrpSpPr/>
          <p:nvPr/>
        </p:nvGrpSpPr>
        <p:grpSpPr>
          <a:xfrm>
            <a:off x="844469" y="3131382"/>
            <a:ext cx="540000" cy="540000"/>
            <a:chOff x="838200" y="1905000"/>
            <a:chExt cx="1080000" cy="1080000"/>
          </a:xfrm>
        </p:grpSpPr>
        <p:sp>
          <p:nvSpPr>
            <p:cNvPr id="37" name="Oval 36">
              <a:extLst>
                <a:ext uri="{FF2B5EF4-FFF2-40B4-BE49-F238E27FC236}">
                  <a16:creationId xmlns:a16="http://schemas.microsoft.com/office/drawing/2014/main" id="{E4EFC1A4-0C41-8749-4330-E16CA75AD877}"/>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2E21A9D2-1EAE-793C-FF1C-62C7777A8D9F}"/>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4C529F51-08AA-0464-1D07-BE7BA2B6AE9E}"/>
              </a:ext>
            </a:extLst>
          </p:cNvPr>
          <p:cNvGrpSpPr/>
          <p:nvPr/>
        </p:nvGrpSpPr>
        <p:grpSpPr>
          <a:xfrm>
            <a:off x="838200" y="3843059"/>
            <a:ext cx="540000" cy="540000"/>
            <a:chOff x="838200" y="1905000"/>
            <a:chExt cx="1080000" cy="1080000"/>
          </a:xfrm>
        </p:grpSpPr>
        <p:sp>
          <p:nvSpPr>
            <p:cNvPr id="40" name="Oval 39">
              <a:extLst>
                <a:ext uri="{FF2B5EF4-FFF2-40B4-BE49-F238E27FC236}">
                  <a16:creationId xmlns:a16="http://schemas.microsoft.com/office/drawing/2014/main" id="{E91F2583-5A61-5F1F-21B9-D5FADAEAAD66}"/>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A0067B6C-AB59-EEAD-7ADE-3CE08DD54938}"/>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D51C900F-433F-788E-B10E-436E366E1236}"/>
              </a:ext>
            </a:extLst>
          </p:cNvPr>
          <p:cNvCxnSpPr>
            <a:stCxn id="34" idx="4"/>
            <a:endCxn id="37" idx="0"/>
          </p:cNvCxnSpPr>
          <p:nvPr/>
        </p:nvCxnSpPr>
        <p:spPr>
          <a:xfrm>
            <a:off x="1114469" y="2949728"/>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74A63FB-3309-7791-0439-C44D0E8740D7}"/>
              </a:ext>
            </a:extLst>
          </p:cNvPr>
          <p:cNvCxnSpPr>
            <a:cxnSpLocks/>
            <a:stCxn id="37" idx="4"/>
            <a:endCxn id="40" idx="0"/>
          </p:cNvCxnSpPr>
          <p:nvPr/>
        </p:nvCxnSpPr>
        <p:spPr>
          <a:xfrm flipH="1">
            <a:off x="1108200" y="3671382"/>
            <a:ext cx="6269" cy="1716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7DBF0791-553F-307D-34E6-C95A315A0AE6}"/>
              </a:ext>
            </a:extLst>
          </p:cNvPr>
          <p:cNvGrpSpPr/>
          <p:nvPr/>
        </p:nvGrpSpPr>
        <p:grpSpPr>
          <a:xfrm>
            <a:off x="844469" y="1692045"/>
            <a:ext cx="540000" cy="540000"/>
            <a:chOff x="838200" y="1905000"/>
            <a:chExt cx="1080000" cy="1080000"/>
          </a:xfrm>
        </p:grpSpPr>
        <p:sp>
          <p:nvSpPr>
            <p:cNvPr id="45" name="Oval 44">
              <a:extLst>
                <a:ext uri="{FF2B5EF4-FFF2-40B4-BE49-F238E27FC236}">
                  <a16:creationId xmlns:a16="http://schemas.microsoft.com/office/drawing/2014/main" id="{B5AF7B60-9D35-6AD4-35D7-D6A57C4E0B5A}"/>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0A6630BE-E20F-D135-2F16-22BD768C7995}"/>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AEA510EF-0DAA-ADA2-BD98-DD87EEA216B1}"/>
              </a:ext>
            </a:extLst>
          </p:cNvPr>
          <p:cNvCxnSpPr>
            <a:cxnSpLocks/>
            <a:stCxn id="45" idx="4"/>
            <a:endCxn id="34" idx="0"/>
          </p:cNvCxnSpPr>
          <p:nvPr/>
        </p:nvCxnSpPr>
        <p:spPr>
          <a:xfrm>
            <a:off x="1114469" y="2232045"/>
            <a:ext cx="0" cy="1776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F7BE868-28F2-DF06-8678-A014E0E7AB01}"/>
              </a:ext>
            </a:extLst>
          </p:cNvPr>
          <p:cNvSpPr txBox="1"/>
          <p:nvPr/>
        </p:nvSpPr>
        <p:spPr>
          <a:xfrm>
            <a:off x="1432842" y="2451128"/>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0F8A8FA9-EC40-78BD-69B9-D63990AEC07E}"/>
              </a:ext>
            </a:extLst>
          </p:cNvPr>
          <p:cNvSpPr txBox="1"/>
          <p:nvPr/>
        </p:nvSpPr>
        <p:spPr>
          <a:xfrm>
            <a:off x="1439923" y="3170549"/>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9CF416BC-E98C-1843-1532-B6C70A40D672}"/>
              </a:ext>
            </a:extLst>
          </p:cNvPr>
          <p:cNvSpPr txBox="1"/>
          <p:nvPr/>
        </p:nvSpPr>
        <p:spPr>
          <a:xfrm>
            <a:off x="1439923" y="3878762"/>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052BF937-6BA6-DDFC-EAC9-EE859AFE3ADD}"/>
              </a:ext>
            </a:extLst>
          </p:cNvPr>
          <p:cNvSpPr txBox="1"/>
          <p:nvPr/>
        </p:nvSpPr>
        <p:spPr>
          <a:xfrm>
            <a:off x="1439923" y="172155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17" name="Oval 16">
            <a:extLst>
              <a:ext uri="{FF2B5EF4-FFF2-40B4-BE49-F238E27FC236}">
                <a16:creationId xmlns:a16="http://schemas.microsoft.com/office/drawing/2014/main" id="{755EB22E-876B-3BCF-0DF1-D0787B5DBD77}"/>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0" name="Oval 19">
            <a:extLst>
              <a:ext uri="{FF2B5EF4-FFF2-40B4-BE49-F238E27FC236}">
                <a16:creationId xmlns:a16="http://schemas.microsoft.com/office/drawing/2014/main" id="{C2D4E3AD-340C-F387-6574-57431268A5DB}"/>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1" name="Straight Arrow Connector 20">
            <a:extLst>
              <a:ext uri="{FF2B5EF4-FFF2-40B4-BE49-F238E27FC236}">
                <a16:creationId xmlns:a16="http://schemas.microsoft.com/office/drawing/2014/main" id="{0EDA9761-9E80-8040-3483-56FD175FE4FF}"/>
              </a:ext>
            </a:extLst>
          </p:cNvPr>
          <p:cNvCxnSpPr>
            <a:stCxn id="17" idx="6"/>
            <a:endCxn id="20"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49" name="Table 48">
            <a:extLst>
              <a:ext uri="{FF2B5EF4-FFF2-40B4-BE49-F238E27FC236}">
                <a16:creationId xmlns:a16="http://schemas.microsoft.com/office/drawing/2014/main" id="{7E6F0DF1-AFD6-19C9-9E92-0A4B8E485618}"/>
              </a:ext>
            </a:extLst>
          </p:cNvPr>
          <p:cNvGraphicFramePr>
            <a:graphicFrameLocks noGrp="1"/>
          </p:cNvGraphicFramePr>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sp>
        <p:nvSpPr>
          <p:cNvPr id="54" name="TextBox 53">
            <a:extLst>
              <a:ext uri="{FF2B5EF4-FFF2-40B4-BE49-F238E27FC236}">
                <a16:creationId xmlns:a16="http://schemas.microsoft.com/office/drawing/2014/main" id="{BD88F371-6ED2-DE9A-10BF-91214773B1B1}"/>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55" name="TextBox 54">
            <a:extLst>
              <a:ext uri="{FF2B5EF4-FFF2-40B4-BE49-F238E27FC236}">
                <a16:creationId xmlns:a16="http://schemas.microsoft.com/office/drawing/2014/main" id="{15D46008-754B-DBBE-710A-EDCB69FF3AEC}"/>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Tree>
    <p:extLst>
      <p:ext uri="{BB962C8B-B14F-4D97-AF65-F5344CB8AC3E}">
        <p14:creationId xmlns:p14="http://schemas.microsoft.com/office/powerpoint/2010/main" val="1955100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53" grpId="0"/>
      <p:bldP spid="17" grpId="0" animBg="1"/>
      <p:bldP spid="20" grpId="0" animBg="1"/>
      <p:bldP spid="54" grpId="0"/>
      <p:bldP spid="5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6055-3BE4-B054-88CD-25384E83A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B423E-8187-0A59-57CF-795C580765B5}"/>
              </a:ext>
            </a:extLst>
          </p:cNvPr>
          <p:cNvSpPr>
            <a:spLocks noGrp="1"/>
          </p:cNvSpPr>
          <p:nvPr>
            <p:ph type="title"/>
          </p:nvPr>
        </p:nvSpPr>
        <p:spPr/>
        <p:txBody>
          <a:bodyPr/>
          <a:lstStyle/>
          <a:p>
            <a:r>
              <a:rPr lang="en-US" noProof="0" dirty="0"/>
              <a:t>Scientific Workflow: Traditional</a:t>
            </a:r>
          </a:p>
        </p:txBody>
      </p:sp>
      <p:sp>
        <p:nvSpPr>
          <p:cNvPr id="4" name="Date Placeholder 3">
            <a:extLst>
              <a:ext uri="{FF2B5EF4-FFF2-40B4-BE49-F238E27FC236}">
                <a16:creationId xmlns:a16="http://schemas.microsoft.com/office/drawing/2014/main" id="{CCB7B1A1-9921-23E5-0276-1644FA456F1F}"/>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820CEAB-63D6-33BE-4E0F-467B4D0B386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0A0FB60-0576-373A-B0A4-9CD4A3B09623}"/>
              </a:ext>
            </a:extLst>
          </p:cNvPr>
          <p:cNvSpPr>
            <a:spLocks noGrp="1"/>
          </p:cNvSpPr>
          <p:nvPr>
            <p:ph type="sldNum" sz="quarter" idx="12"/>
          </p:nvPr>
        </p:nvSpPr>
        <p:spPr/>
        <p:txBody>
          <a:bodyPr/>
          <a:lstStyle/>
          <a:p>
            <a:fld id="{0FA2D919-C0DE-4971-A2E9-D4AC0031921B}" type="slidenum">
              <a:rPr lang="en-US" noProof="0" smtClean="0"/>
              <a:t>50</a:t>
            </a:fld>
            <a:endParaRPr lang="en-US" noProof="0" dirty="0"/>
          </a:p>
        </p:txBody>
      </p:sp>
      <p:grpSp>
        <p:nvGrpSpPr>
          <p:cNvPr id="33" name="Group 32">
            <a:extLst>
              <a:ext uri="{FF2B5EF4-FFF2-40B4-BE49-F238E27FC236}">
                <a16:creationId xmlns:a16="http://schemas.microsoft.com/office/drawing/2014/main" id="{DD5D0A07-F8FA-B15F-DC6B-80AB2CC8EC76}"/>
              </a:ext>
            </a:extLst>
          </p:cNvPr>
          <p:cNvGrpSpPr/>
          <p:nvPr/>
        </p:nvGrpSpPr>
        <p:grpSpPr>
          <a:xfrm>
            <a:off x="844469" y="2409728"/>
            <a:ext cx="540000" cy="540000"/>
            <a:chOff x="838200" y="1905000"/>
            <a:chExt cx="1080000" cy="1080000"/>
          </a:xfrm>
        </p:grpSpPr>
        <p:sp>
          <p:nvSpPr>
            <p:cNvPr id="34" name="Oval 33">
              <a:extLst>
                <a:ext uri="{FF2B5EF4-FFF2-40B4-BE49-F238E27FC236}">
                  <a16:creationId xmlns:a16="http://schemas.microsoft.com/office/drawing/2014/main" id="{03440D40-1419-AE0C-D708-43D956DB0D9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6CA808BD-431B-7A91-9EB5-EB997EAFD4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79CE7D86-24F0-C16F-F25D-46604BF51FCD}"/>
              </a:ext>
            </a:extLst>
          </p:cNvPr>
          <p:cNvGrpSpPr/>
          <p:nvPr/>
        </p:nvGrpSpPr>
        <p:grpSpPr>
          <a:xfrm>
            <a:off x="844469" y="3131382"/>
            <a:ext cx="540000" cy="540000"/>
            <a:chOff x="838200" y="1905000"/>
            <a:chExt cx="1080000" cy="1080000"/>
          </a:xfrm>
        </p:grpSpPr>
        <p:sp>
          <p:nvSpPr>
            <p:cNvPr id="37" name="Oval 36">
              <a:extLst>
                <a:ext uri="{FF2B5EF4-FFF2-40B4-BE49-F238E27FC236}">
                  <a16:creationId xmlns:a16="http://schemas.microsoft.com/office/drawing/2014/main" id="{A453F834-E6A4-4E7F-58EE-7FF59B96FFF0}"/>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E37D6469-4982-2224-8CAD-5ABD1E6185F8}"/>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69DCDBAE-48D7-6D70-A6B2-6A20BBF5C511}"/>
              </a:ext>
            </a:extLst>
          </p:cNvPr>
          <p:cNvGrpSpPr/>
          <p:nvPr/>
        </p:nvGrpSpPr>
        <p:grpSpPr>
          <a:xfrm>
            <a:off x="838200" y="3843059"/>
            <a:ext cx="540000" cy="540000"/>
            <a:chOff x="838200" y="1905000"/>
            <a:chExt cx="1080000" cy="1080000"/>
          </a:xfrm>
        </p:grpSpPr>
        <p:sp>
          <p:nvSpPr>
            <p:cNvPr id="40" name="Oval 39">
              <a:extLst>
                <a:ext uri="{FF2B5EF4-FFF2-40B4-BE49-F238E27FC236}">
                  <a16:creationId xmlns:a16="http://schemas.microsoft.com/office/drawing/2014/main" id="{7D84967D-9457-E53C-E8F7-2A8F37FD9E3F}"/>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A86B7CD5-87E1-C950-79EC-EEA601EA0F47}"/>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A80AF428-F404-ECBC-CE55-8037CDD53DB7}"/>
              </a:ext>
            </a:extLst>
          </p:cNvPr>
          <p:cNvCxnSpPr>
            <a:stCxn id="34" idx="4"/>
            <a:endCxn id="37" idx="0"/>
          </p:cNvCxnSpPr>
          <p:nvPr/>
        </p:nvCxnSpPr>
        <p:spPr>
          <a:xfrm>
            <a:off x="1114469" y="2949728"/>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8516152A-9ACA-B8F9-6406-58EF2B4C4B37}"/>
              </a:ext>
            </a:extLst>
          </p:cNvPr>
          <p:cNvCxnSpPr>
            <a:cxnSpLocks/>
            <a:stCxn id="37" idx="4"/>
            <a:endCxn id="40" idx="0"/>
          </p:cNvCxnSpPr>
          <p:nvPr/>
        </p:nvCxnSpPr>
        <p:spPr>
          <a:xfrm flipH="1">
            <a:off x="1108200" y="3671382"/>
            <a:ext cx="6269" cy="1716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839FBD59-C66C-C235-123B-80BCC78A49E6}"/>
              </a:ext>
            </a:extLst>
          </p:cNvPr>
          <p:cNvGrpSpPr/>
          <p:nvPr/>
        </p:nvGrpSpPr>
        <p:grpSpPr>
          <a:xfrm>
            <a:off x="844469" y="1692045"/>
            <a:ext cx="540000" cy="540000"/>
            <a:chOff x="838200" y="1905000"/>
            <a:chExt cx="1080000" cy="1080000"/>
          </a:xfrm>
        </p:grpSpPr>
        <p:sp>
          <p:nvSpPr>
            <p:cNvPr id="45" name="Oval 44">
              <a:extLst>
                <a:ext uri="{FF2B5EF4-FFF2-40B4-BE49-F238E27FC236}">
                  <a16:creationId xmlns:a16="http://schemas.microsoft.com/office/drawing/2014/main" id="{C121099D-F83A-7A49-D1E0-6F0126AD0AF2}"/>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071DFB55-0C69-8394-80B7-E2ADF93A251B}"/>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D34A0723-1802-111A-9BD9-3732EA035BBC}"/>
              </a:ext>
            </a:extLst>
          </p:cNvPr>
          <p:cNvCxnSpPr>
            <a:cxnSpLocks/>
            <a:stCxn id="45" idx="4"/>
            <a:endCxn id="34" idx="0"/>
          </p:cNvCxnSpPr>
          <p:nvPr/>
        </p:nvCxnSpPr>
        <p:spPr>
          <a:xfrm>
            <a:off x="1114469" y="2232045"/>
            <a:ext cx="0" cy="1776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E313C3D-42D2-3A74-DA12-FFF0E2931DDA}"/>
              </a:ext>
            </a:extLst>
          </p:cNvPr>
          <p:cNvSpPr txBox="1"/>
          <p:nvPr/>
        </p:nvSpPr>
        <p:spPr>
          <a:xfrm>
            <a:off x="1432842" y="2451128"/>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FB92D0BE-EEF8-85F7-9E44-C3804BFDC758}"/>
              </a:ext>
            </a:extLst>
          </p:cNvPr>
          <p:cNvSpPr txBox="1"/>
          <p:nvPr/>
        </p:nvSpPr>
        <p:spPr>
          <a:xfrm>
            <a:off x="1439923" y="3170549"/>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6BE574E6-B710-0F84-05D0-DE0ABB86A1FC}"/>
              </a:ext>
            </a:extLst>
          </p:cNvPr>
          <p:cNvSpPr txBox="1"/>
          <p:nvPr/>
        </p:nvSpPr>
        <p:spPr>
          <a:xfrm>
            <a:off x="1439923" y="3878762"/>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2C2347F3-D97F-4606-70C3-6F7F7674B52B}"/>
              </a:ext>
            </a:extLst>
          </p:cNvPr>
          <p:cNvSpPr txBox="1"/>
          <p:nvPr/>
        </p:nvSpPr>
        <p:spPr>
          <a:xfrm>
            <a:off x="1439923" y="172155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54" name="TextBox 53">
            <a:extLst>
              <a:ext uri="{FF2B5EF4-FFF2-40B4-BE49-F238E27FC236}">
                <a16:creationId xmlns:a16="http://schemas.microsoft.com/office/drawing/2014/main" id="{7BFA7E5B-58D7-992A-D7A1-1F41282E1F65}"/>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55" name="TextBox 54">
            <a:extLst>
              <a:ext uri="{FF2B5EF4-FFF2-40B4-BE49-F238E27FC236}">
                <a16:creationId xmlns:a16="http://schemas.microsoft.com/office/drawing/2014/main" id="{E824AB6B-3D18-B91A-71D8-88058B1D5A6F}"/>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
        <p:nvSpPr>
          <p:cNvPr id="3" name="Oval 2">
            <a:extLst>
              <a:ext uri="{FF2B5EF4-FFF2-40B4-BE49-F238E27FC236}">
                <a16:creationId xmlns:a16="http://schemas.microsoft.com/office/drawing/2014/main" id="{57FCFBE1-7AE7-0F36-744A-DCC5530ED53E}"/>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7" name="Oval 6">
            <a:extLst>
              <a:ext uri="{FF2B5EF4-FFF2-40B4-BE49-F238E27FC236}">
                <a16:creationId xmlns:a16="http://schemas.microsoft.com/office/drawing/2014/main" id="{1FC08E0F-80C8-ED9B-6419-CCC5605BD6A1}"/>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8" name="Straight Arrow Connector 7">
            <a:extLst>
              <a:ext uri="{FF2B5EF4-FFF2-40B4-BE49-F238E27FC236}">
                <a16:creationId xmlns:a16="http://schemas.microsoft.com/office/drawing/2014/main" id="{2B97687B-09C8-7361-31F0-DC2DF0E0603E}"/>
              </a:ext>
            </a:extLst>
          </p:cNvPr>
          <p:cNvCxnSpPr>
            <a:stCxn id="3" idx="6"/>
            <a:endCxn id="7"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Oval 8">
            <a:extLst>
              <a:ext uri="{FF2B5EF4-FFF2-40B4-BE49-F238E27FC236}">
                <a16:creationId xmlns:a16="http://schemas.microsoft.com/office/drawing/2014/main" id="{97F52CAA-ADD1-30F3-D5AB-474DB7A90E52}"/>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0" name="Straight Arrow Connector 9">
            <a:extLst>
              <a:ext uri="{FF2B5EF4-FFF2-40B4-BE49-F238E27FC236}">
                <a16:creationId xmlns:a16="http://schemas.microsoft.com/office/drawing/2014/main" id="{08139E90-C010-AB01-378D-8CABFF6628F5}"/>
              </a:ext>
            </a:extLst>
          </p:cNvPr>
          <p:cNvCxnSpPr>
            <a:cxnSpLocks/>
            <a:stCxn id="9" idx="3"/>
            <a:endCxn id="3"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755DBA0-756D-98A0-6A9D-BFAE5DDBF0DC}"/>
              </a:ext>
            </a:extLst>
          </p:cNvPr>
          <p:cNvCxnSpPr>
            <a:cxnSpLocks/>
            <a:stCxn id="9" idx="5"/>
            <a:endCxn id="7"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35C3A2B-6B4C-3FAD-D115-E5AED7F60992}"/>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graphicFrame>
        <p:nvGraphicFramePr>
          <p:cNvPr id="14" name="Table 13">
            <a:extLst>
              <a:ext uri="{FF2B5EF4-FFF2-40B4-BE49-F238E27FC236}">
                <a16:creationId xmlns:a16="http://schemas.microsoft.com/office/drawing/2014/main" id="{49BEDFDC-DE5A-2C20-4A98-A5586DFFCD3B}"/>
              </a:ext>
            </a:extLst>
          </p:cNvPr>
          <p:cNvGraphicFramePr>
            <a:graphicFrameLocks noGrp="1"/>
          </p:cNvGraphicFramePr>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grpSp>
        <p:nvGrpSpPr>
          <p:cNvPr id="18" name="Group 17">
            <a:extLst>
              <a:ext uri="{FF2B5EF4-FFF2-40B4-BE49-F238E27FC236}">
                <a16:creationId xmlns:a16="http://schemas.microsoft.com/office/drawing/2014/main" id="{7D9B8F8A-34BB-E282-83EF-B5960C399467}"/>
              </a:ext>
            </a:extLst>
          </p:cNvPr>
          <p:cNvGrpSpPr/>
          <p:nvPr/>
        </p:nvGrpSpPr>
        <p:grpSpPr>
          <a:xfrm>
            <a:off x="5594155" y="4966741"/>
            <a:ext cx="6154149" cy="946595"/>
            <a:chOff x="775412" y="5230368"/>
            <a:chExt cx="6154149" cy="946595"/>
          </a:xfrm>
        </p:grpSpPr>
        <p:sp>
          <p:nvSpPr>
            <p:cNvPr id="19" name="Rectangle: Rounded Corners 18">
              <a:extLst>
                <a:ext uri="{FF2B5EF4-FFF2-40B4-BE49-F238E27FC236}">
                  <a16:creationId xmlns:a16="http://schemas.microsoft.com/office/drawing/2014/main" id="{F576B073-B86E-852E-CB2F-7A6F8620EB69}"/>
                </a:ext>
              </a:extLst>
            </p:cNvPr>
            <p:cNvSpPr/>
            <p:nvPr/>
          </p:nvSpPr>
          <p:spPr>
            <a:xfrm>
              <a:off x="775412" y="5230368"/>
              <a:ext cx="615414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solidFill>
                    <a:schemeClr val="bg1"/>
                  </a:solidFill>
                </a:rPr>
                <a:t>Not collecting data about a confounder will threaten the internal validity of your result</a:t>
              </a:r>
              <a:endParaRPr lang="en-US" noProof="0" dirty="0">
                <a:solidFill>
                  <a:srgbClr val="006D70"/>
                </a:solidFill>
              </a:endParaRPr>
            </a:p>
          </p:txBody>
        </p:sp>
        <p:pic>
          <p:nvPicPr>
            <p:cNvPr id="22" name="Graphic 21" descr="Open quotation mark with solid fill">
              <a:extLst>
                <a:ext uri="{FF2B5EF4-FFF2-40B4-BE49-F238E27FC236}">
                  <a16:creationId xmlns:a16="http://schemas.microsoft.com/office/drawing/2014/main" id="{2ACB02D8-97B7-A2F9-3927-C5BE1DE6ECB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2539505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67A6-1EB5-1F8C-24F5-406F203DB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3D9A2-39FA-C689-C166-FA4773F5E936}"/>
              </a:ext>
            </a:extLst>
          </p:cNvPr>
          <p:cNvSpPr>
            <a:spLocks noGrp="1"/>
          </p:cNvSpPr>
          <p:nvPr>
            <p:ph type="title"/>
          </p:nvPr>
        </p:nvSpPr>
        <p:spPr/>
        <p:txBody>
          <a:bodyPr/>
          <a:lstStyle/>
          <a:p>
            <a:r>
              <a:rPr lang="en-US" noProof="0" dirty="0"/>
              <a:t>Scientific Workflow: Better</a:t>
            </a:r>
          </a:p>
        </p:txBody>
      </p:sp>
      <p:sp>
        <p:nvSpPr>
          <p:cNvPr id="4" name="Date Placeholder 3">
            <a:extLst>
              <a:ext uri="{FF2B5EF4-FFF2-40B4-BE49-F238E27FC236}">
                <a16:creationId xmlns:a16="http://schemas.microsoft.com/office/drawing/2014/main" id="{9B1230E7-B377-78FF-B9D1-DC26E8D70E2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403FBA6-7408-A2AE-DED3-904673DE5DA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513FC76-6AA8-691B-903E-4F915739E612}"/>
              </a:ext>
            </a:extLst>
          </p:cNvPr>
          <p:cNvSpPr>
            <a:spLocks noGrp="1"/>
          </p:cNvSpPr>
          <p:nvPr>
            <p:ph type="sldNum" sz="quarter" idx="12"/>
          </p:nvPr>
        </p:nvSpPr>
        <p:spPr/>
        <p:txBody>
          <a:bodyPr/>
          <a:lstStyle/>
          <a:p>
            <a:fld id="{0FA2D919-C0DE-4971-A2E9-D4AC0031921B}" type="slidenum">
              <a:rPr lang="en-US" noProof="0" smtClean="0"/>
              <a:t>51</a:t>
            </a:fld>
            <a:endParaRPr lang="en-US" noProof="0" dirty="0"/>
          </a:p>
        </p:txBody>
      </p:sp>
      <p:grpSp>
        <p:nvGrpSpPr>
          <p:cNvPr id="33" name="Group 32">
            <a:extLst>
              <a:ext uri="{FF2B5EF4-FFF2-40B4-BE49-F238E27FC236}">
                <a16:creationId xmlns:a16="http://schemas.microsoft.com/office/drawing/2014/main" id="{118D6BCF-A77F-B779-7864-20F46CC3EC23}"/>
              </a:ext>
            </a:extLst>
          </p:cNvPr>
          <p:cNvGrpSpPr/>
          <p:nvPr/>
        </p:nvGrpSpPr>
        <p:grpSpPr>
          <a:xfrm>
            <a:off x="844469" y="1692900"/>
            <a:ext cx="540000" cy="540000"/>
            <a:chOff x="838200" y="1905000"/>
            <a:chExt cx="1080000" cy="1080000"/>
          </a:xfrm>
        </p:grpSpPr>
        <p:sp>
          <p:nvSpPr>
            <p:cNvPr id="34" name="Oval 33">
              <a:extLst>
                <a:ext uri="{FF2B5EF4-FFF2-40B4-BE49-F238E27FC236}">
                  <a16:creationId xmlns:a16="http://schemas.microsoft.com/office/drawing/2014/main" id="{681CE8E9-C326-F8CF-91D3-0947C6AB28DC}"/>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E9970666-9C54-9156-0873-C2D003CB75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65AA9DB3-3FBA-0321-297F-D8C4F27F4F40}"/>
              </a:ext>
            </a:extLst>
          </p:cNvPr>
          <p:cNvGrpSpPr/>
          <p:nvPr/>
        </p:nvGrpSpPr>
        <p:grpSpPr>
          <a:xfrm>
            <a:off x="844469" y="2414554"/>
            <a:ext cx="540000" cy="540000"/>
            <a:chOff x="838200" y="1905000"/>
            <a:chExt cx="1080000" cy="1080000"/>
          </a:xfrm>
        </p:grpSpPr>
        <p:sp>
          <p:nvSpPr>
            <p:cNvPr id="37" name="Oval 36">
              <a:extLst>
                <a:ext uri="{FF2B5EF4-FFF2-40B4-BE49-F238E27FC236}">
                  <a16:creationId xmlns:a16="http://schemas.microsoft.com/office/drawing/2014/main" id="{AC213989-8BF5-E37B-7858-0656A005B59F}"/>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02537067-5798-CB16-FE54-E447305BD70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8FD8BF5D-4A48-8C5B-86AB-C27DC7299019}"/>
              </a:ext>
            </a:extLst>
          </p:cNvPr>
          <p:cNvGrpSpPr/>
          <p:nvPr/>
        </p:nvGrpSpPr>
        <p:grpSpPr>
          <a:xfrm>
            <a:off x="838200" y="3850827"/>
            <a:ext cx="540000" cy="540000"/>
            <a:chOff x="838200" y="1905000"/>
            <a:chExt cx="1080000" cy="1080000"/>
          </a:xfrm>
        </p:grpSpPr>
        <p:sp>
          <p:nvSpPr>
            <p:cNvPr id="40" name="Oval 39">
              <a:extLst>
                <a:ext uri="{FF2B5EF4-FFF2-40B4-BE49-F238E27FC236}">
                  <a16:creationId xmlns:a16="http://schemas.microsoft.com/office/drawing/2014/main" id="{E928EABB-820B-748C-976C-553660D0A1E1}"/>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5F05D5BA-81B3-713E-5D83-6D6F880BFD16}"/>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F82552B0-4A86-8593-12AF-5A903D07DF7F}"/>
              </a:ext>
            </a:extLst>
          </p:cNvPr>
          <p:cNvCxnSpPr>
            <a:stCxn id="34" idx="4"/>
            <a:endCxn id="37" idx="0"/>
          </p:cNvCxnSpPr>
          <p:nvPr/>
        </p:nvCxnSpPr>
        <p:spPr>
          <a:xfrm>
            <a:off x="1114469" y="2232900"/>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B583DB3-7E16-FFA2-DACF-DB5077AA59D4}"/>
              </a:ext>
            </a:extLst>
          </p:cNvPr>
          <p:cNvCxnSpPr>
            <a:cxnSpLocks/>
            <a:stCxn id="37" idx="4"/>
            <a:endCxn id="45" idx="0"/>
          </p:cNvCxnSpPr>
          <p:nvPr/>
        </p:nvCxnSpPr>
        <p:spPr>
          <a:xfrm flipH="1">
            <a:off x="1111762" y="2954554"/>
            <a:ext cx="2707" cy="1760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A75810D6-6BE8-EDD9-208B-1191F28CC5BC}"/>
              </a:ext>
            </a:extLst>
          </p:cNvPr>
          <p:cNvGrpSpPr/>
          <p:nvPr/>
        </p:nvGrpSpPr>
        <p:grpSpPr>
          <a:xfrm>
            <a:off x="841762" y="3130555"/>
            <a:ext cx="540000" cy="540000"/>
            <a:chOff x="838200" y="1905000"/>
            <a:chExt cx="1080000" cy="1080000"/>
          </a:xfrm>
        </p:grpSpPr>
        <p:sp>
          <p:nvSpPr>
            <p:cNvPr id="45" name="Oval 44">
              <a:extLst>
                <a:ext uri="{FF2B5EF4-FFF2-40B4-BE49-F238E27FC236}">
                  <a16:creationId xmlns:a16="http://schemas.microsoft.com/office/drawing/2014/main" id="{B774EFB2-C2EB-0D34-F92C-165789BB5D45}"/>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232B01EB-1108-3F76-B015-55629E6F9204}"/>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D4D62CAE-22A3-B541-83A7-69BB754D5E7C}"/>
              </a:ext>
            </a:extLst>
          </p:cNvPr>
          <p:cNvCxnSpPr>
            <a:cxnSpLocks/>
            <a:stCxn id="45" idx="4"/>
            <a:endCxn id="40" idx="0"/>
          </p:cNvCxnSpPr>
          <p:nvPr/>
        </p:nvCxnSpPr>
        <p:spPr>
          <a:xfrm flipH="1">
            <a:off x="1108200" y="3670555"/>
            <a:ext cx="3562" cy="1802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98E1EBC3-D461-BF52-4FDD-84BDDCC3DA3F}"/>
              </a:ext>
            </a:extLst>
          </p:cNvPr>
          <p:cNvSpPr txBox="1"/>
          <p:nvPr/>
        </p:nvSpPr>
        <p:spPr>
          <a:xfrm>
            <a:off x="1432842" y="1734300"/>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7B18B30A-3438-0138-0BA4-C213EEC13FAC}"/>
              </a:ext>
            </a:extLst>
          </p:cNvPr>
          <p:cNvSpPr txBox="1"/>
          <p:nvPr/>
        </p:nvSpPr>
        <p:spPr>
          <a:xfrm>
            <a:off x="1439923" y="2453721"/>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050E7470-4CFA-0757-7F86-D80B5AC310EE}"/>
              </a:ext>
            </a:extLst>
          </p:cNvPr>
          <p:cNvSpPr txBox="1"/>
          <p:nvPr/>
        </p:nvSpPr>
        <p:spPr>
          <a:xfrm>
            <a:off x="1439923" y="3886530"/>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9A1D03E8-264F-255C-691D-4C695FF0D912}"/>
              </a:ext>
            </a:extLst>
          </p:cNvPr>
          <p:cNvSpPr txBox="1"/>
          <p:nvPr/>
        </p:nvSpPr>
        <p:spPr>
          <a:xfrm>
            <a:off x="1437216" y="316006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25" name="Oval 24">
            <a:extLst>
              <a:ext uri="{FF2B5EF4-FFF2-40B4-BE49-F238E27FC236}">
                <a16:creationId xmlns:a16="http://schemas.microsoft.com/office/drawing/2014/main" id="{A0A8F6DC-AB13-D577-C8EF-E78AF6374E18}"/>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8" name="Oval 27">
            <a:extLst>
              <a:ext uri="{FF2B5EF4-FFF2-40B4-BE49-F238E27FC236}">
                <a16:creationId xmlns:a16="http://schemas.microsoft.com/office/drawing/2014/main" id="{6631B0BE-4FE4-C9F7-8496-28128BE0EBEA}"/>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9" name="Straight Arrow Connector 28">
            <a:extLst>
              <a:ext uri="{FF2B5EF4-FFF2-40B4-BE49-F238E27FC236}">
                <a16:creationId xmlns:a16="http://schemas.microsoft.com/office/drawing/2014/main" id="{E4904916-B9A6-506D-C836-6B68D41C44B4}"/>
              </a:ext>
            </a:extLst>
          </p:cNvPr>
          <p:cNvCxnSpPr>
            <a:stCxn id="25" idx="6"/>
            <a:endCxn id="28"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Oval 30">
            <a:extLst>
              <a:ext uri="{FF2B5EF4-FFF2-40B4-BE49-F238E27FC236}">
                <a16:creationId xmlns:a16="http://schemas.microsoft.com/office/drawing/2014/main" id="{372F5A25-7489-93BD-DBD3-8C09AF811B31}"/>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32" name="Straight Arrow Connector 31">
            <a:extLst>
              <a:ext uri="{FF2B5EF4-FFF2-40B4-BE49-F238E27FC236}">
                <a16:creationId xmlns:a16="http://schemas.microsoft.com/office/drawing/2014/main" id="{64719ACE-3156-368D-AC81-7AE815CDCD73}"/>
              </a:ext>
            </a:extLst>
          </p:cNvPr>
          <p:cNvCxnSpPr>
            <a:cxnSpLocks/>
            <a:stCxn id="31" idx="3"/>
            <a:endCxn id="25"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630CC391-D3A2-F969-996B-C79F73AC1BE9}"/>
              </a:ext>
            </a:extLst>
          </p:cNvPr>
          <p:cNvCxnSpPr>
            <a:cxnSpLocks/>
            <a:stCxn id="31" idx="5"/>
            <a:endCxn id="28"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DF933D17-4A84-1321-E180-FC73E507ADBC}"/>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graphicFrame>
        <p:nvGraphicFramePr>
          <p:cNvPr id="60" name="Table 59">
            <a:extLst>
              <a:ext uri="{FF2B5EF4-FFF2-40B4-BE49-F238E27FC236}">
                <a16:creationId xmlns:a16="http://schemas.microsoft.com/office/drawing/2014/main" id="{3B4E4FFB-5BE0-0094-1402-CEB6C54A87F7}"/>
              </a:ext>
            </a:extLst>
          </p:cNvPr>
          <p:cNvGraphicFramePr>
            <a:graphicFrameLocks noGrp="1"/>
          </p:cNvGraphicFramePr>
          <p:nvPr/>
        </p:nvGraphicFramePr>
        <p:xfrm>
          <a:off x="9138812" y="2614326"/>
          <a:ext cx="150495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gridCol w="501650">
                  <a:extLst>
                    <a:ext uri="{9D8B030D-6E8A-4147-A177-3AD203B41FA5}">
                      <a16:colId xmlns:a16="http://schemas.microsoft.com/office/drawing/2014/main" val="515357490"/>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tc>
                  <a:txBody>
                    <a:bodyPr/>
                    <a:lstStyle/>
                    <a:p>
                      <a:r>
                        <a:rPr lang="en-US" noProof="0" dirty="0">
                          <a:solidFill>
                            <a:schemeClr val="tx1"/>
                          </a:solidFill>
                        </a:rPr>
                        <a:t>z</a:t>
                      </a:r>
                    </a:p>
                  </a:txBody>
                  <a:tcPr>
                    <a:solidFill>
                      <a:schemeClr val="bg1">
                        <a:lumMod val="85000"/>
                      </a:schemeClr>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extLst>
                  <a:ext uri="{0D108BD9-81ED-4DB2-BD59-A6C34878D82A}">
                    <a16:rowId xmlns:a16="http://schemas.microsoft.com/office/drawing/2014/main" val="143162048"/>
                  </a:ext>
                </a:extLst>
              </a:tr>
            </a:tbl>
          </a:graphicData>
        </a:graphic>
      </p:graphicFrame>
      <p:sp>
        <p:nvSpPr>
          <p:cNvPr id="61" name="TextBox 60">
            <a:extLst>
              <a:ext uri="{FF2B5EF4-FFF2-40B4-BE49-F238E27FC236}">
                <a16:creationId xmlns:a16="http://schemas.microsoft.com/office/drawing/2014/main" id="{55329C02-3C0B-96AA-E2F4-CBD2B574443A}"/>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62" name="TextBox 61">
            <a:extLst>
              <a:ext uri="{FF2B5EF4-FFF2-40B4-BE49-F238E27FC236}">
                <a16:creationId xmlns:a16="http://schemas.microsoft.com/office/drawing/2014/main" id="{A8C493A9-C56F-3EBF-B329-CF24AC2B1C09}"/>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grpSp>
        <p:nvGrpSpPr>
          <p:cNvPr id="64" name="Group 63">
            <a:extLst>
              <a:ext uri="{FF2B5EF4-FFF2-40B4-BE49-F238E27FC236}">
                <a16:creationId xmlns:a16="http://schemas.microsoft.com/office/drawing/2014/main" id="{193598F5-951A-56F3-BBEF-61C1856BE23B}"/>
              </a:ext>
            </a:extLst>
          </p:cNvPr>
          <p:cNvGrpSpPr/>
          <p:nvPr/>
        </p:nvGrpSpPr>
        <p:grpSpPr>
          <a:xfrm>
            <a:off x="838200" y="4908923"/>
            <a:ext cx="10515599" cy="946595"/>
            <a:chOff x="775411" y="5230368"/>
            <a:chExt cx="10515599" cy="946595"/>
          </a:xfrm>
        </p:grpSpPr>
        <p:sp>
          <p:nvSpPr>
            <p:cNvPr id="65" name="Rectangle: Rounded Corners 64">
              <a:extLst>
                <a:ext uri="{FF2B5EF4-FFF2-40B4-BE49-F238E27FC236}">
                  <a16:creationId xmlns:a16="http://schemas.microsoft.com/office/drawing/2014/main" id="{6DE7F9E6-E4E8-1C2B-B20A-4B7D281BBAD6}"/>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Determine the variables about which you need to collect data in order to estimate an unbiased effect of interest </a:t>
              </a:r>
              <a:r>
                <a:rPr lang="en-US" i="1" noProof="0" dirty="0"/>
                <a:t>before </a:t>
              </a:r>
              <a:r>
                <a:rPr lang="en-US" noProof="0" dirty="0"/>
                <a:t>collecting that data.</a:t>
              </a:r>
            </a:p>
          </p:txBody>
        </p:sp>
        <p:pic>
          <p:nvPicPr>
            <p:cNvPr id="66" name="Graphic 65" descr="Open quotation mark with solid fill">
              <a:extLst>
                <a:ext uri="{FF2B5EF4-FFF2-40B4-BE49-F238E27FC236}">
                  <a16:creationId xmlns:a16="http://schemas.microsoft.com/office/drawing/2014/main" id="{E4B5AC4F-E187-1562-511D-443BD5D23FD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a:off x="775412" y="5343665"/>
              <a:ext cx="720000" cy="720000"/>
            </a:xfrm>
            <a:prstGeom prst="rect">
              <a:avLst/>
            </a:prstGeom>
          </p:spPr>
        </p:pic>
      </p:grpSp>
      <p:graphicFrame>
        <p:nvGraphicFramePr>
          <p:cNvPr id="3" name="Table 2">
            <a:extLst>
              <a:ext uri="{FF2B5EF4-FFF2-40B4-BE49-F238E27FC236}">
                <a16:creationId xmlns:a16="http://schemas.microsoft.com/office/drawing/2014/main" id="{CDB9043E-D208-2109-499A-812E7CC2769D}"/>
              </a:ext>
            </a:extLst>
          </p:cNvPr>
          <p:cNvGraphicFramePr>
            <a:graphicFrameLocks noGrp="1"/>
          </p:cNvGraphicFramePr>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spTree>
    <p:extLst>
      <p:ext uri="{BB962C8B-B14F-4D97-AF65-F5344CB8AC3E}">
        <p14:creationId xmlns:p14="http://schemas.microsoft.com/office/powerpoint/2010/main" val="1574930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fade">
                                      <p:cBhvr>
                                        <p:cTn id="11" dur="500"/>
                                        <p:tgtEl>
                                          <p:spTgt spid="64"/>
                                        </p:tgtEl>
                                      </p:cBhvr>
                                    </p:animEffect>
                                    <p:anim calcmode="lin" valueType="num">
                                      <p:cBhvr>
                                        <p:cTn id="12" dur="500" fill="hold"/>
                                        <p:tgtEl>
                                          <p:spTgt spid="64"/>
                                        </p:tgtEl>
                                        <p:attrNameLst>
                                          <p:attrName>ppt_x</p:attrName>
                                        </p:attrNameLst>
                                      </p:cBhvr>
                                      <p:tavLst>
                                        <p:tav tm="0">
                                          <p:val>
                                            <p:strVal val="#ppt_x"/>
                                          </p:val>
                                        </p:tav>
                                        <p:tav tm="100000">
                                          <p:val>
                                            <p:strVal val="#ppt_x"/>
                                          </p:val>
                                        </p:tav>
                                      </p:tavLst>
                                    </p:anim>
                                    <p:anim calcmode="lin" valueType="num">
                                      <p:cBhvr>
                                        <p:cTn id="13" dur="5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DD39-8B59-5D8C-09E9-AD8E40577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0B64E-8BC6-E2FE-ED99-91C802DEA58E}"/>
              </a:ext>
            </a:extLst>
          </p:cNvPr>
          <p:cNvSpPr>
            <a:spLocks noGrp="1"/>
          </p:cNvSpPr>
          <p:nvPr>
            <p:ph type="title"/>
          </p:nvPr>
        </p:nvSpPr>
        <p:spPr/>
        <p:txBody>
          <a:bodyPr/>
          <a:lstStyle/>
          <a:p>
            <a:r>
              <a:rPr lang="en-US" noProof="0" dirty="0"/>
              <a:t>Scientific Workflow: Best</a:t>
            </a:r>
          </a:p>
        </p:txBody>
      </p:sp>
      <p:sp>
        <p:nvSpPr>
          <p:cNvPr id="4" name="Date Placeholder 3">
            <a:extLst>
              <a:ext uri="{FF2B5EF4-FFF2-40B4-BE49-F238E27FC236}">
                <a16:creationId xmlns:a16="http://schemas.microsoft.com/office/drawing/2014/main" id="{95A91F56-9AAA-679F-8857-C6BA69F2928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8F42585-0E0B-FF6B-5755-28DAE2AC3B9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2535A42-47D3-638D-384E-C2D18C0DD390}"/>
              </a:ext>
            </a:extLst>
          </p:cNvPr>
          <p:cNvSpPr>
            <a:spLocks noGrp="1"/>
          </p:cNvSpPr>
          <p:nvPr>
            <p:ph type="sldNum" sz="quarter" idx="12"/>
          </p:nvPr>
        </p:nvSpPr>
        <p:spPr/>
        <p:txBody>
          <a:bodyPr/>
          <a:lstStyle/>
          <a:p>
            <a:fld id="{0FA2D919-C0DE-4971-A2E9-D4AC0031921B}" type="slidenum">
              <a:rPr lang="en-US" noProof="0" smtClean="0"/>
              <a:t>52</a:t>
            </a:fld>
            <a:endParaRPr lang="en-US" noProof="0" dirty="0"/>
          </a:p>
        </p:txBody>
      </p:sp>
      <p:sp>
        <p:nvSpPr>
          <p:cNvPr id="14" name="Oval 13">
            <a:extLst>
              <a:ext uri="{FF2B5EF4-FFF2-40B4-BE49-F238E27FC236}">
                <a16:creationId xmlns:a16="http://schemas.microsoft.com/office/drawing/2014/main" id="{BC331DDF-CB3E-904B-15EE-A67C71456020}"/>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15" name="Oval 14">
            <a:extLst>
              <a:ext uri="{FF2B5EF4-FFF2-40B4-BE49-F238E27FC236}">
                <a16:creationId xmlns:a16="http://schemas.microsoft.com/office/drawing/2014/main" id="{3A75D904-EEA8-9B0A-A8DC-8D20264148A5}"/>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16" name="Straight Arrow Connector 15">
            <a:extLst>
              <a:ext uri="{FF2B5EF4-FFF2-40B4-BE49-F238E27FC236}">
                <a16:creationId xmlns:a16="http://schemas.microsoft.com/office/drawing/2014/main" id="{A8A0A128-6EB9-C94F-41DD-3907C1461644}"/>
              </a:ext>
            </a:extLst>
          </p:cNvPr>
          <p:cNvCxnSpPr>
            <a:stCxn id="14" idx="6"/>
            <a:endCxn id="15"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2A88E45B-1F0F-0AB7-B354-FCD5A965618C}"/>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9" name="Straight Arrow Connector 18">
            <a:extLst>
              <a:ext uri="{FF2B5EF4-FFF2-40B4-BE49-F238E27FC236}">
                <a16:creationId xmlns:a16="http://schemas.microsoft.com/office/drawing/2014/main" id="{873CCAF2-7360-F88B-D789-132901BB1BDD}"/>
              </a:ext>
            </a:extLst>
          </p:cNvPr>
          <p:cNvCxnSpPr>
            <a:cxnSpLocks/>
            <a:stCxn id="18" idx="3"/>
            <a:endCxn id="14"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9F6BE72C-1F3B-C825-92A9-11708F24D109}"/>
              </a:ext>
            </a:extLst>
          </p:cNvPr>
          <p:cNvCxnSpPr>
            <a:cxnSpLocks/>
            <a:stCxn id="18" idx="5"/>
            <a:endCxn id="15"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Oval 25">
            <a:extLst>
              <a:ext uri="{FF2B5EF4-FFF2-40B4-BE49-F238E27FC236}">
                <a16:creationId xmlns:a16="http://schemas.microsoft.com/office/drawing/2014/main" id="{5777570C-9AD2-9320-5DBB-022CC1B6D5EB}"/>
              </a:ext>
            </a:extLst>
          </p:cNvPr>
          <p:cNvSpPr/>
          <p:nvPr/>
        </p:nvSpPr>
        <p:spPr>
          <a:xfrm>
            <a:off x="7175578" y="4135645"/>
            <a:ext cx="360000" cy="360000"/>
          </a:xfrm>
          <a:prstGeom prst="ellipse">
            <a:avLst/>
          </a:prstGeom>
          <a:solidFill>
            <a:schemeClr val="bg1">
              <a:lumMod val="65000"/>
            </a:schemeClr>
          </a:solidFill>
          <a:ln>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27" name="Straight Arrow Connector 26">
            <a:extLst>
              <a:ext uri="{FF2B5EF4-FFF2-40B4-BE49-F238E27FC236}">
                <a16:creationId xmlns:a16="http://schemas.microsoft.com/office/drawing/2014/main" id="{B452CAC9-387F-DCFD-CD6D-86CB7DAFBAE3}"/>
              </a:ext>
            </a:extLst>
          </p:cNvPr>
          <p:cNvCxnSpPr>
            <a:cxnSpLocks/>
            <a:stCxn id="26" idx="7"/>
            <a:endCxn id="15" idx="3"/>
          </p:cNvCxnSpPr>
          <p:nvPr/>
        </p:nvCxnSpPr>
        <p:spPr>
          <a:xfrm flipV="1">
            <a:off x="7482857" y="3786780"/>
            <a:ext cx="462150"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663BD1A-242B-5871-C21B-AC3941A7170D}"/>
              </a:ext>
            </a:extLst>
          </p:cNvPr>
          <p:cNvCxnSpPr>
            <a:cxnSpLocks/>
            <a:stCxn id="26" idx="1"/>
            <a:endCxn id="14" idx="5"/>
          </p:cNvCxnSpPr>
          <p:nvPr/>
        </p:nvCxnSpPr>
        <p:spPr>
          <a:xfrm flipH="1" flipV="1">
            <a:off x="6766152" y="3786780"/>
            <a:ext cx="462147"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7" name="TextBox 56">
            <a:extLst>
              <a:ext uri="{FF2B5EF4-FFF2-40B4-BE49-F238E27FC236}">
                <a16:creationId xmlns:a16="http://schemas.microsoft.com/office/drawing/2014/main" id="{7486070D-16BB-3177-DCDB-14D9AA5BAA5E}"/>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sp>
        <p:nvSpPr>
          <p:cNvPr id="58" name="TextBox 57">
            <a:extLst>
              <a:ext uri="{FF2B5EF4-FFF2-40B4-BE49-F238E27FC236}">
                <a16:creationId xmlns:a16="http://schemas.microsoft.com/office/drawing/2014/main" id="{3EB52FC4-5315-19CF-37A0-35B296CEBD64}"/>
              </a:ext>
            </a:extLst>
          </p:cNvPr>
          <p:cNvSpPr txBox="1"/>
          <p:nvPr/>
        </p:nvSpPr>
        <p:spPr>
          <a:xfrm>
            <a:off x="6581421" y="4618660"/>
            <a:ext cx="1548309" cy="646331"/>
          </a:xfrm>
          <a:prstGeom prst="rect">
            <a:avLst/>
          </a:prstGeom>
          <a:noFill/>
        </p:spPr>
        <p:txBody>
          <a:bodyPr wrap="none" rtlCol="0">
            <a:spAutoFit/>
          </a:bodyPr>
          <a:lstStyle/>
          <a:p>
            <a:pPr algn="ctr"/>
            <a:r>
              <a:rPr lang="en-US" noProof="0" dirty="0"/>
              <a:t>unobservable</a:t>
            </a:r>
          </a:p>
          <a:p>
            <a:pPr algn="ctr"/>
            <a:r>
              <a:rPr lang="en-US" noProof="0" dirty="0"/>
              <a:t>confounder</a:t>
            </a:r>
          </a:p>
        </p:txBody>
      </p:sp>
      <p:graphicFrame>
        <p:nvGraphicFramePr>
          <p:cNvPr id="13" name="Table 12">
            <a:extLst>
              <a:ext uri="{FF2B5EF4-FFF2-40B4-BE49-F238E27FC236}">
                <a16:creationId xmlns:a16="http://schemas.microsoft.com/office/drawing/2014/main" id="{6401610E-1C53-2A26-F353-FC2E526CBA09}"/>
              </a:ext>
            </a:extLst>
          </p:cNvPr>
          <p:cNvGraphicFramePr>
            <a:graphicFrameLocks noGrp="1"/>
          </p:cNvGraphicFramePr>
          <p:nvPr/>
        </p:nvGraphicFramePr>
        <p:xfrm>
          <a:off x="9138812" y="2614326"/>
          <a:ext cx="20066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gridCol w="501650">
                  <a:extLst>
                    <a:ext uri="{9D8B030D-6E8A-4147-A177-3AD203B41FA5}">
                      <a16:colId xmlns:a16="http://schemas.microsoft.com/office/drawing/2014/main" val="515357490"/>
                    </a:ext>
                  </a:extLst>
                </a:gridCol>
                <a:gridCol w="501650">
                  <a:extLst>
                    <a:ext uri="{9D8B030D-6E8A-4147-A177-3AD203B41FA5}">
                      <a16:colId xmlns:a16="http://schemas.microsoft.com/office/drawing/2014/main" val="25261979"/>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tc>
                  <a:txBody>
                    <a:bodyPr/>
                    <a:lstStyle/>
                    <a:p>
                      <a:r>
                        <a:rPr lang="en-US" noProof="0" dirty="0">
                          <a:solidFill>
                            <a:schemeClr val="tx1"/>
                          </a:solidFill>
                        </a:rPr>
                        <a:t>z</a:t>
                      </a:r>
                    </a:p>
                  </a:txBody>
                  <a:tcPr>
                    <a:solidFill>
                      <a:schemeClr val="bg1">
                        <a:lumMod val="85000"/>
                      </a:schemeClr>
                    </a:solidFill>
                  </a:tcPr>
                </a:tc>
                <a:tc>
                  <a:txBody>
                    <a:bodyPr/>
                    <a:lstStyle/>
                    <a:p>
                      <a:r>
                        <a:rPr lang="en-US" noProof="0" dirty="0">
                          <a:solidFill>
                            <a:schemeClr val="tx1"/>
                          </a:solidFill>
                        </a:rPr>
                        <a:t>a</a:t>
                      </a:r>
                    </a:p>
                  </a:txBody>
                  <a:tcPr>
                    <a:solidFill>
                      <a:schemeClr val="bg1">
                        <a:lumMod val="65000"/>
                      </a:schemeClr>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tc>
                  <a:txBody>
                    <a:bodyPr/>
                    <a:lstStyle/>
                    <a:p>
                      <a:pPr algn="ctr"/>
                      <a:r>
                        <a:rPr lang="en-US" noProof="0" dirty="0">
                          <a:solidFill>
                            <a:srgbClr val="C00000"/>
                          </a:solidFill>
                        </a:rPr>
                        <a:t>x</a:t>
                      </a:r>
                    </a:p>
                  </a:txBody>
                  <a:tcPr>
                    <a:solidFill>
                      <a:schemeClr val="bg1">
                        <a:lumMod val="75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tc>
                  <a:txBody>
                    <a:bodyPr/>
                    <a:lstStyle/>
                    <a:p>
                      <a:pPr algn="ctr"/>
                      <a:r>
                        <a:rPr lang="en-US" noProof="0" dirty="0">
                          <a:solidFill>
                            <a:srgbClr val="C00000"/>
                          </a:solidFill>
                        </a:rPr>
                        <a:t>x</a:t>
                      </a:r>
                    </a:p>
                  </a:txBody>
                  <a:tcPr>
                    <a:solidFill>
                      <a:schemeClr val="bg1">
                        <a:lumMod val="85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tc>
                  <a:txBody>
                    <a:bodyPr/>
                    <a:lstStyle/>
                    <a:p>
                      <a:pPr algn="ctr"/>
                      <a:r>
                        <a:rPr lang="en-US" noProof="0" dirty="0">
                          <a:solidFill>
                            <a:srgbClr val="C00000"/>
                          </a:solidFill>
                        </a:rPr>
                        <a:t>x</a:t>
                      </a:r>
                    </a:p>
                  </a:txBody>
                  <a:tcPr>
                    <a:solidFill>
                      <a:schemeClr val="bg1">
                        <a:lumMod val="75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tc>
                  <a:txBody>
                    <a:bodyPr/>
                    <a:lstStyle/>
                    <a:p>
                      <a:pPr algn="ctr"/>
                      <a:r>
                        <a:rPr lang="en-US" noProof="0" dirty="0">
                          <a:solidFill>
                            <a:srgbClr val="C00000"/>
                          </a:solidFill>
                        </a:rPr>
                        <a:t>x</a:t>
                      </a:r>
                    </a:p>
                  </a:txBody>
                  <a:tcPr>
                    <a:solidFill>
                      <a:schemeClr val="bg1">
                        <a:lumMod val="85000"/>
                      </a:schemeClr>
                    </a:solidFill>
                  </a:tcPr>
                </a:tc>
                <a:extLst>
                  <a:ext uri="{0D108BD9-81ED-4DB2-BD59-A6C34878D82A}">
                    <a16:rowId xmlns:a16="http://schemas.microsoft.com/office/drawing/2014/main" val="143162048"/>
                  </a:ext>
                </a:extLst>
              </a:tr>
            </a:tbl>
          </a:graphicData>
        </a:graphic>
      </p:graphicFrame>
      <p:grpSp>
        <p:nvGrpSpPr>
          <p:cNvPr id="3" name="Group 2">
            <a:extLst>
              <a:ext uri="{FF2B5EF4-FFF2-40B4-BE49-F238E27FC236}">
                <a16:creationId xmlns:a16="http://schemas.microsoft.com/office/drawing/2014/main" id="{B315F2FB-EE3E-8E50-D5A5-5A276D7C295D}"/>
              </a:ext>
            </a:extLst>
          </p:cNvPr>
          <p:cNvGrpSpPr/>
          <p:nvPr/>
        </p:nvGrpSpPr>
        <p:grpSpPr>
          <a:xfrm>
            <a:off x="844469" y="1692900"/>
            <a:ext cx="540000" cy="540000"/>
            <a:chOff x="838200" y="1905000"/>
            <a:chExt cx="1080000" cy="1080000"/>
          </a:xfrm>
        </p:grpSpPr>
        <p:sp>
          <p:nvSpPr>
            <p:cNvPr id="10" name="Oval 9">
              <a:extLst>
                <a:ext uri="{FF2B5EF4-FFF2-40B4-BE49-F238E27FC236}">
                  <a16:creationId xmlns:a16="http://schemas.microsoft.com/office/drawing/2014/main" id="{436F8EEE-6F49-429D-884A-82BFBCB43D5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509F22D0-B8F5-1B50-177C-025DEE3837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1987800"/>
              <a:ext cx="914400" cy="914400"/>
            </a:xfrm>
            <a:prstGeom prst="rect">
              <a:avLst/>
            </a:prstGeom>
          </p:spPr>
        </p:pic>
      </p:grpSp>
      <p:grpSp>
        <p:nvGrpSpPr>
          <p:cNvPr id="12" name="Group 11">
            <a:extLst>
              <a:ext uri="{FF2B5EF4-FFF2-40B4-BE49-F238E27FC236}">
                <a16:creationId xmlns:a16="http://schemas.microsoft.com/office/drawing/2014/main" id="{359F0EDA-DB96-A51F-971D-D63F2FDA7986}"/>
              </a:ext>
            </a:extLst>
          </p:cNvPr>
          <p:cNvGrpSpPr/>
          <p:nvPr/>
        </p:nvGrpSpPr>
        <p:grpSpPr>
          <a:xfrm>
            <a:off x="844469" y="2414554"/>
            <a:ext cx="540000" cy="540000"/>
            <a:chOff x="838200" y="1905000"/>
            <a:chExt cx="1080000" cy="1080000"/>
          </a:xfrm>
        </p:grpSpPr>
        <p:sp>
          <p:nvSpPr>
            <p:cNvPr id="17" name="Oval 16">
              <a:extLst>
                <a:ext uri="{FF2B5EF4-FFF2-40B4-BE49-F238E27FC236}">
                  <a16:creationId xmlns:a16="http://schemas.microsoft.com/office/drawing/2014/main" id="{572E1A1B-AFA7-3C01-0E14-C62C356B7508}"/>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 name="Graphic 19" descr="Magnifying glass with solid fill">
              <a:extLst>
                <a:ext uri="{FF2B5EF4-FFF2-40B4-BE49-F238E27FC236}">
                  <a16:creationId xmlns:a16="http://schemas.microsoft.com/office/drawing/2014/main" id="{57F1DC1B-F82F-5608-1FAC-C5B5785CBA1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25" name="Straight Arrow Connector 24">
            <a:extLst>
              <a:ext uri="{FF2B5EF4-FFF2-40B4-BE49-F238E27FC236}">
                <a16:creationId xmlns:a16="http://schemas.microsoft.com/office/drawing/2014/main" id="{26EC8667-FF56-223D-B022-EAD26BF45B57}"/>
              </a:ext>
            </a:extLst>
          </p:cNvPr>
          <p:cNvCxnSpPr>
            <a:stCxn id="10" idx="4"/>
            <a:endCxn id="17" idx="0"/>
          </p:cNvCxnSpPr>
          <p:nvPr/>
        </p:nvCxnSpPr>
        <p:spPr>
          <a:xfrm>
            <a:off x="1114469" y="2232900"/>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E78A1F7F-A38E-890C-D50B-BE1FF59BE5C2}"/>
              </a:ext>
            </a:extLst>
          </p:cNvPr>
          <p:cNvCxnSpPr>
            <a:cxnSpLocks/>
            <a:stCxn id="17" idx="4"/>
            <a:endCxn id="31" idx="0"/>
          </p:cNvCxnSpPr>
          <p:nvPr/>
        </p:nvCxnSpPr>
        <p:spPr>
          <a:xfrm flipH="1">
            <a:off x="1111762" y="2954554"/>
            <a:ext cx="2707" cy="1760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9" name="Group 28">
            <a:extLst>
              <a:ext uri="{FF2B5EF4-FFF2-40B4-BE49-F238E27FC236}">
                <a16:creationId xmlns:a16="http://schemas.microsoft.com/office/drawing/2014/main" id="{A890EE12-78D9-E1CA-B737-0868A64432F7}"/>
              </a:ext>
            </a:extLst>
          </p:cNvPr>
          <p:cNvGrpSpPr/>
          <p:nvPr/>
        </p:nvGrpSpPr>
        <p:grpSpPr>
          <a:xfrm>
            <a:off x="841762" y="3130555"/>
            <a:ext cx="540000" cy="540000"/>
            <a:chOff x="838200" y="1905000"/>
            <a:chExt cx="1080000" cy="1080000"/>
          </a:xfrm>
        </p:grpSpPr>
        <p:sp>
          <p:nvSpPr>
            <p:cNvPr id="31" name="Oval 30">
              <a:extLst>
                <a:ext uri="{FF2B5EF4-FFF2-40B4-BE49-F238E27FC236}">
                  <a16:creationId xmlns:a16="http://schemas.microsoft.com/office/drawing/2014/main" id="{5F20F3FC-439A-B4A0-E15C-E8274F1942E7}"/>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Graphic 31" descr="Database with solid fill">
              <a:extLst>
                <a:ext uri="{FF2B5EF4-FFF2-40B4-BE49-F238E27FC236}">
                  <a16:creationId xmlns:a16="http://schemas.microsoft.com/office/drawing/2014/main" id="{D7DA8D5A-C742-294D-92B8-697622A716D4}"/>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1987800"/>
              <a:ext cx="914400" cy="914400"/>
            </a:xfrm>
            <a:prstGeom prst="rect">
              <a:avLst/>
            </a:prstGeom>
          </p:spPr>
        </p:pic>
      </p:grpSp>
      <p:cxnSp>
        <p:nvCxnSpPr>
          <p:cNvPr id="48" name="Straight Arrow Connector 47">
            <a:extLst>
              <a:ext uri="{FF2B5EF4-FFF2-40B4-BE49-F238E27FC236}">
                <a16:creationId xmlns:a16="http://schemas.microsoft.com/office/drawing/2014/main" id="{098ECC9A-8FEE-CE54-520E-0E38F73C9844}"/>
              </a:ext>
            </a:extLst>
          </p:cNvPr>
          <p:cNvCxnSpPr>
            <a:cxnSpLocks/>
            <a:stCxn id="31" idx="4"/>
            <a:endCxn id="62" idx="0"/>
          </p:cNvCxnSpPr>
          <p:nvPr/>
        </p:nvCxnSpPr>
        <p:spPr>
          <a:xfrm flipH="1">
            <a:off x="1108482" y="3670555"/>
            <a:ext cx="3280" cy="1615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F5D39D6-5482-B6A9-6BF0-82615438E601}"/>
              </a:ext>
            </a:extLst>
          </p:cNvPr>
          <p:cNvSpPr txBox="1"/>
          <p:nvPr/>
        </p:nvSpPr>
        <p:spPr>
          <a:xfrm>
            <a:off x="1432842" y="1734300"/>
            <a:ext cx="1486304" cy="461665"/>
          </a:xfrm>
          <a:prstGeom prst="rect">
            <a:avLst/>
          </a:prstGeom>
          <a:noFill/>
        </p:spPr>
        <p:txBody>
          <a:bodyPr wrap="none" rtlCol="0">
            <a:spAutoFit/>
          </a:bodyPr>
          <a:lstStyle/>
          <a:p>
            <a:r>
              <a:rPr lang="en-US" sz="2400" noProof="0" dirty="0"/>
              <a:t>Modelling</a:t>
            </a:r>
            <a:endParaRPr lang="en-US" noProof="0" dirty="0"/>
          </a:p>
        </p:txBody>
      </p:sp>
      <p:sp>
        <p:nvSpPr>
          <p:cNvPr id="54" name="TextBox 53">
            <a:extLst>
              <a:ext uri="{FF2B5EF4-FFF2-40B4-BE49-F238E27FC236}">
                <a16:creationId xmlns:a16="http://schemas.microsoft.com/office/drawing/2014/main" id="{837C96C1-95E4-8731-2D87-A9D9D1D205E5}"/>
              </a:ext>
            </a:extLst>
          </p:cNvPr>
          <p:cNvSpPr txBox="1"/>
          <p:nvPr/>
        </p:nvSpPr>
        <p:spPr>
          <a:xfrm>
            <a:off x="1439923" y="2453721"/>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5" name="TextBox 54">
            <a:extLst>
              <a:ext uri="{FF2B5EF4-FFF2-40B4-BE49-F238E27FC236}">
                <a16:creationId xmlns:a16="http://schemas.microsoft.com/office/drawing/2014/main" id="{7E12E393-1856-DEE4-16FB-8E923C7DAA3B}"/>
              </a:ext>
            </a:extLst>
          </p:cNvPr>
          <p:cNvSpPr txBox="1"/>
          <p:nvPr/>
        </p:nvSpPr>
        <p:spPr>
          <a:xfrm>
            <a:off x="1439923" y="4608176"/>
            <a:ext cx="1613262" cy="461665"/>
          </a:xfrm>
          <a:prstGeom prst="rect">
            <a:avLst/>
          </a:prstGeom>
          <a:noFill/>
        </p:spPr>
        <p:txBody>
          <a:bodyPr wrap="none" rtlCol="0">
            <a:spAutoFit/>
          </a:bodyPr>
          <a:lstStyle/>
          <a:p>
            <a:r>
              <a:rPr lang="en-US" sz="2400" noProof="0" dirty="0"/>
              <a:t>Estimation</a:t>
            </a:r>
            <a:endParaRPr lang="en-US" noProof="0" dirty="0"/>
          </a:p>
        </p:txBody>
      </p:sp>
      <p:sp>
        <p:nvSpPr>
          <p:cNvPr id="56" name="TextBox 55">
            <a:extLst>
              <a:ext uri="{FF2B5EF4-FFF2-40B4-BE49-F238E27FC236}">
                <a16:creationId xmlns:a16="http://schemas.microsoft.com/office/drawing/2014/main" id="{A210F866-44A1-2F42-EA02-803695F172FB}"/>
              </a:ext>
            </a:extLst>
          </p:cNvPr>
          <p:cNvSpPr txBox="1"/>
          <p:nvPr/>
        </p:nvSpPr>
        <p:spPr>
          <a:xfrm>
            <a:off x="1437216" y="3160064"/>
            <a:ext cx="2261132" cy="461665"/>
          </a:xfrm>
          <a:prstGeom prst="rect">
            <a:avLst/>
          </a:prstGeom>
          <a:noFill/>
        </p:spPr>
        <p:txBody>
          <a:bodyPr wrap="none" rtlCol="0">
            <a:spAutoFit/>
          </a:bodyPr>
          <a:lstStyle/>
          <a:p>
            <a:r>
              <a:rPr lang="en-US" sz="2400" noProof="0" dirty="0"/>
              <a:t>Data Collection</a:t>
            </a:r>
            <a:endParaRPr lang="en-US" noProof="0" dirty="0"/>
          </a:p>
        </p:txBody>
      </p:sp>
      <p:grpSp>
        <p:nvGrpSpPr>
          <p:cNvPr id="59" name="Group 58">
            <a:extLst>
              <a:ext uri="{FF2B5EF4-FFF2-40B4-BE49-F238E27FC236}">
                <a16:creationId xmlns:a16="http://schemas.microsoft.com/office/drawing/2014/main" id="{5152F7CF-21D3-9448-5EFD-BC41AAB12C68}"/>
              </a:ext>
            </a:extLst>
          </p:cNvPr>
          <p:cNvGrpSpPr/>
          <p:nvPr/>
        </p:nvGrpSpPr>
        <p:grpSpPr>
          <a:xfrm>
            <a:off x="838482" y="4570422"/>
            <a:ext cx="540000" cy="540000"/>
            <a:chOff x="838200" y="1905000"/>
            <a:chExt cx="1080000" cy="1080000"/>
          </a:xfrm>
        </p:grpSpPr>
        <p:sp>
          <p:nvSpPr>
            <p:cNvPr id="60" name="Oval 59">
              <a:extLst>
                <a:ext uri="{FF2B5EF4-FFF2-40B4-BE49-F238E27FC236}">
                  <a16:creationId xmlns:a16="http://schemas.microsoft.com/office/drawing/2014/main" id="{00998065-2F37-CC50-2A18-D9E25FAB5EBC}"/>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1" name="Graphic 60" descr="Normal Distribution with solid fill">
              <a:extLst>
                <a:ext uri="{FF2B5EF4-FFF2-40B4-BE49-F238E27FC236}">
                  <a16:creationId xmlns:a16="http://schemas.microsoft.com/office/drawing/2014/main" id="{4C9876FA-EB5E-58FB-C283-54B1F556664F}"/>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21000" y="1987800"/>
              <a:ext cx="914400" cy="914400"/>
            </a:xfrm>
            <a:prstGeom prst="rect">
              <a:avLst/>
            </a:prstGeom>
          </p:spPr>
        </p:pic>
      </p:grpSp>
      <p:sp>
        <p:nvSpPr>
          <p:cNvPr id="62" name="Diamond 61">
            <a:extLst>
              <a:ext uri="{FF2B5EF4-FFF2-40B4-BE49-F238E27FC236}">
                <a16:creationId xmlns:a16="http://schemas.microsoft.com/office/drawing/2014/main" id="{757938F9-930E-500C-B0AD-BF7AF1316C56}"/>
              </a:ext>
            </a:extLst>
          </p:cNvPr>
          <p:cNvSpPr/>
          <p:nvPr/>
        </p:nvSpPr>
        <p:spPr>
          <a:xfrm>
            <a:off x="802482" y="3832132"/>
            <a:ext cx="612000" cy="576000"/>
          </a:xfrm>
          <a:prstGeom prst="diamond">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6" name="Straight Arrow Connector 65">
            <a:extLst>
              <a:ext uri="{FF2B5EF4-FFF2-40B4-BE49-F238E27FC236}">
                <a16:creationId xmlns:a16="http://schemas.microsoft.com/office/drawing/2014/main" id="{41CE632B-25C8-8F4C-77C7-2CD9277B3DCD}"/>
              </a:ext>
            </a:extLst>
          </p:cNvPr>
          <p:cNvCxnSpPr>
            <a:cxnSpLocks/>
            <a:stCxn id="62" idx="2"/>
            <a:endCxn id="60" idx="0"/>
          </p:cNvCxnSpPr>
          <p:nvPr/>
        </p:nvCxnSpPr>
        <p:spPr>
          <a:xfrm>
            <a:off x="1108482" y="4408132"/>
            <a:ext cx="0" cy="16229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4F58E637-7C94-1F07-EBDF-67A697F9A567}"/>
              </a:ext>
            </a:extLst>
          </p:cNvPr>
          <p:cNvSpPr txBox="1"/>
          <p:nvPr/>
        </p:nvSpPr>
        <p:spPr>
          <a:xfrm>
            <a:off x="3817642" y="4418946"/>
            <a:ext cx="1398909" cy="830997"/>
          </a:xfrm>
          <a:prstGeom prst="rect">
            <a:avLst/>
          </a:prstGeom>
          <a:noFill/>
        </p:spPr>
        <p:txBody>
          <a:bodyPr wrap="none" rtlCol="0">
            <a:spAutoFit/>
          </a:bodyPr>
          <a:lstStyle/>
          <a:p>
            <a:r>
              <a:rPr lang="en-US" sz="2400" noProof="0" dirty="0"/>
              <a:t>Alternate</a:t>
            </a:r>
            <a:br>
              <a:rPr lang="en-US" sz="2400" noProof="0" dirty="0"/>
            </a:br>
            <a:r>
              <a:rPr lang="en-US" sz="2400" noProof="0" dirty="0"/>
              <a:t>Strategy</a:t>
            </a:r>
            <a:endParaRPr lang="en-US" noProof="0" dirty="0"/>
          </a:p>
        </p:txBody>
      </p:sp>
      <p:grpSp>
        <p:nvGrpSpPr>
          <p:cNvPr id="75" name="Group 74">
            <a:extLst>
              <a:ext uri="{FF2B5EF4-FFF2-40B4-BE49-F238E27FC236}">
                <a16:creationId xmlns:a16="http://schemas.microsoft.com/office/drawing/2014/main" id="{E856FDCC-A23F-701F-63C5-13A32AA4E37C}"/>
              </a:ext>
            </a:extLst>
          </p:cNvPr>
          <p:cNvGrpSpPr/>
          <p:nvPr/>
        </p:nvGrpSpPr>
        <p:grpSpPr>
          <a:xfrm>
            <a:off x="3236242" y="4564445"/>
            <a:ext cx="540000" cy="540000"/>
            <a:chOff x="838200" y="1905000"/>
            <a:chExt cx="1080000" cy="1080000"/>
          </a:xfrm>
        </p:grpSpPr>
        <p:sp>
          <p:nvSpPr>
            <p:cNvPr id="76" name="Oval 75">
              <a:extLst>
                <a:ext uri="{FF2B5EF4-FFF2-40B4-BE49-F238E27FC236}">
                  <a16:creationId xmlns:a16="http://schemas.microsoft.com/office/drawing/2014/main" id="{2D2E0E10-C370-0DAE-09B9-AE21A4EC6F3B}"/>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7" name="Graphic 76" descr="Flask with solid fill">
              <a:extLst>
                <a:ext uri="{FF2B5EF4-FFF2-40B4-BE49-F238E27FC236}">
                  <a16:creationId xmlns:a16="http://schemas.microsoft.com/office/drawing/2014/main" id="{1E00C2E0-4E20-2D4B-B02F-4024083FEAF1}"/>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921000" y="1987800"/>
              <a:ext cx="914400" cy="914400"/>
            </a:xfrm>
            <a:prstGeom prst="rect">
              <a:avLst/>
            </a:prstGeom>
          </p:spPr>
        </p:pic>
      </p:grpSp>
      <p:cxnSp>
        <p:nvCxnSpPr>
          <p:cNvPr id="78" name="Straight Arrow Connector 77">
            <a:extLst>
              <a:ext uri="{FF2B5EF4-FFF2-40B4-BE49-F238E27FC236}">
                <a16:creationId xmlns:a16="http://schemas.microsoft.com/office/drawing/2014/main" id="{87E30BCE-D489-2016-AD56-33FA719E9ACA}"/>
              </a:ext>
            </a:extLst>
          </p:cNvPr>
          <p:cNvCxnSpPr>
            <a:cxnSpLocks/>
            <a:stCxn id="62" idx="3"/>
            <a:endCxn id="76" idx="0"/>
          </p:cNvCxnSpPr>
          <p:nvPr/>
        </p:nvCxnSpPr>
        <p:spPr>
          <a:xfrm>
            <a:off x="1414482" y="4120132"/>
            <a:ext cx="2091760" cy="444313"/>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6DE9BCDD-E61D-C8E1-FE86-EA65067BDD23}"/>
              </a:ext>
            </a:extLst>
          </p:cNvPr>
          <p:cNvSpPr txBox="1"/>
          <p:nvPr/>
        </p:nvSpPr>
        <p:spPr>
          <a:xfrm>
            <a:off x="1333036" y="3735371"/>
            <a:ext cx="981744" cy="338554"/>
          </a:xfrm>
          <a:prstGeom prst="rect">
            <a:avLst/>
          </a:prstGeom>
          <a:noFill/>
        </p:spPr>
        <p:txBody>
          <a:bodyPr wrap="none" rtlCol="0">
            <a:spAutoFit/>
          </a:bodyPr>
          <a:lstStyle/>
          <a:p>
            <a:r>
              <a:rPr lang="en-US" sz="1600" noProof="0" dirty="0"/>
              <a:t>feasible?</a:t>
            </a:r>
            <a:endParaRPr lang="en-US" sz="1200" noProof="0" dirty="0"/>
          </a:p>
        </p:txBody>
      </p:sp>
      <p:sp>
        <p:nvSpPr>
          <p:cNvPr id="82" name="TextBox 81">
            <a:extLst>
              <a:ext uri="{FF2B5EF4-FFF2-40B4-BE49-F238E27FC236}">
                <a16:creationId xmlns:a16="http://schemas.microsoft.com/office/drawing/2014/main" id="{DCEE8BD7-0279-48AF-5A4D-BD22D0D343C8}"/>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83" name="TextBox 82">
            <a:extLst>
              <a:ext uri="{FF2B5EF4-FFF2-40B4-BE49-F238E27FC236}">
                <a16:creationId xmlns:a16="http://schemas.microsoft.com/office/drawing/2014/main" id="{1531202F-3E4B-FB3B-13AF-084259E1C76C}"/>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
        <p:nvSpPr>
          <p:cNvPr id="84" name="Content Placeholder 62">
            <a:extLst>
              <a:ext uri="{FF2B5EF4-FFF2-40B4-BE49-F238E27FC236}">
                <a16:creationId xmlns:a16="http://schemas.microsoft.com/office/drawing/2014/main" id="{3338044F-C686-EDF5-1394-F5C5DD4188D1}"/>
              </a:ext>
            </a:extLst>
          </p:cNvPr>
          <p:cNvSpPr>
            <a:spLocks noGrp="1"/>
          </p:cNvSpPr>
          <p:nvPr>
            <p:ph idx="1"/>
          </p:nvPr>
        </p:nvSpPr>
        <p:spPr>
          <a:xfrm>
            <a:off x="838200" y="5293674"/>
            <a:ext cx="10515600" cy="883288"/>
          </a:xfrm>
        </p:spPr>
        <p:txBody>
          <a:bodyPr>
            <a:normAutofit/>
          </a:bodyPr>
          <a:lstStyle/>
          <a:p>
            <a:pPr marL="0" indent="0">
              <a:buNone/>
            </a:pPr>
            <a:r>
              <a:rPr lang="en-US" noProof="0" dirty="0"/>
              <a:t>Unobservable confounders require (a) acknowledgement in the </a:t>
            </a:r>
            <a:r>
              <a:rPr lang="en-US" b="1" noProof="0" dirty="0"/>
              <a:t>threats to (internal) validity </a:t>
            </a:r>
            <a:r>
              <a:rPr lang="en-US" noProof="0" dirty="0"/>
              <a:t>and (b) </a:t>
            </a:r>
            <a:r>
              <a:rPr lang="en-US" b="1" noProof="0" dirty="0"/>
              <a:t>different research strategies</a:t>
            </a:r>
            <a:r>
              <a:rPr lang="en-US" noProof="0" dirty="0"/>
              <a:t>.</a:t>
            </a:r>
          </a:p>
        </p:txBody>
      </p:sp>
    </p:spTree>
    <p:extLst>
      <p:ext uri="{BB962C8B-B14F-4D97-AF65-F5344CB8AC3E}">
        <p14:creationId xmlns:p14="http://schemas.microsoft.com/office/powerpoint/2010/main" val="3330502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8" grpId="0"/>
      <p:bldP spid="8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E4A54-99B0-3C4D-7363-B3208BF366EC}"/>
              </a:ext>
            </a:extLst>
          </p:cNvPr>
          <p:cNvSpPr>
            <a:spLocks noGrp="1"/>
          </p:cNvSpPr>
          <p:nvPr>
            <p:ph type="title"/>
          </p:nvPr>
        </p:nvSpPr>
        <p:spPr/>
        <p:txBody>
          <a:bodyPr/>
          <a:lstStyle/>
          <a:p>
            <a:r>
              <a:rPr lang="en-SE" dirty="0"/>
              <a:t>Coherent Science</a:t>
            </a:r>
          </a:p>
        </p:txBody>
      </p:sp>
      <p:sp>
        <p:nvSpPr>
          <p:cNvPr id="4" name="Date Placeholder 3">
            <a:extLst>
              <a:ext uri="{FF2B5EF4-FFF2-40B4-BE49-F238E27FC236}">
                <a16:creationId xmlns:a16="http://schemas.microsoft.com/office/drawing/2014/main" id="{0199C14C-05B4-5DB9-8299-E3D618B736DC}"/>
              </a:ext>
            </a:extLst>
          </p:cNvPr>
          <p:cNvSpPr>
            <a:spLocks noGrp="1"/>
          </p:cNvSpPr>
          <p:nvPr>
            <p:ph type="dt" sz="half" idx="10"/>
          </p:nvPr>
        </p:nvSpPr>
        <p:spPr/>
        <p:txBody>
          <a:bodyPr/>
          <a:lstStyle/>
          <a:p>
            <a:fld id="{A1C06950-82F8-45F4-A28D-9FBF8CAE29F7}" type="datetime1">
              <a:rPr lang="de-DE" smtClean="0"/>
              <a:t>20.01.2026</a:t>
            </a:fld>
            <a:endParaRPr lang="en-SE"/>
          </a:p>
        </p:txBody>
      </p:sp>
      <p:sp>
        <p:nvSpPr>
          <p:cNvPr id="5" name="Slide Number Placeholder 4">
            <a:extLst>
              <a:ext uri="{FF2B5EF4-FFF2-40B4-BE49-F238E27FC236}">
                <a16:creationId xmlns:a16="http://schemas.microsoft.com/office/drawing/2014/main" id="{EE8D829A-ADAE-61F5-5CE7-7499A580F2B6}"/>
              </a:ext>
            </a:extLst>
          </p:cNvPr>
          <p:cNvSpPr>
            <a:spLocks noGrp="1"/>
          </p:cNvSpPr>
          <p:nvPr>
            <p:ph type="sldNum" sz="quarter" idx="12"/>
          </p:nvPr>
        </p:nvSpPr>
        <p:spPr/>
        <p:txBody>
          <a:bodyPr/>
          <a:lstStyle/>
          <a:p>
            <a:fld id="{271ECC92-9CDE-4EB3-B1C5-F46B9E1FA3C1}" type="slidenum">
              <a:rPr lang="en-SE" smtClean="0"/>
              <a:t>53</a:t>
            </a:fld>
            <a:endParaRPr lang="en-SE"/>
          </a:p>
        </p:txBody>
      </p:sp>
      <p:sp>
        <p:nvSpPr>
          <p:cNvPr id="6" name="Arrow: Right 5">
            <a:extLst>
              <a:ext uri="{FF2B5EF4-FFF2-40B4-BE49-F238E27FC236}">
                <a16:creationId xmlns:a16="http://schemas.microsoft.com/office/drawing/2014/main" id="{70F0C0F8-9351-8FF4-649D-659A4A09B044}"/>
              </a:ext>
            </a:extLst>
          </p:cNvPr>
          <p:cNvSpPr/>
          <p:nvPr/>
        </p:nvSpPr>
        <p:spPr>
          <a:xfrm>
            <a:off x="690880" y="3578756"/>
            <a:ext cx="10662920" cy="1906824"/>
          </a:xfrm>
          <a:prstGeom prst="rightArrow">
            <a:avLst/>
          </a:prstGeom>
          <a:gradFill flip="none" rotWithShape="1">
            <a:gsLst>
              <a:gs pos="0">
                <a:schemeClr val="tx2">
                  <a:lumMod val="25000"/>
                  <a:lumOff val="75000"/>
                </a:schemeClr>
              </a:gs>
              <a:gs pos="100000">
                <a:schemeClr val="tx2">
                  <a:lumMod val="75000"/>
                  <a:lumOff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Content Placeholder 2">
            <a:extLst>
              <a:ext uri="{FF2B5EF4-FFF2-40B4-BE49-F238E27FC236}">
                <a16:creationId xmlns:a16="http://schemas.microsoft.com/office/drawing/2014/main" id="{722BD1C7-C84D-B7DE-B29A-E2809E151FA1}"/>
              </a:ext>
            </a:extLst>
          </p:cNvPr>
          <p:cNvSpPr>
            <a:spLocks noGrp="1"/>
          </p:cNvSpPr>
          <p:nvPr>
            <p:ph idx="1"/>
          </p:nvPr>
        </p:nvSpPr>
        <p:spPr>
          <a:xfrm>
            <a:off x="838200" y="1825625"/>
            <a:ext cx="10515600" cy="998855"/>
          </a:xfrm>
        </p:spPr>
        <p:txBody>
          <a:bodyPr/>
          <a:lstStyle/>
          <a:p>
            <a:pPr marL="0" indent="0">
              <a:buNone/>
            </a:pPr>
            <a:r>
              <a:rPr lang="en-US" noProof="0" dirty="0"/>
              <a:t>Following this scientific workflow enables us as a community to effectively contribute to a coherent </a:t>
            </a:r>
            <a:r>
              <a:rPr lang="en-US" noProof="0"/>
              <a:t>scientific endeavor.</a:t>
            </a:r>
            <a:endParaRPr lang="en-US" noProof="0" dirty="0"/>
          </a:p>
        </p:txBody>
      </p:sp>
      <p:grpSp>
        <p:nvGrpSpPr>
          <p:cNvPr id="8" name="Group 7">
            <a:extLst>
              <a:ext uri="{FF2B5EF4-FFF2-40B4-BE49-F238E27FC236}">
                <a16:creationId xmlns:a16="http://schemas.microsoft.com/office/drawing/2014/main" id="{23367F2F-5DF0-BAA3-7DC1-841CAFB022F0}"/>
              </a:ext>
            </a:extLst>
          </p:cNvPr>
          <p:cNvGrpSpPr/>
          <p:nvPr/>
        </p:nvGrpSpPr>
        <p:grpSpPr>
          <a:xfrm>
            <a:off x="838200" y="2959417"/>
            <a:ext cx="2174240" cy="2870423"/>
            <a:chOff x="826411" y="2809240"/>
            <a:chExt cx="2174240" cy="2870423"/>
          </a:xfrm>
        </p:grpSpPr>
        <p:sp>
          <p:nvSpPr>
            <p:cNvPr id="9" name="Rectangle 8">
              <a:extLst>
                <a:ext uri="{FF2B5EF4-FFF2-40B4-BE49-F238E27FC236}">
                  <a16:creationId xmlns:a16="http://schemas.microsoft.com/office/drawing/2014/main" id="{640EC96B-1012-314C-2FF4-0D679914F6BE}"/>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10" name="Graphic 9" descr="Document with solid fill">
              <a:extLst>
                <a:ext uri="{FF2B5EF4-FFF2-40B4-BE49-F238E27FC236}">
                  <a16:creationId xmlns:a16="http://schemas.microsoft.com/office/drawing/2014/main" id="{79DC812F-5605-C76D-E4D0-2AA31B3D1B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6411" y="2809240"/>
              <a:ext cx="360000" cy="360000"/>
            </a:xfrm>
            <a:prstGeom prst="rect">
              <a:avLst/>
            </a:prstGeom>
          </p:spPr>
        </p:pic>
        <p:sp>
          <p:nvSpPr>
            <p:cNvPr id="11" name="TextBox 10">
              <a:extLst>
                <a:ext uri="{FF2B5EF4-FFF2-40B4-BE49-F238E27FC236}">
                  <a16:creationId xmlns:a16="http://schemas.microsoft.com/office/drawing/2014/main" id="{B71560EC-0C2D-D10E-F865-EFDD9448D638}"/>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Original Contribution</a:t>
              </a:r>
            </a:p>
          </p:txBody>
        </p:sp>
        <p:sp>
          <p:nvSpPr>
            <p:cNvPr id="12" name="TextBox 11">
              <a:extLst>
                <a:ext uri="{FF2B5EF4-FFF2-40B4-BE49-F238E27FC236}">
                  <a16:creationId xmlns:a16="http://schemas.microsoft.com/office/drawing/2014/main" id="{F607115C-0C65-ECEF-80AE-3BBF23D044A4}"/>
                </a:ext>
              </a:extLst>
            </p:cNvPr>
            <p:cNvSpPr txBox="1"/>
            <p:nvPr/>
          </p:nvSpPr>
          <p:spPr>
            <a:xfrm>
              <a:off x="937607" y="3334982"/>
              <a:ext cx="1951847" cy="307777"/>
            </a:xfrm>
            <a:prstGeom prst="rect">
              <a:avLst/>
            </a:prstGeom>
            <a:noFill/>
          </p:spPr>
          <p:txBody>
            <a:bodyPr wrap="square">
              <a:spAutoFit/>
            </a:bodyPr>
            <a:lstStyle/>
            <a:p>
              <a:pPr algn="ctr"/>
              <a:r>
                <a:rPr lang="en-US" sz="1400" b="1" noProof="0" dirty="0">
                  <a:solidFill>
                    <a:schemeClr val="tx1"/>
                  </a:solidFill>
                </a:rPr>
                <a:t>The Effect of X on Y</a:t>
              </a:r>
            </a:p>
          </p:txBody>
        </p:sp>
        <p:sp>
          <p:nvSpPr>
            <p:cNvPr id="13" name="Oval 12">
              <a:extLst>
                <a:ext uri="{FF2B5EF4-FFF2-40B4-BE49-F238E27FC236}">
                  <a16:creationId xmlns:a16="http://schemas.microsoft.com/office/drawing/2014/main" id="{BB79468E-F604-B8EC-9967-2C6681E3E0EE}"/>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14" name="Oval 13">
              <a:extLst>
                <a:ext uri="{FF2B5EF4-FFF2-40B4-BE49-F238E27FC236}">
                  <a16:creationId xmlns:a16="http://schemas.microsoft.com/office/drawing/2014/main" id="{C5C03E3F-973B-46EF-978D-EA506918E122}"/>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15" name="Straight Arrow Connector 14">
              <a:extLst>
                <a:ext uri="{FF2B5EF4-FFF2-40B4-BE49-F238E27FC236}">
                  <a16:creationId xmlns:a16="http://schemas.microsoft.com/office/drawing/2014/main" id="{15698415-1178-06A9-7B18-76B8676623DB}"/>
                </a:ext>
              </a:extLst>
            </p:cNvPr>
            <p:cNvCxnSpPr>
              <a:cxnSpLocks/>
              <a:stCxn id="13" idx="6"/>
              <a:endCxn id="14" idx="2"/>
            </p:cNvCxnSpPr>
            <p:nvPr/>
          </p:nvCxnSpPr>
          <p:spPr>
            <a:xfrm>
              <a:off x="1366411" y="5222558"/>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CFA7DD4E-0072-F20D-2D21-2D30209FBFD8}"/>
                </a:ext>
              </a:extLst>
            </p:cNvPr>
            <p:cNvSpPr/>
            <p:nvPr/>
          </p:nvSpPr>
          <p:spPr>
            <a:xfrm>
              <a:off x="950262" y="38337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A6F320E-3780-EEF3-FB1B-B63E52D9FB6E}"/>
                </a:ext>
              </a:extLst>
            </p:cNvPr>
            <p:cNvSpPr/>
            <p:nvPr/>
          </p:nvSpPr>
          <p:spPr>
            <a:xfrm>
              <a:off x="950262" y="39873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61219826-D2A9-C6E6-27E2-8B5220B535E9}"/>
                </a:ext>
              </a:extLst>
            </p:cNvPr>
            <p:cNvSpPr/>
            <p:nvPr/>
          </p:nvSpPr>
          <p:spPr>
            <a:xfrm>
              <a:off x="950262" y="41528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469B29CF-D4C0-8463-1A2D-ED2BF3106D1F}"/>
              </a:ext>
            </a:extLst>
          </p:cNvPr>
          <p:cNvGrpSpPr/>
          <p:nvPr/>
        </p:nvGrpSpPr>
        <p:grpSpPr>
          <a:xfrm>
            <a:off x="3556000" y="2959417"/>
            <a:ext cx="2174240" cy="2870423"/>
            <a:chOff x="826411" y="2809240"/>
            <a:chExt cx="2174240" cy="2870423"/>
          </a:xfrm>
        </p:grpSpPr>
        <p:sp>
          <p:nvSpPr>
            <p:cNvPr id="20" name="Rectangle 19">
              <a:extLst>
                <a:ext uri="{FF2B5EF4-FFF2-40B4-BE49-F238E27FC236}">
                  <a16:creationId xmlns:a16="http://schemas.microsoft.com/office/drawing/2014/main" id="{0C6AC5A0-A785-FA4F-DB72-4016B7A52080}"/>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21" name="Graphic 20" descr="Document with solid fill">
              <a:extLst>
                <a:ext uri="{FF2B5EF4-FFF2-40B4-BE49-F238E27FC236}">
                  <a16:creationId xmlns:a16="http://schemas.microsoft.com/office/drawing/2014/main" id="{D8E0558A-ED63-4DB4-58C7-4FEF5015D4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6411" y="2809240"/>
              <a:ext cx="360000" cy="360000"/>
            </a:xfrm>
            <a:prstGeom prst="rect">
              <a:avLst/>
            </a:prstGeom>
          </p:spPr>
        </p:pic>
        <p:sp>
          <p:nvSpPr>
            <p:cNvPr id="22" name="TextBox 21">
              <a:extLst>
                <a:ext uri="{FF2B5EF4-FFF2-40B4-BE49-F238E27FC236}">
                  <a16:creationId xmlns:a16="http://schemas.microsoft.com/office/drawing/2014/main" id="{8805092C-92AC-5F4B-42E7-4EC3C6E61C0D}"/>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Close Replication</a:t>
              </a:r>
            </a:p>
          </p:txBody>
        </p:sp>
        <p:sp>
          <p:nvSpPr>
            <p:cNvPr id="23" name="TextBox 22">
              <a:extLst>
                <a:ext uri="{FF2B5EF4-FFF2-40B4-BE49-F238E27FC236}">
                  <a16:creationId xmlns:a16="http://schemas.microsoft.com/office/drawing/2014/main" id="{996640F7-1DB2-F865-F18F-0F3AD584BA38}"/>
                </a:ext>
              </a:extLst>
            </p:cNvPr>
            <p:cNvSpPr txBox="1"/>
            <p:nvPr/>
          </p:nvSpPr>
          <p:spPr>
            <a:xfrm>
              <a:off x="937607" y="3334982"/>
              <a:ext cx="1951847" cy="523220"/>
            </a:xfrm>
            <a:prstGeom prst="rect">
              <a:avLst/>
            </a:prstGeom>
            <a:noFill/>
          </p:spPr>
          <p:txBody>
            <a:bodyPr wrap="square">
              <a:spAutoFit/>
            </a:bodyPr>
            <a:lstStyle/>
            <a:p>
              <a:pPr algn="ctr"/>
              <a:r>
                <a:rPr lang="en-US" sz="1400" b="1" noProof="0" dirty="0">
                  <a:solidFill>
                    <a:schemeClr val="tx1"/>
                  </a:solidFill>
                </a:rPr>
                <a:t>The Effect of X on Y: </a:t>
              </a:r>
              <a:br>
                <a:rPr lang="en-US" sz="1400" b="1" noProof="0" dirty="0">
                  <a:solidFill>
                    <a:schemeClr val="tx1"/>
                  </a:solidFill>
                </a:rPr>
              </a:br>
              <a:r>
                <a:rPr lang="en-US" sz="1400" b="1" noProof="0" dirty="0">
                  <a:solidFill>
                    <a:schemeClr val="tx1"/>
                  </a:solidFill>
                </a:rPr>
                <a:t>A Replication Study</a:t>
              </a:r>
            </a:p>
          </p:txBody>
        </p:sp>
        <p:sp>
          <p:nvSpPr>
            <p:cNvPr id="24" name="Oval 23">
              <a:extLst>
                <a:ext uri="{FF2B5EF4-FFF2-40B4-BE49-F238E27FC236}">
                  <a16:creationId xmlns:a16="http://schemas.microsoft.com/office/drawing/2014/main" id="{8B36A747-3176-7074-5606-CC6B0E20E465}"/>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5" name="Oval 24">
              <a:extLst>
                <a:ext uri="{FF2B5EF4-FFF2-40B4-BE49-F238E27FC236}">
                  <a16:creationId xmlns:a16="http://schemas.microsoft.com/office/drawing/2014/main" id="{64402EC1-E2CA-F8B4-9131-C81019BDFA49}"/>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6" name="Straight Arrow Connector 25">
              <a:extLst>
                <a:ext uri="{FF2B5EF4-FFF2-40B4-BE49-F238E27FC236}">
                  <a16:creationId xmlns:a16="http://schemas.microsoft.com/office/drawing/2014/main" id="{A734119A-AE38-3D21-39BF-DEFCBB758C71}"/>
                </a:ext>
              </a:extLst>
            </p:cNvPr>
            <p:cNvCxnSpPr>
              <a:cxnSpLocks/>
              <a:stCxn id="24" idx="6"/>
              <a:endCxn id="25" idx="2"/>
            </p:cNvCxnSpPr>
            <p:nvPr/>
          </p:nvCxnSpPr>
          <p:spPr>
            <a:xfrm>
              <a:off x="1366411" y="5222558"/>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Rectangle 26">
              <a:extLst>
                <a:ext uri="{FF2B5EF4-FFF2-40B4-BE49-F238E27FC236}">
                  <a16:creationId xmlns:a16="http://schemas.microsoft.com/office/drawing/2014/main" id="{92866836-DD1A-2406-A01E-6960C7927AFB}"/>
                </a:ext>
              </a:extLst>
            </p:cNvPr>
            <p:cNvSpPr/>
            <p:nvPr/>
          </p:nvSpPr>
          <p:spPr>
            <a:xfrm>
              <a:off x="950262" y="38845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BF6FF570-389B-5BC7-15E1-66804F8B17E1}"/>
                </a:ext>
              </a:extLst>
            </p:cNvPr>
            <p:cNvSpPr/>
            <p:nvPr/>
          </p:nvSpPr>
          <p:spPr>
            <a:xfrm>
              <a:off x="950262" y="40381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52E3D39D-BF57-8D89-5C57-2C6E0E8BE02A}"/>
                </a:ext>
              </a:extLst>
            </p:cNvPr>
            <p:cNvSpPr/>
            <p:nvPr/>
          </p:nvSpPr>
          <p:spPr>
            <a:xfrm>
              <a:off x="950262" y="42036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0" name="Group 29">
            <a:extLst>
              <a:ext uri="{FF2B5EF4-FFF2-40B4-BE49-F238E27FC236}">
                <a16:creationId xmlns:a16="http://schemas.microsoft.com/office/drawing/2014/main" id="{A4FE0F5A-EC04-A7D8-1B1B-EB8B93736FA6}"/>
              </a:ext>
            </a:extLst>
          </p:cNvPr>
          <p:cNvGrpSpPr/>
          <p:nvPr/>
        </p:nvGrpSpPr>
        <p:grpSpPr>
          <a:xfrm>
            <a:off x="6217519" y="2959417"/>
            <a:ext cx="2174240" cy="2870423"/>
            <a:chOff x="826411" y="2809240"/>
            <a:chExt cx="2174240" cy="2870423"/>
          </a:xfrm>
        </p:grpSpPr>
        <p:sp>
          <p:nvSpPr>
            <p:cNvPr id="31" name="Rectangle 30">
              <a:extLst>
                <a:ext uri="{FF2B5EF4-FFF2-40B4-BE49-F238E27FC236}">
                  <a16:creationId xmlns:a16="http://schemas.microsoft.com/office/drawing/2014/main" id="{EB81799F-0BCA-5C39-1D2A-4AF6CDC0804F}"/>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32" name="Graphic 31" descr="Document with solid fill">
              <a:extLst>
                <a:ext uri="{FF2B5EF4-FFF2-40B4-BE49-F238E27FC236}">
                  <a16:creationId xmlns:a16="http://schemas.microsoft.com/office/drawing/2014/main" id="{ABD95A52-B9F7-70D3-6E21-DE4758F103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6411" y="2809240"/>
              <a:ext cx="360000" cy="360000"/>
            </a:xfrm>
            <a:prstGeom prst="rect">
              <a:avLst/>
            </a:prstGeom>
          </p:spPr>
        </p:pic>
        <p:sp>
          <p:nvSpPr>
            <p:cNvPr id="33" name="TextBox 32">
              <a:extLst>
                <a:ext uri="{FF2B5EF4-FFF2-40B4-BE49-F238E27FC236}">
                  <a16:creationId xmlns:a16="http://schemas.microsoft.com/office/drawing/2014/main" id="{E57CB4AE-7F9C-7F15-9C39-391547153542}"/>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Causal Revision</a:t>
              </a:r>
            </a:p>
          </p:txBody>
        </p:sp>
        <p:sp>
          <p:nvSpPr>
            <p:cNvPr id="34" name="TextBox 33">
              <a:extLst>
                <a:ext uri="{FF2B5EF4-FFF2-40B4-BE49-F238E27FC236}">
                  <a16:creationId xmlns:a16="http://schemas.microsoft.com/office/drawing/2014/main" id="{F1786C9F-739C-9729-6B5E-2B8DF21B377D}"/>
                </a:ext>
              </a:extLst>
            </p:cNvPr>
            <p:cNvSpPr txBox="1"/>
            <p:nvPr/>
          </p:nvSpPr>
          <p:spPr>
            <a:xfrm>
              <a:off x="937607" y="3334982"/>
              <a:ext cx="1951847" cy="523220"/>
            </a:xfrm>
            <a:prstGeom prst="rect">
              <a:avLst/>
            </a:prstGeom>
            <a:noFill/>
          </p:spPr>
          <p:txBody>
            <a:bodyPr wrap="square">
              <a:spAutoFit/>
            </a:bodyPr>
            <a:lstStyle/>
            <a:p>
              <a:pPr algn="ctr"/>
              <a:r>
                <a:rPr lang="en-US" sz="1400" b="1" noProof="0" dirty="0">
                  <a:solidFill>
                    <a:schemeClr val="tx1"/>
                  </a:solidFill>
                </a:rPr>
                <a:t>The Effect of X on Y is mediated by A</a:t>
              </a:r>
            </a:p>
          </p:txBody>
        </p:sp>
        <p:sp>
          <p:nvSpPr>
            <p:cNvPr id="35" name="Oval 34">
              <a:extLst>
                <a:ext uri="{FF2B5EF4-FFF2-40B4-BE49-F238E27FC236}">
                  <a16:creationId xmlns:a16="http://schemas.microsoft.com/office/drawing/2014/main" id="{6F4E31C9-8E7F-D465-F2F0-D9286388293F}"/>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36" name="Oval 35">
              <a:extLst>
                <a:ext uri="{FF2B5EF4-FFF2-40B4-BE49-F238E27FC236}">
                  <a16:creationId xmlns:a16="http://schemas.microsoft.com/office/drawing/2014/main" id="{95524703-81DC-7BAC-1A71-6E3AB37EA516}"/>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37" name="Straight Arrow Connector 36">
              <a:extLst>
                <a:ext uri="{FF2B5EF4-FFF2-40B4-BE49-F238E27FC236}">
                  <a16:creationId xmlns:a16="http://schemas.microsoft.com/office/drawing/2014/main" id="{60373E8E-6E52-76B9-2282-FBEE78DAEC34}"/>
                </a:ext>
              </a:extLst>
            </p:cNvPr>
            <p:cNvCxnSpPr>
              <a:cxnSpLocks/>
              <a:stCxn id="35" idx="6"/>
              <a:endCxn id="38" idx="2"/>
            </p:cNvCxnSpPr>
            <p:nvPr/>
          </p:nvCxnSpPr>
          <p:spPr>
            <a:xfrm>
              <a:off x="1366411" y="5222558"/>
              <a:ext cx="356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Oval 37">
              <a:extLst>
                <a:ext uri="{FF2B5EF4-FFF2-40B4-BE49-F238E27FC236}">
                  <a16:creationId xmlns:a16="http://schemas.microsoft.com/office/drawing/2014/main" id="{3EB64470-D4EE-01F4-5C06-B7E883FED6E9}"/>
                </a:ext>
              </a:extLst>
            </p:cNvPr>
            <p:cNvSpPr/>
            <p:nvPr/>
          </p:nvSpPr>
          <p:spPr>
            <a:xfrm>
              <a:off x="1723116" y="5042558"/>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39" name="Straight Arrow Connector 38">
              <a:extLst>
                <a:ext uri="{FF2B5EF4-FFF2-40B4-BE49-F238E27FC236}">
                  <a16:creationId xmlns:a16="http://schemas.microsoft.com/office/drawing/2014/main" id="{187568AD-DFAA-D3BE-CF61-7BD6567BB77E}"/>
                </a:ext>
              </a:extLst>
            </p:cNvPr>
            <p:cNvCxnSpPr>
              <a:cxnSpLocks/>
              <a:stCxn id="38" idx="6"/>
              <a:endCxn id="36" idx="2"/>
            </p:cNvCxnSpPr>
            <p:nvPr/>
          </p:nvCxnSpPr>
          <p:spPr>
            <a:xfrm>
              <a:off x="2083116" y="5222558"/>
              <a:ext cx="3567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20214F12-4D01-DA87-52DC-DCC24030D3F5}"/>
                </a:ext>
              </a:extLst>
            </p:cNvPr>
            <p:cNvSpPr/>
            <p:nvPr/>
          </p:nvSpPr>
          <p:spPr>
            <a:xfrm>
              <a:off x="950262" y="38845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B9DC0BFC-3415-648C-56CD-A890A635760A}"/>
                </a:ext>
              </a:extLst>
            </p:cNvPr>
            <p:cNvSpPr/>
            <p:nvPr/>
          </p:nvSpPr>
          <p:spPr>
            <a:xfrm>
              <a:off x="950262" y="40381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Rectangle 41">
              <a:extLst>
                <a:ext uri="{FF2B5EF4-FFF2-40B4-BE49-F238E27FC236}">
                  <a16:creationId xmlns:a16="http://schemas.microsoft.com/office/drawing/2014/main" id="{50CF3FE1-58BA-2889-9FCF-DF862EA27807}"/>
                </a:ext>
              </a:extLst>
            </p:cNvPr>
            <p:cNvSpPr/>
            <p:nvPr/>
          </p:nvSpPr>
          <p:spPr>
            <a:xfrm>
              <a:off x="950262" y="42036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3" name="Group 42">
            <a:extLst>
              <a:ext uri="{FF2B5EF4-FFF2-40B4-BE49-F238E27FC236}">
                <a16:creationId xmlns:a16="http://schemas.microsoft.com/office/drawing/2014/main" id="{9553FD70-018A-7140-5F0D-B57B06FD99D5}"/>
              </a:ext>
            </a:extLst>
          </p:cNvPr>
          <p:cNvGrpSpPr/>
          <p:nvPr/>
        </p:nvGrpSpPr>
        <p:grpSpPr>
          <a:xfrm>
            <a:off x="8879038" y="2959417"/>
            <a:ext cx="2174240" cy="2870423"/>
            <a:chOff x="826411" y="2809240"/>
            <a:chExt cx="2174240" cy="2870423"/>
          </a:xfrm>
        </p:grpSpPr>
        <p:sp>
          <p:nvSpPr>
            <p:cNvPr id="44" name="Rectangle 43">
              <a:extLst>
                <a:ext uri="{FF2B5EF4-FFF2-40B4-BE49-F238E27FC236}">
                  <a16:creationId xmlns:a16="http://schemas.microsoft.com/office/drawing/2014/main" id="{0BD7DA94-6A90-55A3-C5EE-AEC246317D13}"/>
                </a:ext>
              </a:extLst>
            </p:cNvPr>
            <p:cNvSpPr/>
            <p:nvPr/>
          </p:nvSpPr>
          <p:spPr>
            <a:xfrm>
              <a:off x="826411" y="3190463"/>
              <a:ext cx="2174240" cy="2489200"/>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b="1" noProof="0" dirty="0">
                <a:solidFill>
                  <a:schemeClr val="tx1"/>
                </a:solidFill>
              </a:endParaRPr>
            </a:p>
          </p:txBody>
        </p:sp>
        <p:pic>
          <p:nvPicPr>
            <p:cNvPr id="45" name="Graphic 44" descr="Document with solid fill">
              <a:extLst>
                <a:ext uri="{FF2B5EF4-FFF2-40B4-BE49-F238E27FC236}">
                  <a16:creationId xmlns:a16="http://schemas.microsoft.com/office/drawing/2014/main" id="{2526CE24-F927-6547-9A24-4461B95536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6411" y="2809240"/>
              <a:ext cx="360000" cy="360000"/>
            </a:xfrm>
            <a:prstGeom prst="rect">
              <a:avLst/>
            </a:prstGeom>
          </p:spPr>
        </p:pic>
        <p:sp>
          <p:nvSpPr>
            <p:cNvPr id="46" name="TextBox 45">
              <a:extLst>
                <a:ext uri="{FF2B5EF4-FFF2-40B4-BE49-F238E27FC236}">
                  <a16:creationId xmlns:a16="http://schemas.microsoft.com/office/drawing/2014/main" id="{BC29E247-7C3B-AD66-8877-1C58DA70CF67}"/>
                </a:ext>
              </a:extLst>
            </p:cNvPr>
            <p:cNvSpPr txBox="1"/>
            <p:nvPr/>
          </p:nvSpPr>
          <p:spPr>
            <a:xfrm>
              <a:off x="1189279" y="2862542"/>
              <a:ext cx="1651657" cy="276999"/>
            </a:xfrm>
            <a:prstGeom prst="rect">
              <a:avLst/>
            </a:prstGeom>
            <a:noFill/>
          </p:spPr>
          <p:txBody>
            <a:bodyPr wrap="square">
              <a:spAutoFit/>
            </a:bodyPr>
            <a:lstStyle/>
            <a:p>
              <a:r>
                <a:rPr lang="en-US" sz="1200" b="1" noProof="0" dirty="0">
                  <a:solidFill>
                    <a:schemeClr val="tx1"/>
                  </a:solidFill>
                </a:rPr>
                <a:t>Causal Revision</a:t>
              </a:r>
            </a:p>
          </p:txBody>
        </p:sp>
        <p:sp>
          <p:nvSpPr>
            <p:cNvPr id="47" name="TextBox 46">
              <a:extLst>
                <a:ext uri="{FF2B5EF4-FFF2-40B4-BE49-F238E27FC236}">
                  <a16:creationId xmlns:a16="http://schemas.microsoft.com/office/drawing/2014/main" id="{D69E439E-8876-5046-7451-5DC5621C0CB4}"/>
                </a:ext>
              </a:extLst>
            </p:cNvPr>
            <p:cNvSpPr txBox="1"/>
            <p:nvPr/>
          </p:nvSpPr>
          <p:spPr>
            <a:xfrm>
              <a:off x="937607" y="3334982"/>
              <a:ext cx="1951847" cy="523220"/>
            </a:xfrm>
            <a:prstGeom prst="rect">
              <a:avLst/>
            </a:prstGeom>
            <a:noFill/>
          </p:spPr>
          <p:txBody>
            <a:bodyPr wrap="square">
              <a:spAutoFit/>
            </a:bodyPr>
            <a:lstStyle/>
            <a:p>
              <a:pPr algn="ctr"/>
              <a:r>
                <a:rPr lang="en-US" sz="1400" b="1" noProof="0" dirty="0"/>
                <a:t>Z confounds the Effect of X on Y</a:t>
              </a:r>
              <a:endParaRPr lang="en-US" sz="1400" b="1" noProof="0" dirty="0">
                <a:solidFill>
                  <a:schemeClr val="tx1"/>
                </a:solidFill>
              </a:endParaRPr>
            </a:p>
          </p:txBody>
        </p:sp>
        <p:sp>
          <p:nvSpPr>
            <p:cNvPr id="48" name="Oval 47">
              <a:extLst>
                <a:ext uri="{FF2B5EF4-FFF2-40B4-BE49-F238E27FC236}">
                  <a16:creationId xmlns:a16="http://schemas.microsoft.com/office/drawing/2014/main" id="{DAED4274-BD01-3B2A-3BA2-282359BB328F}"/>
                </a:ext>
              </a:extLst>
            </p:cNvPr>
            <p:cNvSpPr/>
            <p:nvPr/>
          </p:nvSpPr>
          <p:spPr>
            <a:xfrm>
              <a:off x="1006411" y="504255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49" name="Oval 48">
              <a:extLst>
                <a:ext uri="{FF2B5EF4-FFF2-40B4-BE49-F238E27FC236}">
                  <a16:creationId xmlns:a16="http://schemas.microsoft.com/office/drawing/2014/main" id="{18EA0121-396A-3C1B-55B1-736C398C6AA8}"/>
                </a:ext>
              </a:extLst>
            </p:cNvPr>
            <p:cNvSpPr/>
            <p:nvPr/>
          </p:nvSpPr>
          <p:spPr>
            <a:xfrm>
              <a:off x="2439824" y="504255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50" name="Straight Arrow Connector 49">
              <a:extLst>
                <a:ext uri="{FF2B5EF4-FFF2-40B4-BE49-F238E27FC236}">
                  <a16:creationId xmlns:a16="http://schemas.microsoft.com/office/drawing/2014/main" id="{A72D645D-82FB-9288-74CB-511DF4E6FFD3}"/>
                </a:ext>
              </a:extLst>
            </p:cNvPr>
            <p:cNvCxnSpPr>
              <a:cxnSpLocks/>
              <a:stCxn id="48" idx="6"/>
              <a:endCxn id="54" idx="2"/>
            </p:cNvCxnSpPr>
            <p:nvPr/>
          </p:nvCxnSpPr>
          <p:spPr>
            <a:xfrm>
              <a:off x="1366411" y="5222558"/>
              <a:ext cx="356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Oval 50">
              <a:extLst>
                <a:ext uri="{FF2B5EF4-FFF2-40B4-BE49-F238E27FC236}">
                  <a16:creationId xmlns:a16="http://schemas.microsoft.com/office/drawing/2014/main" id="{DC8DEDBA-9B21-C6C6-D329-D47059770DC0}"/>
                </a:ext>
              </a:extLst>
            </p:cNvPr>
            <p:cNvSpPr/>
            <p:nvPr/>
          </p:nvSpPr>
          <p:spPr>
            <a:xfrm>
              <a:off x="1723116" y="4393520"/>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52" name="Straight Arrow Connector 51">
              <a:extLst>
                <a:ext uri="{FF2B5EF4-FFF2-40B4-BE49-F238E27FC236}">
                  <a16:creationId xmlns:a16="http://schemas.microsoft.com/office/drawing/2014/main" id="{A3E9DCCE-1187-E0DE-ABB5-A168BED7D7BD}"/>
                </a:ext>
              </a:extLst>
            </p:cNvPr>
            <p:cNvCxnSpPr>
              <a:cxnSpLocks/>
              <a:stCxn id="51" idx="3"/>
              <a:endCxn id="48" idx="7"/>
            </p:cNvCxnSpPr>
            <p:nvPr/>
          </p:nvCxnSpPr>
          <p:spPr>
            <a:xfrm flipH="1">
              <a:off x="1313690" y="4700799"/>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F1DB53EC-6FCC-595D-9016-AE7CF9341AD6}"/>
                </a:ext>
              </a:extLst>
            </p:cNvPr>
            <p:cNvCxnSpPr>
              <a:cxnSpLocks/>
              <a:stCxn id="51" idx="5"/>
              <a:endCxn id="49" idx="1"/>
            </p:cNvCxnSpPr>
            <p:nvPr/>
          </p:nvCxnSpPr>
          <p:spPr>
            <a:xfrm>
              <a:off x="2030395" y="4700799"/>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294B981E-6F05-BC82-8EF0-C4FF16CA0247}"/>
                </a:ext>
              </a:extLst>
            </p:cNvPr>
            <p:cNvSpPr/>
            <p:nvPr/>
          </p:nvSpPr>
          <p:spPr>
            <a:xfrm>
              <a:off x="1723116" y="5042558"/>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55" name="Straight Arrow Connector 54">
              <a:extLst>
                <a:ext uri="{FF2B5EF4-FFF2-40B4-BE49-F238E27FC236}">
                  <a16:creationId xmlns:a16="http://schemas.microsoft.com/office/drawing/2014/main" id="{752F78DC-6761-20EC-AF7D-F8B9FEB0AA3E}"/>
                </a:ext>
              </a:extLst>
            </p:cNvPr>
            <p:cNvCxnSpPr>
              <a:cxnSpLocks/>
              <a:stCxn id="54" idx="6"/>
              <a:endCxn id="49" idx="2"/>
            </p:cNvCxnSpPr>
            <p:nvPr/>
          </p:nvCxnSpPr>
          <p:spPr>
            <a:xfrm>
              <a:off x="2083116" y="5222558"/>
              <a:ext cx="3567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Rectangle 55">
              <a:extLst>
                <a:ext uri="{FF2B5EF4-FFF2-40B4-BE49-F238E27FC236}">
                  <a16:creationId xmlns:a16="http://schemas.microsoft.com/office/drawing/2014/main" id="{BBD7702A-0A02-CE5C-B458-8AAB1D6379E7}"/>
                </a:ext>
              </a:extLst>
            </p:cNvPr>
            <p:cNvSpPr/>
            <p:nvPr/>
          </p:nvSpPr>
          <p:spPr>
            <a:xfrm>
              <a:off x="950262" y="3884507"/>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Rectangle 56">
              <a:extLst>
                <a:ext uri="{FF2B5EF4-FFF2-40B4-BE49-F238E27FC236}">
                  <a16:creationId xmlns:a16="http://schemas.microsoft.com/office/drawing/2014/main" id="{137F143C-1D46-2FAE-6130-376E4DE65851}"/>
                </a:ext>
              </a:extLst>
            </p:cNvPr>
            <p:cNvSpPr/>
            <p:nvPr/>
          </p:nvSpPr>
          <p:spPr>
            <a:xfrm>
              <a:off x="950262" y="4038146"/>
              <a:ext cx="1926536"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8" name="Rectangle 57">
              <a:extLst>
                <a:ext uri="{FF2B5EF4-FFF2-40B4-BE49-F238E27FC236}">
                  <a16:creationId xmlns:a16="http://schemas.microsoft.com/office/drawing/2014/main" id="{37AE4DC9-5CC9-013E-10FD-C6949FD9FE28}"/>
                </a:ext>
              </a:extLst>
            </p:cNvPr>
            <p:cNvSpPr/>
            <p:nvPr/>
          </p:nvSpPr>
          <p:spPr>
            <a:xfrm>
              <a:off x="950262" y="4203655"/>
              <a:ext cx="1261443" cy="969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834927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0391665-C762-1338-85A3-9DD51190767A}"/>
              </a:ext>
            </a:extLst>
          </p:cNvPr>
          <p:cNvSpPr>
            <a:spLocks noGrp="1"/>
          </p:cNvSpPr>
          <p:nvPr>
            <p:ph type="title"/>
          </p:nvPr>
        </p:nvSpPr>
        <p:spPr/>
        <p:txBody>
          <a:bodyPr/>
          <a:lstStyle/>
          <a:p>
            <a:r>
              <a:rPr lang="en-SE" dirty="0"/>
              <a:t>Recommendations</a:t>
            </a:r>
          </a:p>
        </p:txBody>
      </p:sp>
      <p:sp>
        <p:nvSpPr>
          <p:cNvPr id="4" name="Date Placeholder 3">
            <a:extLst>
              <a:ext uri="{FF2B5EF4-FFF2-40B4-BE49-F238E27FC236}">
                <a16:creationId xmlns:a16="http://schemas.microsoft.com/office/drawing/2014/main" id="{2AF07D6B-4155-1B97-D9D4-D8DADE7B30E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72855C0A-DBBF-4A2A-13A6-A39DE9CB82B3}"/>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77A6DFFB-334F-9546-F666-3CFA82C54C3F}"/>
              </a:ext>
            </a:extLst>
          </p:cNvPr>
          <p:cNvSpPr>
            <a:spLocks noGrp="1"/>
          </p:cNvSpPr>
          <p:nvPr>
            <p:ph type="sldNum" sz="quarter" idx="12"/>
          </p:nvPr>
        </p:nvSpPr>
        <p:spPr/>
        <p:txBody>
          <a:bodyPr/>
          <a:lstStyle/>
          <a:p>
            <a:fld id="{0FA2D919-C0DE-4971-A2E9-D4AC0031921B}" type="slidenum">
              <a:rPr lang="en-US" smtClean="0"/>
              <a:t>54</a:t>
            </a:fld>
            <a:endParaRPr lang="en-US"/>
          </a:p>
        </p:txBody>
      </p:sp>
      <p:grpSp>
        <p:nvGrpSpPr>
          <p:cNvPr id="2" name="Group 1">
            <a:extLst>
              <a:ext uri="{FF2B5EF4-FFF2-40B4-BE49-F238E27FC236}">
                <a16:creationId xmlns:a16="http://schemas.microsoft.com/office/drawing/2014/main" id="{A46E3643-C496-1823-A9F6-AE2CF5A223DC}"/>
              </a:ext>
            </a:extLst>
          </p:cNvPr>
          <p:cNvGrpSpPr/>
          <p:nvPr/>
        </p:nvGrpSpPr>
        <p:grpSpPr>
          <a:xfrm>
            <a:off x="4607662" y="2516999"/>
            <a:ext cx="2976676" cy="2311682"/>
            <a:chOff x="4607662" y="3429000"/>
            <a:chExt cx="2976676" cy="2311682"/>
          </a:xfrm>
        </p:grpSpPr>
        <p:grpSp>
          <p:nvGrpSpPr>
            <p:cNvPr id="3" name="Group 2">
              <a:extLst>
                <a:ext uri="{FF2B5EF4-FFF2-40B4-BE49-F238E27FC236}">
                  <a16:creationId xmlns:a16="http://schemas.microsoft.com/office/drawing/2014/main" id="{D1907353-5E1C-250F-E6FB-0A7ADDD81B97}"/>
                </a:ext>
              </a:extLst>
            </p:cNvPr>
            <p:cNvGrpSpPr/>
            <p:nvPr/>
          </p:nvGrpSpPr>
          <p:grpSpPr>
            <a:xfrm>
              <a:off x="5556000" y="3429000"/>
              <a:ext cx="1080000" cy="1080000"/>
              <a:chOff x="3313786" y="3686861"/>
              <a:chExt cx="1080000" cy="1080000"/>
            </a:xfrm>
          </p:grpSpPr>
          <p:sp>
            <p:nvSpPr>
              <p:cNvPr id="8" name="Oval 7">
                <a:extLst>
                  <a:ext uri="{FF2B5EF4-FFF2-40B4-BE49-F238E27FC236}">
                    <a16:creationId xmlns:a16="http://schemas.microsoft.com/office/drawing/2014/main" id="{D719FF11-B579-C884-D216-88F161F6CDA2}"/>
                  </a:ext>
                </a:extLst>
              </p:cNvPr>
              <p:cNvSpPr/>
              <p:nvPr/>
            </p:nvSpPr>
            <p:spPr>
              <a:xfrm>
                <a:off x="3313786" y="3686861"/>
                <a:ext cx="1080000" cy="1080000"/>
              </a:xfrm>
              <a:prstGeom prst="ellipse">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0463340E-B731-446D-756D-2BC3149984E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7" name="TextBox 6">
              <a:extLst>
                <a:ext uri="{FF2B5EF4-FFF2-40B4-BE49-F238E27FC236}">
                  <a16:creationId xmlns:a16="http://schemas.microsoft.com/office/drawing/2014/main" id="{9E8B3CAF-0117-33E7-1F4F-D4E36B8DAA69}"/>
                </a:ext>
              </a:extLst>
            </p:cNvPr>
            <p:cNvSpPr txBox="1"/>
            <p:nvPr/>
          </p:nvSpPr>
          <p:spPr>
            <a:xfrm>
              <a:off x="4607662" y="4663464"/>
              <a:ext cx="2976676" cy="1077218"/>
            </a:xfrm>
            <a:prstGeom prst="rect">
              <a:avLst/>
            </a:prstGeom>
            <a:noFill/>
          </p:spPr>
          <p:txBody>
            <a:bodyPr wrap="square" rtlCol="0">
              <a:spAutoFit/>
            </a:bodyPr>
            <a:lstStyle/>
            <a:p>
              <a:pPr algn="ctr"/>
              <a:r>
                <a:rPr lang="en-SE" sz="2400" b="1" noProof="0" dirty="0"/>
                <a:t>Draw a DAG</a:t>
              </a:r>
              <a:endParaRPr lang="en-US" sz="2400" b="1" noProof="0" dirty="0"/>
            </a:p>
            <a:p>
              <a:pPr algn="ctr"/>
              <a:r>
                <a:rPr lang="en-SE" sz="2000" dirty="0"/>
                <a:t>representing your causal assumptions</a:t>
              </a:r>
              <a:endParaRPr lang="en-US" sz="2000" noProof="0" dirty="0"/>
            </a:p>
          </p:txBody>
        </p:sp>
      </p:grpSp>
      <p:grpSp>
        <p:nvGrpSpPr>
          <p:cNvPr id="23" name="Group 22">
            <a:extLst>
              <a:ext uri="{FF2B5EF4-FFF2-40B4-BE49-F238E27FC236}">
                <a16:creationId xmlns:a16="http://schemas.microsoft.com/office/drawing/2014/main" id="{6842CE93-51B9-FF17-7CD0-68BB130E1CA3}"/>
              </a:ext>
            </a:extLst>
          </p:cNvPr>
          <p:cNvGrpSpPr/>
          <p:nvPr/>
        </p:nvGrpSpPr>
        <p:grpSpPr>
          <a:xfrm>
            <a:off x="8338004" y="2516999"/>
            <a:ext cx="2976676" cy="2927235"/>
            <a:chOff x="4607662" y="3429000"/>
            <a:chExt cx="2976676" cy="2927235"/>
          </a:xfrm>
        </p:grpSpPr>
        <p:grpSp>
          <p:nvGrpSpPr>
            <p:cNvPr id="24" name="Group 23">
              <a:extLst>
                <a:ext uri="{FF2B5EF4-FFF2-40B4-BE49-F238E27FC236}">
                  <a16:creationId xmlns:a16="http://schemas.microsoft.com/office/drawing/2014/main" id="{458593F8-A0F8-CBA8-B643-2C0802AEAD65}"/>
                </a:ext>
              </a:extLst>
            </p:cNvPr>
            <p:cNvGrpSpPr/>
            <p:nvPr/>
          </p:nvGrpSpPr>
          <p:grpSpPr>
            <a:xfrm>
              <a:off x="5556000" y="3429000"/>
              <a:ext cx="1080000" cy="1080000"/>
              <a:chOff x="3313786" y="3686861"/>
              <a:chExt cx="1080000" cy="1080000"/>
            </a:xfrm>
          </p:grpSpPr>
          <p:sp>
            <p:nvSpPr>
              <p:cNvPr id="26" name="Oval 25">
                <a:extLst>
                  <a:ext uri="{FF2B5EF4-FFF2-40B4-BE49-F238E27FC236}">
                    <a16:creationId xmlns:a16="http://schemas.microsoft.com/office/drawing/2014/main" id="{974E6D5F-B7C1-F6E4-7EE8-EA6AC79D76A4}"/>
                  </a:ext>
                </a:extLst>
              </p:cNvPr>
              <p:cNvSpPr/>
              <p:nvPr/>
            </p:nvSpPr>
            <p:spPr>
              <a:xfrm>
                <a:off x="3313786" y="3686861"/>
                <a:ext cx="1080000" cy="1080000"/>
              </a:xfrm>
              <a:prstGeom prst="ellipse">
                <a:avLst/>
              </a:prstGeom>
              <a:solidFill>
                <a:schemeClr val="accent5">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7" name="Graphic 26" descr="Cut with solid fill">
                <a:extLst>
                  <a:ext uri="{FF2B5EF4-FFF2-40B4-BE49-F238E27FC236}">
                    <a16:creationId xmlns:a16="http://schemas.microsoft.com/office/drawing/2014/main" id="{2E7833DF-234D-B16F-109F-78F27DB290C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396586" y="3769661"/>
                <a:ext cx="914400" cy="914400"/>
              </a:xfrm>
              <a:prstGeom prst="rect">
                <a:avLst/>
              </a:prstGeom>
            </p:spPr>
          </p:pic>
        </p:grpSp>
        <p:sp>
          <p:nvSpPr>
            <p:cNvPr id="25" name="TextBox 24">
              <a:extLst>
                <a:ext uri="{FF2B5EF4-FFF2-40B4-BE49-F238E27FC236}">
                  <a16:creationId xmlns:a16="http://schemas.microsoft.com/office/drawing/2014/main" id="{49817355-900F-1ED8-0EE3-4E441B130463}"/>
                </a:ext>
              </a:extLst>
            </p:cNvPr>
            <p:cNvSpPr txBox="1"/>
            <p:nvPr/>
          </p:nvSpPr>
          <p:spPr>
            <a:xfrm>
              <a:off x="4607662" y="4663464"/>
              <a:ext cx="2976676" cy="1692771"/>
            </a:xfrm>
            <a:prstGeom prst="rect">
              <a:avLst/>
            </a:prstGeom>
            <a:noFill/>
          </p:spPr>
          <p:txBody>
            <a:bodyPr wrap="square" rtlCol="0">
              <a:spAutoFit/>
            </a:bodyPr>
            <a:lstStyle/>
            <a:p>
              <a:pPr algn="ctr"/>
              <a:r>
                <a:rPr lang="en-SE" sz="2400" b="1" noProof="0" dirty="0"/>
                <a:t>Use d-separation</a:t>
              </a:r>
              <a:endParaRPr lang="en-US" sz="2400" b="1" noProof="0" dirty="0"/>
            </a:p>
            <a:p>
              <a:pPr algn="ctr"/>
              <a:r>
                <a:rPr lang="en-SE" sz="2000" noProof="0" dirty="0"/>
                <a:t>to figure out (1) if you can conduct your study and (2) what data you need to collect</a:t>
              </a:r>
              <a:endParaRPr lang="en-US" sz="2000" noProof="0" dirty="0"/>
            </a:p>
          </p:txBody>
        </p:sp>
      </p:grpSp>
      <p:grpSp>
        <p:nvGrpSpPr>
          <p:cNvPr id="28" name="Group 27">
            <a:extLst>
              <a:ext uri="{FF2B5EF4-FFF2-40B4-BE49-F238E27FC236}">
                <a16:creationId xmlns:a16="http://schemas.microsoft.com/office/drawing/2014/main" id="{C4D0138C-8CD4-55A1-1873-CAF1E4040D9C}"/>
              </a:ext>
            </a:extLst>
          </p:cNvPr>
          <p:cNvGrpSpPr/>
          <p:nvPr/>
        </p:nvGrpSpPr>
        <p:grpSpPr>
          <a:xfrm>
            <a:off x="877320" y="2516999"/>
            <a:ext cx="2976676" cy="2311682"/>
            <a:chOff x="4607662" y="3429000"/>
            <a:chExt cx="2976676" cy="2311682"/>
          </a:xfrm>
        </p:grpSpPr>
        <p:grpSp>
          <p:nvGrpSpPr>
            <p:cNvPr id="29" name="Group 28">
              <a:extLst>
                <a:ext uri="{FF2B5EF4-FFF2-40B4-BE49-F238E27FC236}">
                  <a16:creationId xmlns:a16="http://schemas.microsoft.com/office/drawing/2014/main" id="{E5638539-66BF-4BAB-D7B2-E3C36D759EF0}"/>
                </a:ext>
              </a:extLst>
            </p:cNvPr>
            <p:cNvGrpSpPr/>
            <p:nvPr/>
          </p:nvGrpSpPr>
          <p:grpSpPr>
            <a:xfrm>
              <a:off x="5556000" y="3429000"/>
              <a:ext cx="1080000" cy="1080000"/>
              <a:chOff x="3313786" y="3686861"/>
              <a:chExt cx="1080000" cy="1080000"/>
            </a:xfrm>
          </p:grpSpPr>
          <p:sp>
            <p:nvSpPr>
              <p:cNvPr id="31" name="Oval 30">
                <a:extLst>
                  <a:ext uri="{FF2B5EF4-FFF2-40B4-BE49-F238E27FC236}">
                    <a16:creationId xmlns:a16="http://schemas.microsoft.com/office/drawing/2014/main" id="{AFD49403-2702-3533-50E3-6855270AE729}"/>
                  </a:ext>
                </a:extLst>
              </p:cNvPr>
              <p:cNvSpPr/>
              <p:nvPr/>
            </p:nvSpPr>
            <p:spPr>
              <a:xfrm>
                <a:off x="3313786" y="3686861"/>
                <a:ext cx="1080000" cy="1080000"/>
              </a:xfrm>
              <a:prstGeom prst="ellipse">
                <a:avLst/>
              </a:prstGeom>
              <a:solidFill>
                <a:schemeClr val="accent5">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Graphic 31" descr="Disk with solid fill">
                <a:extLst>
                  <a:ext uri="{FF2B5EF4-FFF2-40B4-BE49-F238E27FC236}">
                    <a16:creationId xmlns:a16="http://schemas.microsoft.com/office/drawing/2014/main" id="{420DD21F-7275-DAE0-63A9-90C45310323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96586" y="3769661"/>
                <a:ext cx="914400" cy="914400"/>
              </a:xfrm>
              <a:prstGeom prst="rect">
                <a:avLst/>
              </a:prstGeom>
            </p:spPr>
          </p:pic>
        </p:grpSp>
        <p:sp>
          <p:nvSpPr>
            <p:cNvPr id="30" name="TextBox 29">
              <a:extLst>
                <a:ext uri="{FF2B5EF4-FFF2-40B4-BE49-F238E27FC236}">
                  <a16:creationId xmlns:a16="http://schemas.microsoft.com/office/drawing/2014/main" id="{12345CC3-BE03-20DB-E34C-EE5D84364A09}"/>
                </a:ext>
              </a:extLst>
            </p:cNvPr>
            <p:cNvSpPr txBox="1"/>
            <p:nvPr/>
          </p:nvSpPr>
          <p:spPr>
            <a:xfrm>
              <a:off x="4607662" y="4663464"/>
              <a:ext cx="2976676" cy="1077218"/>
            </a:xfrm>
            <a:prstGeom prst="rect">
              <a:avLst/>
            </a:prstGeom>
            <a:noFill/>
          </p:spPr>
          <p:txBody>
            <a:bodyPr wrap="square" rtlCol="0">
              <a:spAutoFit/>
            </a:bodyPr>
            <a:lstStyle/>
            <a:p>
              <a:pPr algn="ctr"/>
              <a:r>
                <a:rPr lang="en-SE" sz="2400" b="1" noProof="0" dirty="0"/>
                <a:t>Data Collection</a:t>
              </a:r>
              <a:endParaRPr lang="en-US" sz="2400" b="1" noProof="0" dirty="0"/>
            </a:p>
            <a:p>
              <a:pPr algn="ctr"/>
              <a:r>
                <a:rPr lang="en-SE" sz="2000" noProof="0" dirty="0"/>
                <a:t>Is a part of data analysis, not its precursor</a:t>
              </a:r>
              <a:endParaRPr lang="en-US" sz="2000" noProof="0" dirty="0"/>
            </a:p>
          </p:txBody>
        </p:sp>
      </p:grpSp>
    </p:spTree>
    <p:extLst>
      <p:ext uri="{BB962C8B-B14F-4D97-AF65-F5344CB8AC3E}">
        <p14:creationId xmlns:p14="http://schemas.microsoft.com/office/powerpoint/2010/main" val="1682094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Down 31">
            <a:extLst>
              <a:ext uri="{FF2B5EF4-FFF2-40B4-BE49-F238E27FC236}">
                <a16:creationId xmlns:a16="http://schemas.microsoft.com/office/drawing/2014/main" id="{87C1E37E-253D-0769-F2C9-F557922C8489}"/>
              </a:ext>
            </a:extLst>
          </p:cNvPr>
          <p:cNvSpPr/>
          <p:nvPr/>
        </p:nvSpPr>
        <p:spPr>
          <a:xfrm>
            <a:off x="928599" y="1607914"/>
            <a:ext cx="539201" cy="4802187"/>
          </a:xfrm>
          <a:prstGeom prst="downArrow">
            <a:avLst/>
          </a:prstGeom>
          <a:gradFill>
            <a:gsLst>
              <a:gs pos="0">
                <a:schemeClr val="tx2">
                  <a:lumMod val="25000"/>
                  <a:lumOff val="75000"/>
                </a:schemeClr>
              </a:gs>
              <a:gs pos="100000">
                <a:schemeClr val="tx2">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B43DD2-8524-4E89-FB5F-5C9CE16B2239}"/>
              </a:ext>
            </a:extLst>
          </p:cNvPr>
          <p:cNvSpPr>
            <a:spLocks noGrp="1"/>
          </p:cNvSpPr>
          <p:nvPr>
            <p:ph type="title"/>
          </p:nvPr>
        </p:nvSpPr>
        <p:spPr/>
        <p:txBody>
          <a:bodyPr/>
          <a:lstStyle/>
          <a:p>
            <a:r>
              <a:rPr lang="en-US" noProof="0" dirty="0"/>
              <a:t>Reading list</a:t>
            </a:r>
          </a:p>
        </p:txBody>
      </p:sp>
      <p:sp>
        <p:nvSpPr>
          <p:cNvPr id="4" name="Date Placeholder 3">
            <a:extLst>
              <a:ext uri="{FF2B5EF4-FFF2-40B4-BE49-F238E27FC236}">
                <a16:creationId xmlns:a16="http://schemas.microsoft.com/office/drawing/2014/main" id="{A5943B1C-7C6D-4D18-F124-A07D96017683}"/>
              </a:ext>
            </a:extLst>
          </p:cNvPr>
          <p:cNvSpPr>
            <a:spLocks noGrp="1"/>
          </p:cNvSpPr>
          <p:nvPr>
            <p:ph type="dt" sz="half" idx="10"/>
          </p:nvPr>
        </p:nvSpPr>
        <p:spPr/>
        <p:txBody>
          <a:bodyPr/>
          <a:lstStyle/>
          <a:p>
            <a:fld id="{403A2FDA-9B6F-4F19-BB52-15CB2FEB03DD}" type="datetime1">
              <a:rPr lang="en-US" noProof="0" smtClean="0"/>
              <a:t>1/20/2026</a:t>
            </a:fld>
            <a:endParaRPr lang="en-US" noProof="0" dirty="0"/>
          </a:p>
        </p:txBody>
      </p:sp>
      <p:sp>
        <p:nvSpPr>
          <p:cNvPr id="5" name="Footer Placeholder 4">
            <a:extLst>
              <a:ext uri="{FF2B5EF4-FFF2-40B4-BE49-F238E27FC236}">
                <a16:creationId xmlns:a16="http://schemas.microsoft.com/office/drawing/2014/main" id="{ED1FB4FE-E999-0789-94F4-EF2E9D4C541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D2AD559-4D79-BCCD-2F9F-DF2219D51487}"/>
              </a:ext>
            </a:extLst>
          </p:cNvPr>
          <p:cNvSpPr>
            <a:spLocks noGrp="1"/>
          </p:cNvSpPr>
          <p:nvPr>
            <p:ph type="sldNum" sz="quarter" idx="12"/>
          </p:nvPr>
        </p:nvSpPr>
        <p:spPr/>
        <p:txBody>
          <a:bodyPr/>
          <a:lstStyle/>
          <a:p>
            <a:fld id="{0FA2D919-C0DE-4971-A2E9-D4AC0031921B}" type="slidenum">
              <a:rPr lang="en-US" noProof="0" smtClean="0"/>
              <a:t>55</a:t>
            </a:fld>
            <a:endParaRPr lang="en-US" noProof="0" dirty="0"/>
          </a:p>
        </p:txBody>
      </p:sp>
      <p:grpSp>
        <p:nvGrpSpPr>
          <p:cNvPr id="13" name="Group 12">
            <a:extLst>
              <a:ext uri="{FF2B5EF4-FFF2-40B4-BE49-F238E27FC236}">
                <a16:creationId xmlns:a16="http://schemas.microsoft.com/office/drawing/2014/main" id="{A77D9DE9-91E9-F431-2EB7-641721D62C89}"/>
              </a:ext>
            </a:extLst>
          </p:cNvPr>
          <p:cNvGrpSpPr/>
          <p:nvPr/>
        </p:nvGrpSpPr>
        <p:grpSpPr>
          <a:xfrm>
            <a:off x="838200" y="1571080"/>
            <a:ext cx="6898500" cy="720000"/>
            <a:chOff x="838200" y="1571080"/>
            <a:chExt cx="6898500" cy="720000"/>
          </a:xfrm>
        </p:grpSpPr>
        <p:pic>
          <p:nvPicPr>
            <p:cNvPr id="10" name="Graphic 9" descr="Closed book with solid fill">
              <a:extLst>
                <a:ext uri="{FF2B5EF4-FFF2-40B4-BE49-F238E27FC236}">
                  <a16:creationId xmlns:a16="http://schemas.microsoft.com/office/drawing/2014/main" id="{33625F26-55F6-D59A-1BDB-955FEC2E7C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8200" y="1571080"/>
              <a:ext cx="720000" cy="720000"/>
            </a:xfrm>
            <a:prstGeom prst="rect">
              <a:avLst/>
            </a:prstGeom>
          </p:spPr>
        </p:pic>
        <p:sp>
          <p:nvSpPr>
            <p:cNvPr id="12" name="TextBox 11">
              <a:extLst>
                <a:ext uri="{FF2B5EF4-FFF2-40B4-BE49-F238E27FC236}">
                  <a16:creationId xmlns:a16="http://schemas.microsoft.com/office/drawing/2014/main" id="{3DF2D159-13D7-AC63-5688-5AFFB25A40E9}"/>
                </a:ext>
              </a:extLst>
            </p:cNvPr>
            <p:cNvSpPr txBox="1"/>
            <p:nvPr/>
          </p:nvSpPr>
          <p:spPr>
            <a:xfrm>
              <a:off x="1638796" y="1607914"/>
              <a:ext cx="6097904" cy="646331"/>
            </a:xfrm>
            <a:prstGeom prst="rect">
              <a:avLst/>
            </a:prstGeom>
            <a:noFill/>
          </p:spPr>
          <p:txBody>
            <a:bodyPr wrap="square">
              <a:spAutoFit/>
            </a:bodyPr>
            <a:lstStyle/>
            <a:p>
              <a:r>
                <a:rPr lang="en-US" b="1" noProof="0" dirty="0"/>
                <a:t>Pearl</a:t>
              </a:r>
              <a:r>
                <a:rPr lang="en-US" noProof="0" dirty="0"/>
                <a:t>, J., &amp; Mackenzie, D. (2018). </a:t>
              </a:r>
              <a:r>
                <a:rPr lang="en-US" i="1" noProof="0" dirty="0"/>
                <a:t>The book of why: the new science of cause and effect</a:t>
              </a:r>
              <a:r>
                <a:rPr lang="en-US" noProof="0" dirty="0"/>
                <a:t>. Basic books.</a:t>
              </a:r>
            </a:p>
          </p:txBody>
        </p:sp>
      </p:grpSp>
      <p:grpSp>
        <p:nvGrpSpPr>
          <p:cNvPr id="14" name="Group 13">
            <a:extLst>
              <a:ext uri="{FF2B5EF4-FFF2-40B4-BE49-F238E27FC236}">
                <a16:creationId xmlns:a16="http://schemas.microsoft.com/office/drawing/2014/main" id="{71673E6E-76FC-5A35-E8F8-7017703193A6}"/>
              </a:ext>
            </a:extLst>
          </p:cNvPr>
          <p:cNvGrpSpPr/>
          <p:nvPr/>
        </p:nvGrpSpPr>
        <p:grpSpPr>
          <a:xfrm>
            <a:off x="838200" y="2332310"/>
            <a:ext cx="9654540" cy="720000"/>
            <a:chOff x="838200" y="1571080"/>
            <a:chExt cx="9654540" cy="720000"/>
          </a:xfrm>
        </p:grpSpPr>
        <p:pic>
          <p:nvPicPr>
            <p:cNvPr id="15" name="Graphic 14" descr="Closed book with solid fill">
              <a:extLst>
                <a:ext uri="{FF2B5EF4-FFF2-40B4-BE49-F238E27FC236}">
                  <a16:creationId xmlns:a16="http://schemas.microsoft.com/office/drawing/2014/main" id="{C1E5DAED-E988-F0E8-ED3A-9638FFA22A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8200" y="1571080"/>
              <a:ext cx="720000" cy="720000"/>
            </a:xfrm>
            <a:prstGeom prst="rect">
              <a:avLst/>
            </a:prstGeom>
          </p:spPr>
        </p:pic>
        <p:sp>
          <p:nvSpPr>
            <p:cNvPr id="16" name="TextBox 15">
              <a:extLst>
                <a:ext uri="{FF2B5EF4-FFF2-40B4-BE49-F238E27FC236}">
                  <a16:creationId xmlns:a16="http://schemas.microsoft.com/office/drawing/2014/main" id="{1662FBD9-FA1F-FD46-F3AA-6F20EFB282B5}"/>
                </a:ext>
              </a:extLst>
            </p:cNvPr>
            <p:cNvSpPr txBox="1"/>
            <p:nvPr/>
          </p:nvSpPr>
          <p:spPr>
            <a:xfrm>
              <a:off x="1638796" y="1607914"/>
              <a:ext cx="8853944" cy="646331"/>
            </a:xfrm>
            <a:prstGeom prst="rect">
              <a:avLst/>
            </a:prstGeom>
            <a:noFill/>
          </p:spPr>
          <p:txBody>
            <a:bodyPr wrap="square">
              <a:spAutoFit/>
            </a:bodyPr>
            <a:lstStyle/>
            <a:p>
              <a:r>
                <a:rPr lang="en-US" b="1" noProof="0" dirty="0"/>
                <a:t>McElreath</a:t>
              </a:r>
              <a:r>
                <a:rPr lang="en-US" noProof="0" dirty="0"/>
                <a:t>, R. (2018). </a:t>
              </a:r>
              <a:r>
                <a:rPr lang="en-US" i="1" noProof="0" dirty="0"/>
                <a:t>Statistical rethinking: A Bayesian course with examples in R and Stan</a:t>
              </a:r>
              <a:r>
                <a:rPr lang="en-US" noProof="0" dirty="0"/>
                <a:t>. Chapman and Hall/CRC.</a:t>
              </a:r>
            </a:p>
          </p:txBody>
        </p:sp>
      </p:grpSp>
      <p:grpSp>
        <p:nvGrpSpPr>
          <p:cNvPr id="17" name="Group 16">
            <a:extLst>
              <a:ext uri="{FF2B5EF4-FFF2-40B4-BE49-F238E27FC236}">
                <a16:creationId xmlns:a16="http://schemas.microsoft.com/office/drawing/2014/main" id="{C7982DE3-2754-4D9A-4977-E72A6DD14831}"/>
              </a:ext>
            </a:extLst>
          </p:cNvPr>
          <p:cNvGrpSpPr/>
          <p:nvPr/>
        </p:nvGrpSpPr>
        <p:grpSpPr>
          <a:xfrm>
            <a:off x="838200" y="3125980"/>
            <a:ext cx="9654540" cy="720000"/>
            <a:chOff x="838200" y="1571080"/>
            <a:chExt cx="9654540" cy="720000"/>
          </a:xfrm>
        </p:grpSpPr>
        <p:pic>
          <p:nvPicPr>
            <p:cNvPr id="18" name="Graphic 17" descr="Document with solid fill">
              <a:extLst>
                <a:ext uri="{FF2B5EF4-FFF2-40B4-BE49-F238E27FC236}">
                  <a16:creationId xmlns:a16="http://schemas.microsoft.com/office/drawing/2014/main" id="{1C4DABFE-76D2-8D07-962D-7725E97BCD2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38200" y="1571080"/>
              <a:ext cx="720000" cy="720000"/>
            </a:xfrm>
            <a:prstGeom prst="rect">
              <a:avLst/>
            </a:prstGeom>
          </p:spPr>
        </p:pic>
        <p:sp>
          <p:nvSpPr>
            <p:cNvPr id="19" name="TextBox 18">
              <a:extLst>
                <a:ext uri="{FF2B5EF4-FFF2-40B4-BE49-F238E27FC236}">
                  <a16:creationId xmlns:a16="http://schemas.microsoft.com/office/drawing/2014/main" id="{A95F3D12-1F91-57FE-91D7-7FE88BD75F1D}"/>
                </a:ext>
              </a:extLst>
            </p:cNvPr>
            <p:cNvSpPr txBox="1"/>
            <p:nvPr/>
          </p:nvSpPr>
          <p:spPr>
            <a:xfrm>
              <a:off x="1638796" y="1607914"/>
              <a:ext cx="8853944" cy="646331"/>
            </a:xfrm>
            <a:prstGeom prst="rect">
              <a:avLst/>
            </a:prstGeom>
            <a:noFill/>
          </p:spPr>
          <p:txBody>
            <a:bodyPr wrap="square">
              <a:spAutoFit/>
            </a:bodyPr>
            <a:lstStyle/>
            <a:p>
              <a:r>
                <a:rPr lang="en-US" b="1" noProof="0" dirty="0"/>
                <a:t>Cinelli</a:t>
              </a:r>
              <a:r>
                <a:rPr lang="en-US" noProof="0" dirty="0"/>
                <a:t>, C., </a:t>
              </a:r>
              <a:r>
                <a:rPr lang="en-US" b="1" noProof="0" dirty="0"/>
                <a:t>Forney</a:t>
              </a:r>
              <a:r>
                <a:rPr lang="en-US" noProof="0" dirty="0"/>
                <a:t>, A., &amp; </a:t>
              </a:r>
              <a:r>
                <a:rPr lang="en-US" b="1" noProof="0" dirty="0"/>
                <a:t>Pearl</a:t>
              </a:r>
              <a:r>
                <a:rPr lang="en-US" noProof="0" dirty="0"/>
                <a:t>, J. (2024). A crash course in good and bad controls. </a:t>
              </a:r>
              <a:r>
                <a:rPr lang="en-US" i="1" noProof="0" dirty="0"/>
                <a:t>Sociological Methods &amp; Research</a:t>
              </a:r>
              <a:r>
                <a:rPr lang="en-US" noProof="0" dirty="0"/>
                <a:t>, </a:t>
              </a:r>
              <a:r>
                <a:rPr lang="en-US" i="1" noProof="0" dirty="0"/>
                <a:t>53</a:t>
              </a:r>
              <a:r>
                <a:rPr lang="en-US" noProof="0" dirty="0"/>
                <a:t>(3), 1071-1104.</a:t>
              </a:r>
            </a:p>
          </p:txBody>
        </p:sp>
      </p:grpSp>
      <p:grpSp>
        <p:nvGrpSpPr>
          <p:cNvPr id="20" name="Group 19">
            <a:extLst>
              <a:ext uri="{FF2B5EF4-FFF2-40B4-BE49-F238E27FC236}">
                <a16:creationId xmlns:a16="http://schemas.microsoft.com/office/drawing/2014/main" id="{5671D1D3-72E6-8909-8354-A0C7CB84AAF6}"/>
              </a:ext>
            </a:extLst>
          </p:cNvPr>
          <p:cNvGrpSpPr/>
          <p:nvPr/>
        </p:nvGrpSpPr>
        <p:grpSpPr>
          <a:xfrm>
            <a:off x="838200" y="3931346"/>
            <a:ext cx="9654540" cy="720000"/>
            <a:chOff x="838200" y="1571080"/>
            <a:chExt cx="9654540" cy="720000"/>
          </a:xfrm>
        </p:grpSpPr>
        <p:pic>
          <p:nvPicPr>
            <p:cNvPr id="21" name="Graphic 20" descr="Document with solid fill">
              <a:extLst>
                <a:ext uri="{FF2B5EF4-FFF2-40B4-BE49-F238E27FC236}">
                  <a16:creationId xmlns:a16="http://schemas.microsoft.com/office/drawing/2014/main" id="{AD0CEB0A-C325-6826-1AF1-2288D5B12A15}"/>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38200" y="1571080"/>
              <a:ext cx="720000" cy="720000"/>
            </a:xfrm>
            <a:prstGeom prst="rect">
              <a:avLst/>
            </a:prstGeom>
          </p:spPr>
        </p:pic>
        <p:sp>
          <p:nvSpPr>
            <p:cNvPr id="22" name="TextBox 21">
              <a:extLst>
                <a:ext uri="{FF2B5EF4-FFF2-40B4-BE49-F238E27FC236}">
                  <a16:creationId xmlns:a16="http://schemas.microsoft.com/office/drawing/2014/main" id="{7E18A9FF-ACBE-EFF1-0E9B-C4E004A53A0E}"/>
                </a:ext>
              </a:extLst>
            </p:cNvPr>
            <p:cNvSpPr txBox="1"/>
            <p:nvPr/>
          </p:nvSpPr>
          <p:spPr>
            <a:xfrm>
              <a:off x="1638796" y="1607914"/>
              <a:ext cx="8853944" cy="646331"/>
            </a:xfrm>
            <a:prstGeom prst="rect">
              <a:avLst/>
            </a:prstGeom>
            <a:noFill/>
          </p:spPr>
          <p:txBody>
            <a:bodyPr wrap="square">
              <a:spAutoFit/>
            </a:bodyPr>
            <a:lstStyle/>
            <a:p>
              <a:r>
                <a:rPr lang="en-US" b="1" noProof="0" dirty="0"/>
                <a:t>Siebert</a:t>
              </a:r>
              <a:r>
                <a:rPr lang="en-US" noProof="0" dirty="0"/>
                <a:t>, J. (2023). Applications of statistical causal inference in software engineering. </a:t>
              </a:r>
              <a:r>
                <a:rPr lang="en-US" i="1" noProof="0" dirty="0"/>
                <a:t>Information and Software Technology</a:t>
              </a:r>
              <a:r>
                <a:rPr lang="en-US" noProof="0" dirty="0"/>
                <a:t>, </a:t>
              </a:r>
              <a:r>
                <a:rPr lang="en-US" i="1" noProof="0" dirty="0"/>
                <a:t>159</a:t>
              </a:r>
              <a:r>
                <a:rPr lang="en-US" noProof="0" dirty="0"/>
                <a:t>, 107198.</a:t>
              </a:r>
            </a:p>
          </p:txBody>
        </p:sp>
      </p:grpSp>
      <p:grpSp>
        <p:nvGrpSpPr>
          <p:cNvPr id="23" name="Group 22">
            <a:extLst>
              <a:ext uri="{FF2B5EF4-FFF2-40B4-BE49-F238E27FC236}">
                <a16:creationId xmlns:a16="http://schemas.microsoft.com/office/drawing/2014/main" id="{F1244D0E-B91A-B2C0-F339-1ED3695628FA}"/>
              </a:ext>
            </a:extLst>
          </p:cNvPr>
          <p:cNvGrpSpPr/>
          <p:nvPr/>
        </p:nvGrpSpPr>
        <p:grpSpPr>
          <a:xfrm>
            <a:off x="838200" y="5482193"/>
            <a:ext cx="9845233" cy="923330"/>
            <a:chOff x="838200" y="1475037"/>
            <a:chExt cx="9845233" cy="923330"/>
          </a:xfrm>
        </p:grpSpPr>
        <p:pic>
          <p:nvPicPr>
            <p:cNvPr id="24" name="Graphic 23" descr="Document with solid fill">
              <a:extLst>
                <a:ext uri="{FF2B5EF4-FFF2-40B4-BE49-F238E27FC236}">
                  <a16:creationId xmlns:a16="http://schemas.microsoft.com/office/drawing/2014/main" id="{6B7C006B-21AE-F331-1F0D-37157C3404C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38200" y="1571080"/>
              <a:ext cx="720000" cy="720000"/>
            </a:xfrm>
            <a:prstGeom prst="rect">
              <a:avLst/>
            </a:prstGeom>
          </p:spPr>
        </p:pic>
        <p:sp>
          <p:nvSpPr>
            <p:cNvPr id="25" name="TextBox 24">
              <a:extLst>
                <a:ext uri="{FF2B5EF4-FFF2-40B4-BE49-F238E27FC236}">
                  <a16:creationId xmlns:a16="http://schemas.microsoft.com/office/drawing/2014/main" id="{57C4B8F0-6852-2072-E257-EBD05D95F91A}"/>
                </a:ext>
              </a:extLst>
            </p:cNvPr>
            <p:cNvSpPr txBox="1"/>
            <p:nvPr/>
          </p:nvSpPr>
          <p:spPr>
            <a:xfrm>
              <a:off x="1638796" y="1475037"/>
              <a:ext cx="9044637" cy="923330"/>
            </a:xfrm>
            <a:prstGeom prst="rect">
              <a:avLst/>
            </a:prstGeom>
            <a:noFill/>
          </p:spPr>
          <p:txBody>
            <a:bodyPr wrap="square">
              <a:spAutoFit/>
            </a:bodyPr>
            <a:lstStyle/>
            <a:p>
              <a:r>
                <a:rPr lang="en-US" b="1" noProof="0" dirty="0"/>
                <a:t>Furia</a:t>
              </a:r>
              <a:r>
                <a:rPr lang="en-US" noProof="0" dirty="0"/>
                <a:t>, C. A., </a:t>
              </a:r>
              <a:r>
                <a:rPr lang="en-US" b="1" noProof="0" dirty="0"/>
                <a:t>Torkar</a:t>
              </a:r>
              <a:r>
                <a:rPr lang="en-US" noProof="0" dirty="0"/>
                <a:t>, R., &amp; </a:t>
              </a:r>
              <a:r>
                <a:rPr lang="en-US" b="1" noProof="0" dirty="0"/>
                <a:t>Feldt</a:t>
              </a:r>
              <a:r>
                <a:rPr lang="en-US" noProof="0" dirty="0"/>
                <a:t>, R. (2022). Applying Bayesian analysis guidelines to empirical software engineering data: The case of programming languages and code quality. </a:t>
              </a:r>
              <a:r>
                <a:rPr lang="en-US" i="1" noProof="0" dirty="0"/>
                <a:t>ACM Transactions on Software Engineering and Methodology (TOSEM)</a:t>
              </a:r>
              <a:r>
                <a:rPr lang="en-US" noProof="0" dirty="0"/>
                <a:t>, </a:t>
              </a:r>
              <a:r>
                <a:rPr lang="en-US" i="1" noProof="0" dirty="0"/>
                <a:t>31</a:t>
              </a:r>
              <a:r>
                <a:rPr lang="en-US" noProof="0" dirty="0"/>
                <a:t>(3), 1-38.</a:t>
              </a:r>
            </a:p>
          </p:txBody>
        </p:sp>
      </p:grpSp>
      <p:grpSp>
        <p:nvGrpSpPr>
          <p:cNvPr id="29" name="Group 28">
            <a:extLst>
              <a:ext uri="{FF2B5EF4-FFF2-40B4-BE49-F238E27FC236}">
                <a16:creationId xmlns:a16="http://schemas.microsoft.com/office/drawing/2014/main" id="{EDAA5DB2-1C2B-A86A-062D-3C0BEE6F5C90}"/>
              </a:ext>
            </a:extLst>
          </p:cNvPr>
          <p:cNvGrpSpPr/>
          <p:nvPr/>
        </p:nvGrpSpPr>
        <p:grpSpPr>
          <a:xfrm>
            <a:off x="838200" y="4722748"/>
            <a:ext cx="9654540" cy="720000"/>
            <a:chOff x="838200" y="1571080"/>
            <a:chExt cx="9654540" cy="720000"/>
          </a:xfrm>
        </p:grpSpPr>
        <p:pic>
          <p:nvPicPr>
            <p:cNvPr id="30" name="Graphic 29" descr="Document with solid fill">
              <a:extLst>
                <a:ext uri="{FF2B5EF4-FFF2-40B4-BE49-F238E27FC236}">
                  <a16:creationId xmlns:a16="http://schemas.microsoft.com/office/drawing/2014/main" id="{10EFB38E-8CC5-DA03-D2DB-84532085D68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38200" y="1571080"/>
              <a:ext cx="720000" cy="720000"/>
            </a:xfrm>
            <a:prstGeom prst="rect">
              <a:avLst/>
            </a:prstGeom>
          </p:spPr>
        </p:pic>
        <p:sp>
          <p:nvSpPr>
            <p:cNvPr id="31" name="TextBox 30">
              <a:extLst>
                <a:ext uri="{FF2B5EF4-FFF2-40B4-BE49-F238E27FC236}">
                  <a16:creationId xmlns:a16="http://schemas.microsoft.com/office/drawing/2014/main" id="{1A1F88B4-628A-99E5-8A49-958877EA6266}"/>
                </a:ext>
              </a:extLst>
            </p:cNvPr>
            <p:cNvSpPr txBox="1"/>
            <p:nvPr/>
          </p:nvSpPr>
          <p:spPr>
            <a:xfrm>
              <a:off x="1638796" y="1607914"/>
              <a:ext cx="8853944" cy="646331"/>
            </a:xfrm>
            <a:prstGeom prst="rect">
              <a:avLst/>
            </a:prstGeom>
            <a:noFill/>
          </p:spPr>
          <p:txBody>
            <a:bodyPr wrap="square">
              <a:spAutoFit/>
            </a:bodyPr>
            <a:lstStyle/>
            <a:p>
              <a:r>
                <a:rPr lang="en-US" b="1" noProof="0" dirty="0"/>
                <a:t>Furia</a:t>
              </a:r>
              <a:r>
                <a:rPr lang="en-US" noProof="0" dirty="0"/>
                <a:t>, C. A., </a:t>
              </a:r>
              <a:r>
                <a:rPr lang="en-US" b="1" noProof="0" dirty="0"/>
                <a:t>Feldt</a:t>
              </a:r>
              <a:r>
                <a:rPr lang="en-US" noProof="0" dirty="0"/>
                <a:t>, R., &amp; </a:t>
              </a:r>
              <a:r>
                <a:rPr lang="en-US" b="1" noProof="0" dirty="0"/>
                <a:t>Torkar</a:t>
              </a:r>
              <a:r>
                <a:rPr lang="en-US" noProof="0" dirty="0"/>
                <a:t>, R. (2019). Bayesian data analysis in empirical software engineering research. </a:t>
              </a:r>
              <a:r>
                <a:rPr lang="en-US" i="1" noProof="0" dirty="0"/>
                <a:t>IEEE Transactions on Software Engineering</a:t>
              </a:r>
              <a:r>
                <a:rPr lang="en-US" noProof="0" dirty="0"/>
                <a:t>, </a:t>
              </a:r>
              <a:r>
                <a:rPr lang="en-US" i="1" noProof="0" dirty="0"/>
                <a:t>47</a:t>
              </a:r>
              <a:r>
                <a:rPr lang="en-US" noProof="0" dirty="0"/>
                <a:t>(9), 1786-1810.</a:t>
              </a:r>
            </a:p>
          </p:txBody>
        </p:sp>
      </p:grpSp>
    </p:spTree>
    <p:extLst>
      <p:ext uri="{BB962C8B-B14F-4D97-AF65-F5344CB8AC3E}">
        <p14:creationId xmlns:p14="http://schemas.microsoft.com/office/powerpoint/2010/main" val="574461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577528-D62A-74DF-7D57-3726B1BBE424}"/>
              </a:ext>
            </a:extLst>
          </p:cNvPr>
          <p:cNvSpPr>
            <a:spLocks noGrp="1"/>
          </p:cNvSpPr>
          <p:nvPr>
            <p:ph type="title"/>
          </p:nvPr>
        </p:nvSpPr>
        <p:spPr/>
        <p:txBody>
          <a:bodyPr/>
          <a:lstStyle/>
          <a:p>
            <a:r>
              <a:rPr lang="en-US" noProof="0" dirty="0"/>
              <a:t>Material</a:t>
            </a:r>
          </a:p>
        </p:txBody>
      </p:sp>
      <p:sp>
        <p:nvSpPr>
          <p:cNvPr id="15" name="Content Placeholder 14">
            <a:extLst>
              <a:ext uri="{FF2B5EF4-FFF2-40B4-BE49-F238E27FC236}">
                <a16:creationId xmlns:a16="http://schemas.microsoft.com/office/drawing/2014/main" id="{4522CE99-32AE-5F3B-70EF-2392B11C254F}"/>
              </a:ext>
            </a:extLst>
          </p:cNvPr>
          <p:cNvSpPr>
            <a:spLocks noGrp="1"/>
          </p:cNvSpPr>
          <p:nvPr>
            <p:ph idx="1"/>
          </p:nvPr>
        </p:nvSpPr>
        <p:spPr>
          <a:xfrm>
            <a:off x="838200" y="1690688"/>
            <a:ext cx="3200400" cy="4486275"/>
          </a:xfrm>
        </p:spPr>
        <p:txBody>
          <a:bodyPr>
            <a:normAutofit/>
          </a:bodyPr>
          <a:lstStyle/>
          <a:p>
            <a:pPr marL="0" indent="0">
              <a:buNone/>
            </a:pPr>
            <a:r>
              <a:rPr lang="en-US" sz="2000" noProof="0" dirty="0"/>
              <a:t>All material is public and open-source on GitHub. Feel free to clone, fork, and share the study material.</a:t>
            </a:r>
          </a:p>
          <a:p>
            <a:pPr marL="0" indent="0">
              <a:buNone/>
            </a:pPr>
            <a:r>
              <a:rPr lang="en-US" sz="2000" noProof="0" dirty="0"/>
              <a:t>Comments, requests, and additions are welcome.</a:t>
            </a:r>
          </a:p>
        </p:txBody>
      </p:sp>
      <p:sp>
        <p:nvSpPr>
          <p:cNvPr id="4" name="Date Placeholder 3">
            <a:extLst>
              <a:ext uri="{FF2B5EF4-FFF2-40B4-BE49-F238E27FC236}">
                <a16:creationId xmlns:a16="http://schemas.microsoft.com/office/drawing/2014/main" id="{FD694583-67E3-567A-CE99-BF15A055B5B1}"/>
              </a:ext>
            </a:extLst>
          </p:cNvPr>
          <p:cNvSpPr>
            <a:spLocks noGrp="1"/>
          </p:cNvSpPr>
          <p:nvPr>
            <p:ph type="dt" sz="half" idx="10"/>
          </p:nvPr>
        </p:nvSpPr>
        <p:spPr/>
        <p:txBody>
          <a:bodyPr/>
          <a:lstStyle/>
          <a:p>
            <a:fld id="{B1F82A23-AB26-4EA9-9EE4-DB6F9A4796C6}" type="datetime1">
              <a:rPr lang="en-US" noProof="0" smtClean="0"/>
              <a:t>1/20/2026</a:t>
            </a:fld>
            <a:endParaRPr lang="en-US" noProof="0" dirty="0"/>
          </a:p>
        </p:txBody>
      </p:sp>
      <p:sp>
        <p:nvSpPr>
          <p:cNvPr id="5" name="Footer Placeholder 4">
            <a:extLst>
              <a:ext uri="{FF2B5EF4-FFF2-40B4-BE49-F238E27FC236}">
                <a16:creationId xmlns:a16="http://schemas.microsoft.com/office/drawing/2014/main" id="{4B16ED83-2453-0BBC-0605-02E22ADEB2D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60453BF-A770-D155-739E-B37782C6D32E}"/>
              </a:ext>
            </a:extLst>
          </p:cNvPr>
          <p:cNvSpPr>
            <a:spLocks noGrp="1"/>
          </p:cNvSpPr>
          <p:nvPr>
            <p:ph type="sldNum" sz="quarter" idx="12"/>
          </p:nvPr>
        </p:nvSpPr>
        <p:spPr/>
        <p:txBody>
          <a:bodyPr/>
          <a:lstStyle/>
          <a:p>
            <a:fld id="{0FA2D919-C0DE-4971-A2E9-D4AC0031921B}" type="slidenum">
              <a:rPr lang="en-US" noProof="0" smtClean="0"/>
              <a:t>56</a:t>
            </a:fld>
            <a:endParaRPr lang="en-US" noProof="0" dirty="0"/>
          </a:p>
        </p:txBody>
      </p:sp>
      <p:pic>
        <p:nvPicPr>
          <p:cNvPr id="3" name="Picture 2">
            <a:extLst>
              <a:ext uri="{FF2B5EF4-FFF2-40B4-BE49-F238E27FC236}">
                <a16:creationId xmlns:a16="http://schemas.microsoft.com/office/drawing/2014/main" id="{7451425A-B0C9-56D1-7977-43B281D7878B}"/>
              </a:ext>
            </a:extLst>
          </p:cNvPr>
          <p:cNvPicPr>
            <a:picLocks noChangeAspect="1"/>
          </p:cNvPicPr>
          <p:nvPr/>
        </p:nvPicPr>
        <p:blipFill>
          <a:blip r:embed="rId2"/>
          <a:stretch>
            <a:fillRect/>
          </a:stretch>
        </p:blipFill>
        <p:spPr>
          <a:xfrm>
            <a:off x="4109272" y="1449386"/>
            <a:ext cx="7589979" cy="5512786"/>
          </a:xfrm>
          <a:prstGeom prst="rect">
            <a:avLst/>
          </a:prstGeom>
        </p:spPr>
      </p:pic>
      <p:grpSp>
        <p:nvGrpSpPr>
          <p:cNvPr id="9" name="Group 8">
            <a:extLst>
              <a:ext uri="{FF2B5EF4-FFF2-40B4-BE49-F238E27FC236}">
                <a16:creationId xmlns:a16="http://schemas.microsoft.com/office/drawing/2014/main" id="{84672EC6-4633-C444-1A14-50638EB6FE96}"/>
              </a:ext>
            </a:extLst>
          </p:cNvPr>
          <p:cNvGrpSpPr/>
          <p:nvPr/>
        </p:nvGrpSpPr>
        <p:grpSpPr>
          <a:xfrm>
            <a:off x="4109272" y="805773"/>
            <a:ext cx="3533766" cy="444265"/>
            <a:chOff x="7967672" y="5336710"/>
            <a:chExt cx="3533766" cy="444265"/>
          </a:xfrm>
        </p:grpSpPr>
        <p:grpSp>
          <p:nvGrpSpPr>
            <p:cNvPr id="10" name="Group 9">
              <a:extLst>
                <a:ext uri="{FF2B5EF4-FFF2-40B4-BE49-F238E27FC236}">
                  <a16:creationId xmlns:a16="http://schemas.microsoft.com/office/drawing/2014/main" id="{B4AF4A47-136E-BDD9-71CB-159BFC621559}"/>
                </a:ext>
              </a:extLst>
            </p:cNvPr>
            <p:cNvGrpSpPr/>
            <p:nvPr/>
          </p:nvGrpSpPr>
          <p:grpSpPr>
            <a:xfrm>
              <a:off x="7967672" y="5370114"/>
              <a:ext cx="3508652" cy="369332"/>
              <a:chOff x="7896235" y="5406529"/>
              <a:chExt cx="3508652" cy="369332"/>
            </a:xfrm>
          </p:grpSpPr>
          <p:pic>
            <p:nvPicPr>
              <p:cNvPr id="12" name="Picture 11" descr="A black background with a black square&#10;&#10;Description automatically generated with medium confidence">
                <a:extLst>
                  <a:ext uri="{FF2B5EF4-FFF2-40B4-BE49-F238E27FC236}">
                    <a16:creationId xmlns:a16="http://schemas.microsoft.com/office/drawing/2014/main" id="{2C95E0FF-5A30-C392-C8C8-B358288E1D40}"/>
                  </a:ext>
                </a:extLst>
              </p:cNvPr>
              <p:cNvPicPr>
                <a:picLocks noChangeAspect="1"/>
              </p:cNvPicPr>
              <p:nvPr/>
            </p:nvPicPr>
            <p:blipFill>
              <a:blip r:embed="rId3"/>
              <a:stretch>
                <a:fillRect/>
              </a:stretch>
            </p:blipFill>
            <p:spPr>
              <a:xfrm>
                <a:off x="7896235" y="5422888"/>
                <a:ext cx="344101" cy="344101"/>
              </a:xfrm>
              <a:prstGeom prst="rect">
                <a:avLst/>
              </a:prstGeom>
            </p:spPr>
          </p:pic>
          <p:sp>
            <p:nvSpPr>
              <p:cNvPr id="13" name="TextBox 12">
                <a:extLst>
                  <a:ext uri="{FF2B5EF4-FFF2-40B4-BE49-F238E27FC236}">
                    <a16:creationId xmlns:a16="http://schemas.microsoft.com/office/drawing/2014/main" id="{BAFDA95D-BE2D-670E-8C1C-CF6478220BBE}"/>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4" name="Rectangle: Rounded Corners 13">
                <a:extLst>
                  <a:ext uri="{FF2B5EF4-FFF2-40B4-BE49-F238E27FC236}">
                    <a16:creationId xmlns:a16="http://schemas.microsoft.com/office/drawing/2014/main" id="{60084D76-615F-26F4-6432-95BC0FFC9596}"/>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11" name="Rectangle 10">
              <a:hlinkClick r:id="rId4"/>
              <a:extLst>
                <a:ext uri="{FF2B5EF4-FFF2-40B4-BE49-F238E27FC236}">
                  <a16:creationId xmlns:a16="http://schemas.microsoft.com/office/drawing/2014/main" id="{D9DFC362-D44D-E0E5-9415-DDE38D90B68B}"/>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540310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Chalmers">
      <a:dk1>
        <a:sysClr val="windowText" lastClr="000000"/>
      </a:dk1>
      <a:lt1>
        <a:srgbClr val="FFFFFF"/>
      </a:lt1>
      <a:dk2>
        <a:srgbClr val="003050"/>
      </a:dk2>
      <a:lt2>
        <a:srgbClr val="FFCB05"/>
      </a:lt2>
      <a:accent1>
        <a:srgbClr val="F15A22"/>
      </a:accent1>
      <a:accent2>
        <a:srgbClr val="7FB539"/>
      </a:accent2>
      <a:accent3>
        <a:srgbClr val="006C5C"/>
      </a:accent3>
      <a:accent4>
        <a:srgbClr val="5D6F7A"/>
      </a:accent4>
      <a:accent5>
        <a:srgbClr val="58B0E3"/>
      </a:accent5>
      <a:accent6>
        <a:srgbClr val="270089"/>
      </a:accent6>
      <a:hlink>
        <a:srgbClr val="00A99D"/>
      </a:hlink>
      <a:folHlink>
        <a:srgbClr val="48372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4681</Words>
  <Application>Microsoft Office PowerPoint</Application>
  <PresentationFormat>Widescreen</PresentationFormat>
  <Paragraphs>747</Paragraphs>
  <Slides>56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Aptos</vt:lpstr>
      <vt:lpstr>Aptos Display</vt:lpstr>
      <vt:lpstr>Arial</vt:lpstr>
      <vt:lpstr>Cambria Math</vt:lpstr>
      <vt:lpstr>Office Theme</vt:lpstr>
      <vt:lpstr>Statistical Causal Inference</vt:lpstr>
      <vt:lpstr>Julian Frattini // about me</vt:lpstr>
      <vt:lpstr>Julian Frattini // about my research</vt:lpstr>
      <vt:lpstr>Motivation</vt:lpstr>
      <vt:lpstr>State-of-the-art</vt:lpstr>
      <vt:lpstr>Correlation versus Causality</vt:lpstr>
      <vt:lpstr>Experimental vs. Observational Studies</vt:lpstr>
      <vt:lpstr>Causal Modelling</vt:lpstr>
      <vt:lpstr>Causal Modeling</vt:lpstr>
      <vt:lpstr>Exercise: Formulating a DAG</vt:lpstr>
      <vt:lpstr>Solution: Formulating a DAG</vt:lpstr>
      <vt:lpstr>Solution: Formulating a DAG</vt:lpstr>
      <vt:lpstr>Solution: Formulating a DAG</vt:lpstr>
      <vt:lpstr>Solution: Formulating a DAG</vt:lpstr>
      <vt:lpstr>Types of Associations</vt:lpstr>
      <vt:lpstr>Three Types of Associations</vt:lpstr>
      <vt:lpstr>Colliding: Common Effects</vt:lpstr>
      <vt:lpstr>Colliding: Common Effects</vt:lpstr>
      <vt:lpstr>Colliding: Common Effects</vt:lpstr>
      <vt:lpstr>Colliding: Common Effects</vt:lpstr>
      <vt:lpstr>Colliding: Common Effects</vt:lpstr>
      <vt:lpstr>Colliding: Common Effects</vt:lpstr>
      <vt:lpstr>Colliding: Common Effects</vt:lpstr>
      <vt:lpstr>Colliding: Common Effects</vt:lpstr>
      <vt:lpstr>Basic Types of Association</vt:lpstr>
      <vt:lpstr>Identification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Exercises</vt:lpstr>
      <vt:lpstr>Exercises</vt:lpstr>
      <vt:lpstr>Exercises</vt:lpstr>
      <vt:lpstr>Exercises</vt:lpstr>
      <vt:lpstr>Exercises</vt:lpstr>
      <vt:lpstr>Exercises</vt:lpstr>
      <vt:lpstr>Exercises</vt:lpstr>
      <vt:lpstr>Exercises</vt:lpstr>
      <vt:lpstr>Exercises</vt:lpstr>
      <vt:lpstr>Exercises</vt:lpstr>
      <vt:lpstr>Exercises</vt:lpstr>
      <vt:lpstr>Conclusion</vt:lpstr>
      <vt:lpstr>Internal vs. External Validity</vt:lpstr>
      <vt:lpstr>Workflow for Statistical Causal Inference</vt:lpstr>
      <vt:lpstr>Workflow for Statistical Causal Inference</vt:lpstr>
      <vt:lpstr>Scientific Workflow: Traditional</vt:lpstr>
      <vt:lpstr>Scientific Workflow: Traditional</vt:lpstr>
      <vt:lpstr>Scientific Workflow: Better</vt:lpstr>
      <vt:lpstr>Scientific Workflow: Best</vt:lpstr>
      <vt:lpstr>Coherent Science</vt:lpstr>
      <vt:lpstr>Recommendations</vt:lpstr>
      <vt:lpstr>Reading list</vt:lpstr>
      <vt:lpstr>Material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16</cp:revision>
  <dcterms:created xsi:type="dcterms:W3CDTF">2025-05-23T14:20:09Z</dcterms:created>
  <dcterms:modified xsi:type="dcterms:W3CDTF">2026-01-20T06:55:34Z</dcterms:modified>
</cp:coreProperties>
</file>